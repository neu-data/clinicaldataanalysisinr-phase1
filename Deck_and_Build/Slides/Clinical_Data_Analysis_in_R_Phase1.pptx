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Override PartName="/ppt/slides/slide59.xml" ContentType="application/vnd.openxmlformats-officedocument.presentationml.slide+xml"/>
  <Override PartName="/ppt/notesSlides/notesSlide59.xml" ContentType="application/vnd.openxmlformats-officedocument.presentationml.notesSlide+xml"/>
  <Override PartName="/ppt/slides/slide60.xml" ContentType="application/vnd.openxmlformats-officedocument.presentationml.slide+xml"/>
  <Override PartName="/ppt/notesSlides/notesSlide60.xml" ContentType="application/vnd.openxmlformats-officedocument.presentationml.notesSlide+xml"/>
  <Override PartName="/ppt/slides/slide61.xml" ContentType="application/vnd.openxmlformats-officedocument.presentationml.slide+xml"/>
  <Override PartName="/ppt/notesSlides/notesSlide61.xml" ContentType="application/vnd.openxmlformats-officedocument.presentationml.notesSlide+xml"/>
  <Override PartName="/ppt/slides/slide62.xml" ContentType="application/vnd.openxmlformats-officedocument.presentationml.slide+xml"/>
  <Override PartName="/ppt/notesSlides/notesSlide62.xml" ContentType="application/vnd.openxmlformats-officedocument.presentationml.notesSlide+xml"/>
  <Override PartName="/ppt/slides/slide63.xml" ContentType="application/vnd.openxmlformats-officedocument.presentationml.slide+xml"/>
  <Override PartName="/ppt/notesSlides/notesSlide63.xml" ContentType="application/vnd.openxmlformats-officedocument.presentationml.notesSlide+xml"/>
  <Override PartName="/ppt/slides/slide64.xml" ContentType="application/vnd.openxmlformats-officedocument.presentationml.slide+xml"/>
  <Override PartName="/ppt/notesSlides/notesSlide64.xml" ContentType="application/vnd.openxmlformats-officedocument.presentationml.notesSlide+xml"/>
  <Override PartName="/ppt/slides/slide65.xml" ContentType="application/vnd.openxmlformats-officedocument.presentationml.slide+xml"/>
  <Override PartName="/ppt/notesSlides/notesSlide65.xml" ContentType="application/vnd.openxmlformats-officedocument.presentationml.notesSlide+xml"/>
  <Override PartName="/ppt/slides/slide66.xml" ContentType="application/vnd.openxmlformats-officedocument.presentationml.slide+xml"/>
  <Override PartName="/ppt/notesSlides/notesSlide66.xml" ContentType="application/vnd.openxmlformats-officedocument.presentationml.notesSlide+xml"/>
  <Override PartName="/ppt/slides/slide67.xml" ContentType="application/vnd.openxmlformats-officedocument.presentationml.slide+xml"/>
  <Override PartName="/ppt/notesSlides/notesSlide67.xml" ContentType="application/vnd.openxmlformats-officedocument.presentationml.notesSlide+xml"/>
  <Override PartName="/ppt/slides/slide68.xml" ContentType="application/vnd.openxmlformats-officedocument.presentationml.slide+xml"/>
  <Override PartName="/ppt/notesSlides/notesSlide68.xml" ContentType="application/vnd.openxmlformats-officedocument.presentationml.notesSlide+xml"/>
  <Override PartName="/ppt/slides/slide69.xml" ContentType="application/vnd.openxmlformats-officedocument.presentationml.slide+xml"/>
  <Override PartName="/ppt/notesSlides/notesSlide69.xml" ContentType="application/vnd.openxmlformats-officedocument.presentationml.notesSlide+xml"/>
  <Override PartName="/ppt/slides/slide70.xml" ContentType="application/vnd.openxmlformats-officedocument.presentationml.slide+xml"/>
  <Override PartName="/ppt/notesSlides/notesSlide70.xml" ContentType="application/vnd.openxmlformats-officedocument.presentationml.notesSlide+xml"/>
  <Override PartName="/ppt/slides/slide71.xml" ContentType="application/vnd.openxmlformats-officedocument.presentationml.slide+xml"/>
  <Override PartName="/ppt/notesSlides/notesSlide71.xml" ContentType="application/vnd.openxmlformats-officedocument.presentationml.notesSlide+xml"/>
  <Override PartName="/ppt/slides/slide72.xml" ContentType="application/vnd.openxmlformats-officedocument.presentationml.slide+xml"/>
  <Override PartName="/ppt/notesSlides/notesSlide72.xml" ContentType="application/vnd.openxmlformats-officedocument.presentationml.notesSlide+xml"/>
  <Override PartName="/ppt/slides/slide73.xml" ContentType="application/vnd.openxmlformats-officedocument.presentationml.slide+xml"/>
  <Override PartName="/ppt/notesSlides/notesSlide73.xml" ContentType="application/vnd.openxmlformats-officedocument.presentationml.notesSlide+xml"/>
  <Override PartName="/ppt/slides/slide74.xml" ContentType="application/vnd.openxmlformats-officedocument.presentationml.slide+xml"/>
  <Override PartName="/ppt/notesSlides/notesSlide74.xml" ContentType="application/vnd.openxmlformats-officedocument.presentationml.notesSlide+xml"/>
  <Override PartName="/ppt/slides/slide75.xml" ContentType="application/vnd.openxmlformats-officedocument.presentationml.slide+xml"/>
  <Override PartName="/ppt/notesSlides/notesSlide75.xml" ContentType="application/vnd.openxmlformats-officedocument.presentationml.notesSlide+xml"/>
  <Override PartName="/ppt/slides/slide76.xml" ContentType="application/vnd.openxmlformats-officedocument.presentationml.slide+xml"/>
  <Override PartName="/ppt/notesSlides/notesSlide76.xml" ContentType="application/vnd.openxmlformats-officedocument.presentationml.notesSlide+xml"/>
  <Override PartName="/ppt/slides/slide77.xml" ContentType="application/vnd.openxmlformats-officedocument.presentationml.slide+xml"/>
  <Override PartName="/ppt/notesSlides/notesSlide77.xml" ContentType="application/vnd.openxmlformats-officedocument.presentationml.notesSlide+xml"/>
  <Override PartName="/ppt/slides/slide78.xml" ContentType="application/vnd.openxmlformats-officedocument.presentationml.slide+xml"/>
  <Override PartName="/ppt/notesSlides/notesSlide78.xml" ContentType="application/vnd.openxmlformats-officedocument.presentationml.notesSlide+xml"/>
  <Override PartName="/ppt/slides/slide79.xml" ContentType="application/vnd.openxmlformats-officedocument.presentationml.slide+xml"/>
  <Override PartName="/ppt/notesSlides/notesSlide79.xml" ContentType="application/vnd.openxmlformats-officedocument.presentationml.notesSlide+xml"/>
  <Override PartName="/ppt/slides/slide80.xml" ContentType="application/vnd.openxmlformats-officedocument.presentationml.slide+xml"/>
  <Override PartName="/ppt/notesSlides/notesSlide80.xml" ContentType="application/vnd.openxmlformats-officedocument.presentationml.notesSlide+xml"/>
  <Override PartName="/ppt/slides/slide81.xml" ContentType="application/vnd.openxmlformats-officedocument.presentationml.slide+xml"/>
  <Override PartName="/ppt/notesSlides/notesSlide81.xml" ContentType="application/vnd.openxmlformats-officedocument.presentationml.notesSlide+xml"/>
  <Override PartName="/ppt/slides/slide82.xml" ContentType="application/vnd.openxmlformats-officedocument.presentationml.slide+xml"/>
  <Override PartName="/ppt/notesSlides/notesSlide82.xml" ContentType="application/vnd.openxmlformats-officedocument.presentationml.notesSlide+xml"/>
  <Override PartName="/ppt/slides/slide83.xml" ContentType="application/vnd.openxmlformats-officedocument.presentationml.slide+xml"/>
  <Override PartName="/ppt/notesSlides/notesSlide83.xml" ContentType="application/vnd.openxmlformats-officedocument.presentationml.notesSlide+xml"/>
  <Override PartName="/ppt/slides/slide84.xml" ContentType="application/vnd.openxmlformats-officedocument.presentationml.slide+xml"/>
  <Override PartName="/ppt/notesSlides/notesSlide84.xml" ContentType="application/vnd.openxmlformats-officedocument.presentationml.notesSlide+xml"/>
  <Override PartName="/ppt/slides/slide85.xml" ContentType="application/vnd.openxmlformats-officedocument.presentationml.slide+xml"/>
  <Override PartName="/ppt/notesSlides/notesSlide85.xml" ContentType="application/vnd.openxmlformats-officedocument.presentationml.notesSlide+xml"/>
  <Override PartName="/ppt/slides/slide86.xml" ContentType="application/vnd.openxmlformats-officedocument.presentationml.slide+xml"/>
  <Override PartName="/ppt/notesSlides/notesSlide86.xml" ContentType="application/vnd.openxmlformats-officedocument.presentationml.notesSlide+xml"/>
  <Override PartName="/ppt/slides/slide87.xml" ContentType="application/vnd.openxmlformats-officedocument.presentationml.slide+xml"/>
  <Override PartName="/ppt/notesSlides/notesSlide87.xml" ContentType="application/vnd.openxmlformats-officedocument.presentationml.notesSlide+xml"/>
  <Override PartName="/ppt/slides/slide88.xml" ContentType="application/vnd.openxmlformats-officedocument.presentationml.slide+xml"/>
  <Override PartName="/ppt/notesSlides/notesSlide88.xml" ContentType="application/vnd.openxmlformats-officedocument.presentationml.notesSlide+xml"/>
  <Override PartName="/ppt/slides/slide89.xml" ContentType="application/vnd.openxmlformats-officedocument.presentationml.slide+xml"/>
  <Override PartName="/ppt/notesSlides/notesSlide89.xml" ContentType="application/vnd.openxmlformats-officedocument.presentationml.notesSlide+xml"/>
  <Override PartName="/ppt/slides/slide90.xml" ContentType="application/vnd.openxmlformats-officedocument.presentationml.slide+xml"/>
  <Override PartName="/ppt/notesSlides/notesSlide90.xml" ContentType="application/vnd.openxmlformats-officedocument.presentationml.notesSlide+xml"/>
  <Override PartName="/ppt/slides/slide91.xml" ContentType="application/vnd.openxmlformats-officedocument.presentationml.slide+xml"/>
  <Override PartName="/ppt/notesSlides/notesSlide91.xml" ContentType="application/vnd.openxmlformats-officedocument.presentationml.notesSlide+xml"/>
  <Override PartName="/ppt/slides/slide92.xml" ContentType="application/vnd.openxmlformats-officedocument.presentationml.slide+xml"/>
  <Override PartName="/ppt/notesSlides/notesSlide92.xml" ContentType="application/vnd.openxmlformats-officedocument.presentationml.notesSlide+xml"/>
  <Override PartName="/ppt/slides/slide93.xml" ContentType="application/vnd.openxmlformats-officedocument.presentationml.slide+xml"/>
  <Override PartName="/ppt/notesSlides/notesSlide93.xml" ContentType="application/vnd.openxmlformats-officedocument.presentationml.notesSlide+xml"/>
  <Override PartName="/ppt/slides/slide94.xml" ContentType="application/vnd.openxmlformats-officedocument.presentationml.slide+xml"/>
  <Override PartName="/ppt/notesSlides/notesSlide94.xml" ContentType="application/vnd.openxmlformats-officedocument.presentationml.notesSlide+xml"/>
  <Override PartName="/ppt/slides/slide95.xml" ContentType="application/vnd.openxmlformats-officedocument.presentationml.slide+xml"/>
  <Override PartName="/ppt/notesSlides/notesSlide95.xml" ContentType="application/vnd.openxmlformats-officedocument.presentationml.notesSlide+xml"/>
  <Override PartName="/ppt/slides/slide96.xml" ContentType="application/vnd.openxmlformats-officedocument.presentationml.slide+xml"/>
  <Override PartName="/ppt/notesSlides/notesSlide96.xml" ContentType="application/vnd.openxmlformats-officedocument.presentationml.notesSlide+xml"/>
  <Override PartName="/ppt/slides/slide97.xml" ContentType="application/vnd.openxmlformats-officedocument.presentationml.slide+xml"/>
  <Override PartName="/ppt/notesSlides/notesSlide97.xml" ContentType="application/vnd.openxmlformats-officedocument.presentationml.notesSlide+xml"/>
  <Override PartName="/ppt/slides/slide98.xml" ContentType="application/vnd.openxmlformats-officedocument.presentationml.slide+xml"/>
  <Override PartName="/ppt/notesSlides/notesSlide98.xml" ContentType="application/vnd.openxmlformats-officedocument.presentationml.notesSlide+xml"/>
  <Override PartName="/ppt/slides/slide99.xml" ContentType="application/vnd.openxmlformats-officedocument.presentationml.slide+xml"/>
  <Override PartName="/ppt/notesSlides/notesSlide99.xml" ContentType="application/vnd.openxmlformats-officedocument.presentationml.notesSlide+xml"/>
  <Override PartName="/ppt/slides/slide100.xml" ContentType="application/vnd.openxmlformats-officedocument.presentationml.slide+xml"/>
  <Override PartName="/ppt/notesSlides/notesSlide100.xml" ContentType="application/vnd.openxmlformats-officedocument.presentationml.notesSlide+xml"/>
  <Override PartName="/ppt/slides/slide101.xml" ContentType="application/vnd.openxmlformats-officedocument.presentationml.slide+xml"/>
  <Override PartName="/ppt/notesSlides/notesSlide101.xml" ContentType="application/vnd.openxmlformats-officedocument.presentationml.notesSlide+xml"/>
  <Override PartName="/ppt/slides/slide102.xml" ContentType="application/vnd.openxmlformats-officedocument.presentationml.slide+xml"/>
  <Override PartName="/ppt/notesSlides/notesSlide102.xml" ContentType="application/vnd.openxmlformats-officedocument.presentationml.notesSlide+xml"/>
  <Override PartName="/ppt/slides/slide103.xml" ContentType="application/vnd.openxmlformats-officedocument.presentationml.slide+xml"/>
  <Override PartName="/ppt/notesSlides/notesSlide103.xml" ContentType="application/vnd.openxmlformats-officedocument.presentationml.notesSlide+xml"/>
  <Override PartName="/ppt/slides/slide104.xml" ContentType="application/vnd.openxmlformats-officedocument.presentationml.slide+xml"/>
  <Override PartName="/ppt/notesSlides/notesSlide104.xml" ContentType="application/vnd.openxmlformats-officedocument.presentationml.notesSlide+xml"/>
  <Override PartName="/ppt/slides/slide105.xml" ContentType="application/vnd.openxmlformats-officedocument.presentationml.slide+xml"/>
  <Override PartName="/ppt/notesSlides/notesSlide105.xml" ContentType="application/vnd.openxmlformats-officedocument.presentationml.notesSlide+xml"/>
  <Override PartName="/ppt/slides/slide106.xml" ContentType="application/vnd.openxmlformats-officedocument.presentationml.slide+xml"/>
  <Override PartName="/ppt/notesSlides/notesSlide106.xml" ContentType="application/vnd.openxmlformats-officedocument.presentationml.notesSlide+xml"/>
  <Override PartName="/ppt/slides/slide107.xml" ContentType="application/vnd.openxmlformats-officedocument.presentationml.slide+xml"/>
  <Override PartName="/ppt/notesSlides/notesSlide107.xml" ContentType="application/vnd.openxmlformats-officedocument.presentationml.notesSlide+xml"/>
  <Override PartName="/ppt/slides/slide108.xml" ContentType="application/vnd.openxmlformats-officedocument.presentationml.slide+xml"/>
  <Override PartName="/ppt/notesSlides/notesSlide108.xml" ContentType="application/vnd.openxmlformats-officedocument.presentationml.notesSlide+xml"/>
  <Override PartName="/ppt/slides/slide109.xml" ContentType="application/vnd.openxmlformats-officedocument.presentationml.slide+xml"/>
  <Override PartName="/ppt/notesSlides/notesSlide109.xml" ContentType="application/vnd.openxmlformats-officedocument.presentationml.notesSlide+xml"/>
  <Override PartName="/ppt/slides/slide110.xml" ContentType="application/vnd.openxmlformats-officedocument.presentationml.slide+xml"/>
  <Override PartName="/ppt/notesSlides/notesSlide110.xml" ContentType="application/vnd.openxmlformats-officedocument.presentationml.notesSlide+xml"/>
  <Override PartName="/ppt/slides/slide111.xml" ContentType="application/vnd.openxmlformats-officedocument.presentationml.slide+xml"/>
  <Override PartName="/ppt/notesSlides/notesSlide111.xml" ContentType="application/vnd.openxmlformats-officedocument.presentationml.notesSlide+xml"/>
  <Override PartName="/ppt/slides/slide112.xml" ContentType="application/vnd.openxmlformats-officedocument.presentationml.slide+xml"/>
  <Override PartName="/ppt/notesSlides/notesSlide112.xml" ContentType="application/vnd.openxmlformats-officedocument.presentationml.notesSlide+xml"/>
  <Override PartName="/ppt/slides/slide113.xml" ContentType="application/vnd.openxmlformats-officedocument.presentationml.slide+xml"/>
  <Override PartName="/ppt/notesSlides/notesSlide113.xml" ContentType="application/vnd.openxmlformats-officedocument.presentationml.notesSlide+xml"/>
  <Override PartName="/ppt/slides/slide114.xml" ContentType="application/vnd.openxmlformats-officedocument.presentationml.slide+xml"/>
  <Override PartName="/ppt/notesSlides/notesSlide114.xml" ContentType="application/vnd.openxmlformats-officedocument.presentationml.notesSlide+xml"/>
  <Override PartName="/ppt/slides/slide115.xml" ContentType="application/vnd.openxmlformats-officedocument.presentationml.slide+xml"/>
  <Override PartName="/ppt/notesSlides/notesSlide115.xml" ContentType="application/vnd.openxmlformats-officedocument.presentationml.notesSlide+xml"/>
  <Override PartName="/ppt/slides/slide116.xml" ContentType="application/vnd.openxmlformats-officedocument.presentationml.slide+xml"/>
  <Override PartName="/ppt/notesSlides/notesSlide116.xml" ContentType="application/vnd.openxmlformats-officedocument.presentationml.notesSlide+xml"/>
  <Override PartName="/ppt/slides/slide117.xml" ContentType="application/vnd.openxmlformats-officedocument.presentationml.slide+xml"/>
  <Override PartName="/ppt/notesSlides/notesSlide117.xml" ContentType="application/vnd.openxmlformats-officedocument.presentationml.notesSlide+xml"/>
  <Override PartName="/ppt/slides/slide118.xml" ContentType="application/vnd.openxmlformats-officedocument.presentationml.slide+xml"/>
  <Override PartName="/ppt/notesSlides/notesSlide118.xml" ContentType="application/vnd.openxmlformats-officedocument.presentationml.notesSlide+xml"/>
  <Override PartName="/ppt/slides/slide119.xml" ContentType="application/vnd.openxmlformats-officedocument.presentationml.slide+xml"/>
  <Override PartName="/ppt/notesSlides/notesSlide119.xml" ContentType="application/vnd.openxmlformats-officedocument.presentationml.notesSlide+xml"/>
  <Override PartName="/ppt/slides/slide120.xml" ContentType="application/vnd.openxmlformats-officedocument.presentationml.slide+xml"/>
  <Override PartName="/ppt/notesSlides/notesSlide120.xml" ContentType="application/vnd.openxmlformats-officedocument.presentationml.notesSlide+xml"/>
  <Override PartName="/ppt/slides/slide121.xml" ContentType="application/vnd.openxmlformats-officedocument.presentationml.slide+xml"/>
  <Override PartName="/ppt/notesSlides/notesSlide121.xml" ContentType="application/vnd.openxmlformats-officedocument.presentationml.notesSlide+xml"/>
  <Override PartName="/ppt/slides/slide122.xml" ContentType="application/vnd.openxmlformats-officedocument.presentationml.slide+xml"/>
  <Override PartName="/ppt/notesSlides/notesSlide122.xml" ContentType="application/vnd.openxmlformats-officedocument.presentationml.notesSlide+xml"/>
  <Override PartName="/ppt/slides/slide123.xml" ContentType="application/vnd.openxmlformats-officedocument.presentationml.slide+xml"/>
  <Override PartName="/ppt/notesSlides/notesSlide123.xml" ContentType="application/vnd.openxmlformats-officedocument.presentationml.notesSlide+xml"/>
  <Default Extension="png" ContentType="image/png"/>
</Types>
</file>

<file path=_rels/.rels><?xml version="1.0" encoding="utf-8"?>
<Relationships xmlns="http://schemas.openxmlformats.org/package/2006/relationships">
  <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5" Type="http://schemas.openxmlformats.org/officeDocument/2006/relationships/custom-properties" Target="docProps/custom.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9"/>
  </p:notesMasterIdLst>
  <p:handoutMasterIdLst>
    <p:handoutMasterId r:id="rId10"/>
  </p:handoutMasterIdLst>
  <p:sldIdLst>
    <p:sldId id="256" r:id="rId100"/>
    <p:sldId id="257" r:id="rId101"/>
    <p:sldId id="258" r:id="rId102"/>
    <p:sldId id="259" r:id="rId103"/>
    <p:sldId id="260" r:id="rId104"/>
    <p:sldId id="261" r:id="rId105"/>
    <p:sldId id="262" r:id="rId106"/>
    <p:sldId id="263" r:id="rId107"/>
    <p:sldId id="264" r:id="rId108"/>
    <p:sldId id="265" r:id="rId109"/>
    <p:sldId id="266" r:id="rId110"/>
    <p:sldId id="267" r:id="rId111"/>
    <p:sldId id="268" r:id="rId112"/>
    <p:sldId id="269" r:id="rId113"/>
    <p:sldId id="270" r:id="rId114"/>
    <p:sldId id="271" r:id="rId115"/>
    <p:sldId id="272" r:id="rId116"/>
    <p:sldId id="273" r:id="rId117"/>
    <p:sldId id="274" r:id="rId118"/>
    <p:sldId id="275" r:id="rId119"/>
    <p:sldId id="276" r:id="rId120"/>
    <p:sldId id="277" r:id="rId121"/>
    <p:sldId id="278" r:id="rId122"/>
    <p:sldId id="279" r:id="rId123"/>
    <p:sldId id="280" r:id="rId124"/>
    <p:sldId id="281" r:id="rId125"/>
    <p:sldId id="282" r:id="rId126"/>
    <p:sldId id="283" r:id="rId127"/>
    <p:sldId id="284" r:id="rId128"/>
    <p:sldId id="285" r:id="rId129"/>
    <p:sldId id="286" r:id="rId130"/>
    <p:sldId id="287" r:id="rId131"/>
    <p:sldId id="288" r:id="rId132"/>
    <p:sldId id="289" r:id="rId133"/>
    <p:sldId id="290" r:id="rId134"/>
    <p:sldId id="291" r:id="rId135"/>
    <p:sldId id="292" r:id="rId136"/>
    <p:sldId id="293" r:id="rId137"/>
    <p:sldId id="294" r:id="rId138"/>
    <p:sldId id="295" r:id="rId139"/>
    <p:sldId id="296" r:id="rId140"/>
    <p:sldId id="297" r:id="rId141"/>
    <p:sldId id="298" r:id="rId142"/>
    <p:sldId id="299" r:id="rId143"/>
    <p:sldId id="300" r:id="rId144"/>
    <p:sldId id="301" r:id="rId145"/>
    <p:sldId id="302" r:id="rId146"/>
    <p:sldId id="303" r:id="rId147"/>
    <p:sldId id="304" r:id="rId148"/>
    <p:sldId id="305" r:id="rId149"/>
    <p:sldId id="306" r:id="rId150"/>
    <p:sldId id="307" r:id="rId151"/>
    <p:sldId id="308" r:id="rId152"/>
    <p:sldId id="309" r:id="rId153"/>
    <p:sldId id="310" r:id="rId154"/>
    <p:sldId id="311" r:id="rId155"/>
    <p:sldId id="312" r:id="rId156"/>
    <p:sldId id="313" r:id="rId157"/>
    <p:sldId id="314" r:id="rId158"/>
    <p:sldId id="315" r:id="rId159"/>
    <p:sldId id="316" r:id="rId160"/>
    <p:sldId id="317" r:id="rId161"/>
    <p:sldId id="318" r:id="rId162"/>
    <p:sldId id="319" r:id="rId163"/>
    <p:sldId id="320" r:id="rId164"/>
    <p:sldId id="321" r:id="rId165"/>
    <p:sldId id="322" r:id="rId166"/>
    <p:sldId id="323" r:id="rId167"/>
    <p:sldId id="324" r:id="rId168"/>
    <p:sldId id="325" r:id="rId169"/>
    <p:sldId id="326" r:id="rId170"/>
    <p:sldId id="327" r:id="rId171"/>
    <p:sldId id="328" r:id="rId172"/>
    <p:sldId id="329" r:id="rId173"/>
    <p:sldId id="330" r:id="rId174"/>
    <p:sldId id="331" r:id="rId175"/>
    <p:sldId id="332" r:id="rId176"/>
    <p:sldId id="333" r:id="rId177"/>
    <p:sldId id="334" r:id="rId178"/>
    <p:sldId id="335" r:id="rId179"/>
    <p:sldId id="336" r:id="rId180"/>
    <p:sldId id="337" r:id="rId181"/>
    <p:sldId id="338" r:id="rId182"/>
    <p:sldId id="339" r:id="rId183"/>
    <p:sldId id="340" r:id="rId184"/>
    <p:sldId id="341" r:id="rId185"/>
    <p:sldId id="342" r:id="rId186"/>
    <p:sldId id="343" r:id="rId187"/>
    <p:sldId id="344" r:id="rId188"/>
    <p:sldId id="345" r:id="rId189"/>
    <p:sldId id="346" r:id="rId190"/>
    <p:sldId id="347" r:id="rId191"/>
    <p:sldId id="348" r:id="rId192"/>
    <p:sldId id="349" r:id="rId193"/>
    <p:sldId id="350" r:id="rId194"/>
    <p:sldId id="351" r:id="rId195"/>
    <p:sldId id="352" r:id="rId196"/>
    <p:sldId id="353" r:id="rId197"/>
    <p:sldId id="354" r:id="rId198"/>
    <p:sldId id="355" r:id="rId199"/>
    <p:sldId id="356" r:id="rId200"/>
    <p:sldId id="357" r:id="rId201"/>
    <p:sldId id="358" r:id="rId202"/>
    <p:sldId id="359" r:id="rId203"/>
    <p:sldId id="360" r:id="rId204"/>
    <p:sldId id="361" r:id="rId205"/>
    <p:sldId id="362" r:id="rId206"/>
    <p:sldId id="363" r:id="rId207"/>
    <p:sldId id="364" r:id="rId208"/>
    <p:sldId id="365" r:id="rId209"/>
    <p:sldId id="366" r:id="rId210"/>
    <p:sldId id="367" r:id="rId211"/>
    <p:sldId id="368" r:id="rId212"/>
    <p:sldId id="369" r:id="rId213"/>
    <p:sldId id="370" r:id="rId214"/>
    <p:sldId id="371" r:id="rId215"/>
    <p:sldId id="372" r:id="rId216"/>
    <p:sldId id="373" r:id="rId217"/>
    <p:sldId id="374" r:id="rId218"/>
    <p:sldId id="375" r:id="rId219"/>
    <p:sldId id="376" r:id="rId220"/>
    <p:sldId id="377" r:id="rId221"/>
    <p:sldId id="378" r:id="rId22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1859C"/>
    <a:srgbClr val="23815D"/>
    <a:srgbClr val="27C00E"/>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96362" autoAdjust="0"/>
  </p:normalViewPr>
  <p:slideViewPr>
    <p:cSldViewPr snapToGrid="0" snapToObjects="1">
      <p:cViewPr varScale="1">
        <p:scale>
          <a:sx n="111" d="100"/>
          <a:sy n="111" d="100"/>
        </p:scale>
        <p:origin x="558" y="96"/>
      </p:cViewPr>
      <p:guideLst>
        <p:guide orient="horz" pos="2160"/>
        <p:guide pos="3840"/>
      </p:guideLst>
    </p:cSldViewPr>
  </p:slideViewPr>
  <p:notesTextViewPr>
    <p:cViewPr>
      <p:scale>
        <a:sx n="100" d="100"/>
        <a:sy n="100" d="100"/>
      </p:scale>
      <p:origin x="0" y="0"/>
    </p:cViewPr>
  </p:notesTextViewPr>
  <p:gridSpacing cx="76200" cy="76200"/>
</p:viewPr>
</file>

<file path=ppt/_rels/presentation.xml.rels><?xml version="1.0" encoding="utf-8"?>
<Relationships xmlns="http://schemas.openxmlformats.org/package/2006/relationships"><Relationship Id="rId13" Type="http://schemas.openxmlformats.org/officeDocument/2006/relationships/theme" Target="theme/theme1.xml"/><Relationship Id="rId3" Type="http://schemas.openxmlformats.org/officeDocument/2006/relationships/customXml" Target="../customXml/item3.xml"/><Relationship Id="rId12" Type="http://schemas.openxmlformats.org/officeDocument/2006/relationships/viewProps" Target="viewProps.xml"/><Relationship Id="rId2" Type="http://schemas.openxmlformats.org/officeDocument/2006/relationships/customXml" Target="../customXml/item2.xml"/><Relationship Id="rId1" Type="http://schemas.openxmlformats.org/officeDocument/2006/relationships/customXml" Target="../customXml/item1.xml"/><Relationship Id="rId11" Type="http://schemas.openxmlformats.org/officeDocument/2006/relationships/presProps" Target="presProps.xml"/><Relationship Id="rId10"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notesMaster" Target="notesMasters/notesMaster1.xml"/><Relationship Id="rId14" Type="http://schemas.openxmlformats.org/officeDocument/2006/relationships/tableStyles" Target="tableStyles.xml"/><Relationship Id="rId100" Type="http://schemas.openxmlformats.org/officeDocument/2006/relationships/slide" Target="slides/slide1.xml"/><Relationship Id="rId101" Type="http://schemas.openxmlformats.org/officeDocument/2006/relationships/slide" Target="slides/slide2.xml"/><Relationship Id="rId102" Type="http://schemas.openxmlformats.org/officeDocument/2006/relationships/slide" Target="slides/slide3.xml"/><Relationship Id="rId103" Type="http://schemas.openxmlformats.org/officeDocument/2006/relationships/slide" Target="slides/slide4.xml"/><Relationship Id="rId104" Type="http://schemas.openxmlformats.org/officeDocument/2006/relationships/slide" Target="slides/slide5.xml"/><Relationship Id="rId105" Type="http://schemas.openxmlformats.org/officeDocument/2006/relationships/slide" Target="slides/slide6.xml"/><Relationship Id="rId106" Type="http://schemas.openxmlformats.org/officeDocument/2006/relationships/slide" Target="slides/slide7.xml"/><Relationship Id="rId107" Type="http://schemas.openxmlformats.org/officeDocument/2006/relationships/slide" Target="slides/slide8.xml"/><Relationship Id="rId108" Type="http://schemas.openxmlformats.org/officeDocument/2006/relationships/slide" Target="slides/slide9.xml"/><Relationship Id="rId109" Type="http://schemas.openxmlformats.org/officeDocument/2006/relationships/slide" Target="slides/slide10.xml"/><Relationship Id="rId110" Type="http://schemas.openxmlformats.org/officeDocument/2006/relationships/slide" Target="slides/slide11.xml"/><Relationship Id="rId111" Type="http://schemas.openxmlformats.org/officeDocument/2006/relationships/slide" Target="slides/slide12.xml"/><Relationship Id="rId112" Type="http://schemas.openxmlformats.org/officeDocument/2006/relationships/slide" Target="slides/slide13.xml"/><Relationship Id="rId113" Type="http://schemas.openxmlformats.org/officeDocument/2006/relationships/slide" Target="slides/slide14.xml"/><Relationship Id="rId114" Type="http://schemas.openxmlformats.org/officeDocument/2006/relationships/slide" Target="slides/slide15.xml"/><Relationship Id="rId115" Type="http://schemas.openxmlformats.org/officeDocument/2006/relationships/slide" Target="slides/slide16.xml"/><Relationship Id="rId116" Type="http://schemas.openxmlformats.org/officeDocument/2006/relationships/slide" Target="slides/slide17.xml"/><Relationship Id="rId117" Type="http://schemas.openxmlformats.org/officeDocument/2006/relationships/slide" Target="slides/slide18.xml"/><Relationship Id="rId118" Type="http://schemas.openxmlformats.org/officeDocument/2006/relationships/slide" Target="slides/slide19.xml"/><Relationship Id="rId119" Type="http://schemas.openxmlformats.org/officeDocument/2006/relationships/slide" Target="slides/slide20.xml"/><Relationship Id="rId120" Type="http://schemas.openxmlformats.org/officeDocument/2006/relationships/slide" Target="slides/slide21.xml"/><Relationship Id="rId121" Type="http://schemas.openxmlformats.org/officeDocument/2006/relationships/slide" Target="slides/slide22.xml"/><Relationship Id="rId122" Type="http://schemas.openxmlformats.org/officeDocument/2006/relationships/slide" Target="slides/slide23.xml"/><Relationship Id="rId123" Type="http://schemas.openxmlformats.org/officeDocument/2006/relationships/slide" Target="slides/slide24.xml"/><Relationship Id="rId124" Type="http://schemas.openxmlformats.org/officeDocument/2006/relationships/slide" Target="slides/slide25.xml"/><Relationship Id="rId125" Type="http://schemas.openxmlformats.org/officeDocument/2006/relationships/slide" Target="slides/slide26.xml"/><Relationship Id="rId126" Type="http://schemas.openxmlformats.org/officeDocument/2006/relationships/slide" Target="slides/slide27.xml"/><Relationship Id="rId127" Type="http://schemas.openxmlformats.org/officeDocument/2006/relationships/slide" Target="slides/slide28.xml"/><Relationship Id="rId128" Type="http://schemas.openxmlformats.org/officeDocument/2006/relationships/slide" Target="slides/slide29.xml"/><Relationship Id="rId129" Type="http://schemas.openxmlformats.org/officeDocument/2006/relationships/slide" Target="slides/slide30.xml"/><Relationship Id="rId130" Type="http://schemas.openxmlformats.org/officeDocument/2006/relationships/slide" Target="slides/slide31.xml"/><Relationship Id="rId131" Type="http://schemas.openxmlformats.org/officeDocument/2006/relationships/slide" Target="slides/slide32.xml"/><Relationship Id="rId132" Type="http://schemas.openxmlformats.org/officeDocument/2006/relationships/slide" Target="slides/slide33.xml"/><Relationship Id="rId133" Type="http://schemas.openxmlformats.org/officeDocument/2006/relationships/slide" Target="slides/slide34.xml"/><Relationship Id="rId134" Type="http://schemas.openxmlformats.org/officeDocument/2006/relationships/slide" Target="slides/slide35.xml"/><Relationship Id="rId135" Type="http://schemas.openxmlformats.org/officeDocument/2006/relationships/slide" Target="slides/slide36.xml"/><Relationship Id="rId136" Type="http://schemas.openxmlformats.org/officeDocument/2006/relationships/slide" Target="slides/slide37.xml"/><Relationship Id="rId137" Type="http://schemas.openxmlformats.org/officeDocument/2006/relationships/slide" Target="slides/slide38.xml"/><Relationship Id="rId138" Type="http://schemas.openxmlformats.org/officeDocument/2006/relationships/slide" Target="slides/slide39.xml"/><Relationship Id="rId139" Type="http://schemas.openxmlformats.org/officeDocument/2006/relationships/slide" Target="slides/slide40.xml"/><Relationship Id="rId140" Type="http://schemas.openxmlformats.org/officeDocument/2006/relationships/slide" Target="slides/slide41.xml"/><Relationship Id="rId141" Type="http://schemas.openxmlformats.org/officeDocument/2006/relationships/slide" Target="slides/slide42.xml"/><Relationship Id="rId142" Type="http://schemas.openxmlformats.org/officeDocument/2006/relationships/slide" Target="slides/slide43.xml"/><Relationship Id="rId143" Type="http://schemas.openxmlformats.org/officeDocument/2006/relationships/slide" Target="slides/slide44.xml"/><Relationship Id="rId144" Type="http://schemas.openxmlformats.org/officeDocument/2006/relationships/slide" Target="slides/slide45.xml"/><Relationship Id="rId145" Type="http://schemas.openxmlformats.org/officeDocument/2006/relationships/slide" Target="slides/slide46.xml"/><Relationship Id="rId146" Type="http://schemas.openxmlformats.org/officeDocument/2006/relationships/slide" Target="slides/slide47.xml"/><Relationship Id="rId147" Type="http://schemas.openxmlformats.org/officeDocument/2006/relationships/slide" Target="slides/slide48.xml"/><Relationship Id="rId148" Type="http://schemas.openxmlformats.org/officeDocument/2006/relationships/slide" Target="slides/slide49.xml"/><Relationship Id="rId149" Type="http://schemas.openxmlformats.org/officeDocument/2006/relationships/slide" Target="slides/slide50.xml"/><Relationship Id="rId150" Type="http://schemas.openxmlformats.org/officeDocument/2006/relationships/slide" Target="slides/slide51.xml"/><Relationship Id="rId151" Type="http://schemas.openxmlformats.org/officeDocument/2006/relationships/slide" Target="slides/slide52.xml"/><Relationship Id="rId152" Type="http://schemas.openxmlformats.org/officeDocument/2006/relationships/slide" Target="slides/slide53.xml"/><Relationship Id="rId153" Type="http://schemas.openxmlformats.org/officeDocument/2006/relationships/slide" Target="slides/slide54.xml"/><Relationship Id="rId154" Type="http://schemas.openxmlformats.org/officeDocument/2006/relationships/slide" Target="slides/slide55.xml"/><Relationship Id="rId155" Type="http://schemas.openxmlformats.org/officeDocument/2006/relationships/slide" Target="slides/slide56.xml"/><Relationship Id="rId156" Type="http://schemas.openxmlformats.org/officeDocument/2006/relationships/slide" Target="slides/slide57.xml"/><Relationship Id="rId157" Type="http://schemas.openxmlformats.org/officeDocument/2006/relationships/slide" Target="slides/slide58.xml"/><Relationship Id="rId158" Type="http://schemas.openxmlformats.org/officeDocument/2006/relationships/slide" Target="slides/slide59.xml"/><Relationship Id="rId159" Type="http://schemas.openxmlformats.org/officeDocument/2006/relationships/slide" Target="slides/slide60.xml"/><Relationship Id="rId160" Type="http://schemas.openxmlformats.org/officeDocument/2006/relationships/slide" Target="slides/slide61.xml"/><Relationship Id="rId161" Type="http://schemas.openxmlformats.org/officeDocument/2006/relationships/slide" Target="slides/slide62.xml"/><Relationship Id="rId162" Type="http://schemas.openxmlformats.org/officeDocument/2006/relationships/slide" Target="slides/slide63.xml"/><Relationship Id="rId163" Type="http://schemas.openxmlformats.org/officeDocument/2006/relationships/slide" Target="slides/slide64.xml"/><Relationship Id="rId164" Type="http://schemas.openxmlformats.org/officeDocument/2006/relationships/slide" Target="slides/slide65.xml"/><Relationship Id="rId165" Type="http://schemas.openxmlformats.org/officeDocument/2006/relationships/slide" Target="slides/slide66.xml"/><Relationship Id="rId166" Type="http://schemas.openxmlformats.org/officeDocument/2006/relationships/slide" Target="slides/slide67.xml"/><Relationship Id="rId167" Type="http://schemas.openxmlformats.org/officeDocument/2006/relationships/slide" Target="slides/slide68.xml"/><Relationship Id="rId168" Type="http://schemas.openxmlformats.org/officeDocument/2006/relationships/slide" Target="slides/slide69.xml"/><Relationship Id="rId169" Type="http://schemas.openxmlformats.org/officeDocument/2006/relationships/slide" Target="slides/slide70.xml"/><Relationship Id="rId170" Type="http://schemas.openxmlformats.org/officeDocument/2006/relationships/slide" Target="slides/slide71.xml"/><Relationship Id="rId171" Type="http://schemas.openxmlformats.org/officeDocument/2006/relationships/slide" Target="slides/slide72.xml"/><Relationship Id="rId172" Type="http://schemas.openxmlformats.org/officeDocument/2006/relationships/slide" Target="slides/slide73.xml"/><Relationship Id="rId173" Type="http://schemas.openxmlformats.org/officeDocument/2006/relationships/slide" Target="slides/slide74.xml"/><Relationship Id="rId174" Type="http://schemas.openxmlformats.org/officeDocument/2006/relationships/slide" Target="slides/slide75.xml"/><Relationship Id="rId175" Type="http://schemas.openxmlformats.org/officeDocument/2006/relationships/slide" Target="slides/slide76.xml"/><Relationship Id="rId176" Type="http://schemas.openxmlformats.org/officeDocument/2006/relationships/slide" Target="slides/slide77.xml"/><Relationship Id="rId177" Type="http://schemas.openxmlformats.org/officeDocument/2006/relationships/slide" Target="slides/slide78.xml"/><Relationship Id="rId178" Type="http://schemas.openxmlformats.org/officeDocument/2006/relationships/slide" Target="slides/slide79.xml"/><Relationship Id="rId179" Type="http://schemas.openxmlformats.org/officeDocument/2006/relationships/slide" Target="slides/slide80.xml"/><Relationship Id="rId180" Type="http://schemas.openxmlformats.org/officeDocument/2006/relationships/slide" Target="slides/slide81.xml"/><Relationship Id="rId181" Type="http://schemas.openxmlformats.org/officeDocument/2006/relationships/slide" Target="slides/slide82.xml"/><Relationship Id="rId182" Type="http://schemas.openxmlformats.org/officeDocument/2006/relationships/slide" Target="slides/slide83.xml"/><Relationship Id="rId183" Type="http://schemas.openxmlformats.org/officeDocument/2006/relationships/slide" Target="slides/slide84.xml"/><Relationship Id="rId184" Type="http://schemas.openxmlformats.org/officeDocument/2006/relationships/slide" Target="slides/slide85.xml"/><Relationship Id="rId185" Type="http://schemas.openxmlformats.org/officeDocument/2006/relationships/slide" Target="slides/slide86.xml"/><Relationship Id="rId186" Type="http://schemas.openxmlformats.org/officeDocument/2006/relationships/slide" Target="slides/slide87.xml"/><Relationship Id="rId187" Type="http://schemas.openxmlformats.org/officeDocument/2006/relationships/slide" Target="slides/slide88.xml"/><Relationship Id="rId188" Type="http://schemas.openxmlformats.org/officeDocument/2006/relationships/slide" Target="slides/slide89.xml"/><Relationship Id="rId189" Type="http://schemas.openxmlformats.org/officeDocument/2006/relationships/slide" Target="slides/slide90.xml"/><Relationship Id="rId190" Type="http://schemas.openxmlformats.org/officeDocument/2006/relationships/slide" Target="slides/slide91.xml"/><Relationship Id="rId191" Type="http://schemas.openxmlformats.org/officeDocument/2006/relationships/slide" Target="slides/slide92.xml"/><Relationship Id="rId192" Type="http://schemas.openxmlformats.org/officeDocument/2006/relationships/slide" Target="slides/slide93.xml"/><Relationship Id="rId193" Type="http://schemas.openxmlformats.org/officeDocument/2006/relationships/slide" Target="slides/slide94.xml"/><Relationship Id="rId194" Type="http://schemas.openxmlformats.org/officeDocument/2006/relationships/slide" Target="slides/slide95.xml"/><Relationship Id="rId195" Type="http://schemas.openxmlformats.org/officeDocument/2006/relationships/slide" Target="slides/slide96.xml"/><Relationship Id="rId196" Type="http://schemas.openxmlformats.org/officeDocument/2006/relationships/slide" Target="slides/slide97.xml"/><Relationship Id="rId197" Type="http://schemas.openxmlformats.org/officeDocument/2006/relationships/slide" Target="slides/slide98.xml"/><Relationship Id="rId198" Type="http://schemas.openxmlformats.org/officeDocument/2006/relationships/slide" Target="slides/slide99.xml"/><Relationship Id="rId199" Type="http://schemas.openxmlformats.org/officeDocument/2006/relationships/slide" Target="slides/slide100.xml"/><Relationship Id="rId200" Type="http://schemas.openxmlformats.org/officeDocument/2006/relationships/slide" Target="slides/slide101.xml"/><Relationship Id="rId201" Type="http://schemas.openxmlformats.org/officeDocument/2006/relationships/slide" Target="slides/slide102.xml"/><Relationship Id="rId202" Type="http://schemas.openxmlformats.org/officeDocument/2006/relationships/slide" Target="slides/slide103.xml"/><Relationship Id="rId203" Type="http://schemas.openxmlformats.org/officeDocument/2006/relationships/slide" Target="slides/slide104.xml"/><Relationship Id="rId204" Type="http://schemas.openxmlformats.org/officeDocument/2006/relationships/slide" Target="slides/slide105.xml"/><Relationship Id="rId205" Type="http://schemas.openxmlformats.org/officeDocument/2006/relationships/slide" Target="slides/slide106.xml"/><Relationship Id="rId206" Type="http://schemas.openxmlformats.org/officeDocument/2006/relationships/slide" Target="slides/slide107.xml"/><Relationship Id="rId207" Type="http://schemas.openxmlformats.org/officeDocument/2006/relationships/slide" Target="slides/slide108.xml"/><Relationship Id="rId208" Type="http://schemas.openxmlformats.org/officeDocument/2006/relationships/slide" Target="slides/slide109.xml"/><Relationship Id="rId209" Type="http://schemas.openxmlformats.org/officeDocument/2006/relationships/slide" Target="slides/slide110.xml"/><Relationship Id="rId210" Type="http://schemas.openxmlformats.org/officeDocument/2006/relationships/slide" Target="slides/slide111.xml"/><Relationship Id="rId211" Type="http://schemas.openxmlformats.org/officeDocument/2006/relationships/slide" Target="slides/slide112.xml"/><Relationship Id="rId212" Type="http://schemas.openxmlformats.org/officeDocument/2006/relationships/slide" Target="slides/slide113.xml"/><Relationship Id="rId213" Type="http://schemas.openxmlformats.org/officeDocument/2006/relationships/slide" Target="slides/slide114.xml"/><Relationship Id="rId214" Type="http://schemas.openxmlformats.org/officeDocument/2006/relationships/slide" Target="slides/slide115.xml"/><Relationship Id="rId215" Type="http://schemas.openxmlformats.org/officeDocument/2006/relationships/slide" Target="slides/slide116.xml"/><Relationship Id="rId216" Type="http://schemas.openxmlformats.org/officeDocument/2006/relationships/slide" Target="slides/slide117.xml"/><Relationship Id="rId217" Type="http://schemas.openxmlformats.org/officeDocument/2006/relationships/slide" Target="slides/slide118.xml"/><Relationship Id="rId218" Type="http://schemas.openxmlformats.org/officeDocument/2006/relationships/slide" Target="slides/slide119.xml"/><Relationship Id="rId219" Type="http://schemas.openxmlformats.org/officeDocument/2006/relationships/slide" Target="slides/slide120.xml"/><Relationship Id="rId220" Type="http://schemas.openxmlformats.org/officeDocument/2006/relationships/slide" Target="slides/slide121.xml"/><Relationship Id="rId221" Type="http://schemas.openxmlformats.org/officeDocument/2006/relationships/slide" Target="slides/slide122.xml"/><Relationship Id="rId222" Type="http://schemas.openxmlformats.org/officeDocument/2006/relationships/slide" Target="slides/slide123.xml"/></Relationships>
</file>

<file path=ppt/handoutMasters/_rels/handoutMaster1.xml.rels><?xml version="1.0" encoding="utf-8"?>
<Relationships xmlns="http://schemas.openxmlformats.org/package/2006/relationships">
  <Relationship Id="rId1" Type="http://schemas.openxmlformats.org/officeDocument/2006/relationships/theme" Target="../theme/theme3.xml"/>
</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3B5D52A-429B-4F3B-9065-09BE3B66FFEC}" type="datetimeFigureOut">
              <a:rPr lang="en-US" smtClean="0"/>
              <a:t>6/28/2026</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2EE22F7-24BD-4EBD-8854-47F4E943AAF7}" type="slidenum">
              <a:rPr lang="en-US" smtClean="0"/>
              <a:t>‹#›</a:t>
            </a:fld>
            <a:endParaRPr lang="en-US"/>
          </a:p>
        </p:txBody>
      </p:sp>
    </p:spTree>
    <p:extLst>
      <p:ext uri="{BB962C8B-B14F-4D97-AF65-F5344CB8AC3E}">
        <p14:creationId xmlns:p14="http://schemas.microsoft.com/office/powerpoint/2010/main" val="458501032"/>
      </p:ext>
    </p:extLst>
  </p:cSld>
  <p:clrMap bg1="lt1" tx1="dk1" bg2="lt2" tx2="dk2" accent1="accent1" accent2="accent2" accent3="accent3" accent4="accent4" accent5="accent5" accent6="accent6" hlink="hlink" folHlink="folHlink"/>
</p:handoutMaster>
</file>

<file path=ppt/notesMasters/_rels/notesMaster1.xml.rels><?xml version="1.0" encoding="utf-8"?>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D7C3607-6095-4CD0-92A0-FFEF984E53C8}" type="datetimeFigureOut">
              <a:rPr lang="en-US" smtClean="0"/>
              <a:t>6/28/2026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F32F38D-C8BB-4D18-A518-262BC2556B91}" type="slidenum">
              <a:rPr lang="en-US" smtClean="0"/>
              <a:t>‹#›</a:t>
            </a:fld>
            <a:endParaRPr lang="en-US"/>
          </a:p>
        </p:txBody>
      </p:sp>
    </p:spTree>
    <p:extLst>
      <p:ext uri="{BB962C8B-B14F-4D97-AF65-F5344CB8AC3E}">
        <p14:creationId xmlns:p14="http://schemas.microsoft.com/office/powerpoint/2010/main" val="7760895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80.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81.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82.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3.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84.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85.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86.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87.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8.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89.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90.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91.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92.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93.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94.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95.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96.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97.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98.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99.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100.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101.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_rels/notesSlide102.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_rels/notesSlide103.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3.xml"/></Relationships>
</file>

<file path=ppt/notesSlides/_rels/notesSlide104.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xml"/></Relationships>
</file>

<file path=ppt/notesSlides/_rels/notesSlide105.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5.xml"/></Relationships>
</file>

<file path=ppt/notesSlides/_rels/notesSlide106.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6.xml"/></Relationships>
</file>

<file path=ppt/notesSlides/_rels/notesSlide107.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7.xml"/></Relationships>
</file>

<file path=ppt/notesSlides/_rels/notesSlide108.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8.xml"/></Relationships>
</file>

<file path=ppt/notesSlides/_rels/notesSlide109.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9.xml"/></Relationships>
</file>

<file path=ppt/notesSlides/_rels/notesSlide110.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0.xml"/></Relationships>
</file>

<file path=ppt/notesSlides/_rels/notesSlide111.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1.xml"/></Relationships>
</file>

<file path=ppt/notesSlides/_rels/notesSlide112.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2.xml"/></Relationships>
</file>

<file path=ppt/notesSlides/_rels/notesSlide113.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3.xml"/></Relationships>
</file>

<file path=ppt/notesSlides/_rels/notesSlide114.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4.xml"/></Relationships>
</file>

<file path=ppt/notesSlides/_rels/notesSlide115.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5.xml"/></Relationships>
</file>

<file path=ppt/notesSlides/_rels/notesSlide116.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6.xml"/></Relationships>
</file>

<file path=ppt/notesSlides/_rels/notesSlide117.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7.xml"/></Relationships>
</file>

<file path=ppt/notesSlides/_rels/notesSlide118.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8.xml"/></Relationships>
</file>

<file path=ppt/notesSlides/_rels/notesSlide119.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9.xml"/></Relationships>
</file>

<file path=ppt/notesSlides/_rels/notesSlide120.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0.xml"/></Relationships>
</file>

<file path=ppt/notesSlides/_rels/notesSlide121.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1.xml"/></Relationships>
</file>

<file path=ppt/notesSlides/_rels/notesSlide122.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2.xml"/></Relationships>
</file>

<file path=ppt/notesSlides/_rels/notesSlide123.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1" dirty="0"/>
              <a:t>TITLE SLIDE.</a:t>
            </a:r>
          </a:p>
          <a:p>
            <a:r>
              <a:rPr lang="en-US" sz="1400" b="0" dirty="0"/>
              <a:t>Welcome participants to Phase I of Clinical Data Analysis in R.</a:t>
            </a:r>
          </a:p>
          <a:p>
            <a:r>
              <a:rPr lang="en-US" sz="1400" b="0" dirty="0"/>
              <a:t>Key teaching point: by the final session every participant will import, clean, analyse and report a real clinical dataset, with no prior coding.</a:t>
            </a:r>
          </a:p>
          <a:p>
            <a:r>
              <a:rPr lang="en-US" sz="1400" b="0" dirty="0"/>
              <a:t>Demo tip: ask the room who has opened R before - calibrate pace.</a:t>
            </a:r>
          </a:p>
          <a:p>
            <a:r>
              <a:rPr lang="en-US" sz="1400" b="0" dirty="0"/>
              <a:t>Audience question: what do you hope to analyse in your own work? Expected answer: trial/survey/audit data - reassure all fit this workflow.</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Set the tone: supportive, practical, clinically relevant.</a:t>
            </a:r>
          </a:p>
          <a:p>
            <a:r>
              <a:rPr lang="en-US" sz="1400" b="0" dirty="0"/>
              <a:t>Common misconception: 'I am not a maths/computer person so R is not for me.' Reframe: R is a skill like using a new clinical device - learnable with practice.</a:t>
            </a:r>
          </a:p>
          <a:p>
            <a:r>
              <a:rPr lang="en-US" sz="1400" b="0" dirty="0"/>
              <a:t>Clinical interpretation: reproducibility protects you in audits, revisions and re-analysis.</a:t>
            </a:r>
          </a:p>
          <a:p>
            <a:r>
              <a:rPr lang="en-US" sz="1400" b="0" dirty="0"/>
              <a:t>Audience question: how many currently use Excel/SPSS/Stata? Expected: most - bridge from there.</a:t>
            </a:r>
          </a:p>
          <a:p>
            <a:r>
              <a:rPr lang="en-US" sz="1400" b="0" dirty="0"/>
              <a:t>Demo tip: keep the first day light on jargon.</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Establish the shared starting point.</a:t>
            </a:r>
          </a:p>
          <a:p>
            <a:r>
              <a:rPr lang="en-US" sz="1400" b="0" dirty="0"/>
              <a:t>Key teaching point: the mix of backgrounds is a strength - pair confident with less confident learners.</a:t>
            </a:r>
          </a:p>
          <a:p>
            <a:r>
              <a:rPr lang="en-US" sz="1400" b="0" dirty="0"/>
              <a:t>Common misconception: that statisticians and clinicians need different tools - they do not.</a:t>
            </a:r>
          </a:p>
          <a:p>
            <a:r>
              <a:rPr lang="en-US" sz="1400" b="0" dirty="0"/>
              <a:t>Audience question: what is your single biggest data frustration today? Expected: cleaning, or 'I cannot reproduce last year's analysis'.</a:t>
            </a:r>
          </a:p>
          <a:p>
            <a:r>
              <a:rPr lang="en-US" sz="1400" b="0" dirty="0"/>
              <a:t>Demo tip: note names/roles to tailor examples.</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Walk through objectives 1-7 (the data-handling and description skills).</a:t>
            </a:r>
          </a:p>
          <a:p>
            <a:r>
              <a:rPr lang="en-US" sz="1400" b="0" dirty="0"/>
              <a:t>Key teaching point: these map one-to-one onto the five days.</a:t>
            </a:r>
          </a:p>
          <a:p>
            <a:r>
              <a:rPr lang="en-US" sz="1400" b="0" dirty="0"/>
              <a:t>Clinical interpretation: each objective is a step in a real manuscript workflow.</a:t>
            </a:r>
          </a:p>
          <a:p>
            <a:r>
              <a:rPr lang="en-US" sz="1400" b="0" dirty="0"/>
              <a:t>Audience question: which objective matters most to you? Expected: varies - reassure all are covered.</a:t>
            </a:r>
          </a:p>
          <a:p>
            <a:r>
              <a:rPr lang="en-US" sz="1400" b="0" dirty="0"/>
              <a:t>Demo tip: return to this list at each day's recap to show progress.</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Objectives 8-13 (the analysis, inference and reporting skills).</a:t>
            </a:r>
          </a:p>
          <a:p>
            <a:r>
              <a:rPr lang="en-US" sz="1400" b="0" dirty="0"/>
              <a:t>Key teaching point: interpretation is weighted as heavily as computation throughout.</a:t>
            </a:r>
          </a:p>
          <a:p>
            <a:r>
              <a:rPr lang="en-US" sz="1400" b="0" dirty="0"/>
              <a:t>Common misconception: that running the test is the hard part - interpreting and reporting it well is harder.</a:t>
            </a:r>
          </a:p>
          <a:p>
            <a:r>
              <a:rPr lang="en-US" sz="1400" b="0" dirty="0"/>
              <a:t>Audience question: who has had a paper criticised for statistics? Expected: a few - this course prevents that.</a:t>
            </a:r>
          </a:p>
          <a:p>
            <a:r>
              <a:rPr lang="en-US" sz="1400" b="0" dirty="0"/>
              <a:t>Demo tip: emphasise we always ask 'what does this mean clinically?'</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Give the map of the whole week.</a:t>
            </a:r>
          </a:p>
          <a:p>
            <a:r>
              <a:rPr lang="en-US" sz="1400" b="0" dirty="0"/>
              <a:t>Key teaching point: skills are cumulative - Day 2's clean data feeds every later day.</a:t>
            </a:r>
          </a:p>
          <a:p>
            <a:r>
              <a:rPr lang="en-US" sz="1400" b="0" dirty="0"/>
              <a:t>Clinical interpretation: this is exactly how a real analysis project flows, start to finish.</a:t>
            </a:r>
          </a:p>
          <a:p>
            <a:r>
              <a:rPr lang="en-US" sz="1400" b="0" dirty="0"/>
              <a:t>Audience question: which day looks most daunting? Expected: Days 4-5 - reassure we build up gently.</a:t>
            </a:r>
          </a:p>
          <a:p>
            <a:r>
              <a:rPr lang="en-US" sz="1400" b="0" dirty="0"/>
              <a:t>Demo tip: keep this slide handy to re-orient anyone who feels lost.</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Explain the format so participants know what to expect each session.</a:t>
            </a:r>
          </a:p>
          <a:p>
            <a:r>
              <a:rPr lang="en-US" sz="1400" b="0" dirty="0"/>
              <a:t>Key teaching point: watching then doing (the demo-then-exercise pattern) is how coding is learned.</a:t>
            </a:r>
          </a:p>
          <a:p>
            <a:r>
              <a:rPr lang="en-US" sz="1400" b="0" dirty="0"/>
              <a:t>Common mistake: trying to type along during the demo and falling behind - watch first, code in the exercise.</a:t>
            </a:r>
          </a:p>
          <a:p>
            <a:r>
              <a:rPr lang="en-US" sz="1400" b="0" dirty="0"/>
              <a:t>Audience question: prefer to type along or watch then do? Expected: mixed - explain why watch-first works.</a:t>
            </a:r>
          </a:p>
          <a:p>
            <a:r>
              <a:rPr lang="en-US" sz="1400" b="0" dirty="0"/>
              <a:t>Demo tip: share your screen with a large font (e.g. 16-18pt).</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Introduce the single dataset that anchors every exercise.</a:t>
            </a:r>
          </a:p>
          <a:p>
            <a:r>
              <a:rPr lang="en-US" sz="1400" b="0" dirty="0"/>
              <a:t>Key teaching point: using one realistic dataset all week lets skills compound.</a:t>
            </a:r>
          </a:p>
          <a:p>
            <a:r>
              <a:rPr lang="en-US" sz="1400" b="0" dirty="0"/>
              <a:t>Clinical interpretation: treatment uptake is a real implementation-science question - many diagnosed patients never start therapy.</a:t>
            </a:r>
          </a:p>
          <a:p>
            <a:r>
              <a:rPr lang="en-US" sz="1400" b="0" dirty="0"/>
              <a:t>Audience question: why might a diagnosed patient not be on treatment? Expected: cost, distance, beliefs, no insurance - these are our predictors.</a:t>
            </a:r>
          </a:p>
          <a:p>
            <a:r>
              <a:rPr lang="en-US" sz="1400" b="0" dirty="0"/>
              <a:t>Demo tip: this is simulated data built to behave realistically - safe to share and reproduce.</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Preview the data dictionary so variables are familiar before Day 1's import.</a:t>
            </a:r>
          </a:p>
          <a:p>
            <a:r>
              <a:rPr lang="en-US" sz="1400" b="0" dirty="0"/>
              <a:t>Key teaching point: knowing your variables and their types is half of good analysis.</a:t>
            </a:r>
          </a:p>
          <a:p>
            <a:r>
              <a:rPr lang="en-US" sz="1400" b="0" dirty="0"/>
              <a:t>Common misconception: more variables is always better - we will discuss parsimony on Day 5.</a:t>
            </a:r>
          </a:p>
          <a:p>
            <a:r>
              <a:rPr lang="en-US" sz="1400" b="0" dirty="0"/>
              <a:t>Clinical interpretation: these span the determinants framework (predisposing, enabling, need factors).</a:t>
            </a:r>
          </a:p>
          <a:p>
            <a:r>
              <a:rPr lang="en-US" sz="1400" b="0" dirty="0"/>
              <a:t>Audience question: which variable would you expect to predict uptake? Expected: insurance, diabetes, education - we will test this.</a:t>
            </a:r>
          </a:p>
          <a:p>
            <a:r>
              <a:rPr lang="en-US" sz="1400" b="0" dirty="0"/>
              <a:t>Demo tip: hand out the printed data dictionary now.</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Show the throughline so participants see the destination from Day 1.</a:t>
            </a:r>
          </a:p>
          <a:p>
            <a:r>
              <a:rPr lang="en-US" sz="1400" b="0" dirty="0"/>
              <a:t>Key teaching point: analysis is a pipeline, not a single magic command.</a:t>
            </a:r>
          </a:p>
          <a:p>
            <a:r>
              <a:rPr lang="en-US" sz="1400" b="0" dirty="0"/>
              <a:t>Clinical interpretation: reproducibility means a reviewer could rerun your script and get your numbers.</a:t>
            </a:r>
          </a:p>
          <a:p>
            <a:r>
              <a:rPr lang="en-US" sz="1400" b="0" dirty="0"/>
              <a:t>Audience question: where do most analyses go wrong? Expected: cleaning and interpretation - hence two full sessions on them.</a:t>
            </a:r>
          </a:p>
          <a:p>
            <a:r>
              <a:rPr lang="en-US" sz="1400" b="0" dirty="0"/>
              <a:t>Demo tip: revisit this pipeline diagram at each session's start.</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Use this slide to confirm logistics and introduce the teaching team.</a:t>
            </a:r>
          </a:p>
          <a:p>
            <a:r>
              <a:rPr lang="en-US" sz="1400" b="0" dirty="0"/>
              <a:t>Key teaching point: three trainers means plenty of help during the guided exercises.</a:t>
            </a:r>
          </a:p>
          <a:p>
            <a:r>
              <a:rPr lang="en-US" sz="1400" b="0" dirty="0"/>
              <a:t>Housekeeping: share the registration link/QR and the enquiries email for colleagues who want to join a future cohort.</a:t>
            </a:r>
          </a:p>
          <a:p>
            <a:r>
              <a:rPr lang="en-US" sz="1400" b="0" dirty="0"/>
              <a:t>Demo tip: invite each trainer to say one line about themselves.</a:t>
            </a:r>
          </a:p>
          <a:p>
            <a:r>
              <a:rPr lang="en-US" sz="1400" b="0" dirty="0"/>
              <a:t>Audience question: any scheduling or access questions before we begin? Expected: confirm the Tuesday evening slot works.</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Key point: this whole day is about getting comfortable, not memorising. By tonight every participant will have imported a real clinical dataset and looked at it.</a:t>
            </a:r>
          </a:p>
          <a:p>
            <a:r>
              <a:rPr lang="en-US" sz="1400" b="0" dirty="0"/>
              <a:t>Common misconception: that you must be a programmer. You do not; R is a tool like a calculator or a stethoscope.</a:t>
            </a:r>
          </a:p>
          <a:p>
            <a:r>
              <a:rPr lang="en-US" sz="1400" b="0" dirty="0"/>
              <a:t>Clinical interpretation: reproducible analysis means a colleague or a regulator can re-run your work and get the same numbers.</a:t>
            </a:r>
          </a:p>
          <a:p>
            <a:r>
              <a:rPr lang="en-US" sz="1400" b="0" dirty="0"/>
              <a:t>Ask the audience: who has used Excel for research? Expected answer: almost everyone. Bridge: R does what Excel does, but it records every step.</a:t>
            </a:r>
          </a:p>
          <a:p>
            <a:r>
              <a:rPr lang="en-US" sz="1400" b="0" dirty="0"/>
              <a:t>Demo tip: keep RStudio open on screen behind you so people see the real thing, not just slides.</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Key point: the headline advantage is reproducibility plus zero cost. Click-by-click in Excel is hard to reproduce; a script is the recipe.</a:t>
            </a:r>
          </a:p>
          <a:p>
            <a:r>
              <a:rPr lang="en-US" sz="1400" b="0" dirty="0"/>
              <a:t>Common misconception: that free means low quality. R is used by FDA, EMA reviewers, and most major epidemiology groups.</a:t>
            </a:r>
          </a:p>
          <a:p>
            <a:r>
              <a:rPr lang="en-US" sz="1400" b="0" dirty="0"/>
              <a:t>Clinical interpretation: when a reviewer asks how you derived a number, you point to a line of code, not your memory.</a:t>
            </a:r>
          </a:p>
          <a:p>
            <a:r>
              <a:rPr lang="en-US" sz="1400" b="0" dirty="0"/>
              <a:t>Ask the audience: what happens if you redo last year's analysis in Excel by hand? Expected answer: you may get slightly different numbers. A script removes that risk.</a:t>
            </a:r>
          </a:p>
          <a:p>
            <a:r>
              <a:rPr lang="en-US" sz="1400" b="0" dirty="0"/>
              <a:t>Demo tip: mention that the figures in many NEJM and Lancet papers are made in R.</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Key point: R is the engine, RStudio is the dashboard. You need both, and you install R first.</a:t>
            </a:r>
          </a:p>
          <a:p>
            <a:r>
              <a:rPr lang="en-US" sz="1400" b="0" dirty="0"/>
              <a:t>Common mistake: people try to open R directly and find a bare console. Always open RStudio instead.</a:t>
            </a:r>
          </a:p>
          <a:p>
            <a:r>
              <a:rPr lang="en-US" sz="1400" b="0" dirty="0"/>
              <a:t>Clinical interpretation: think of R as the lab analyser and RStudio as the technician's interface to it.</a:t>
            </a:r>
          </a:p>
          <a:p>
            <a:r>
              <a:rPr lang="en-US" sz="1400" b="0" dirty="0"/>
              <a:t>Ask the audience: which one do you double-click each morning? Expected answer: RStudio.</a:t>
            </a:r>
          </a:p>
          <a:p>
            <a:r>
              <a:rPr lang="en-US" sz="1400" b="0" dirty="0"/>
              <a:t>Demo tip: show both icons on the desktop so the distinction is concrete.</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Key point: just four panes. Source and Console on the left, Environment and the Files/Plots/Help tabs on the right.</a:t>
            </a:r>
          </a:p>
          <a:p>
            <a:r>
              <a:rPr lang="en-US" sz="1400" b="0" dirty="0"/>
              <a:t>Common misconception: that the layout is fixed; it is configurable, but the defaults are fine for beginners.</a:t>
            </a:r>
          </a:p>
          <a:p>
            <a:r>
              <a:rPr lang="en-US" sz="1400" b="0" dirty="0"/>
              <a:t>Clinical interpretation: the Environment pane is your worktop, it shows what data is currently loaded.</a:t>
            </a:r>
          </a:p>
          <a:p>
            <a:r>
              <a:rPr lang="en-US" sz="1400" b="0" dirty="0"/>
              <a:t>Ask the audience: where will a graph appear? Expected answer: bottom-right, the Plots tab.</a:t>
            </a:r>
          </a:p>
          <a:p>
            <a:r>
              <a:rPr lang="en-US" sz="1400" b="0" dirty="0"/>
              <a:t>Demo tip: type a line in the Console and the same line in the Source, and show that only the saved Source persists.</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Key point: an RStudio Project sets the working directory for you and makes paths portable.</a:t>
            </a:r>
          </a:p>
          <a:p>
            <a:r>
              <a:rPr lang="en-US" sz="1400" b="0" dirty="0"/>
              <a:t>Common mistake: setwd("C:/Users/me/Desktop/...") at the top of a script. It works only on that one computer.</a:t>
            </a:r>
          </a:p>
          <a:p>
            <a:r>
              <a:rPr lang="en-US" sz="1400" b="0" dirty="0"/>
              <a:t>Clinical interpretation: portability matters when you share an analysis with a statistician or a collaborator at another site.</a:t>
            </a:r>
          </a:p>
          <a:p>
            <a:r>
              <a:rPr lang="en-US" sz="1400" b="0" dirty="0"/>
              <a:t>Ask the audience: what is wrong with writing the full C: path? Expected answer: nobody else has that exact folder.</a:t>
            </a:r>
          </a:p>
          <a:p>
            <a:r>
              <a:rPr lang="en-US" sz="1400" b="0" dirty="0"/>
              <a:t>Demo tip: run getwd() once so people see what the current folder actually is, then open the course Project.</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Key point: the script is the reproducible record; the console is a scratchpad.</a:t>
            </a:r>
          </a:p>
          <a:p>
            <a:r>
              <a:rPr lang="en-US" sz="1400" b="0" dirty="0"/>
              <a:t>Common misconception: that typing in the console is enough. It vanishes on close.</a:t>
            </a:r>
          </a:p>
          <a:p>
            <a:r>
              <a:rPr lang="en-US" sz="1400" b="0" dirty="0"/>
              <a:t>Clinical interpretation: the saved script is your analysis audit trail, like a signed lab notebook.</a:t>
            </a:r>
          </a:p>
          <a:p>
            <a:r>
              <a:rPr lang="en-US" sz="1400" b="0" dirty="0"/>
              <a:t>Ask the audience: where should the real analysis live? Expected answer: in a saved script.</a:t>
            </a:r>
          </a:p>
          <a:p>
            <a:r>
              <a:rPr lang="en-US" sz="1400" b="0" dirty="0"/>
              <a:t>Demo tip: run a line with Ctrl+Enter from the script and show the result appearing in the console below.</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Key teaching point: R is first and foremost a calculator - functions like sqrt() and arithmetic (+, -, *, /) work exactly as you expect.</a:t>
            </a:r>
          </a:p>
          <a:p>
            <a:r>
              <a:rPr lang="en-US" sz="1400" b="0" dirty="0"/>
              <a:t>Common misconception: that you must memorise commands before you can do anything. You can explore by just typing sums.</a:t>
            </a:r>
          </a:p>
          <a:p>
            <a:r>
              <a:rPr lang="en-US" sz="1400" b="0" dirty="0"/>
              <a:t>Clinical interpretation: a blood-pressure ratio or a quick mean of a few readings is real, useful work on day one.</a:t>
            </a:r>
          </a:p>
          <a:p>
            <a:r>
              <a:rPr lang="en-US" sz="1400" b="0" dirty="0"/>
              <a:t>Audience question: what does 140 / 90 give, and what might it represent? Expected answer: about 1.56 - a crude systolic-to-diastolic ratio.</a:t>
            </a:r>
          </a:p>
          <a:p>
            <a:r>
              <a:rPr lang="en-US" sz="1400" b="0" dirty="0"/>
              <a:t>Demo tip: let participants call out sums and type them live; build confidence before introducing objects.</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Key point: &lt;- stores a value in a named object; the name then behaves like the value.</a:t>
            </a:r>
          </a:p>
          <a:p>
            <a:r>
              <a:rPr lang="en-US" sz="1400" b="0" dirty="0"/>
              <a:t>Common mistake: writing sbp = 152 (works but is discouraged) or calling it Sbp later and getting an error.</a:t>
            </a:r>
          </a:p>
          <a:p>
            <a:r>
              <a:rPr lang="en-US" sz="1400" b="0" dirty="0"/>
              <a:t>Clinical interpretation: an object is just a labelled container, like a labelled specimen tube.</a:t>
            </a:r>
          </a:p>
          <a:p>
            <a:r>
              <a:rPr lang="en-US" sz="1400" b="0" dirty="0"/>
              <a:t>Ask the audience: is Age the same as age in R? Expected answer: no, R is case-sensitive.</a:t>
            </a:r>
          </a:p>
          <a:p>
            <a:r>
              <a:rPr lang="en-US" sz="1400" b="0" dirty="0"/>
              <a:t>Demo tip: type the shortcut Alt+- (Alt and minus) to insert &lt;- automatically, and show the case-sensitivity error live.</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Key point: c() combines values into a vector; functions like length(), mean() and sd() act on the whole vector at once.</a:t>
            </a:r>
          </a:p>
          <a:p>
            <a:r>
              <a:rPr lang="en-US" sz="1400" b="0" dirty="0"/>
              <a:t>Common mistake: forgetting the commas inside c(), or mixing text and numbers in one vector.</a:t>
            </a:r>
          </a:p>
          <a:p>
            <a:r>
              <a:rPr lang="en-US" sz="1400" b="0" dirty="0"/>
              <a:t>Clinical interpretation: a vector is one column of readings, six systolic measurements here.</a:t>
            </a:r>
          </a:p>
          <a:p>
            <a:r>
              <a:rPr lang="en-US" sz="1400" b="0" dirty="0"/>
              <a:t>Ask the audience: what does length() tell us? Expected answer: how many values are in the vector, here six.</a:t>
            </a:r>
          </a:p>
          <a:p>
            <a:r>
              <a:rPr lang="en-US" sz="1400" b="0" dirty="0"/>
              <a:t>Demo tip: also run summary(sbp_readings) and max(sbp_readings) so they see more functions on the same object.</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Key point: numeric, character and logical are the three types beginners need. Each column of data is one type.</a:t>
            </a:r>
          </a:p>
          <a:p>
            <a:r>
              <a:rPr lang="en-US" sz="1400" b="0" dirty="0"/>
              <a:t>Common misconception: that a number stored as text behaves like a number; it does not, you cannot average it.</a:t>
            </a:r>
          </a:p>
          <a:p>
            <a:r>
              <a:rPr lang="en-US" sz="1400" b="0" dirty="0"/>
              <a:t>Clinical interpretation: if age was imported as text (because of a stray value like 200 or a letter), means will fail until it is fixed.</a:t>
            </a:r>
          </a:p>
          <a:p>
            <a:r>
              <a:rPr lang="en-US" sz="1400" b="0" dirty="0"/>
              <a:t>Ask the audience: what type is "Yes"/"No"? Expected answer: character text; we will recode it later.</a:t>
            </a:r>
          </a:p>
          <a:p>
            <a:r>
              <a:rPr lang="en-US" sz="1400" b="0" dirty="0"/>
              <a:t>Demo tip: create high_bp &lt;- sbp_readings &gt;= 140 and show the TRUE/FALSE logical vector, then sum() it to count.</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Key point: a data frame (or tibble) is the rectangular table that holds your study, rows = patients, columns = variables.</a:t>
            </a:r>
          </a:p>
          <a:p>
            <a:r>
              <a:rPr lang="en-US" sz="1400" b="0" dirty="0"/>
              <a:t>Common misconception: that R data looks like a spreadsheet with merged cells and colours; it is plain tidy columns.</a:t>
            </a:r>
          </a:p>
          <a:p>
            <a:r>
              <a:rPr lang="en-US" sz="1400" b="0" dirty="0"/>
              <a:t>Clinical interpretation: this rows-are-patients, columns-are-variables layout is exactly the tidy structure analyses expect.</a:t>
            </a:r>
          </a:p>
          <a:p>
            <a:r>
              <a:rPr lang="en-US" sz="1400" b="0" dirty="0"/>
              <a:t>Ask the audience: in our data, what does one row represent? Expected answer: one adult attending a PHC facility.</a:t>
            </a:r>
          </a:p>
          <a:p>
            <a:r>
              <a:rPr lang="en-US" sz="1400" b="0" dirty="0"/>
              <a:t>Demo tip: contrast a tibble print (clean, shows types) with a base data.frame print so they appreciate tibbles.</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Key point: install once (downloads from the internet), library() every time you start R. Two separate jobs.</a:t>
            </a:r>
          </a:p>
          <a:p>
            <a:r>
              <a:rPr lang="en-US" sz="1400" b="0" dirty="0"/>
              <a:t>Common mistake: putting install.packages() at the top of a script that runs daily; it re-downloads needlessly and fails offline.</a:t>
            </a:r>
          </a:p>
          <a:p>
            <a:r>
              <a:rPr lang="en-US" sz="1400" b="0" dirty="0"/>
              <a:t>Clinical interpretation: a package is a toolbox of extra functions; tidyverse and readxl are the ones we need for import.</a:t>
            </a:r>
          </a:p>
          <a:p>
            <a:r>
              <a:rPr lang="en-US" sz="1400" b="0" dirty="0"/>
              <a:t>Ask the audience: do you install a package every session? Expected answer: no, you only library() it.</a:t>
            </a:r>
          </a:p>
          <a:p>
            <a:r>
              <a:rPr lang="en-US" sz="1400" b="0" dirty="0"/>
              <a:t>Demo tip: show library(tidyverse) printing its attaching message, and note that is normal, not an error.</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Key point: read_csv() reads the CSV, read_excel() reads the Excel; both land in a tibble. The paths are relative because we are in a Project.</a:t>
            </a:r>
          </a:p>
          <a:p>
            <a:r>
              <a:rPr lang="en-US" sz="1400" b="0" dirty="0"/>
              <a:t>Common mistake: forgetting library(readxl) before read_excel, or a wrong path/file name (case and spelling must match exactly).</a:t>
            </a:r>
          </a:p>
          <a:p>
            <a:r>
              <a:rPr lang="en-US" sz="1400" b="0" dirty="0"/>
              <a:t>Clinical interpretation: 1503 rows but the study enrolled 1,500, so three duplicate records are hiding in here.</a:t>
            </a:r>
          </a:p>
          <a:p>
            <a:r>
              <a:rPr lang="en-US" sz="1400" b="0" dirty="0"/>
              <a:t>Ask the audience: why 1503 and not 1500? Expected answer: there are 3 duplicate records, which we fix on Day 2.</a:t>
            </a:r>
          </a:p>
          <a:p>
            <a:r>
              <a:rPr lang="en-US" sz="1400" b="0" dirty="0"/>
              <a:t>Demo tip: point out the column specification message read_csv prints; it is informational, not an error.</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Key point: a fixed first-look routine, dim, names, glimpse, head, View, then $ to inspect single variables with summary and table.</a:t>
            </a:r>
          </a:p>
          <a:p>
            <a:r>
              <a:rPr lang="en-US" sz="1400" b="0" dirty="0"/>
              <a:t>Common mistake: jumping straight to analysis without looking; many data problems are visible in the first thirty seconds.</a:t>
            </a:r>
          </a:p>
          <a:p>
            <a:r>
              <a:rPr lang="en-US" sz="1400" b="0" dirty="0"/>
              <a:t>Clinical interpretation: summary() and table() are your screening tests for the data; they flag impossible values and messy categories.</a:t>
            </a:r>
          </a:p>
          <a:p>
            <a:r>
              <a:rPr lang="en-US" sz="1400" b="0" dirty="0"/>
              <a:t>Ask the audience: what does htn$age return? Expected answer: the age column as a single vector.</a:t>
            </a:r>
          </a:p>
          <a:p>
            <a:r>
              <a:rPr lang="en-US" sz="1400" b="0" dirty="0"/>
              <a:t>Demo tip: run View(htn) so people see the familiar spreadsheet grid, then close it and rely on glimpse().</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Key point: summary() on age and table() on sex immediately expose problems, an impossible max of 200 and many spellings of the same category.</a:t>
            </a:r>
          </a:p>
          <a:p>
            <a:r>
              <a:rPr lang="en-US" sz="1400" b="0" dirty="0"/>
              <a:t>Common misconception: that imported data is clean; raw clinical data almost never is.</a:t>
            </a:r>
          </a:p>
          <a:p>
            <a:r>
              <a:rPr lang="en-US" sz="1400" b="0" dirty="0"/>
              <a:t>Clinical interpretation: an age of 200 (and a 0) cannot be real; Female/female/F/f are all the same group recorded inconsistently.</a:t>
            </a:r>
          </a:p>
          <a:p>
            <a:r>
              <a:rPr lang="en-US" sz="1400" b="0" dirty="0"/>
              <a:t>Ask the audience: how many true sex categories should there be? Expected answer: two, but the table shows eight labels.</a:t>
            </a:r>
          </a:p>
          <a:p>
            <a:r>
              <a:rPr lang="en-US" sz="1400" b="0" dirty="0"/>
              <a:t>Demo tip: also run table(htn$facility) to reveal stray spaces, and tell them Day 2 fixes all of this.</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Key point: most beginner errors are one of four things, missing library(), wrong operator, a case/spelling slip, or a bad path.</a:t>
            </a:r>
          </a:p>
          <a:p>
            <a:r>
              <a:rPr lang="en-US" sz="1400" b="0" dirty="0"/>
              <a:t>Common mistake: panicking at red text. Read the message; it usually names the problem.</a:t>
            </a:r>
          </a:p>
          <a:p>
            <a:r>
              <a:rPr lang="en-US" sz="1400" b="0" dirty="0"/>
              <a:t>Clinical interpretation: debugging is like differential diagnosis, read the sign (the error), form a hypothesis, test the fix.</a:t>
            </a:r>
          </a:p>
          <a:p>
            <a:r>
              <a:rPr lang="en-US" sz="1400" b="0" dirty="0"/>
              <a:t>Ask the audience: you get could not find function read_csv, what is wrong? Expected answer: tidyverse is not loaded; run library(tidyverse).</a:t>
            </a:r>
          </a:p>
          <a:p>
            <a:r>
              <a:rPr lang="en-US" sz="1400" b="0" dirty="0"/>
              <a:t>Demo tip: deliberately trigger one error live (mistype the file name) and walk through reading the message calmly.</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Key point: the first look has already surfaced the three big issues, impossible values, inconsistent categories, and duplicate rows.</a:t>
            </a:r>
          </a:p>
          <a:p>
            <a:r>
              <a:rPr lang="en-US" sz="1400" b="0" dirty="0"/>
              <a:t>Common misconception: that finding problems means you did something wrong; finding them early is exactly the goal.</a:t>
            </a:r>
          </a:p>
          <a:p>
            <a:r>
              <a:rPr lang="en-US" sz="1400" b="0" dirty="0"/>
              <a:t>Clinical interpretation: analysing before cleaning would bias every result, the mean age would be pulled up by the 200.</a:t>
            </a:r>
          </a:p>
          <a:p>
            <a:r>
              <a:rPr lang="en-US" sz="1400" b="0" dirty="0"/>
              <a:t>Ask the audience: should we calculate mean age right now? Expected answer: no, fix the impossible values first.</a:t>
            </a:r>
          </a:p>
          <a:p>
            <a:r>
              <a:rPr lang="en-US" sz="1400" b="0" dirty="0"/>
              <a:t>Demo tip: foreshadow Day 2 by showing how a single 200 distorts mean(htn$age); it motivates the cleaning day.</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Key point: the exercise is the whole Day 1 workflow end to end, project, packages, import both formats, then inspect.</a:t>
            </a:r>
          </a:p>
          <a:p>
            <a:r>
              <a:rPr lang="en-US" sz="1400" b="0" dirty="0"/>
              <a:t>Common mistake: forgetting a library() call, or a path typo; circulate and check these first.</a:t>
            </a:r>
          </a:p>
          <a:p>
            <a:r>
              <a:rPr lang="en-US" sz="1400" b="0" dirty="0"/>
              <a:t>Clinical interpretation: by importing and inspecting, participants experience the same data-quality red flags we just discussed.</a:t>
            </a:r>
          </a:p>
          <a:p>
            <a:r>
              <a:rPr lang="en-US" sz="1400" b="0" dirty="0"/>
              <a:t>Ask the audience: after table(sex), how many distinct labels do you see? Expected answer: eight, for two real categories.</a:t>
            </a:r>
          </a:p>
          <a:p>
            <a:r>
              <a:rPr lang="en-US" sz="1400" b="0" dirty="0"/>
              <a:t>Demo tip: give a fixed time (about 15 minutes), then debrief by asking who found the age of 200 first.</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Key point: consolidate the arc, from never having opened R to importing and inspecting a real dataset, then preview cleaning.</a:t>
            </a:r>
          </a:p>
          <a:p>
            <a:r>
              <a:rPr lang="en-US" sz="1400" b="0" dirty="0"/>
              <a:t>Common misconception: that we will start analysing tomorrow; first we clean, because trustworthy analysis needs clean data.</a:t>
            </a:r>
          </a:p>
          <a:p>
            <a:r>
              <a:rPr lang="en-US" sz="1400" b="0" dirty="0"/>
              <a:t>Clinical interpretation: today was data IN and a first look; Day 2 turns the raw, messy file into an analysis-ready dataset.</a:t>
            </a:r>
          </a:p>
          <a:p>
            <a:r>
              <a:rPr lang="en-US" sz="1400" b="0" dirty="0"/>
              <a:t>Ask the audience: what are the three data problems we must fix tomorrow? Expected answer: impossible values, inconsistent categories, duplicate rows.</a:t>
            </a:r>
          </a:p>
          <a:p>
            <a:r>
              <a:rPr lang="en-US" sz="1400" b="0" dirty="0"/>
              <a:t>Demo tip: end by re-opening their script and re-running it top to bottom, proving reproducibility in one keystroke.</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Key point: today we turn a messy raw file into a tidy, analysis-ready dataset and save it once for the whole week.</a:t>
            </a:r>
          </a:p>
          <a:p>
            <a:r>
              <a:rPr lang="en-US" sz="1400" b="0" dirty="0"/>
              <a:t>Misconception: cleaning is not a quick step before the 'real' work; it IS most of the work.</a:t>
            </a:r>
          </a:p>
          <a:p>
            <a:r>
              <a:rPr lang="en-US" sz="1400" b="0" dirty="0"/>
              <a:t>Clinical interpretation: every later result depends on decisions made today.</a:t>
            </a:r>
          </a:p>
          <a:p>
            <a:r>
              <a:rPr lang="en-US" sz="1400" b="0" dirty="0"/>
              <a:t>Ask: who has ever found an error in their data after running the analysis? Expected: most hands go up, often after submission.</a:t>
            </a:r>
          </a:p>
          <a:p>
            <a:r>
              <a:rPr lang="en-US" sz="1400" b="0" dirty="0"/>
              <a:t>Demo tip: keep the raw file open beside the script so people see the mess we are taming.</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Key point: cleaning is the majority of real-world analysis time and the part reviewers scrutinise most.</a:t>
            </a:r>
          </a:p>
          <a:p>
            <a:r>
              <a:rPr lang="en-US" sz="1400" b="0" dirty="0"/>
              <a:t>Misconception: 'the data manager already cleaned it' - someone must still check it against clinical sense.</a:t>
            </a:r>
          </a:p>
          <a:p>
            <a:r>
              <a:rPr lang="en-US" sz="1400" b="0" dirty="0"/>
              <a:t>Clinical interpretation: an SBP of 7 or an age of 200 will quietly distort means and models.</a:t>
            </a:r>
          </a:p>
          <a:p>
            <a:r>
              <a:rPr lang="en-US" sz="1400" b="0" dirty="0"/>
              <a:t>Ask: what is a realistic resting SBP range for an adult? Expected: roughly 90-180; this intuition is exactly what we encode as validation rules.</a:t>
            </a:r>
          </a:p>
          <a:p>
            <a:r>
              <a:rPr lang="en-US" sz="1400" b="0" dirty="0"/>
              <a:t>Demo tip: show one impossible value and ask what it would do to a mean.</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Key point: choosing the right type up front controls every later summary, plot and model.</a:t>
            </a:r>
          </a:p>
          <a:p>
            <a:r>
              <a:rPr lang="en-US" sz="1400" b="0" dirty="0"/>
              <a:t>Misconception: 'a number is always continuous' - coded categories (1=Yes) are numbers but are categorical.</a:t>
            </a:r>
          </a:p>
          <a:p>
            <a:r>
              <a:rPr lang="en-US" sz="1400" b="0" dirty="0"/>
              <a:t>Clinical interpretation: ordinal education should keep its order; facility should not be treated as a ranked scale.</a:t>
            </a:r>
          </a:p>
          <a:p>
            <a:r>
              <a:rPr lang="en-US" sz="1400" b="0" dirty="0"/>
              <a:t>Ask: is a Likert pain score 0-10 continuous or ordinal? Expected: defensible either way; the point is to decide deliberately.</a:t>
            </a:r>
          </a:p>
          <a:p>
            <a:r>
              <a:rPr lang="en-US" sz="1400" b="0" dirty="0"/>
              <a:t>Demo tip: map each row to a column in the open raw file.</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Key point: a category exists only if its label is written identically every time.</a:t>
            </a:r>
          </a:p>
          <a:p>
            <a:r>
              <a:rPr lang="en-US" sz="1400" b="0" dirty="0"/>
              <a:t>Misconception: R is smart enough to know 'Y' means 'Yes' - it is not.</a:t>
            </a:r>
          </a:p>
          <a:p>
            <a:r>
              <a:rPr lang="en-US" sz="1400" b="0" dirty="0"/>
              <a:t>Clinical interpretation: a split sex variable would bias any sex-adjusted estimate.</a:t>
            </a:r>
          </a:p>
          <a:p>
            <a:r>
              <a:rPr lang="en-US" sz="1400" b="0" dirty="0"/>
              <a:t>Ask: how many distinct values of sex might a free-text field produce? Expected: surprisingly many; we will see eight.</a:t>
            </a:r>
          </a:p>
          <a:p>
            <a:r>
              <a:rPr lang="en-US" sz="1400" b="0" dirty="0"/>
              <a:t>Demo tip: run table() before cleaning to reveal the chaos.</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Key point: define missingness at import so sentinels never enter the analysis as numbers.</a:t>
            </a:r>
          </a:p>
          <a:p>
            <a:r>
              <a:rPr lang="en-US" sz="1400" b="0" dirty="0"/>
              <a:t>Misconception: blanks are the only kind of missing - numeric sentinels are the dangerous ones.</a:t>
            </a:r>
          </a:p>
          <a:p>
            <a:r>
              <a:rPr lang="en-US" sz="1400" b="0" dirty="0"/>
              <a:t>Clinical interpretation: 999 systolic would inflate the mean and falsely raise hypertension prevalence.</a:t>
            </a:r>
          </a:p>
          <a:p>
            <a:r>
              <a:rPr lang="en-US" sz="1400" b="0" dirty="0"/>
              <a:t>Ask: what happens to mean(sbp) if one 999 is read as a real value? Expected: it jumps; the example sells the na= argument.</a:t>
            </a:r>
          </a:p>
          <a:p>
            <a:r>
              <a:rPr lang="en-US" sz="1400" b="0" dirty="0"/>
              <a:t>Demo tip: import once without na= and once with it; compare summary().</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Key point: duplicates are a false sample-size increase and must go before any counting.</a:t>
            </a:r>
          </a:p>
          <a:p>
            <a:r>
              <a:rPr lang="en-US" sz="1400" b="0" dirty="0"/>
              <a:t>Misconception: distinct() drops rows you wanted - it only removes exact full-row copies here.</a:t>
            </a:r>
          </a:p>
          <a:p>
            <a:r>
              <a:rPr lang="en-US" sz="1400" b="0" dirty="0"/>
              <a:t>Clinical interpretation: a duplicated patient double-counts their outcome, biasing prevalence.</a:t>
            </a:r>
          </a:p>
          <a:p>
            <a:r>
              <a:rPr lang="en-US" sz="1400" b="0" dirty="0"/>
              <a:t>Ask: why check n_distinct(patient_id) as well as nrow? Expected: to catch same-ID-different-row data-entry errors distinct() would keep.</a:t>
            </a:r>
          </a:p>
          <a:p>
            <a:r>
              <a:rPr lang="en-US" sz="1400" b="0" dirty="0"/>
              <a:t>Demo tip: print nrow before and after so the 1503 to 1500 drop is visible.</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Key point: normalise case and spacing first, then map a small set of known values.</a:t>
            </a:r>
          </a:p>
          <a:p>
            <a:r>
              <a:rPr lang="en-US" sz="1400" b="0" dirty="0"/>
              <a:t>Misconception: you must list every variant by hand - lowercasing collapses half of them instantly.</a:t>
            </a:r>
          </a:p>
          <a:p>
            <a:r>
              <a:rPr lang="en-US" sz="1400" b="0" dirty="0"/>
              <a:t>Clinical interpretation: never invent a sex for an unreadable entry; NA is honest.</a:t>
            </a:r>
          </a:p>
          <a:p>
            <a:r>
              <a:rPr lang="en-US" sz="1400" b="0" dirty="0"/>
              <a:t>Ask: why send unknowns to NA rather than to the larger group? Expected: guessing introduces bias; NA is transparent.</a:t>
            </a:r>
          </a:p>
          <a:p>
            <a:r>
              <a:rPr lang="en-US" sz="1400" b="0" dirty="0"/>
              <a:t>Demo tip: show table(sex) before and after the case_when.</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Key point: a helper function makes the same cleaning rule consistent and auditable across columns.</a:t>
            </a:r>
          </a:p>
          <a:p>
            <a:r>
              <a:rPr lang="en-US" sz="1400" b="0" dirty="0"/>
              <a:t>Misconception: you should repeat case_when for each variable - across() avoids copy-paste errors.</a:t>
            </a:r>
          </a:p>
          <a:p>
            <a:r>
              <a:rPr lang="en-US" sz="1400" b="0" dirty="0"/>
              <a:t>Clinical interpretation: treatment_uptake must be a clean Yes/No before it can be an outcome.</a:t>
            </a:r>
          </a:p>
          <a:p>
            <a:r>
              <a:rPr lang="en-US" sz="1400" b="0" dirty="0"/>
              <a:t>Ask: why coerce as.character first? Expected: a column read as numeric 0/1 would not match the text patterns otherwise.</a:t>
            </a:r>
          </a:p>
          <a:p>
            <a:r>
              <a:rPr lang="en-US" sz="1400" b="0" dirty="0"/>
              <a:t>Demo tip: call to_yesno(c("Y"," no ",1)) on its own to show it working.</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Key point: encode clinical plausibility as explicit ranges and convert violations to NA.</a:t>
            </a:r>
          </a:p>
          <a:p>
            <a:r>
              <a:rPr lang="en-US" sz="1400" b="0" dirty="0"/>
              <a:t>Misconception: outliers and impossible values are the same - a true SBP of 185 is plausible and must stay.</a:t>
            </a:r>
          </a:p>
          <a:p>
            <a:r>
              <a:rPr lang="en-US" sz="1400" b="0" dirty="0"/>
              <a:t>Clinical interpretation: ranges should reflect the population; an adult study justifies age &gt;= 18.</a:t>
            </a:r>
          </a:p>
          <a:p>
            <a:r>
              <a:rPr lang="en-US" sz="1400" b="0" dirty="0"/>
              <a:t>Ask: should we delete the whole row for one bad height? Expected: no - blank only that cell so the other valid fields survive.</a:t>
            </a:r>
          </a:p>
          <a:p>
            <a:r>
              <a:rPr lang="en-US" sz="1400" b="0" dirty="0"/>
              <a:t>Demo tip: show summary() before and after; the min and max snap into a sensible range.</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Key point: derive variables from cleaned inputs so the derived value inherits the cleaning.</a:t>
            </a:r>
          </a:p>
          <a:p>
            <a:r>
              <a:rPr lang="en-US" sz="1400" b="0" dirty="0"/>
              <a:t>Misconception: recomputing BMI is redundant - the supplied column may be stale or wrong.</a:t>
            </a:r>
          </a:p>
          <a:p>
            <a:r>
              <a:rPr lang="en-US" sz="1400" b="0" dirty="0"/>
              <a:t>Clinical interpretation: bp_category uses guideline cut-offs (&gt;=140/90 hypertension, &gt;=130/80 elevated).</a:t>
            </a:r>
          </a:p>
          <a:p>
            <a:r>
              <a:rPr lang="en-US" sz="1400" b="0" dirty="0"/>
              <a:t>Ask: why recompute BMI instead of keeping the file's column? Expected: it guarantees consistency with the validated height and weight.</a:t>
            </a:r>
          </a:p>
          <a:p>
            <a:r>
              <a:rPr lang="en-US" sz="1400" b="0" dirty="0"/>
              <a:t>Demo tip: show one row where the supplied BMI disagrees with the recomputed value.</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Key point: order case_when from most specific to most general, and trap NA before the TRUE branch.</a:t>
            </a:r>
          </a:p>
          <a:p>
            <a:r>
              <a:rPr lang="en-US" sz="1400" b="0" dirty="0"/>
              <a:t>Misconception: NA falls through to the last TRUE branch - so a missing BP would be wrongly labelled Normal.</a:t>
            </a:r>
          </a:p>
          <a:p>
            <a:r>
              <a:rPr lang="en-US" sz="1400" b="0" dirty="0"/>
              <a:t>Clinical interpretation: misclassifying missing BP as Normal would understate hypertension burden.</a:t>
            </a:r>
          </a:p>
          <a:p>
            <a:r>
              <a:rPr lang="en-US" sz="1400" b="0" dirty="0"/>
              <a:t>Ask: what would happen if the is.na line were removed? Expected: patients with missing BP get labelled Normal - a silent error.</a:t>
            </a:r>
          </a:p>
          <a:p>
            <a:r>
              <a:rPr lang="en-US" sz="1400" b="0" dirty="0"/>
              <a:t>Demo tip: deliberately drop the is.na line, run table(bp_category), then restore it.</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Key point: lubridate's parse_date_time tries each format in turn, taming mixed entry styles.</a:t>
            </a:r>
          </a:p>
          <a:p>
            <a:r>
              <a:rPr lang="en-US" sz="1400" b="0" dirty="0"/>
              <a:t>Misconception: dates are just text - stored as text they cannot be sorted or differenced.</a:t>
            </a:r>
          </a:p>
          <a:p>
            <a:r>
              <a:rPr lang="en-US" sz="1400" b="0" dirty="0"/>
              <a:t>Clinical interpretation: a real Date lets you compute follow-up time and check enrolment windows.</a:t>
            </a:r>
          </a:p>
          <a:p>
            <a:r>
              <a:rPr lang="en-US" sz="1400" b="0" dirty="0"/>
              <a:t>Ask: why check sum(is.na(enroll_date)) afterwards? Expected: a spike means a format we did not list and must add.</a:t>
            </a:r>
          </a:p>
          <a:p>
            <a:r>
              <a:rPr lang="en-US" sz="1400" b="0" dirty="0"/>
              <a:t>Demo tip: feed parse_date_time a few sample strings to show each order matching.</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Key point: the first factor level is the reference, and it sets how every odds ratio is interpreted.</a:t>
            </a:r>
          </a:p>
          <a:p>
            <a:r>
              <a:rPr lang="en-US" sz="1400" b="0" dirty="0"/>
              <a:t>Misconception: level order is cosmetic - it silently flips the direction of model estimates.</a:t>
            </a:r>
          </a:p>
          <a:p>
            <a:r>
              <a:rPr lang="en-US" sz="1400" b="0" dirty="0"/>
              <a:t>Clinical interpretation: with 'No' as reference, OR &gt; 1 means higher odds of the outcome, as clinicians expect.</a:t>
            </a:r>
          </a:p>
          <a:p>
            <a:r>
              <a:rPr lang="en-US" sz="1400" b="0" dirty="0"/>
              <a:t>Ask: what does an OR of 3.56 for diabetes mean with 'No' as reference? Expected: diabetics have 3.56 times the odds of treatment uptake versus non-diabetics.</a:t>
            </a:r>
          </a:p>
          <a:p>
            <a:r>
              <a:rPr lang="en-US" sz="1400" b="0" dirty="0"/>
              <a:t>Demo tip: refit with levels reversed to show the OR invert to 1/3.56.</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Key point: audit missingness per column and distinguish structural NA from data problems.</a:t>
            </a:r>
          </a:p>
          <a:p>
            <a:r>
              <a:rPr lang="en-US" sz="1400" b="0" dirty="0"/>
              <a:t>Misconception: all NA is bad - adherence is undefined for someone not on treatment, so its NA is expected.</a:t>
            </a:r>
          </a:p>
          <a:p>
            <a:r>
              <a:rPr lang="en-US" sz="1400" b="0" dirty="0"/>
              <a:t>Clinical interpretation: only patients on treatment can have an adherence or BP-control status.</a:t>
            </a:r>
          </a:p>
          <a:p>
            <a:r>
              <a:rPr lang="en-US" sz="1400" b="0" dirty="0"/>
              <a:t>Ask: should we impute adherence for untreated patients? Expected: no - it is structurally missing, not unknown.</a:t>
            </a:r>
          </a:p>
          <a:p>
            <a:r>
              <a:rPr lang="en-US" sz="1400" b="0" dirty="0"/>
              <a:t>Demo tip: cross-tabulate adherence missingness against treatment_uptake to show the by-design pattern.</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Key point: the saved .rds is the single source of truth for the rest of the course.</a:t>
            </a:r>
          </a:p>
          <a:p>
            <a:r>
              <a:rPr lang="en-US" sz="1400" b="0" dirty="0"/>
              <a:t>Misconception: CSV preserves everything - it loses factor levels and ordering, so .rds is the analysis file.</a:t>
            </a:r>
          </a:p>
          <a:p>
            <a:r>
              <a:rPr lang="en-US" sz="1400" b="0" dirty="0"/>
              <a:t>Clinical interpretation: a fixed clean dataset makes every later result reproducible and auditable.</a:t>
            </a:r>
          </a:p>
          <a:p>
            <a:r>
              <a:rPr lang="en-US" sz="1400" b="0" dirty="0"/>
              <a:t>Ask: why prefer .rds over .csv for the analysis? Expected: it restores factors and ordered levels exactly, no re-cleaning needed.</a:t>
            </a:r>
          </a:p>
          <a:p>
            <a:r>
              <a:rPr lang="en-US" sz="1400" b="0" dirty="0"/>
              <a:t>Demo tip: save, clear the workspace, then readRDS to prove the factors survive.</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Key point: most cleaning bugs are silent; build the habit of inspecting after every step.</a:t>
            </a:r>
          </a:p>
          <a:p>
            <a:r>
              <a:rPr lang="en-US" sz="1400" b="0" dirty="0"/>
              <a:t>Misconception: no error message means the step worked - wrong results often run without complaint.</a:t>
            </a:r>
          </a:p>
          <a:p>
            <a:r>
              <a:rPr lang="en-US" sz="1400" b="0" dirty="0"/>
              <a:t>Clinical interpretation: a silently mis-coded outcome can change the entire study conclusion.</a:t>
            </a:r>
          </a:p>
          <a:p>
            <a:r>
              <a:rPr lang="en-US" sz="1400" b="0" dirty="0"/>
              <a:t>Ask: how would you catch a forgotten na= argument? Expected: an implausible max in summary(), e.g. an SBP of 999.</a:t>
            </a:r>
          </a:p>
          <a:p>
            <a:r>
              <a:rPr lang="en-US" sz="1400" b="0" dirty="0"/>
              <a:t>Demo tip: trigger each mistake live, then show the diagnostic that catches it.</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Key point: the exercise reproduces the full contract so each participant ends with an identical clean file.</a:t>
            </a:r>
          </a:p>
          <a:p>
            <a:r>
              <a:rPr lang="en-US" sz="1400" b="0" dirty="0"/>
              <a:t>Misconception: skipping a step is fine if numbers 'look ok' - later days will fail to load a wrong-typed file.</a:t>
            </a:r>
          </a:p>
          <a:p>
            <a:r>
              <a:rPr lang="en-US" sz="1400" b="0" dirty="0"/>
              <a:t>Clinical interpretation: the expected end state is the validated dataset used for all later analyses.</a:t>
            </a:r>
          </a:p>
          <a:p>
            <a:r>
              <a:rPr lang="en-US" sz="1400" b="0" dirty="0"/>
              <a:t>Ask: how will you know your file is correct? Expected: 1500 rows, clean factors, and the audit matching the demo counts.</a:t>
            </a:r>
          </a:p>
          <a:p>
            <a:r>
              <a:rPr lang="en-US" sz="1400" b="0" dirty="0"/>
              <a:t>Demo tip: have them readRDS their own file and glimpse() it to self-check against yours.</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Key point: the clean, saved dataset is the bridge into descriptive analysis on Day 3.</a:t>
            </a:r>
          </a:p>
          <a:p>
            <a:r>
              <a:rPr lang="en-US" sz="1400" b="0" dirty="0"/>
              <a:t>Misconception: cleaning is finished forever - revisit it if Day 3 plots reveal new anomalies.</a:t>
            </a:r>
          </a:p>
          <a:p>
            <a:r>
              <a:rPr lang="en-US" sz="1400" b="0" dirty="0"/>
              <a:t>Clinical interpretation: trustworthy description requires the validated data we built today.</a:t>
            </a:r>
          </a:p>
          <a:p>
            <a:r>
              <a:rPr lang="en-US" sz="1400" b="0" dirty="0"/>
              <a:t>Ask: what is the first thing you do on Day 3? Expected: readRDS the analysis file and glimpse it, not re-import the raw CSV.</a:t>
            </a:r>
          </a:p>
          <a:p>
            <a:r>
              <a:rPr lang="en-US" sz="1400" b="0" dirty="0"/>
              <a:t>Demo tip: open tomorrow's script header to show it begins with readRDS.</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Welcome to Day 3. Today we move from cleaning data to describing it.</a:t>
            </a:r>
          </a:p>
          <a:p>
            <a:r>
              <a:rPr lang="en-US" sz="1400" b="0" dirty="0"/>
              <a:t>The goal is simple: tell the reader who is in our study and what they look like, using numbers and pictures a journal will accept.</a:t>
            </a:r>
          </a:p>
          <a:p>
            <a:r>
              <a:rPr lang="en-US" sz="1400" b="0" dirty="0"/>
              <a:t>Key teaching point: descriptive statistics come BEFORE any model. You cannot interpret an odds ratio if you do not first know the sample.</a:t>
            </a:r>
          </a:p>
          <a:p>
            <a:r>
              <a:rPr lang="en-US" sz="1400" b="0" dirty="0"/>
              <a:t>Clinical framing: everything we build today feeds the Table 1 and the figures of the hypertension treatment-uptake manuscript.</a:t>
            </a:r>
          </a:p>
          <a:p>
            <a:r>
              <a:rPr lang="en-US" sz="1400" b="0" dirty="0"/>
              <a:t>Ask the audience: what is the first table you see in almost every clinical paper? Expected answer: baseline characteristics, Table 1. That is our destination.</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This slide sets expectations. Read each outcome as a promise.</a:t>
            </a:r>
          </a:p>
          <a:p>
            <a:r>
              <a:rPr lang="en-US" sz="1400" b="0" dirty="0"/>
              <a:t>Key teaching point: these are practical, hands-on skills, not theory. Everyone will produce a Table 1 in the exercise.</a:t>
            </a:r>
          </a:p>
          <a:p>
            <a:r>
              <a:rPr lang="en-US" sz="1400" b="0" dirty="0"/>
              <a:t>Common misconception: that statistics requires heavy maths. Today is about choosing and reporting the right summary, which is judgement, not algebra.</a:t>
            </a:r>
          </a:p>
          <a:p>
            <a:r>
              <a:rPr lang="en-US" sz="1400" b="0" dirty="0"/>
              <a:t>Demonstration tip: keep the demo script open beside the slides so learners see the slide point then the live code.</a:t>
            </a:r>
          </a:p>
          <a:p>
            <a:r>
              <a:rPr lang="en-US" sz="1400" b="0" dirty="0"/>
              <a:t>Suggested question: which of these do you already do in your current work? Expected: most report means and counts but few use a reproducible Table 1 tool.</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This is a short bridge from Day 2. We do not repeat cleaning; we read the analysis-ready file.</a:t>
            </a:r>
          </a:p>
          <a:p>
            <a:r>
              <a:rPr lang="en-US" sz="1400" b="0" dirty="0"/>
              <a:t>Key teaching point: readRDS restores the exact R object, including factor levels and types, which a CSV would lose.</a:t>
            </a:r>
          </a:p>
          <a:p>
            <a:r>
              <a:rPr lang="en-US" sz="1400" b="0" dirty="0"/>
              <a:t>Common mistake: re-importing the raw 1,503-row file and re-cleaning by hand each session, which silently introduces differences.</a:t>
            </a:r>
          </a:p>
          <a:p>
            <a:r>
              <a:rPr lang="en-US" sz="1400" b="0" dirty="0"/>
              <a:t>Clinical interpretation: reproducibility means a co-author or reviewer can rerun and get the same Table 1.</a:t>
            </a:r>
          </a:p>
          <a:p>
            <a:r>
              <a:rPr lang="en-US" sz="1400" b="0" dirty="0"/>
              <a:t>Demonstration tip: run glimpse and point out that types are already correct, so we can go straight to describing.</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Central tendency answers: where is the middle of the data?</a:t>
            </a:r>
          </a:p>
          <a:p>
            <a:r>
              <a:rPr lang="en-US" sz="1400" b="0" dirty="0"/>
              <a:t>Key teaching point: the mean and median agree when data are symmetric and diverge when data are skewed.</a:t>
            </a:r>
          </a:p>
          <a:p>
            <a:r>
              <a:rPr lang="en-US" sz="1400" b="0" dirty="0"/>
              <a:t>Clinical interpretation: skewed clinical variables like distance to facility, fasting glucose, and triglycerides have a long right tail; a few very high values drag the mean up, so the median is the fairer summary.</a:t>
            </a:r>
          </a:p>
          <a:p>
            <a:r>
              <a:rPr lang="en-US" sz="1400" b="0" dirty="0"/>
              <a:t>Common misconception: that the mean is always the right summary. It is not.</a:t>
            </a:r>
          </a:p>
          <a:p>
            <a:r>
              <a:rPr lang="en-US" sz="1400" b="0" dirty="0"/>
              <a:t>Suggested question: if one patient lives 200 km away and the rest within 5 km, which summary describes a typical patient? Expected answer: the median.</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This slide turns the mean-versus-median choice into a decision rule learners can apply on the spot.</a:t>
            </a:r>
          </a:p>
          <a:p>
            <a:r>
              <a:rPr lang="en-US" sz="1400" b="0" dirty="0"/>
              <a:t>Key teaching point: compare mean and median first, then decide which to report. Do not default blindly to the mean.</a:t>
            </a:r>
          </a:p>
          <a:p>
            <a:r>
              <a:rPr lang="en-US" sz="1400" b="0" dirty="0"/>
              <a:t>Clinical interpretation: in our hypertension cohort, systolic BP and BMI are mildly right-skewed; reporting the median with IQR avoids overstating the typical value.</a:t>
            </a:r>
          </a:p>
          <a:p>
            <a:r>
              <a:rPr lang="en-US" sz="1400" b="0" dirty="0"/>
              <a:t>Common mistake: reporting mean (SD) for a clearly skewed cost or glucose variable, which misleads readers.</a:t>
            </a:r>
          </a:p>
          <a:p>
            <a:r>
              <a:rPr lang="en-US" sz="1400" b="0" dirty="0"/>
              <a:t>Suggested question: how would you check skew quickly? Expected answer: compare mean and median, or look at a histogram, which we do later today.</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Spread tells the reader how much patients differ from one another, not just the average.</a:t>
            </a:r>
          </a:p>
          <a:p>
            <a:r>
              <a:rPr lang="en-US" sz="1400" b="0" dirty="0"/>
              <a:t>Key teaching point: always pair a centre with a matching spread. Mean goes with SD, median goes with IQR.</a:t>
            </a:r>
          </a:p>
          <a:p>
            <a:r>
              <a:rPr lang="en-US" sz="1400" b="0" dirty="0"/>
              <a:t>Clinical interpretation: two groups can share a mean SBP but differ greatly in spread; the SD or IQR reveals that variability.</a:t>
            </a:r>
          </a:p>
          <a:p>
            <a:r>
              <a:rPr lang="en-US" sz="1400" b="0" dirty="0"/>
              <a:t>Common misconception: that the range is a good summary of spread. It is driven entirely by the two most extreme patients, so the IQR is usually preferable.</a:t>
            </a:r>
          </a:p>
          <a:p>
            <a:r>
              <a:rPr lang="en-US" sz="1400" b="0" dirty="0"/>
              <a:t>Suggested question: what does an IQR of 20 mmHg mean for SBP? Expected answer: the middle half of patients span a 20 mmHg window.</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This is the single most common frustration for new R users, so we give it its own slide.</a:t>
            </a:r>
          </a:p>
          <a:p>
            <a:r>
              <a:rPr lang="en-US" sz="1400" b="0" dirty="0"/>
              <a:t>Key teaching point: NA is contagious. One missing value makes the whole summary NA unless you tell R to ignore missings.</a:t>
            </a:r>
          </a:p>
          <a:p>
            <a:r>
              <a:rPr lang="en-US" sz="1400" b="0" dirty="0"/>
              <a:t>Common mistake: assuming the data are broken when in fact na.rm was simply omitted.</a:t>
            </a:r>
          </a:p>
          <a:p>
            <a:r>
              <a:rPr lang="en-US" sz="1400" b="0" dirty="0"/>
              <a:t>Clinical interpretation: na.rm = TRUE performs a complete-case summary for that variable; always note how many values were missing so readers know the denominator.</a:t>
            </a:r>
          </a:p>
          <a:p>
            <a:r>
              <a:rPr lang="en-US" sz="1400" b="0" dirty="0"/>
              <a:t>Demonstration tip: in the live demo, run mean(sbp) first to show the NA, then add na.rm = TRUE to show the fix. The before-and-after lands the point.</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This mirrors section 2 of the demo script.</a:t>
            </a:r>
          </a:p>
          <a:p>
            <a:r>
              <a:rPr lang="en-US" sz="1400" b="0" dirty="0"/>
              <a:t>Key teaching point: the first NA is deliberate. Pause on it before fixing it.</a:t>
            </a:r>
          </a:p>
          <a:p>
            <a:r>
              <a:rPr lang="en-US" sz="1400" b="0" dirty="0"/>
              <a:t>Clinical interpretation: median age 52 with IQR 23 years describes a middle-aged primary-care population; quantiles give the five-number summary in one call.</a:t>
            </a:r>
          </a:p>
          <a:p>
            <a:r>
              <a:rPr lang="en-US" sz="1400" b="0" dirty="0"/>
              <a:t>Common mistake: typing probs without na.rm and getting NA again across the board.</a:t>
            </a:r>
          </a:p>
          <a:p>
            <a:r>
              <a:rPr lang="en-US" sz="1400" b="0" dirty="0"/>
              <a:t>Demonstration tip: ask the room to predict the first line before you run it. Expected answer: NA, because sbp has missing values.</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This mirrors section 3 of the demo. summary() is the quick eyeball; the grouped across() table is the reusable version.</a:t>
            </a:r>
          </a:p>
          <a:p>
            <a:r>
              <a:rPr lang="en-US" sz="1400" b="0" dirty="0"/>
              <a:t>Key teaching point: across() applies one set of functions to many columns at once, and .names makes self-documenting columns like age_mean.</a:t>
            </a:r>
          </a:p>
          <a:p>
            <a:r>
              <a:rPr lang="en-US" sz="1400" b="0" dirty="0"/>
              <a:t>Clinical interpretation: treated patients here have higher mean age and SBP, an early hint that older, sicker patients are the ones being started on treatment. We confirm this formally in Table 1.</a:t>
            </a:r>
          </a:p>
          <a:p>
            <a:r>
              <a:rPr lang="en-US" sz="1400" b="0" dirty="0"/>
              <a:t>Common mistake: forgetting .groups = drop and being surprised the result stays grouped.</a:t>
            </a:r>
          </a:p>
          <a:p>
            <a:r>
              <a:rPr lang="en-US" sz="1400" b="0" dirty="0"/>
              <a:t>Suggested question: why group by treatment_uptake? Expected answer: it is our primary outcome, so we compare the two groups.</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Categorical variables like sex, education and bp_category are described by counts and percentages.</a:t>
            </a:r>
          </a:p>
          <a:p>
            <a:r>
              <a:rPr lang="en-US" sz="1400" b="0" dirty="0"/>
              <a:t>Key teaching point: counts answer how many, proportions answer what share. Report both.</a:t>
            </a:r>
          </a:p>
          <a:p>
            <a:r>
              <a:rPr lang="en-US" sz="1400" b="0" dirty="0"/>
              <a:t>Common mistake: table() dropping NAs silently, so the percentages are computed on a smaller denominator than the reader assumes. useNA = ifany fixes this.</a:t>
            </a:r>
          </a:p>
          <a:p>
            <a:r>
              <a:rPr lang="en-US" sz="1400" b="0" dirty="0"/>
              <a:t>Clinical interpretation: a percentage is only meaningful if you know the denominator; always state n.</a:t>
            </a:r>
          </a:p>
          <a:p>
            <a:r>
              <a:rPr lang="en-US" sz="1400" b="0" dirty="0"/>
              <a:t>Suggested question: if 40 of 50 non-missing patients are female but 10 sex values are missing, what is the female percentage? Expected answer: it depends on whether you count the missings, which is why we make them visible.</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This mirrors section 4 of the demo.</a:t>
            </a:r>
          </a:p>
          <a:p>
            <a:r>
              <a:rPr lang="en-US" sz="1400" b="0" dirty="0"/>
              <a:t>Key teaching point: prop.table on a table gives proportions; multiply by 100 and round for readable percentages.</a:t>
            </a:r>
          </a:p>
          <a:p>
            <a:r>
              <a:rPr lang="en-US" sz="1400" b="0" dirty="0"/>
              <a:t>Clinical interpretation: a 54 to 46 percent female-to-male split is typical of a primary-care attendance sample.</a:t>
            </a:r>
          </a:p>
          <a:p>
            <a:r>
              <a:rPr lang="en-US" sz="1400" b="0" dirty="0"/>
              <a:t>Common mistake: forgetting useNA = ifany on education and under-reporting missingness.</a:t>
            </a:r>
          </a:p>
          <a:p>
            <a:r>
              <a:rPr lang="en-US" sz="1400" b="0" dirty="0"/>
              <a:t>Demonstration tip: show that count() output is a tibble you can pipe into ggplot, unlike base table() output.</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Cross-tabulation is how we relate the outcome to a categorical predictor before any modelling.</a:t>
            </a:r>
          </a:p>
          <a:p>
            <a:r>
              <a:rPr lang="en-US" sz="1400" b="0" dirty="0"/>
              <a:t>Key teaching point: the margin argument decides the denominator, and the denominator changes the meaning entirely.</a:t>
            </a:r>
          </a:p>
          <a:p>
            <a:r>
              <a:rPr lang="en-US" sz="1400" b="0" dirty="0"/>
              <a:t>Clinical interpretation: choose the percentage that answers your clinical question. Reporting the wrong margin is one of the most common errors in manuscripts.</a:t>
            </a:r>
          </a:p>
          <a:p>
            <a:r>
              <a:rPr lang="en-US" sz="1400" b="0" dirty="0"/>
              <a:t>Common mistake: reading a row percentage as if it were a column percentage.</a:t>
            </a:r>
          </a:p>
          <a:p>
            <a:r>
              <a:rPr lang="en-US" sz="1400" b="0" dirty="0"/>
              <a:t>Suggested question: what proportion of diabetics are on treatment uses which margin? Expected answer: column percent, margin = 2.</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This mirrors section 5 of the demo.</a:t>
            </a:r>
          </a:p>
          <a:p>
            <a:r>
              <a:rPr lang="en-US" sz="1400" b="0" dirty="0"/>
              <a:t>Key teaching point: store the table in an object once, then take proportions two ways from it.</a:t>
            </a:r>
          </a:p>
          <a:p>
            <a:r>
              <a:rPr lang="en-US" sz="1400" b="0" dirty="0"/>
              <a:t>Clinical interpretation: with margin = 2 you can say what share of diabetics are on treatment, supporting the later finding that diabetes is strongly associated with uptake, adjusted OR about 3.56.</a:t>
            </a:r>
          </a:p>
          <a:p>
            <a:r>
              <a:rPr lang="en-US" sz="1400" b="0" dirty="0"/>
              <a:t>Common mistake: recomputing the table twice instead of reusing xtab.</a:t>
            </a:r>
          </a:p>
          <a:p>
            <a:r>
              <a:rPr lang="en-US" sz="1400" b="0" dirty="0"/>
              <a:t>Suggested question: which margin supports the sentence among diabetics, X percent received treatment? Expected answer: column percent, margin = 2.</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Table 1 is the destination for everything we learned today; it bundles central tendency, spread, and frequencies into one publishable object.</a:t>
            </a:r>
          </a:p>
          <a:p>
            <a:r>
              <a:rPr lang="en-US" sz="1400" b="0" dirty="0"/>
              <a:t>Key teaching point: Table 1 describes the sample; it is descriptive, not a causal test, even when it carries p-values.</a:t>
            </a:r>
          </a:p>
          <a:p>
            <a:r>
              <a:rPr lang="en-US" sz="1400" b="0" dirty="0"/>
              <a:t>Clinical interpretation: splitting by treatment_uptake lets reviewers see how treated and untreated patients differ at baseline.</a:t>
            </a:r>
          </a:p>
          <a:p>
            <a:r>
              <a:rPr lang="en-US" sz="1400" b="0" dirty="0"/>
              <a:t>Common misconception: that a small p-value in Table 1 proves an effect. It only flags a baseline difference.</a:t>
            </a:r>
          </a:p>
          <a:p>
            <a:r>
              <a:rPr lang="en-US" sz="1400" b="0" dirty="0"/>
              <a:t>Suggested question: why do we report median (IQR) for some rows and mean (SD) for others? Expected answer: skewed variables get the median.</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This mirrors section 6 of the demo and is the core deliverable of the day.</a:t>
            </a:r>
          </a:p>
          <a:p>
            <a:r>
              <a:rPr lang="en-US" sz="1400" b="0" dirty="0"/>
              <a:t>Key teaching point: tbl_summary picks mean (SD) or median (IQR) for numerics and n (percent) for categoricals automatically, and labels missing data for you.</a:t>
            </a:r>
          </a:p>
          <a:p>
            <a:r>
              <a:rPr lang="en-US" sz="1400" b="0" dirty="0"/>
              <a:t>Clinical interpretation: the p-value column flags baseline imbalance between treated and untreated patients; significant age and diabetes differences foreshadow the regression results.</a:t>
            </a:r>
          </a:p>
          <a:p>
            <a:r>
              <a:rPr lang="en-US" sz="1400" b="0" dirty="0"/>
              <a:t>Common mistake: forgetting library(gtsummary), or expecting tbl_summary to fit a model. It only describes.</a:t>
            </a:r>
          </a:p>
          <a:p>
            <a:r>
              <a:rPr lang="en-US" sz="1400" b="0" dirty="0"/>
              <a:t>Demonstration tip: show the table rendering in the Viewer, then mention as_flex_table for Word export.</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Before drawing anything, match the chart to the variable type. This single habit prevents most bad figures.</a:t>
            </a:r>
          </a:p>
          <a:p>
            <a:r>
              <a:rPr lang="en-US" sz="1400" b="0" dirty="0"/>
              <a:t>Key teaching point: histograms reveal shape and skew; boxplots compare groups; bar charts count categories; scatterplots show relationships.</a:t>
            </a:r>
          </a:p>
          <a:p>
            <a:r>
              <a:rPr lang="en-US" sz="1400" b="0" dirty="0"/>
              <a:t>Common mistake: using a bar chart of group means instead of a boxplot, which hides the spread and the outliers.</a:t>
            </a:r>
          </a:p>
          <a:p>
            <a:r>
              <a:rPr lang="en-US" sz="1400" b="0" dirty="0"/>
              <a:t>Clinical interpretation: a histogram of SBP tells you immediately whether to summarise it with a mean or a median.</a:t>
            </a:r>
          </a:p>
          <a:p>
            <a:r>
              <a:rPr lang="en-US" sz="1400" b="0" dirty="0"/>
              <a:t>Suggested question: which chart compares BMI across blood-pressure categories? Expected answer: a boxplot.</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This is the real figure produced by ggsave in the demo, section 7a.</a:t>
            </a:r>
          </a:p>
          <a:p>
            <a:r>
              <a:rPr lang="en-US" sz="1400" b="0" dirty="0"/>
              <a:t>Key teaching point: a histogram answers two questions at once: where is the centre, and is the distribution skewed?</a:t>
            </a:r>
          </a:p>
          <a:p>
            <a:r>
              <a:rPr lang="en-US" sz="1400" b="0" dirty="0"/>
              <a:t>Clinical interpretation: the sample concentrates in middle age, consistent with a hypertension primary-care population; the near-symmetry justifies reporting mean age.</a:t>
            </a:r>
          </a:p>
          <a:p>
            <a:r>
              <a:rPr lang="en-US" sz="1400" b="0" dirty="0"/>
              <a:t>Common mistake: choosing a binwidth so wide the shape disappears or so narrow it looks noisy. Here binwidth is 5 years.</a:t>
            </a:r>
          </a:p>
          <a:p>
            <a:r>
              <a:rPr lang="en-US" sz="1400" b="0" dirty="0"/>
              <a:t>Suggested question: from this shape, mean or median for age? Expected answer: either is fine because it is roughly symmetric.</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Real figure from demo section 7b, with a density curve overlaid on the histogram.</a:t>
            </a:r>
          </a:p>
          <a:p>
            <a:r>
              <a:rPr lang="en-US" sz="1400" b="0" dirty="0"/>
              <a:t>Key teaching point: the density overlay smooths the bars so the shape, and any right-skew, is easier to see.</a:t>
            </a:r>
          </a:p>
          <a:p>
            <a:r>
              <a:rPr lang="en-US" sz="1400" b="0" dirty="0"/>
              <a:t>Clinical interpretation: SBP shows a right tail of high readings, so median (IQR) is the safer summary; this is the visual proof behind the earlier rule of thumb.</a:t>
            </a:r>
          </a:p>
          <a:p>
            <a:r>
              <a:rPr lang="en-US" sz="1400" b="0" dirty="0"/>
              <a:t>Common mistake: forgetting aes(y = after_stat(density)) so the histogram and density are on different scales and the curve looks flat.</a:t>
            </a:r>
          </a:p>
          <a:p>
            <a:r>
              <a:rPr lang="en-US" sz="1400" b="0" dirty="0"/>
              <a:t>Suggested question: what does the right tail mean clinically? Expected answer: a subgroup of patients with markedly elevated blood pressure.</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Real figure from demo section 7c.</a:t>
            </a:r>
          </a:p>
          <a:p>
            <a:r>
              <a:rPr lang="en-US" sz="1400" b="0" dirty="0"/>
              <a:t>Key teaching point: geom_bar counts the categories itself, so you do not pre-summarise the data.</a:t>
            </a:r>
          </a:p>
          <a:p>
            <a:r>
              <a:rPr lang="en-US" sz="1400" b="0" dirty="0"/>
              <a:t>Clinical interpretation: the education distribution matters because higher education shows a trend toward greater treatment uptake, adjusted OR about 1.96; the bar chart shows how many patients sit in each level.</a:t>
            </a:r>
          </a:p>
          <a:p>
            <a:r>
              <a:rPr lang="en-US" sz="1400" b="0" dirty="0"/>
              <a:t>Common mistake: pre-aggregating then using geom_bar, which double-counts; use geom_col only when you already have counts.</a:t>
            </a:r>
          </a:p>
          <a:p>
            <a:r>
              <a:rPr lang="en-US" sz="1400" b="0" dirty="0"/>
              <a:t>Suggested question: why must the y-axis start at zero? Expected answer: a truncated axis exaggerates differences between bars.</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Real figure from demo section 7d.</a:t>
            </a:r>
          </a:p>
          <a:p>
            <a:r>
              <a:rPr lang="en-US" sz="1400" b="0" dirty="0"/>
              <a:t>Key teaching point: a boxplot compresses a whole distribution into five numbers per group, ideal for comparing treated and untreated patients.</a:t>
            </a:r>
          </a:p>
          <a:p>
            <a:r>
              <a:rPr lang="en-US" sz="1400" b="0" dirty="0"/>
              <a:t>Clinical interpretation: if the treated group sits higher, it suggests treatment is started in patients with worse blood pressure, matching the higher mean SBP we saw in the grouped summary.</a:t>
            </a:r>
          </a:p>
          <a:p>
            <a:r>
              <a:rPr lang="en-US" sz="1400" b="0" dirty="0"/>
              <a:t>Common mistake: forgetting na.rm = TRUE, which makes ggplot drop rows with a warning.</a:t>
            </a:r>
          </a:p>
          <a:p>
            <a:r>
              <a:rPr lang="en-US" sz="1400" b="0" dirty="0"/>
              <a:t>Suggested question: what do the dots beyond the whiskers represent? Expected answer: outlying patients, not errors to delete automatically.</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Real figure from demo section 7e.</a:t>
            </a:r>
          </a:p>
          <a:p>
            <a:r>
              <a:rPr lang="en-US" sz="1400" b="0" dirty="0"/>
              <a:t>Key teaching point: boxplots across an ordered categorical variable reveal a dose-response style gradient at a glance.</a:t>
            </a:r>
          </a:p>
          <a:p>
            <a:r>
              <a:rPr lang="en-US" sz="1400" b="0" dirty="0"/>
              <a:t>Clinical interpretation: if median BMI rises from normal to hypertensive categories, it is consistent with obesity as a hypertension risk factor.</a:t>
            </a:r>
          </a:p>
          <a:p>
            <a:r>
              <a:rPr lang="en-US" sz="1400" b="0" dirty="0"/>
              <a:t>Common mistake: reading box width as sample size; by default it is not. Use varwidth = TRUE if you want that.</a:t>
            </a:r>
          </a:p>
          <a:p>
            <a:r>
              <a:rPr lang="en-US" sz="1400" b="0" dirty="0"/>
              <a:t>Suggested question: does this prove obesity causes hypertension? Expected answer: no, it shows association across categories, not causation.</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Real figure from demo section 7f.</a:t>
            </a:r>
          </a:p>
          <a:p>
            <a:r>
              <a:rPr lang="en-US" sz="1400" b="0" dirty="0"/>
              <a:t>Key teaching point: a scatterplot is the right chart for two continuous variables, and geom_smooth(method = lm) adds the trend line.</a:t>
            </a:r>
          </a:p>
          <a:p>
            <a:r>
              <a:rPr lang="en-US" sz="1400" b="0" dirty="0"/>
              <a:t>Clinical interpretation: an upward slope suggests higher BMI accompanies higher systolic BP, consistent with obesity as a risk factor. This is association, not proof of causation.</a:t>
            </a:r>
          </a:p>
          <a:p>
            <a:r>
              <a:rPr lang="en-US" sz="1400" b="0" dirty="0"/>
              <a:t>Common mistake: over-plotting so the cloud is solid; we use alpha = 0.3 transparency so density is visible.</a:t>
            </a:r>
          </a:p>
          <a:p>
            <a:r>
              <a:rPr lang="en-US" sz="1400" b="0" dirty="0"/>
              <a:t>Suggested question: does a clear line mean BMI causes high BP? Expected answer: no, confounders could drive both; a model is needed.</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This mirrors the figure-building pattern in demo section 7.</a:t>
            </a:r>
          </a:p>
          <a:p>
            <a:r>
              <a:rPr lang="en-US" sz="1400" b="0" dirty="0"/>
              <a:t>Key teaching point: build the plot as an object, then ggsave that object so the saved file matches what you reviewed on screen.</a:t>
            </a:r>
          </a:p>
          <a:p>
            <a:r>
              <a:rPr lang="en-US" sz="1400" b="0" dirty="0"/>
              <a:t>Clinical interpretation: 300 dpi ensures the figure stays sharp in print; axis labels carry units so the figure is self-explanatory.</a:t>
            </a:r>
          </a:p>
          <a:p>
            <a:r>
              <a:rPr lang="en-US" sz="1400" b="0" dirty="0"/>
              <a:t>Common mistake: relying on ggsave with no plot argument, which saves the last printed plot and can grab the wrong one.</a:t>
            </a:r>
          </a:p>
          <a:p>
            <a:r>
              <a:rPr lang="en-US" sz="1400" b="0" dirty="0"/>
              <a:t>Demonstration tip: open the saved PNG from the Resources folder so learners see the real output file.</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This mirrors demo section 8 plus the gtsummary export comments.</a:t>
            </a:r>
          </a:p>
          <a:p>
            <a:r>
              <a:rPr lang="en-US" sz="1400" b="0" dirty="0"/>
              <a:t>Key teaching point: outputs should be generated by code into a folder, never assembled by hand, so they regenerate identically every time.</a:t>
            </a:r>
          </a:p>
          <a:p>
            <a:r>
              <a:rPr lang="en-US" sz="1400" b="0" dirty="0"/>
              <a:t>Clinical interpretation: a reviewer who asks for a corrected n can be answered by rerunning one script, not re-editing a Word table cell by cell.</a:t>
            </a:r>
          </a:p>
          <a:p>
            <a:r>
              <a:rPr lang="en-US" sz="1400" b="0" dirty="0"/>
              <a:t>Common mistake: pasting numbers from the console into the manuscript, which breaks when the data update.</a:t>
            </a:r>
          </a:p>
          <a:p>
            <a:r>
              <a:rPr lang="en-US" sz="1400" b="0" dirty="0"/>
              <a:t>Suggested question: where do our figures and tables land? Expected answer: the Resources folder, written by ggsave and write_csv.</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This is the hands-on consolidation of the whole day.</a:t>
            </a:r>
          </a:p>
          <a:p>
            <a:r>
              <a:rPr lang="en-US" sz="1400" b="0" dirty="0"/>
              <a:t>Key teaching point: the exercise reproduces the manuscript deliverables: one Table 1 and at least two figures.</a:t>
            </a:r>
          </a:p>
          <a:p>
            <a:r>
              <a:rPr lang="en-US" sz="1400" b="0" dirty="0"/>
              <a:t>Clinical interpretation: encourage learners to write one sentence interpreting their Table 1, for example which groups differ at baseline.</a:t>
            </a:r>
          </a:p>
          <a:p>
            <a:r>
              <a:rPr lang="en-US" sz="1400" b="0" dirty="0"/>
              <a:t>Common mistake: forgetting na.rm or library(gtsummary); remind them before they start.</a:t>
            </a:r>
          </a:p>
          <a:p>
            <a:r>
              <a:rPr lang="en-US" sz="1400" b="0" dirty="0"/>
              <a:t>Demonstration tip: circulate while learners work; the most common blocker is an un-loaded package or a typo in a variable name. Expected output is a rendered table plus two PNGs in Resources.</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Close the loop and set up Day 4.</a:t>
            </a:r>
          </a:p>
          <a:p>
            <a:r>
              <a:rPr lang="en-US" sz="1400" b="0" dirty="0"/>
              <a:t>Key teaching point: today was description; tomorrow is inference. Table 1 told us groups differ, but not whether differences are independent.</a:t>
            </a:r>
          </a:p>
          <a:p>
            <a:r>
              <a:rPr lang="en-US" sz="1400" b="0" dirty="0"/>
              <a:t>Clinical interpretation: Day 4 fits logistic regression for treatment uptake, where we will interpret adjusted odds ratios such as diabetes 3.56 and health insurance 2.05.</a:t>
            </a:r>
          </a:p>
          <a:p>
            <a:r>
              <a:rPr lang="en-US" sz="1400" b="0" dirty="0"/>
              <a:t>Common misconception: that a baseline p-value already answers the research question. It does not; adjustment is needed.</a:t>
            </a:r>
          </a:p>
          <a:p>
            <a:r>
              <a:rPr lang="en-US" sz="1400" b="0" dirty="0"/>
              <a:t>Suggested question: why move beyond Table 1? Expected answer: to adjust for confounders and estimate independent effects, which is Day 4.</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Welcome to Day 4. Yesterday we DESCRIBED the data; today we ASK QUESTIONS of it with statistical tests.</a:t>
            </a:r>
          </a:p>
          <a:p>
            <a:r>
              <a:rPr lang="en-US" sz="1400" b="0" dirty="0"/>
              <a:t>Key framing: every test answers a question - are two groups different? are two variables associated?</a:t>
            </a:r>
          </a:p>
          <a:p>
            <a:r>
              <a:rPr lang="en-US" sz="1400" b="0" dirty="0"/>
              <a:t>Reassure clinicians: the maths is automatic in R; your job is to choose the right test and interpret it.</a:t>
            </a:r>
          </a:p>
          <a:p>
            <a:r>
              <a:rPr lang="en-US" sz="1400" b="0" dirty="0"/>
              <a:t>Bridge: today is tests; next week (Day 5) we introduce regression to model several predictors at once.</a:t>
            </a:r>
          </a:p>
          <a:p>
            <a:r>
              <a:rPr lang="en-US" sz="1400" b="0" dirty="0"/>
              <a:t>Demo tip: keep the day4_demo.R script open and run blocks live as you reach each slide.</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Roadmap for the day: the common medical statistical tests, and how to choose between them.</a:t>
            </a:r>
          </a:p>
          <a:p>
            <a:r>
              <a:rPr lang="en-US" sz="1400" b="0" dirty="0"/>
              <a:t>Emphasise the logical thread: outcome type + number of groups + paired vs independent -&gt; the right test.</a:t>
            </a:r>
          </a:p>
          <a:p>
            <a:r>
              <a:rPr lang="en-US" sz="1400" b="0" dirty="0"/>
              <a:t>Bridge: these tests compare groups two at a time; Day 5 introduces regression to study several predictors together.</a:t>
            </a:r>
          </a:p>
          <a:p>
            <a:r>
              <a:rPr lang="en-US" sz="1400" b="0" dirty="0"/>
              <a:t>Audience question: what decides which test we use? Answer: the type of the outcome and how many groups we compare.</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Key teaching point: define the analytic population explicitly and once, before any test.</a:t>
            </a:r>
          </a:p>
          <a:p>
            <a:r>
              <a:rPr lang="en-US" sz="1400" b="0" dirty="0"/>
              <a:t>Clinical logic: you cannot take up treatment for a disease you have not been diagnosed with.</a:t>
            </a:r>
          </a:p>
          <a:p>
            <a:r>
              <a:rPr lang="en-US" sz="1400" b="0" dirty="0"/>
              <a:t>Common mistake: running the analysis on the full 1,500 - it mixes in undefined outcomes and biases estimates.</a:t>
            </a:r>
          </a:p>
          <a:p>
            <a:r>
              <a:rPr lang="en-US" sz="1400" b="0" dirty="0"/>
              <a:t>Demo tip: show dx &lt;- filter(analysis_data, htn_diagnosed == "Yes") then nrow(dx) and table(dx$treatment_uptake).</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Key teaching point: a p-value answers 'how surprising is my data if nothing is going on?'</a:t>
            </a:r>
          </a:p>
          <a:p>
            <a:r>
              <a:rPr lang="en-US" sz="1400" b="0" dirty="0"/>
              <a:t>Common misinterpretation: p is NOT the chance the null is true, and (1 - p) is NOT the chance H1 is true.</a:t>
            </a:r>
          </a:p>
          <a:p>
            <a:r>
              <a:rPr lang="en-US" sz="1400" b="0" dirty="0"/>
              <a:t>Clinical interpretation: significance is about evidence against H0, not about importance or effect size.</a:t>
            </a:r>
          </a:p>
          <a:p>
            <a:r>
              <a:rPr lang="en-US" sz="1400" b="0" dirty="0"/>
              <a:t>Audience question: does p = 0.04 prove the effect is real? Answer: no - it is one piece of evidence, judged with the effect size and context.</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Key teaching point: the p-value is necessary but not sufficient - it ignores effect size.</a:t>
            </a:r>
          </a:p>
          <a:p>
            <a:r>
              <a:rPr lang="en-US" sz="1400" b="0" dirty="0"/>
              <a:t>Common mistake: dichotomising at 0.05 as if 0.049 and 0.051 are fundamentally different.</a:t>
            </a:r>
          </a:p>
          <a:p>
            <a:r>
              <a:rPr lang="en-US" sz="1400" b="0" dirty="0"/>
              <a:t>Clinical interpretation: a CI shows both the magnitude and the precision; prefer it to a bare p-value.</a:t>
            </a:r>
          </a:p>
          <a:p>
            <a:r>
              <a:rPr lang="en-US" sz="1400" b="0" dirty="0"/>
              <a:t>Audience question: which is more useful, 'p = 0.03' or 'OR 3.6 (95% CI 1.5 to 9.6)'? Answer: the second - it shows direction, size and uncertainty.</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Key teaching point: plot before you test - the eye catches what a single p-value hides.</a:t>
            </a:r>
          </a:p>
          <a:p>
            <a:r>
              <a:rPr lang="en-US" sz="1400" b="0" dirty="0"/>
              <a:t>Common mistake: trusting Shapiro-Wilk alone in large samples; with ~1,089 rows it flags trivial departures as significant.</a:t>
            </a:r>
          </a:p>
          <a:p>
            <a:r>
              <a:rPr lang="en-US" sz="1400" b="0" dirty="0"/>
              <a:t>Clinical interpretation: a near-straight Q-Q plot and a symmetric histogram matter more than the Shapiro p here.</a:t>
            </a:r>
          </a:p>
          <a:p>
            <a:r>
              <a:rPr lang="en-US" sz="1400" b="0" dirty="0"/>
              <a:t>Demo tip: run hist(dx$age), qqnorm/qqline, then shapiro.test(dx$age) and contrast the verdicts.</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Key teaching point: statistical power is a double-edged sword - in large n the normality test over-flags.</a:t>
            </a:r>
          </a:p>
          <a:p>
            <a:r>
              <a:rPr lang="en-US" sz="1400" b="0" dirty="0"/>
              <a:t>Common mistake: switching to non-parametric tests purely because Shapiro returned p &lt; 0.05.</a:t>
            </a:r>
          </a:p>
          <a:p>
            <a:r>
              <a:rPr lang="en-US" sz="1400" b="0" dirty="0"/>
              <a:t>Clinical interpretation: judge normality by shape and Q-Q linearity; reserve non-parametric tests for clear skew or small n.</a:t>
            </a:r>
          </a:p>
          <a:p>
            <a:r>
              <a:rPr lang="en-US" sz="1400" b="0" dirty="0"/>
              <a:t>Audience question: Shapiro says p &lt; 0.001 but the Q-Q is straight - what do you do? Answer: trust the plot and use the parametric test.</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Key teaching point: the question is the same (do two groups differ?); the test depends on the data shape.</a:t>
            </a:r>
          </a:p>
          <a:p>
            <a:r>
              <a:rPr lang="en-US" sz="1400" b="0" dirty="0"/>
              <a:t>Clinical interpretation example: mean age is higher among those on treatment, consistent with older patients taking up more.</a:t>
            </a:r>
          </a:p>
          <a:p>
            <a:r>
              <a:rPr lang="en-US" sz="1400" b="0" dirty="0"/>
              <a:t>Common mistake: defaulting to the classic Student t-test - Welch is safer because it does not assume equal variances.</a:t>
            </a:r>
          </a:p>
          <a:p>
            <a:r>
              <a:rPr lang="en-US" sz="1400" b="0" dirty="0"/>
              <a:t>Demo tip: run both t.test and wilcox.test on age ~ treatment_uptake; note they usually agree for large, symmetric data.</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Key teaching point: read three things - the two group means, the 95% CI for their difference, and the p-value.</a:t>
            </a:r>
          </a:p>
          <a:p>
            <a:r>
              <a:rPr lang="en-US" sz="1400" b="0" dirty="0"/>
              <a:t>Clinical interpretation: a ~5-year mean age gap, with a CI that excludes zero, supports older patients taking up more.</a:t>
            </a:r>
          </a:p>
          <a:p>
            <a:r>
              <a:rPr lang="en-US" sz="1400" b="0" dirty="0"/>
              <a:t>Common mistake: reporting only the p-value and omitting the means and the CI for the difference.</a:t>
            </a:r>
          </a:p>
          <a:p>
            <a:r>
              <a:rPr lang="en-US" sz="1400" b="0" dirty="0"/>
              <a:t>Demo tip: run wilcox.test(age ~ treatment_uptake, data = dx) alongside and show they agree.</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Key teaching point: when the normality or sample-size assumptions of the t-test or chi-square fail, the rank-based Wilcoxon test and Fisher's exact test give valid answers.</a:t>
            </a:r>
          </a:p>
          <a:p>
            <a:r>
              <a:rPr lang="en-US" sz="1400" b="0" dirty="0"/>
              <a:t>Clinical interpretation: lab values and costs are often skewed - the Wilcoxon test on medians is frequently the honest choice.</a:t>
            </a:r>
          </a:p>
          <a:p>
            <a:r>
              <a:rPr lang="en-US" sz="1400" b="0" dirty="0"/>
              <a:t>Common mistake: forcing a t-test on clearly skewed data, or using chi-square when a cell has an expected count below 5.</a:t>
            </a:r>
          </a:p>
          <a:p>
            <a:r>
              <a:rPr lang="en-US" sz="1400" b="0" dirty="0"/>
              <a:t>Audience question: when would you prefer Fisher's exact over chi-square? Expected answer: small samples or sparse tables with low expected counts.</a:t>
            </a:r>
          </a:p>
          <a:p>
            <a:r>
              <a:rPr lang="en-US" sz="1400" b="0" dirty="0"/>
              <a:t>Demo tip: show that Wilcoxon and the t-test agree here (large, roughly symmetric sample), then contrive a small table to motivate Fisher's exact.</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Key teaching point: ANOVA is the multi-group t-test; it controls the family-wide error a stack of t-tests would not.</a:t>
            </a:r>
          </a:p>
          <a:p>
            <a:r>
              <a:rPr lang="en-US" sz="1400" b="0" dirty="0"/>
              <a:t>Common mistake: running every pairwise t-test - inflates false positives. Run ANOVA, then a post-hoc only if it is significant.</a:t>
            </a:r>
          </a:p>
          <a:p>
            <a:r>
              <a:rPr lang="en-US" sz="1400" b="0" dirty="0"/>
              <a:t>Clinical interpretation: a Tukey table shows which specific education pairs differ in mean age.</a:t>
            </a:r>
          </a:p>
          <a:p>
            <a:r>
              <a:rPr lang="en-US" sz="1400" b="0" dirty="0"/>
              <a:t>Audience question: ANOVA p is significant - are all groups different? Answer: no, at least one pair is; Tukey says which.</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Key teaching point: chi-square asks whether two categorical variables move together; the table shows the direction.</a:t>
            </a:r>
          </a:p>
          <a:p>
            <a:r>
              <a:rPr lang="en-US" sz="1400" b="0" dirty="0"/>
              <a:t>Common mistake: applying chi-square when expected counts are below 5 - switch to Fisher's exact in that case.</a:t>
            </a:r>
          </a:p>
          <a:p>
            <a:r>
              <a:rPr lang="en-US" sz="1400" b="0" dirty="0"/>
              <a:t>Clinical interpretation: a higher proportion of diabetics on treatment suggests a positive association, quantified later by the OR.</a:t>
            </a:r>
          </a:p>
          <a:p>
            <a:r>
              <a:rPr lang="en-US" sz="1400" b="0" dirty="0"/>
              <a:t>Demo tip: show table(dx$treatment_uptake, dx$diabetes), then chisq.test, its $expected, and fisher.test.</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Key teaching point: r ranges from -1 to +1; ~0-0.3 weak, 0.3-0.7 moderate, 0.7-1.0 strong; the sign gives direction.</a:t>
            </a:r>
          </a:p>
          <a:p>
            <a:r>
              <a:rPr lang="en-US" sz="1400" b="0" dirty="0"/>
              <a:t>Common mistake: confusing a significant p with a strong relationship - in big samples a tiny r (0.08) is significant yet trivial.</a:t>
            </a:r>
          </a:p>
          <a:p>
            <a:r>
              <a:rPr lang="en-US" sz="1400" b="0" dirty="0"/>
              <a:t>Clinical interpretation: always report and judge r, not just the p-value; remember correlation is not causation.</a:t>
            </a:r>
          </a:p>
          <a:p>
            <a:r>
              <a:rPr lang="en-US" sz="1400" b="0" dirty="0"/>
              <a:t>Audience question: r = 0.1, p &lt; 0.001 - strong link? Answer: no, statistically detectable but clinically negligible.</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Key teaching point: the p-value confirms the link is real; r tells you it is weak.</a:t>
            </a:r>
          </a:p>
          <a:p>
            <a:r>
              <a:rPr lang="en-US" sz="1400" b="0" dirty="0"/>
              <a:t>Clinical interpretation: SBP and BMI rise together a little, but BMI explains very little of SBP variation.</a:t>
            </a:r>
          </a:p>
          <a:p>
            <a:r>
              <a:rPr lang="en-US" sz="1400" b="0" dirty="0"/>
              <a:t>Common mistake: headlining 'significant correlation' while hiding that r is only 0.18.</a:t>
            </a:r>
          </a:p>
          <a:p>
            <a:r>
              <a:rPr lang="en-US" sz="1400" b="0" dirty="0"/>
              <a:t>Demo tip: rerun with method = "spearman" and note the rank correlation is similar, confirming robustness.</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Key teaching point: the test is determined by the outcome type and the predictor type - not by habit.</a:t>
            </a:r>
          </a:p>
          <a:p>
            <a:r>
              <a:rPr lang="en-US" sz="1400" b="0" dirty="0"/>
              <a:t>Demo tip: keep this table on screen as a decision aid for the exercise.</a:t>
            </a:r>
          </a:p>
          <a:p>
            <a:r>
              <a:rPr lang="en-US" sz="1400" b="0" dirty="0"/>
              <a:t>Clinical interpretation: when the outcome is binary and we want several predictors at once, we move to logistic regression - that is Day 5.</a:t>
            </a:r>
          </a:p>
          <a:p>
            <a:r>
              <a:rPr lang="en-US" sz="1400" b="0" dirty="0"/>
              <a:t>Audience question: outcome is Yes/No and we want to adjust for several factors - which method? Answer: logistic regression, next session.</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Key teaching point: the deliverable is the reasoning - question -&gt; variable types -&gt; test -&gt; interpretation.</a:t>
            </a:r>
          </a:p>
          <a:p>
            <a:r>
              <a:rPr lang="en-US" sz="1400" b="0" dirty="0"/>
              <a:t>Common mistake: reaching for a t-test out of habit without checking the outcome type or distribution.</a:t>
            </a:r>
          </a:p>
          <a:p>
            <a:r>
              <a:rPr lang="en-US" sz="1400" b="0" dirty="0"/>
              <a:t>Clinical interpretation: expect the SBP-BMI correlation to be weak but significant; sex-uptake association may be modest.</a:t>
            </a:r>
          </a:p>
          <a:p>
            <a:r>
              <a:rPr lang="en-US" sz="1400" b="0" dirty="0"/>
              <a:t>Demo tip: circulate and check that students report the estimate and CI, not just the p-value.</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Key teaching point: today was about choosing and interpreting single tests; Day 5 introduces regression to handle many predictors together.</a:t>
            </a:r>
          </a:p>
          <a:p>
            <a:r>
              <a:rPr lang="en-US" sz="1400" b="0" dirty="0"/>
              <a:t>Clinical interpretation: tests compare two things at a time; regression adjusts for several factors simultaneously.</a:t>
            </a:r>
          </a:p>
          <a:p>
            <a:r>
              <a:rPr lang="en-US" sz="1400" b="0" dirty="0"/>
              <a:t>Common mistake: stopping at p-values; next session we focus on effect sizes and clear reporting.</a:t>
            </a:r>
          </a:p>
          <a:p>
            <a:r>
              <a:rPr lang="en-US" sz="1400" b="0" dirty="0"/>
              <a:t>Audience question: what if we want to study several predictors of a Yes/No outcome at once? Answer: logistic regression - that is Day 5.</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Welcome to the capstone day.</a:t>
            </a:r>
          </a:p>
          <a:p>
            <a:r>
              <a:rPr lang="en-US" sz="1400" b="0" dirty="0"/>
              <a:t>Key point: today we turn a fitted model into a publishable, reproducible result.</a:t>
            </a:r>
          </a:p>
          <a:p>
            <a:r>
              <a:rPr lang="en-US" sz="1400" b="0" dirty="0"/>
              <a:t>This ties together everything from Days 1-4: importing, cleaning, summarising, and now modelling and reporting.</a:t>
            </a:r>
          </a:p>
          <a:p>
            <a:r>
              <a:rPr lang="en-US" sz="1400" b="0" dirty="0"/>
              <a:t>Tell the class the goal is not more statistics but better judgement and cleaner reporting.</a:t>
            </a:r>
          </a:p>
          <a:p>
            <a:r>
              <a:rPr lang="en-US" sz="1400" b="0" dirty="0"/>
              <a:t>Demonstration tip: keep day5_demo.R open in RStudio throughout.</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Set concrete, checkable goals for the day.</a:t>
            </a:r>
          </a:p>
          <a:p>
            <a:r>
              <a:rPr lang="en-US" sz="1400" b="0" dirty="0"/>
              <a:t>Key teaching point: these objectives map one-to-one onto the exercise deliverable.</a:t>
            </a:r>
          </a:p>
          <a:p>
            <a:r>
              <a:rPr lang="en-US" sz="1400" b="0" dirty="0"/>
              <a:t>Clinical interpretation: each skill is something they will use on their own studies, not abstract theory.</a:t>
            </a:r>
          </a:p>
          <a:p>
            <a:r>
              <a:rPr lang="en-US" sz="1400" b="0" dirty="0"/>
              <a:t>Audience question: which of these feels least familiar? Use the show of hands to pace the day.</a:t>
            </a:r>
          </a:p>
          <a:p>
            <a:r>
              <a:rPr lang="en-US" sz="1400" b="0" dirty="0"/>
              <a:t>Demonstration tip: return to this list at the wrap-up and tick items off.</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Orient the audience: this is a coherent pipeline, not isolated tricks.</a:t>
            </a:r>
          </a:p>
          <a:p>
            <a:r>
              <a:rPr lang="en-US" sz="1400" b="0" dirty="0"/>
              <a:t>Common misconception: that modelling is the hard part. The judgement (which variables, how to report) is harder.</a:t>
            </a:r>
          </a:p>
          <a:p>
            <a:r>
              <a:rPr lang="en-US" sz="1400" b="0" dirty="0"/>
              <a:t>Clinical interpretation: only diagnosed patients can take up treatment, so we restrict to them.</a:t>
            </a:r>
          </a:p>
          <a:p>
            <a:r>
              <a:rPr lang="en-US" sz="1400" b="0" dirty="0"/>
              <a:t>Audience question: why model only the 1,089 diagnosed and not all 1,500? Expected answer: people without a diagnosis cannot have a treatment-uptake decision; including them biases the estimates.</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Key teaching point: linear regression is for a continuous outcome; the slope is a change per unit.</a:t>
            </a:r>
          </a:p>
          <a:p>
            <a:r>
              <a:rPr lang="en-US" sz="1400" b="0" dirty="0"/>
              <a:t>Clinical interpretation: the intercept is rarely meaningful; the slopes are what we report.</a:t>
            </a:r>
          </a:p>
          <a:p>
            <a:r>
              <a:rPr lang="en-US" sz="1400" b="0" dirty="0"/>
              <a:t>Common mistake: using linear regression for a Yes/No outcome - that needs logistic regression (next).</a:t>
            </a:r>
          </a:p>
          <a:p>
            <a:r>
              <a:rPr lang="en-US" sz="1400" b="0" dirty="0"/>
              <a:t>Audience question: outcome is systolic BP (a number) and predictor is age - which model? Answer: linear regression.</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Key teaching point: read each slope as an adjusted change per unit, with its 95% CI.</a:t>
            </a:r>
          </a:p>
          <a:p>
            <a:r>
              <a:rPr lang="en-US" sz="1400" b="0" dirty="0"/>
              <a:t>Clinical interpretation: age and BMI are independently associated with SBP; sex is not (CI crosses 0, p = 0.74).</a:t>
            </a:r>
          </a:p>
          <a:p>
            <a:r>
              <a:rPr lang="en-US" sz="1400" b="0" dirty="0"/>
              <a:t>Common mistake: reporting the intercept as if it were clinically meaningful.</a:t>
            </a:r>
          </a:p>
          <a:p>
            <a:r>
              <a:rPr lang="en-US" sz="1400" b="0" dirty="0"/>
              <a:t>Demo tip: run summary(m1) first (crude), then the adjusted m2, and note the age slope barely changes.</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Key teaching point: a binary outcome calls for logistic regression, which models odds rather than a mean.</a:t>
            </a:r>
          </a:p>
          <a:p>
            <a:r>
              <a:rPr lang="en-US" sz="1400" b="0" dirty="0"/>
              <a:t>Clinical interpretation: the odds ratio is the deliverable - it travels straight into the manuscript and the forest plot.</a:t>
            </a:r>
          </a:p>
          <a:p>
            <a:r>
              <a:rPr lang="en-US" sz="1400" b="0" dirty="0"/>
              <a:t>Common mistake: trying to fit a linear model to a Yes/No outcome.</a:t>
            </a:r>
          </a:p>
          <a:p>
            <a:r>
              <a:rPr lang="en-US" sz="1400" b="0" dirty="0"/>
              <a:t>Audience question: what are the odds if 3 of 4 patients take up treatment? Answer: 3 to 1, i.e. odds = 3.</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Key teaching point: read an OR as direction (vs 1) plus significance (does the CI cross 1?).</a:t>
            </a:r>
          </a:p>
          <a:p>
            <a:r>
              <a:rPr lang="en-US" sz="1400" b="0" dirty="0"/>
              <a:t>Common mistake: reading the raw coefficient (log-odds) as if it were the OR - always exponentiate first.</a:t>
            </a:r>
          </a:p>
          <a:p>
            <a:r>
              <a:rPr lang="en-US" sz="1400" b="0" dirty="0"/>
              <a:t>Clinical interpretation: 'OR excludes 1' is the regression equivalent of p &lt; 0.05, but with magnitude attached.</a:t>
            </a:r>
          </a:p>
          <a:p>
            <a:r>
              <a:rPr lang="en-US" sz="1400" b="0" dirty="0"/>
              <a:t>Audience question: OR 0.7 with CI 0.5 to 0.9 - what does it mean? Answer: a real protective effect, 30% lower odds.</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Key teaching point: family = binomial tells glm the outcome is 0/1; exp() turns log-odds into an interpretable OR.</a:t>
            </a:r>
          </a:p>
          <a:p>
            <a:r>
              <a:rPr lang="en-US" sz="1400" b="0" dirty="0"/>
              <a:t>Common mistake: reporting exp(coef) but forgetting the reference level - here diabetesYes is compared with No.</a:t>
            </a:r>
          </a:p>
          <a:p>
            <a:r>
              <a:rPr lang="en-US" sz="1400" b="0" dirty="0"/>
              <a:t>Clinical interpretation: the unadjusted OR will shrink once we adjust for confounders such as age.</a:t>
            </a:r>
          </a:p>
          <a:p>
            <a:r>
              <a:rPr lang="en-US" sz="1400" b="0" dirty="0"/>
              <a:t>Demo tip: show summary(m_diab) first so they see the log-odds, then exp() to make it a clinician-friendly OR.</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Key teaching point: for a continuous predictor the OR is per one-unit change - choose a unit people care about.</a:t>
            </a:r>
          </a:p>
          <a:p>
            <a:r>
              <a:rPr lang="en-US" sz="1400" b="0" dirty="0"/>
              <a:t>Common mistake: dismissing age as unimportant because OR ~1.03 looks trivial per single year.</a:t>
            </a:r>
          </a:p>
          <a:p>
            <a:r>
              <a:rPr lang="en-US" sz="1400" b="0" dirty="0"/>
              <a:t>Clinical interpretation: per-decade framing (about 1.34) shows age is a meaningful driver of uptake.</a:t>
            </a:r>
          </a:p>
          <a:p>
            <a:r>
              <a:rPr lang="en-US" sz="1400" b="0" dirty="0"/>
              <a:t>Demo tip: run exp(coef(m_age)['age'] * 10) live to convert per-year into per-decade.</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Core philosophy slide: clinically-motivated selection beats blind automation.</a:t>
            </a:r>
          </a:p>
          <a:p>
            <a:r>
              <a:rPr lang="en-US" sz="1400" b="0" dirty="0"/>
              <a:t>Key teaching point: a pre-specified model is defensible to reviewers and reproducible.</a:t>
            </a:r>
          </a:p>
          <a:p>
            <a:r>
              <a:rPr lang="en-US" sz="1400" b="0" dirty="0"/>
              <a:t>Common mistake: letting the computer pick variables, then telling a clinical story around whatever survived.</a:t>
            </a:r>
          </a:p>
          <a:p>
            <a:r>
              <a:rPr lang="en-US" sz="1400" b="0" dirty="0"/>
              <a:t>Clinical interpretation: in an explanatory study we keep known confounders even if non-significant.</a:t>
            </a:r>
          </a:p>
          <a:p>
            <a:r>
              <a:rPr lang="en-US" sz="1400" b="0" dirty="0"/>
              <a:t>Audience question: should we drop a variable just because p &gt; 0.05? Expected answer: no, not if it is a known confounder; dropping it can reintroduce bias.</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Confounding is the single most important modelling concept for clinicians.</a:t>
            </a:r>
          </a:p>
          <a:p>
            <a:r>
              <a:rPr lang="en-US" sz="1400" b="0" dirty="0"/>
              <a:t>Key teaching point: adjustment is how observational studies approximate a fair comparison.</a:t>
            </a:r>
          </a:p>
          <a:p>
            <a:r>
              <a:rPr lang="en-US" sz="1400" b="0" dirty="0"/>
              <a:t>Common mistake: reporting and interpreting the crude OR.</a:t>
            </a:r>
          </a:p>
          <a:p>
            <a:r>
              <a:rPr lang="en-US" sz="1400" b="0" dirty="0"/>
              <a:t>Clinical interpretation: the crude urban effect is partly explained by age and insurance; after adjustment a genuine residual urban advantage of about 1.87 remains.</a:t>
            </a:r>
          </a:p>
          <a:p>
            <a:r>
              <a:rPr lang="en-US" sz="1400" b="0" dirty="0"/>
              <a:t>Demonstration tip: in the next slide we show the crude vs adjusted numbers from R.</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Live demo from day5_demo.R, sections 2-3.</a:t>
            </a:r>
          </a:p>
          <a:p>
            <a:r>
              <a:rPr lang="en-US" sz="1400" b="0" dirty="0"/>
              <a:t>Key teaching point: exp() converts log-odds to an odds ratio.</a:t>
            </a:r>
          </a:p>
          <a:p>
            <a:r>
              <a:rPr lang="en-US" sz="1400" b="0" dirty="0"/>
              <a:t>Common mistake: forgetting that glm needs family = binomial for a logistic model.</a:t>
            </a:r>
          </a:p>
          <a:p>
            <a:r>
              <a:rPr lang="en-US" sz="1400" b="0" dirty="0"/>
              <a:t>Clinical interpretation: a &gt;10% drop confirms confounding; the adjusted 1.87 is what we report.</a:t>
            </a:r>
          </a:p>
          <a:p>
            <a:r>
              <a:rPr lang="en-US" sz="1400" b="0" dirty="0"/>
              <a:t>Audience question: why does the urban effect shrink? Expected answer: because urban residents differ on age and insurance, which independently raise uptake.</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Live demo from day5_demo.R, section 7.</a:t>
            </a:r>
          </a:p>
          <a:p>
            <a:r>
              <a:rPr lang="en-US" sz="1400" b="0" dirty="0"/>
              <a:t>Key teaching point: broom::tidy() converts a model object into a clean data frame, ready to plot or export.</a:t>
            </a:r>
          </a:p>
          <a:p>
            <a:r>
              <a:rPr lang="en-US" sz="1400" b="0" dirty="0"/>
              <a:t>Common mistake: hand-copying numbers from summary() into a Word table - error-prone and unreproducible.</a:t>
            </a:r>
          </a:p>
          <a:p>
            <a:r>
              <a:rPr lang="en-US" sz="1400" b="0" dirty="0"/>
              <a:t>Clinical interpretation: every CI shown excludes 1, so all are significant; diabetes has the largest OR but the widest CI.</a:t>
            </a:r>
          </a:p>
          <a:p>
            <a:r>
              <a:rPr lang="en-US" sz="1400" b="0" dirty="0"/>
              <a:t>Audience question: why is the diabetes CI so wide? Expected answer: diabetics are a smaller subgroup, so the estimate is less precise.</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These are the canonical numbers from key_findings.md - cite them accurately.</a:t>
            </a:r>
          </a:p>
          <a:p>
            <a:r>
              <a:rPr lang="en-US" sz="1400" b="0" dirty="0"/>
              <a:t>Key teaching point: this is the manuscript's main results table.</a:t>
            </a:r>
          </a:p>
          <a:p>
            <a:r>
              <a:rPr lang="en-US" sz="1400" b="0" dirty="0"/>
              <a:t>Common mistake: omitting the CI or the n; reviewers always ask.</a:t>
            </a:r>
          </a:p>
          <a:p>
            <a:r>
              <a:rPr lang="en-US" sz="1400" b="0" dirty="0"/>
              <a:t>Clinical interpretation: distance is in the expected protective-against-uptake direction (OR 0.98) but not significant - report it as such, do not call it null.</a:t>
            </a:r>
          </a:p>
          <a:p>
            <a:r>
              <a:rPr lang="en-US" sz="1400" b="0" dirty="0"/>
              <a:t>Audience question: which predictor matters most? Expected answer: diabetes has the largest OR (3.56), but caution - its CI is widest, so precision is lower.</a:t>
            </a:r>
          </a:p>
          <a:p>
            <a:r>
              <a:rPr lang="en-US" sz="1400" b="0" dirty="0"/>
              <a:t>Demonstration tip: family history and knowledge are in the caption to keep the table within the row limit.</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Key teaching point: a forest plot communicates the whole model at a glance.</a:t>
            </a:r>
          </a:p>
          <a:p>
            <a:r>
              <a:rPr lang="en-US" sz="1400" b="0" dirty="0"/>
              <a:t>The x-axis is on a log scale so the CIs appear symmetric around each point.</a:t>
            </a:r>
          </a:p>
          <a:p>
            <a:r>
              <a:rPr lang="en-US" sz="1400" b="0" dirty="0"/>
              <a:t>Common mistake: putting the OR axis on a linear scale, which squashes the small ORs.</a:t>
            </a:r>
          </a:p>
          <a:p>
            <a:r>
              <a:rPr lang="en-US" sz="1400" b="0" dirty="0"/>
              <a:t>Clinical interpretation: any CI whisker that crosses the dashed line at 1 is non-significant - here only distance does.</a:t>
            </a:r>
          </a:p>
          <a:p>
            <a:r>
              <a:rPr lang="en-US" sz="1400" b="0" dirty="0"/>
              <a:t>Audience question: why does distance look different from the others? Expected answer: its interval straddles 1, so we cannot rule out no effect.</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Live demo from day5_demo.R, sections 8-9.</a:t>
            </a:r>
          </a:p>
          <a:p>
            <a:r>
              <a:rPr lang="en-US" sz="1400" b="0" dirty="0"/>
              <a:t>Key teaching point: tables and figures should be generated from code, never retyped.</a:t>
            </a:r>
          </a:p>
          <a:p>
            <a:r>
              <a:rPr lang="en-US" sz="1400" b="0" dirty="0"/>
              <a:t>Common mistake: editing numbers by hand in Word, which breaks reproducibility and invites transcription errors.</a:t>
            </a:r>
          </a:p>
          <a:p>
            <a:r>
              <a:rPr lang="en-US" sz="1400" b="0" dirty="0"/>
              <a:t>Clinical interpretation: the saved PNG is the exact figure on the previous slide.</a:t>
            </a:r>
          </a:p>
          <a:p>
            <a:r>
              <a:rPr lang="en-US" sz="1400" b="0" dirty="0"/>
              <a:t>Demonstration tip: show as_gt(tbl) |&gt; gtsave("Resources/regression_table.html") to export the table too; mention a write_csv fallback if gtsummary is unavailable.</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Key teaching point: outputs are artefacts of code, not hand-built files.</a:t>
            </a:r>
          </a:p>
          <a:p>
            <a:r>
              <a:rPr lang="en-US" sz="1400" b="0" dirty="0"/>
              <a:t>Common mistake: screenshotting a plot from the RStudio viewer instead of using ggsave - low resolution and not reproducible.</a:t>
            </a:r>
          </a:p>
          <a:p>
            <a:r>
              <a:rPr lang="en-US" sz="1400" b="0" dirty="0"/>
              <a:t>Clinical interpretation: a reviewer who asks for a tweak gets it by editing one line and re-running.</a:t>
            </a:r>
          </a:p>
          <a:p>
            <a:r>
              <a:rPr lang="en-US" sz="1400" b="0" dirty="0"/>
              <a:t>Audience question: what dpi for a print figure? Expected answer: 300.</a:t>
            </a:r>
          </a:p>
          <a:p>
            <a:r>
              <a:rPr lang="en-US" sz="1400" b="0" dirty="0"/>
              <a:t>Demonstration tip: run ggsave and gtsave live, then open the Resources/ folder to show the files appear.</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Key teaching point: a Results section is structured translation, not invention.</a:t>
            </a:r>
          </a:p>
          <a:p>
            <a:r>
              <a:rPr lang="en-US" sz="1400" b="0" dirty="0"/>
              <a:t>Each OR becomes one clear clause: direction, magnitude, comparator, precision.</a:t>
            </a:r>
          </a:p>
          <a:p>
            <a:r>
              <a:rPr lang="en-US" sz="1400" b="0" dirty="0"/>
              <a:t>Common mistake: writing 'X caused Y' from an observational OR - use 'was associated with'.</a:t>
            </a:r>
          </a:p>
          <a:p>
            <a:r>
              <a:rPr lang="en-US" sz="1400" b="0" dirty="0"/>
              <a:t>Clinical interpretation: an OR of 0.74 for male sex means men had about 26% lower odds than women.</a:t>
            </a:r>
          </a:p>
          <a:p>
            <a:r>
              <a:rPr lang="en-US" sz="1400" b="0" dirty="0"/>
              <a:t>Audience question: how do you phrase a non-significant finding? Expected answer: report the estimate and CI and state it was not statistically significant - do not claim 'no effect'.</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This is a model answer the class can adapt for the exercise.</a:t>
            </a:r>
          </a:p>
          <a:p>
            <a:r>
              <a:rPr lang="en-US" sz="1400" b="0" dirty="0"/>
              <a:t>Key teaching point: lead with the analytic n, list significant determinants with ORs and CIs, then report the non-significant one and overall fit.</a:t>
            </a:r>
          </a:p>
          <a:p>
            <a:r>
              <a:rPr lang="en-US" sz="1400" b="0" dirty="0"/>
              <a:t>Common mistake: causal language ('diabetes increases uptake') from a cross-sectional study.</a:t>
            </a:r>
          </a:p>
          <a:p>
            <a:r>
              <a:rPr lang="en-US" sz="1400" b="0" dirty="0"/>
              <a:t>Clinical interpretation: the paragraph mirrors exactly the directions in key_findings.md.</a:t>
            </a:r>
          </a:p>
          <a:p>
            <a:r>
              <a:rPr lang="en-US" sz="1400" b="0" dirty="0"/>
              <a:t>Audience question: what belongs in the very first sentence? Expected answer: the sample size and outcome, so the reader knows the basis of every number that follows.</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Key teaching point: a result you cannot reproduce is a result you cannot defend.</a:t>
            </a:r>
          </a:p>
          <a:p>
            <a:r>
              <a:rPr lang="en-US" sz="1400" b="0" dirty="0"/>
              <a:t>Click-menu analyses leave no trace; scripts do.</a:t>
            </a:r>
          </a:p>
          <a:p>
            <a:r>
              <a:rPr lang="en-US" sz="1400" b="0" dirty="0"/>
              <a:t>Common mistake: hard-coding an absolute path that only works on your laptop - it breaks for every collaborator.</a:t>
            </a:r>
          </a:p>
          <a:p>
            <a:r>
              <a:rPr lang="en-US" sz="1400" b="0" dirty="0"/>
              <a:t>Clinical interpretation: reproducibility is part of research integrity, not an optional extra.</a:t>
            </a:r>
          </a:p>
          <a:p>
            <a:r>
              <a:rPr lang="en-US" sz="1400" b="0" dirty="0"/>
              <a:t>Audience question: why set a seed if logistic regression is deterministic? Expected answer: so the whole script - including any resampling or simulation - reproduces identically end to end.</a:t>
            </a:r>
          </a:p>
          <a:p>
            <a:r>
              <a:rPr lang="en-US" sz="1400" b="0" dirty="0"/>
              <a:t>Demonstration tip: show the folder structure Data/ Scripts/ Solutions/ Resources/ References/.</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Live demo from day5_demo.R, sections 0-1 and 10.</a:t>
            </a:r>
          </a:p>
          <a:p>
            <a:r>
              <a:rPr lang="en-US" sz="1400" b="0" dirty="0"/>
              <a:t>Key teaching point: these three habits - seed, relative path, recorded environment - cover most reproducibility failures.</a:t>
            </a:r>
          </a:p>
          <a:p>
            <a:r>
              <a:rPr lang="en-US" sz="1400" b="0" dirty="0"/>
              <a:t>Common mistake: re-cleaning data inside the analysis script; cleaning belongs in its own script (separation of concerns).</a:t>
            </a:r>
          </a:p>
          <a:p>
            <a:r>
              <a:rPr lang="en-US" sz="1400" b="0" dirty="0"/>
              <a:t>Clinical interpretation: readRDS loads the already-cleaned, analysis-ready data.</a:t>
            </a:r>
          </a:p>
          <a:p>
            <a:r>
              <a:rPr lang="en-US" sz="1400" b="0" dirty="0"/>
              <a:t>Demonstration tip: open References/session_info.txt after running to show what was captured.</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Key teaching point: this exercise integrates the whole week into one deliverable.</a:t>
            </a:r>
          </a:p>
          <a:p>
            <a:r>
              <a:rPr lang="en-US" sz="1400" b="0" dirty="0"/>
              <a:t>Common mistake: forgetting to restrict to htn_diagnosed == 'Yes', or reporting crude instead of adjusted ORs.</a:t>
            </a:r>
          </a:p>
          <a:p>
            <a:r>
              <a:rPr lang="en-US" sz="1400" b="0" dirty="0"/>
              <a:t>Clinical interpretation: the marking rubric (key_findings.md) rewards correct method and interpretation, not 2nd-decimal matches.</a:t>
            </a:r>
          </a:p>
          <a:p>
            <a:r>
              <a:rPr lang="en-US" sz="1400" b="0" dirty="0"/>
              <a:t>Audience question: how long should the Results paragraph be? Expected answer: a tight 4-6 sentences - n and outcome, significant determinants with ORs and CIs, the non-significant one, then AUC.</a:t>
            </a:r>
          </a:p>
          <a:p>
            <a:r>
              <a:rPr lang="en-US" sz="1400" b="0" dirty="0"/>
              <a:t>Demonstration tip: point them to day5_demo.R as a scaffold and circulate while they work.</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Key teaching point: celebrate the distance travelled - they started with no programming background.</a:t>
            </a:r>
          </a:p>
          <a:p>
            <a:r>
              <a:rPr lang="en-US" sz="1400" b="0" dirty="0"/>
              <a:t>Reassure them that fluency comes with practice on their own data.</a:t>
            </a:r>
          </a:p>
          <a:p>
            <a:r>
              <a:rPr lang="en-US" sz="1400" b="0" dirty="0"/>
              <a:t>Clinical interpretation: they now own a defensible, reproducible workflow they can take to their own studies.</a:t>
            </a:r>
          </a:p>
          <a:p>
            <a:r>
              <a:rPr lang="en-US" sz="1400" b="0" dirty="0"/>
              <a:t>Audience question: what is the single most valuable habit to keep? Expected answer: do everything in a script so it is reproducible.</a:t>
            </a:r>
          </a:p>
          <a:p>
            <a:r>
              <a:rPr lang="en-US" sz="1400" b="0" dirty="0"/>
              <a:t>Demonstration tip: invite one or two participants to share what surprised them most.</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Key teaching point: today's logistic model is the foundation; Phase II generalises it.</a:t>
            </a:r>
          </a:p>
          <a:p>
            <a:r>
              <a:rPr lang="en-US" sz="1400" b="0" dirty="0"/>
              <a:t>Clinical interpretation: their 6-facility study is naturally clustered, which motivates mixed models in Phase II.</a:t>
            </a:r>
          </a:p>
          <a:p>
            <a:r>
              <a:rPr lang="en-US" sz="1400" b="0" dirty="0"/>
              <a:t>Common misconception: that survival and logistic regression are unrelated - both are regression, just for different outcome types.</a:t>
            </a:r>
          </a:p>
          <a:p>
            <a:r>
              <a:rPr lang="en-US" sz="1400" b="0" dirty="0"/>
              <a:t>Audience question: which Phase II topic fits a study following patients over time? Expected answer: survival analysis, because the outcome is time-to-event.</a:t>
            </a:r>
          </a:p>
          <a:p>
            <a:r>
              <a:rPr lang="en-US" sz="1400" b="0" dirty="0"/>
              <a:t>Demonstration tip: thank the class, point to References/ for further reading, and close with #ClearDataClearImpact.</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Introduce the capstone assessment.</a:t>
            </a:r>
          </a:p>
          <a:p>
            <a:r>
              <a:rPr lang="en-US" sz="1400" b="0" dirty="0"/>
              <a:t>Key teaching point: this consolidates all five days into one independent analysis.</a:t>
            </a:r>
          </a:p>
          <a:p>
            <a:r>
              <a:rPr lang="en-US" sz="1400" b="0" dirty="0"/>
              <a:t>Clinical interpretation: it mirrors writing the analysis for a real paper.</a:t>
            </a:r>
          </a:p>
          <a:p>
            <a:r>
              <a:rPr lang="en-US" sz="1400" b="0" dirty="0"/>
              <a:t>Audience question: how long should you budget? Expected: a few focused sessions across the week.</a:t>
            </a:r>
          </a:p>
          <a:p>
            <a:r>
              <a:rPr lang="en-US" sz="1400" b="0" dirty="0"/>
              <a:t>Demo tip: encourage starting from their saved Day 2 cleaning script.</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Spell out exactly what to deliver.</a:t>
            </a:r>
          </a:p>
          <a:p>
            <a:r>
              <a:rPr lang="en-US" sz="1400" b="0" dirty="0"/>
              <a:t>Key teaching point: reproducibility is graded - the script must run on a clean machine.</a:t>
            </a:r>
          </a:p>
          <a:p>
            <a:r>
              <a:rPr lang="en-US" sz="1400" b="0" dirty="0"/>
              <a:t>Common mistake: submitting only output with no script, or a script with hard-coded absolute paths.</a:t>
            </a:r>
          </a:p>
          <a:p>
            <a:r>
              <a:rPr lang="en-US" sz="1400" b="0" dirty="0"/>
              <a:t>Clinical interpretation: the Results section should read like a journal submission.</a:t>
            </a:r>
          </a:p>
          <a:p>
            <a:r>
              <a:rPr lang="en-US" sz="1400" b="0" dirty="0"/>
              <a:t>Audience question: what makes a script reproducible? Expected: relative paths, library() calls, set.seed, no manual steps.</a:t>
            </a:r>
          </a:p>
          <a:p>
            <a:r>
              <a:rPr lang="en-US" sz="1400" b="0" dirty="0"/>
              <a:t>Demo tip: point them to the Day 5 results draft as a template.</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Clarify the mechanics of submission.</a:t>
            </a:r>
          </a:p>
          <a:p>
            <a:r>
              <a:rPr lang="en-US" sz="1400" b="0" dirty="0"/>
              <a:t>Key teaching point: clear, commented code is part of the grade, not an afterthought.</a:t>
            </a:r>
          </a:p>
          <a:p>
            <a:r>
              <a:rPr lang="en-US" sz="1400" b="0" dirty="0"/>
              <a:t>Common mistake: figures saved at screen resolution - require 300 dpi via ggsave.</a:t>
            </a:r>
          </a:p>
          <a:p>
            <a:r>
              <a:rPr lang="en-US" sz="1400" b="0" dirty="0"/>
              <a:t>Clinical interpretation: a tidy submission reflects a tidy analyst.</a:t>
            </a:r>
          </a:p>
          <a:p>
            <a:r>
              <a:rPr lang="en-US" sz="1400" b="0" dirty="0"/>
              <a:t>Audience question: R script or Quarto? Expected: either - Quarto earns the reproducibility marks easily.</a:t>
            </a:r>
          </a:p>
          <a:p>
            <a:r>
              <a:rPr lang="en-US" sz="1400" b="0" dirty="0"/>
              <a:t>Demo tip: show the folder structure you expect.</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Make grading transparent.</a:t>
            </a:r>
          </a:p>
          <a:p>
            <a:r>
              <a:rPr lang="en-US" sz="1400" b="0" dirty="0"/>
              <a:t>Key teaching point: cleaning and regression carry the most weight (20 each) - spend time there.</a:t>
            </a:r>
          </a:p>
          <a:p>
            <a:r>
              <a:rPr lang="en-US" sz="1400" b="0" dirty="0"/>
              <a:t>Clinical interpretation: interpretation is explicitly rewarded, not just computation.</a:t>
            </a:r>
          </a:p>
          <a:p>
            <a:r>
              <a:rPr lang="en-US" sz="1400" b="0" dirty="0"/>
              <a:t>Common mistake: perfect code, wrong interpretation - you lose the 15 interpretation marks.</a:t>
            </a:r>
          </a:p>
          <a:p>
            <a:r>
              <a:rPr lang="en-US" sz="1400" b="0" dirty="0"/>
              <a:t>Audience question: where will you focus your effort? Expected: cleaning + modelling - correct.</a:t>
            </a:r>
          </a:p>
          <a:p>
            <a:r>
              <a:rPr lang="en-US" sz="1400" b="0" dirty="0"/>
              <a:t>Demo tip: the full marking guide with point-by-point criteria is in the instructor pack.</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Give participants a concrete picture of excellent vs weak work.</a:t>
            </a:r>
          </a:p>
          <a:p>
            <a:r>
              <a:rPr lang="en-US" sz="1400" b="0" dirty="0"/>
              <a:t>Key teaching point: most marks are lost on avoidable cleaning and interpretation errors.</a:t>
            </a:r>
          </a:p>
          <a:p>
            <a:r>
              <a:rPr lang="en-US" sz="1400" b="0" dirty="0"/>
              <a:t>Clinical interpretation: 'not significant' means 'insufficient evidence', not 'no effect'.</a:t>
            </a:r>
          </a:p>
          <a:p>
            <a:r>
              <a:rPr lang="en-US" sz="1400" b="0" dirty="0"/>
              <a:t>Common mistake: forgetting to restrict to htn_diagnosed == Yes for the uptake analysis.</a:t>
            </a:r>
          </a:p>
          <a:p>
            <a:r>
              <a:rPr lang="en-US" sz="1400" b="0" dirty="0"/>
              <a:t>Audience question: why analyse only diagnosed patients? Expected: uptake is only defined once diagnosed.</a:t>
            </a:r>
          </a:p>
          <a:p>
            <a:r>
              <a:rPr lang="en-US" sz="1400" b="0" dirty="0"/>
              <a:t>Demo tip: hand out this slide as a self-check before submission.</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Point to everything they can take away and where to grow next.</a:t>
            </a:r>
          </a:p>
          <a:p>
            <a:r>
              <a:rPr lang="en-US" sz="1400" b="0" dirty="0"/>
              <a:t>Key teaching point: the reference sheet answers 80% of day-to-day questions.</a:t>
            </a:r>
          </a:p>
          <a:p>
            <a:r>
              <a:rPr lang="en-US" sz="1400" b="0" dirty="0"/>
              <a:t>Clinical interpretation: applying R to their OWN data is the real test of learning.</a:t>
            </a:r>
          </a:p>
          <a:p>
            <a:r>
              <a:rPr lang="en-US" sz="1400" b="0" dirty="0"/>
              <a:t>Audience question: what will you analyse first after the course? Expected: an audit or a stalled project.</a:t>
            </a:r>
          </a:p>
          <a:p>
            <a:r>
              <a:rPr lang="en-US" sz="1400" b="0" dirty="0"/>
              <a:t>Demo tip: mention Phase II (survival analysis, mixed models) as the next step.</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Close warmly and open the floor.</a:t>
            </a:r>
          </a:p>
          <a:p>
            <a:r>
              <a:rPr lang="en-US" sz="1400" b="0" dirty="0"/>
              <a:t>Key teaching point: celebrate that everyone went from zero to a full analysis in five days.</a:t>
            </a:r>
          </a:p>
          <a:p>
            <a:r>
              <a:rPr lang="en-US" sz="1400" b="0" dirty="0"/>
              <a:t>Clinical interpretation: encourage them to embed reproducible analysis in their teams.</a:t>
            </a:r>
          </a:p>
          <a:p>
            <a:r>
              <a:rPr lang="en-US" sz="1400" b="0" dirty="0"/>
              <a:t>Audience question: what is your single biggest takeaway? Expected: varies - affirm each.</a:t>
            </a:r>
          </a:p>
          <a:p>
            <a:r>
              <a:rPr lang="en-US" sz="1400" b="0" dirty="0"/>
              <a:t>Demo tip: collect feedback and share contact details for follow-up.</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1" dirty="0"/>
              <a:t>COPYRIGHT / CLOSING SLIDE.</a:t>
            </a:r>
          </a:p>
          <a:p>
            <a:r>
              <a:rPr lang="en-US" sz="1400" b="0" dirty="0"/>
              <a:t>Standard Neudata copyright. Thank participants and the host institution.</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slideLayouts/_rels/slideLayout1.xml.rels><?xml version="1.0" encoding="utf-8"?>
<Relationships xmlns="http://schemas.openxmlformats.org/package/2006/relationships">
  <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
  <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
  <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
  <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
  <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
  <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
  <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
  <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
  <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
  <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
  <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
  <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7C0F2BA9-42D1-4ED5-B1D2-E4A50A5F0753}" type="datetime1">
              <a:rPr lang="en-US" smtClean="0"/>
              <a:t>6/28/2026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CF940BF-D3F9-479A-9977-6B0839AFA768}" type="datetime1">
              <a:rPr lang="en-US" smtClean="0"/>
              <a:t>6/28/2026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948E316-8D90-42F5-B2CD-A793817016DE}" type="datetime1">
              <a:rPr lang="en-US" smtClean="0"/>
              <a:t>6/28/2026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96786190-3C0E-4636-AA92-C1C96D008DF0}" type="datetime1">
              <a:rPr lang="en-US" smtClean="0"/>
              <a:t>6/28/2026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D42A8B4C-ED02-4998-BF4B-E26731DF30D2}" type="datetime1">
              <a:rPr lang="en-US" smtClean="0"/>
              <a:t>6/28/2026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6B30C45-864B-4802-800E-706DB8F3BA86}" type="datetime1">
              <a:rPr lang="en-US" smtClean="0"/>
              <a:t>6/28/2026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01F87F1-2F12-4DB8-BE2A-E0E247940BB4}" type="datetime1">
              <a:rPr lang="en-US" smtClean="0"/>
              <a:t>6/28/2026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D9085BB-45C3-45DA-B16E-2D995DEAF320}" type="datetime1">
              <a:rPr lang="en-US" smtClean="0"/>
              <a:t>6/28/2026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740DB59-3B43-45FA-9DFE-69ED499597CF}" type="datetime1">
              <a:rPr lang="en-US" smtClean="0"/>
              <a:t>6/28/2026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974E953-E3F2-4058-BC22-456AC7704CCA}" type="datetime1">
              <a:rPr lang="en-US" smtClean="0"/>
              <a:t>6/28/2026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278D7E0-3175-45B9-A51E-0AA8F8EB260B}" type="datetime1">
              <a:rPr lang="en-US" smtClean="0"/>
              <a:t>6/28/2026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34184180"/>
      </p:ext>
    </p:extLst>
  </p:cSld>
  <p:clrMapOvr>
    <a:masterClrMapping/>
  </p:clrMapOvr>
</p:sldLayout>
</file>

<file path=ppt/slideMasters/_rels/slideMaster1.xml.rels><?xml version="1.0" encoding="utf-8"?>
<Relationships xmlns="http://schemas.openxmlformats.org/package/2006/relationships">
  <Relationship Id="rId8" Type="http://schemas.openxmlformats.org/officeDocument/2006/relationships/slideLayout" Target="../slideLayouts/slideLayout8.xml"/>
  <Relationship Id="rId13" Type="http://schemas.openxmlformats.org/officeDocument/2006/relationships/theme" Target="../theme/theme1.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slideLayout" Target="../slideLayouts/slideLayout12.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DC2E5FA-FF3B-4CBF-AFC6-FF14AE95D537}" type="datetime1">
              <a:rPr lang="en-US" smtClean="0"/>
              <a:t>6/28/2026</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xml"/>
<Relationship Id="rId3" Type="http://schemas.openxmlformats.org/officeDocument/2006/relationships/image" Target="../media/image1.jpg"/>
</Relationships>
</file>

<file path=ppt/slides/_rels/slide2.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xml"/>
<Relationship Id="rId3" Type="http://schemas.openxmlformats.org/officeDocument/2006/relationships/image" Target="../media/image1.jpg"/>
</Relationships>
</file>

<file path=ppt/slides/_rels/slide3.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xml"/>
<Relationship Id="rId3" Type="http://schemas.openxmlformats.org/officeDocument/2006/relationships/image" Target="../media/image1.jpg"/>
</Relationships>
</file>

<file path=ppt/slides/_rels/slide4.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xml"/>
<Relationship Id="rId3" Type="http://schemas.openxmlformats.org/officeDocument/2006/relationships/image" Target="../media/image1.jpg"/>
</Relationships>
</file>

<file path=ppt/slides/_rels/slide5.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5.xml"/>
<Relationship Id="rId3" Type="http://schemas.openxmlformats.org/officeDocument/2006/relationships/image" Target="../media/image1.jpg"/>
</Relationships>
</file>

<file path=ppt/slides/_rels/slide6.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6.xml"/>
<Relationship Id="rId3" Type="http://schemas.openxmlformats.org/officeDocument/2006/relationships/image" Target="../media/image1.jpg"/>
</Relationships>
</file>

<file path=ppt/slides/_rels/slide7.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7.xml"/>
<Relationship Id="rId3" Type="http://schemas.openxmlformats.org/officeDocument/2006/relationships/image" Target="../media/image1.jpg"/>
</Relationships>
</file>

<file path=ppt/slides/_rels/slide8.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8.xml"/>
<Relationship Id="rId3" Type="http://schemas.openxmlformats.org/officeDocument/2006/relationships/image" Target="../media/image1.jpg"/>
</Relationships>
</file>

<file path=ppt/slides/_rels/slide9.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9.xml"/>
<Relationship Id="rId3" Type="http://schemas.openxmlformats.org/officeDocument/2006/relationships/image" Target="../media/image1.jpg"/>
</Relationships>
</file>

<file path=ppt/slides/_rels/slide10.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0.xml"/>
<Relationship Id="rId3" Type="http://schemas.openxmlformats.org/officeDocument/2006/relationships/image" Target="../media/image1.jpg"/>
</Relationships>
</file>

<file path=ppt/slides/_rels/slide11.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1.xml"/>
<Relationship Id="rId3" Type="http://schemas.openxmlformats.org/officeDocument/2006/relationships/image" Target="../media/image1.jpg"/>
</Relationships>
</file>

<file path=ppt/slides/_rels/slide12.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2.xml"/>
<Relationship Id="rId3" Type="http://schemas.openxmlformats.org/officeDocument/2006/relationships/image" Target="../media/image1.jpg"/>
</Relationships>
</file>

<file path=ppt/slides/_rels/slide13.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3.xml"/>
<Relationship Id="rId3" Type="http://schemas.openxmlformats.org/officeDocument/2006/relationships/image" Target="../media/image1.jpg"/>
</Relationships>
</file>

<file path=ppt/slides/_rels/slide14.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4.xml"/>
<Relationship Id="rId3" Type="http://schemas.openxmlformats.org/officeDocument/2006/relationships/image" Target="../media/image1.jpg"/>
</Relationships>
</file>

<file path=ppt/slides/_rels/slide15.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5.xml"/>
<Relationship Id="rId3" Type="http://schemas.openxmlformats.org/officeDocument/2006/relationships/image" Target="../media/image1.jpg"/>
</Relationships>
</file>

<file path=ppt/slides/_rels/slide16.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6.xml"/>
<Relationship Id="rId3" Type="http://schemas.openxmlformats.org/officeDocument/2006/relationships/image" Target="../media/image1.jpg"/>
</Relationships>
</file>

<file path=ppt/slides/_rels/slide17.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7.xml"/>
<Relationship Id="rId3" Type="http://schemas.openxmlformats.org/officeDocument/2006/relationships/image" Target="../media/image1.jpg"/>
</Relationships>
</file>

<file path=ppt/slides/_rels/slide18.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8.xml"/>
<Relationship Id="rId3" Type="http://schemas.openxmlformats.org/officeDocument/2006/relationships/image" Target="../media/image1.jpg"/>
</Relationships>
</file>

<file path=ppt/slides/_rels/slide19.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9.xml"/>
<Relationship Id="rId3" Type="http://schemas.openxmlformats.org/officeDocument/2006/relationships/image" Target="../media/image1.jpg"/>
</Relationships>
</file>

<file path=ppt/slides/_rels/slide20.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0.xml"/>
<Relationship Id="rId3" Type="http://schemas.openxmlformats.org/officeDocument/2006/relationships/image" Target="../media/image1.jpg"/>
</Relationships>
</file>

<file path=ppt/slides/_rels/slide21.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1.xml"/>
<Relationship Id="rId3" Type="http://schemas.openxmlformats.org/officeDocument/2006/relationships/image" Target="../media/image1.jpg"/>
</Relationships>
</file>

<file path=ppt/slides/_rels/slide22.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2.xml"/>
<Relationship Id="rId3" Type="http://schemas.openxmlformats.org/officeDocument/2006/relationships/image" Target="../media/image1.jpg"/>
</Relationships>
</file>

<file path=ppt/slides/_rels/slide23.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3.xml"/>
<Relationship Id="rId3" Type="http://schemas.openxmlformats.org/officeDocument/2006/relationships/image" Target="../media/image1.jpg"/>
</Relationships>
</file>

<file path=ppt/slides/_rels/slide24.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4.xml"/>
<Relationship Id="rId3" Type="http://schemas.openxmlformats.org/officeDocument/2006/relationships/image" Target="../media/image1.jpg"/>
</Relationships>
</file>

<file path=ppt/slides/_rels/slide25.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5.xml"/>
<Relationship Id="rId3" Type="http://schemas.openxmlformats.org/officeDocument/2006/relationships/image" Target="../media/image1.jpg"/>
</Relationships>
</file>

<file path=ppt/slides/_rels/slide26.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6.xml"/>
<Relationship Id="rId3" Type="http://schemas.openxmlformats.org/officeDocument/2006/relationships/image" Target="../media/image1.jpg"/>
</Relationships>
</file>

<file path=ppt/slides/_rels/slide27.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7.xml"/>
<Relationship Id="rId3" Type="http://schemas.openxmlformats.org/officeDocument/2006/relationships/image" Target="../media/image1.jpg"/>
</Relationships>
</file>

<file path=ppt/slides/_rels/slide28.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8.xml"/>
<Relationship Id="rId3" Type="http://schemas.openxmlformats.org/officeDocument/2006/relationships/image" Target="../media/image1.jpg"/>
</Relationships>
</file>

<file path=ppt/slides/_rels/slide29.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9.xml"/>
<Relationship Id="rId3" Type="http://schemas.openxmlformats.org/officeDocument/2006/relationships/image" Target="../media/image1.jpg"/>
</Relationships>
</file>

<file path=ppt/slides/_rels/slide30.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0.xml"/>
<Relationship Id="rId3" Type="http://schemas.openxmlformats.org/officeDocument/2006/relationships/image" Target="../media/image1.jpg"/>
</Relationships>
</file>

<file path=ppt/slides/_rels/slide31.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1.xml"/>
<Relationship Id="rId3" Type="http://schemas.openxmlformats.org/officeDocument/2006/relationships/image" Target="../media/image1.jpg"/>
</Relationships>
</file>

<file path=ppt/slides/_rels/slide32.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2.xml"/>
<Relationship Id="rId3" Type="http://schemas.openxmlformats.org/officeDocument/2006/relationships/image" Target="../media/image1.jpg"/>
</Relationships>
</file>

<file path=ppt/slides/_rels/slide33.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3.xml"/>
<Relationship Id="rId3" Type="http://schemas.openxmlformats.org/officeDocument/2006/relationships/image" Target="../media/image1.jpg"/>
</Relationships>
</file>

<file path=ppt/slides/_rels/slide34.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4.xml"/>
<Relationship Id="rId3" Type="http://schemas.openxmlformats.org/officeDocument/2006/relationships/image" Target="../media/image1.jpg"/>
</Relationships>
</file>

<file path=ppt/slides/_rels/slide35.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5.xml"/>
<Relationship Id="rId3" Type="http://schemas.openxmlformats.org/officeDocument/2006/relationships/image" Target="../media/image1.jpg"/>
</Relationships>
</file>

<file path=ppt/slides/_rels/slide36.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6.xml"/>
<Relationship Id="rId3" Type="http://schemas.openxmlformats.org/officeDocument/2006/relationships/image" Target="../media/image1.jpg"/>
</Relationships>
</file>

<file path=ppt/slides/_rels/slide37.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7.xml"/>
<Relationship Id="rId3" Type="http://schemas.openxmlformats.org/officeDocument/2006/relationships/image" Target="../media/image1.jpg"/>
</Relationships>
</file>

<file path=ppt/slides/_rels/slide38.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8.xml"/>
<Relationship Id="rId3" Type="http://schemas.openxmlformats.org/officeDocument/2006/relationships/image" Target="../media/image1.jpg"/>
</Relationships>
</file>

<file path=ppt/slides/_rels/slide39.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9.xml"/>
<Relationship Id="rId3" Type="http://schemas.openxmlformats.org/officeDocument/2006/relationships/image" Target="../media/image1.jpg"/>
</Relationships>
</file>

<file path=ppt/slides/_rels/slide40.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0.xml"/>
<Relationship Id="rId3" Type="http://schemas.openxmlformats.org/officeDocument/2006/relationships/image" Target="../media/image1.jpg"/>
</Relationships>
</file>

<file path=ppt/slides/_rels/slide41.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1.xml"/>
<Relationship Id="rId3" Type="http://schemas.openxmlformats.org/officeDocument/2006/relationships/image" Target="../media/image1.jpg"/>
</Relationships>
</file>

<file path=ppt/slides/_rels/slide42.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2.xml"/>
<Relationship Id="rId3" Type="http://schemas.openxmlformats.org/officeDocument/2006/relationships/image" Target="../media/image1.jpg"/>
</Relationships>
</file>

<file path=ppt/slides/_rels/slide43.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3.xml"/>
<Relationship Id="rId3" Type="http://schemas.openxmlformats.org/officeDocument/2006/relationships/image" Target="../media/image1.jpg"/>
</Relationships>
</file>

<file path=ppt/slides/_rels/slide44.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4.xml"/>
<Relationship Id="rId3" Type="http://schemas.openxmlformats.org/officeDocument/2006/relationships/image" Target="../media/image1.jpg"/>
</Relationships>
</file>

<file path=ppt/slides/_rels/slide45.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5.xml"/>
<Relationship Id="rId3" Type="http://schemas.openxmlformats.org/officeDocument/2006/relationships/image" Target="../media/image1.jpg"/>
</Relationships>
</file>

<file path=ppt/slides/_rels/slide46.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6.xml"/>
<Relationship Id="rId3" Type="http://schemas.openxmlformats.org/officeDocument/2006/relationships/image" Target="../media/image1.jpg"/>
</Relationships>
</file>

<file path=ppt/slides/_rels/slide47.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7.xml"/>
<Relationship Id="rId3" Type="http://schemas.openxmlformats.org/officeDocument/2006/relationships/image" Target="../media/image1.jpg"/>
</Relationships>
</file>

<file path=ppt/slides/_rels/slide48.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8.xml"/>
<Relationship Id="rId3" Type="http://schemas.openxmlformats.org/officeDocument/2006/relationships/image" Target="../media/image1.jpg"/>
</Relationships>
</file>

<file path=ppt/slides/_rels/slide49.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9.xml"/>
<Relationship Id="rId3" Type="http://schemas.openxmlformats.org/officeDocument/2006/relationships/image" Target="../media/image1.jpg"/>
</Relationships>
</file>

<file path=ppt/slides/_rels/slide50.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50.xml"/>
<Relationship Id="rId3" Type="http://schemas.openxmlformats.org/officeDocument/2006/relationships/image" Target="../media/image1.jpg"/>
</Relationships>
</file>

<file path=ppt/slides/_rels/slide51.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51.xml"/>
<Relationship Id="rId3" Type="http://schemas.openxmlformats.org/officeDocument/2006/relationships/image" Target="../media/image1.jpg"/>
</Relationships>
</file>

<file path=ppt/slides/_rels/slide52.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52.xml"/>
<Relationship Id="rId3" Type="http://schemas.openxmlformats.org/officeDocument/2006/relationships/image" Target="../media/image1.jpg"/>
</Relationships>
</file>

<file path=ppt/slides/_rels/slide53.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53.xml"/>
<Relationship Id="rId3" Type="http://schemas.openxmlformats.org/officeDocument/2006/relationships/image" Target="../media/image1.jpg"/>
</Relationships>
</file>

<file path=ppt/slides/_rels/slide54.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54.xml"/>
<Relationship Id="rId3" Type="http://schemas.openxmlformats.org/officeDocument/2006/relationships/image" Target="../media/image1.jpg"/>
</Relationships>
</file>

<file path=ppt/slides/_rels/slide55.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55.xml"/>
<Relationship Id="rId3" Type="http://schemas.openxmlformats.org/officeDocument/2006/relationships/image" Target="../media/image1.jpg"/>
</Relationships>
</file>

<file path=ppt/slides/_rels/slide56.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56.xml"/>
<Relationship Id="rId3" Type="http://schemas.openxmlformats.org/officeDocument/2006/relationships/image" Target="../media/image1.jpg"/>
</Relationships>
</file>

<file path=ppt/slides/_rels/slide57.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57.xml"/>
<Relationship Id="rId3" Type="http://schemas.openxmlformats.org/officeDocument/2006/relationships/image" Target="../media/image1.jpg"/>
</Relationships>
</file>

<file path=ppt/slides/_rels/slide58.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58.xml"/>
<Relationship Id="rId3" Type="http://schemas.openxmlformats.org/officeDocument/2006/relationships/image" Target="../media/image1.jpg"/>
</Relationships>
</file>

<file path=ppt/slides/_rels/slide59.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59.xml"/>
<Relationship Id="rId3" Type="http://schemas.openxmlformats.org/officeDocument/2006/relationships/image" Target="../media/image1.jpg"/>
</Relationships>
</file>

<file path=ppt/slides/_rels/slide60.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60.xml"/>
<Relationship Id="rId3" Type="http://schemas.openxmlformats.org/officeDocument/2006/relationships/image" Target="../media/image1.jpg"/>
</Relationships>
</file>

<file path=ppt/slides/_rels/slide61.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61.xml"/>
<Relationship Id="rId3" Type="http://schemas.openxmlformats.org/officeDocument/2006/relationships/image" Target="../media/image1.jpg"/>
</Relationships>
</file>

<file path=ppt/slides/_rels/slide62.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62.xml"/>
<Relationship Id="rId3" Type="http://schemas.openxmlformats.org/officeDocument/2006/relationships/image" Target="../media/image1.jpg"/>
</Relationships>
</file>

<file path=ppt/slides/_rels/slide63.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63.xml"/>
<Relationship Id="rId3" Type="http://schemas.openxmlformats.org/officeDocument/2006/relationships/image" Target="../media/image1.jpg"/>
</Relationships>
</file>

<file path=ppt/slides/_rels/slide64.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64.xml"/>
<Relationship Id="rId3" Type="http://schemas.openxmlformats.org/officeDocument/2006/relationships/image" Target="../media/image1.jpg"/>
</Relationships>
</file>

<file path=ppt/slides/_rels/slide65.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65.xml"/>
<Relationship Id="rId3" Type="http://schemas.openxmlformats.org/officeDocument/2006/relationships/image" Target="../media/image1.jpg"/>
<Relationship Id="rId4" Type="http://schemas.openxmlformats.org/officeDocument/2006/relationships/image" Target="../media/image2.png"/>
</Relationships>
</file>

<file path=ppt/slides/_rels/slide66.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66.xml"/>
<Relationship Id="rId3" Type="http://schemas.openxmlformats.org/officeDocument/2006/relationships/image" Target="../media/image1.jpg"/>
<Relationship Id="rId4" Type="http://schemas.openxmlformats.org/officeDocument/2006/relationships/image" Target="../media/image3.png"/>
</Relationships>
</file>

<file path=ppt/slides/_rels/slide67.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67.xml"/>
<Relationship Id="rId3" Type="http://schemas.openxmlformats.org/officeDocument/2006/relationships/image" Target="../media/image1.jpg"/>
<Relationship Id="rId4" Type="http://schemas.openxmlformats.org/officeDocument/2006/relationships/image" Target="../media/image4.png"/>
</Relationships>
</file>

<file path=ppt/slides/_rels/slide68.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68.xml"/>
<Relationship Id="rId3" Type="http://schemas.openxmlformats.org/officeDocument/2006/relationships/image" Target="../media/image1.jpg"/>
<Relationship Id="rId4" Type="http://schemas.openxmlformats.org/officeDocument/2006/relationships/image" Target="../media/image5.png"/>
</Relationships>
</file>

<file path=ppt/slides/_rels/slide69.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69.xml"/>
<Relationship Id="rId3" Type="http://schemas.openxmlformats.org/officeDocument/2006/relationships/image" Target="../media/image1.jpg"/>
<Relationship Id="rId4" Type="http://schemas.openxmlformats.org/officeDocument/2006/relationships/image" Target="../media/image6.png"/>
</Relationships>
</file>

<file path=ppt/slides/_rels/slide70.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70.xml"/>
<Relationship Id="rId3" Type="http://schemas.openxmlformats.org/officeDocument/2006/relationships/image" Target="../media/image1.jpg"/>
<Relationship Id="rId4" Type="http://schemas.openxmlformats.org/officeDocument/2006/relationships/image" Target="../media/image7.png"/>
</Relationships>
</file>

<file path=ppt/slides/_rels/slide71.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71.xml"/>
<Relationship Id="rId3" Type="http://schemas.openxmlformats.org/officeDocument/2006/relationships/image" Target="../media/image1.jpg"/>
</Relationships>
</file>

<file path=ppt/slides/_rels/slide72.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72.xml"/>
<Relationship Id="rId3" Type="http://schemas.openxmlformats.org/officeDocument/2006/relationships/image" Target="../media/image1.jpg"/>
</Relationships>
</file>

<file path=ppt/slides/_rels/slide73.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73.xml"/>
<Relationship Id="rId3" Type="http://schemas.openxmlformats.org/officeDocument/2006/relationships/image" Target="../media/image1.jpg"/>
</Relationships>
</file>

<file path=ppt/slides/_rels/slide74.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74.xml"/>
<Relationship Id="rId3" Type="http://schemas.openxmlformats.org/officeDocument/2006/relationships/image" Target="../media/image1.jpg"/>
</Relationships>
</file>

<file path=ppt/slides/_rels/slide75.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75.xml"/>
<Relationship Id="rId3" Type="http://schemas.openxmlformats.org/officeDocument/2006/relationships/image" Target="../media/image1.jpg"/>
</Relationships>
</file>

<file path=ppt/slides/_rels/slide76.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76.xml"/>
<Relationship Id="rId3" Type="http://schemas.openxmlformats.org/officeDocument/2006/relationships/image" Target="../media/image1.jpg"/>
</Relationships>
</file>

<file path=ppt/slides/_rels/slide77.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77.xml"/>
<Relationship Id="rId3" Type="http://schemas.openxmlformats.org/officeDocument/2006/relationships/image" Target="../media/image1.jpg"/>
</Relationships>
</file>

<file path=ppt/slides/_rels/slide78.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78.xml"/>
<Relationship Id="rId3" Type="http://schemas.openxmlformats.org/officeDocument/2006/relationships/image" Target="../media/image1.jpg"/>
</Relationships>
</file>

<file path=ppt/slides/_rels/slide79.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79.xml"/>
<Relationship Id="rId3" Type="http://schemas.openxmlformats.org/officeDocument/2006/relationships/image" Target="../media/image1.jpg"/>
</Relationships>
</file>

<file path=ppt/slides/_rels/slide80.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80.xml"/>
<Relationship Id="rId3" Type="http://schemas.openxmlformats.org/officeDocument/2006/relationships/image" Target="../media/image1.jpg"/>
</Relationships>
</file>

<file path=ppt/slides/_rels/slide81.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81.xml"/>
<Relationship Id="rId3" Type="http://schemas.openxmlformats.org/officeDocument/2006/relationships/image" Target="../media/image1.jpg"/>
</Relationships>
</file>

<file path=ppt/slides/_rels/slide82.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82.xml"/>
<Relationship Id="rId3" Type="http://schemas.openxmlformats.org/officeDocument/2006/relationships/image" Target="../media/image1.jpg"/>
</Relationships>
</file>

<file path=ppt/slides/_rels/slide83.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83.xml"/>
<Relationship Id="rId3" Type="http://schemas.openxmlformats.org/officeDocument/2006/relationships/image" Target="../media/image1.jpg"/>
</Relationships>
</file>

<file path=ppt/slides/_rels/slide84.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84.xml"/>
<Relationship Id="rId3" Type="http://schemas.openxmlformats.org/officeDocument/2006/relationships/image" Target="../media/image1.jpg"/>
</Relationships>
</file>

<file path=ppt/slides/_rels/slide85.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85.xml"/>
<Relationship Id="rId3" Type="http://schemas.openxmlformats.org/officeDocument/2006/relationships/image" Target="../media/image1.jpg"/>
</Relationships>
</file>

<file path=ppt/slides/_rels/slide86.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86.xml"/>
<Relationship Id="rId3" Type="http://schemas.openxmlformats.org/officeDocument/2006/relationships/image" Target="../media/image1.jpg"/>
</Relationships>
</file>

<file path=ppt/slides/_rels/slide87.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87.xml"/>
<Relationship Id="rId3" Type="http://schemas.openxmlformats.org/officeDocument/2006/relationships/image" Target="../media/image1.jpg"/>
</Relationships>
</file>

<file path=ppt/slides/_rels/slide88.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88.xml"/>
<Relationship Id="rId3" Type="http://schemas.openxmlformats.org/officeDocument/2006/relationships/image" Target="../media/image1.jpg"/>
</Relationships>
</file>

<file path=ppt/slides/_rels/slide89.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89.xml"/>
<Relationship Id="rId3" Type="http://schemas.openxmlformats.org/officeDocument/2006/relationships/image" Target="../media/image1.jpg"/>
</Relationships>
</file>

<file path=ppt/slides/_rels/slide90.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90.xml"/>
<Relationship Id="rId3" Type="http://schemas.openxmlformats.org/officeDocument/2006/relationships/image" Target="../media/image1.jpg"/>
</Relationships>
</file>

<file path=ppt/slides/_rels/slide91.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91.xml"/>
<Relationship Id="rId3" Type="http://schemas.openxmlformats.org/officeDocument/2006/relationships/image" Target="../media/image1.jpg"/>
</Relationships>
</file>

<file path=ppt/slides/_rels/slide92.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92.xml"/>
<Relationship Id="rId3" Type="http://schemas.openxmlformats.org/officeDocument/2006/relationships/image" Target="../media/image1.jpg"/>
</Relationships>
</file>

<file path=ppt/slides/_rels/slide93.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93.xml"/>
<Relationship Id="rId3" Type="http://schemas.openxmlformats.org/officeDocument/2006/relationships/image" Target="../media/image1.jpg"/>
</Relationships>
</file>

<file path=ppt/slides/_rels/slide94.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94.xml"/>
<Relationship Id="rId3" Type="http://schemas.openxmlformats.org/officeDocument/2006/relationships/image" Target="../media/image1.jpg"/>
</Relationships>
</file>

<file path=ppt/slides/_rels/slide95.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95.xml"/>
<Relationship Id="rId3" Type="http://schemas.openxmlformats.org/officeDocument/2006/relationships/image" Target="../media/image1.jpg"/>
</Relationships>
</file>

<file path=ppt/slides/_rels/slide96.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96.xml"/>
<Relationship Id="rId3" Type="http://schemas.openxmlformats.org/officeDocument/2006/relationships/image" Target="../media/image1.jpg"/>
</Relationships>
</file>

<file path=ppt/slides/_rels/slide97.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97.xml"/>
<Relationship Id="rId3" Type="http://schemas.openxmlformats.org/officeDocument/2006/relationships/image" Target="../media/image1.jpg"/>
</Relationships>
</file>

<file path=ppt/slides/_rels/slide98.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98.xml"/>
<Relationship Id="rId3" Type="http://schemas.openxmlformats.org/officeDocument/2006/relationships/image" Target="../media/image1.jpg"/>
</Relationships>
</file>

<file path=ppt/slides/_rels/slide99.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99.xml"/>
<Relationship Id="rId3" Type="http://schemas.openxmlformats.org/officeDocument/2006/relationships/image" Target="../media/image1.jpg"/>
</Relationships>
</file>

<file path=ppt/slides/_rels/slide100.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00.xml"/>
<Relationship Id="rId3" Type="http://schemas.openxmlformats.org/officeDocument/2006/relationships/image" Target="../media/image1.jpg"/>
</Relationships>
</file>

<file path=ppt/slides/_rels/slide101.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01.xml"/>
<Relationship Id="rId3" Type="http://schemas.openxmlformats.org/officeDocument/2006/relationships/image" Target="../media/image1.jpg"/>
</Relationships>
</file>

<file path=ppt/slides/_rels/slide102.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02.xml"/>
<Relationship Id="rId3" Type="http://schemas.openxmlformats.org/officeDocument/2006/relationships/image" Target="../media/image1.jpg"/>
</Relationships>
</file>

<file path=ppt/slides/_rels/slide103.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03.xml"/>
<Relationship Id="rId3" Type="http://schemas.openxmlformats.org/officeDocument/2006/relationships/image" Target="../media/image1.jpg"/>
</Relationships>
</file>

<file path=ppt/slides/_rels/slide104.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04.xml"/>
<Relationship Id="rId3" Type="http://schemas.openxmlformats.org/officeDocument/2006/relationships/image" Target="../media/image1.jpg"/>
</Relationships>
</file>

<file path=ppt/slides/_rels/slide105.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05.xml"/>
<Relationship Id="rId3" Type="http://schemas.openxmlformats.org/officeDocument/2006/relationships/image" Target="../media/image1.jpg"/>
</Relationships>
</file>

<file path=ppt/slides/_rels/slide106.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06.xml"/>
<Relationship Id="rId3" Type="http://schemas.openxmlformats.org/officeDocument/2006/relationships/image" Target="../media/image1.jpg"/>
<Relationship Id="rId4" Type="http://schemas.openxmlformats.org/officeDocument/2006/relationships/image" Target="../media/image8.png"/>
</Relationships>
</file>

<file path=ppt/slides/_rels/slide107.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07.xml"/>
<Relationship Id="rId3" Type="http://schemas.openxmlformats.org/officeDocument/2006/relationships/image" Target="../media/image1.jpg"/>
</Relationships>
</file>

<file path=ppt/slides/_rels/slide108.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08.xml"/>
<Relationship Id="rId3" Type="http://schemas.openxmlformats.org/officeDocument/2006/relationships/image" Target="../media/image1.jpg"/>
</Relationships>
</file>

<file path=ppt/slides/_rels/slide109.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09.xml"/>
<Relationship Id="rId3" Type="http://schemas.openxmlformats.org/officeDocument/2006/relationships/image" Target="../media/image1.jpg"/>
</Relationships>
</file>

<file path=ppt/slides/_rels/slide110.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10.xml"/>
<Relationship Id="rId3" Type="http://schemas.openxmlformats.org/officeDocument/2006/relationships/image" Target="../media/image1.jpg"/>
</Relationships>
</file>

<file path=ppt/slides/_rels/slide111.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11.xml"/>
<Relationship Id="rId3" Type="http://schemas.openxmlformats.org/officeDocument/2006/relationships/image" Target="../media/image1.jpg"/>
</Relationships>
</file>

<file path=ppt/slides/_rels/slide112.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12.xml"/>
<Relationship Id="rId3" Type="http://schemas.openxmlformats.org/officeDocument/2006/relationships/image" Target="../media/image1.jpg"/>
</Relationships>
</file>

<file path=ppt/slides/_rels/slide113.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13.xml"/>
<Relationship Id="rId3" Type="http://schemas.openxmlformats.org/officeDocument/2006/relationships/image" Target="../media/image1.jpg"/>
</Relationships>
</file>

<file path=ppt/slides/_rels/slide114.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14.xml"/>
<Relationship Id="rId3" Type="http://schemas.openxmlformats.org/officeDocument/2006/relationships/image" Target="../media/image1.jpg"/>
</Relationships>
</file>

<file path=ppt/slides/_rels/slide115.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15.xml"/>
<Relationship Id="rId3" Type="http://schemas.openxmlformats.org/officeDocument/2006/relationships/image" Target="../media/image1.jpg"/>
</Relationships>
</file>

<file path=ppt/slides/_rels/slide116.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16.xml"/>
<Relationship Id="rId3" Type="http://schemas.openxmlformats.org/officeDocument/2006/relationships/image" Target="../media/image1.jpg"/>
</Relationships>
</file>

<file path=ppt/slides/_rels/slide117.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17.xml"/>
<Relationship Id="rId3" Type="http://schemas.openxmlformats.org/officeDocument/2006/relationships/image" Target="../media/image1.jpg"/>
</Relationships>
</file>

<file path=ppt/slides/_rels/slide118.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18.xml"/>
<Relationship Id="rId3" Type="http://schemas.openxmlformats.org/officeDocument/2006/relationships/image" Target="../media/image1.jpg"/>
</Relationships>
</file>

<file path=ppt/slides/_rels/slide119.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19.xml"/>
<Relationship Id="rId3" Type="http://schemas.openxmlformats.org/officeDocument/2006/relationships/image" Target="../media/image1.jpg"/>
</Relationships>
</file>

<file path=ppt/slides/_rels/slide120.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20.xml"/>
<Relationship Id="rId3" Type="http://schemas.openxmlformats.org/officeDocument/2006/relationships/image" Target="../media/image1.jpg"/>
</Relationships>
</file>

<file path=ppt/slides/_rels/slide121.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21.xml"/>
<Relationship Id="rId3" Type="http://schemas.openxmlformats.org/officeDocument/2006/relationships/image" Target="../media/image1.jpg"/>
</Relationships>
</file>

<file path=ppt/slides/_rels/slide122.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22.xml"/>
<Relationship Id="rId3" Type="http://schemas.openxmlformats.org/officeDocument/2006/relationships/image" Target="../media/image1.jpg"/>
</Relationships>
</file>

<file path=ppt/slides/_rels/slide123.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23.xml"/>
<Relationship Id="rId3" Type="http://schemas.openxmlformats.org/officeDocument/2006/relationships/image" Target="../media/image1.jpg"/>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 name="Logo"/>
          <p:cNvPicPr>
            <a:picLocks noChangeAspect="1"/>
          </p:cNvPicPr>
          <p:nvPr/>
        </p:nvPicPr>
        <p:blipFill>
          <a:blip r:embed="rId3"/>
          <a:stretch>
            <a:fillRect/>
          </a:stretch>
        </p:blipFill>
        <p:spPr>
          <a:xfrm>
            <a:off x="768613" y="4410394"/>
            <a:ext cx="2566257" cy="2447606"/>
          </a:xfrm>
          <a:prstGeom prst="rect">
            <a:avLst/>
          </a:prstGeom>
        </p:spPr>
      </p:pic>
      <p:sp>
        <p:nvSpPr>
          <p:cNvPr id="3" name="Title"/>
          <p:cNvSpPr txBox="1"/>
          <p:nvPr/>
        </p:nvSpPr>
        <p:spPr>
          <a:xfrm>
            <a:off x="0" y="1500000"/>
            <a:ext cx="12192000" cy="1700000"/>
          </a:xfrm>
          <a:prstGeom prst="rect">
            <a:avLst/>
          </a:prstGeom>
          <a:noFill/>
          <a:ln>
            <a:noFill/>
          </a:ln>
        </p:spPr>
        <p:txBody>
          <a:bodyPr wrap="square" lIns="457200" tIns="0" rIns="457200" bIns="0" rtlCol="0" anchor="ctr"/>
          <a:lstStyle/>
          <a:p>
            <a:pPr marL="0" indent="0" algn="ctr">
              <a:buNone/>
            </a:pPr>
            <a:r>
              <a:rPr lang="en-US" sz="4000" b="1" dirty="0">
                <a:solidFill>
                  <a:srgbClr val="006666"/>
                </a:solidFill>
                <a:latin typeface="Century Gothic"/>
                <a:cs typeface="Century Gothic"/>
              </a:rPr>
              <a:t>Clinical Data Analysis in R</a:t>
            </a:r>
          </a:p>
        </p:txBody>
      </p:sp>
      <p:sp>
        <p:nvSpPr>
          <p:cNvPr id="5" name="Subtitle"/>
          <p:cNvSpPr txBox="1"/>
          <p:nvPr/>
        </p:nvSpPr>
        <p:spPr>
          <a:xfrm>
            <a:off x="0" y="3250000"/>
            <a:ext cx="12192000" cy="1000000"/>
          </a:xfrm>
          <a:prstGeom prst="rect">
            <a:avLst/>
          </a:prstGeom>
          <a:noFill/>
          <a:ln>
            <a:noFill/>
          </a:ln>
        </p:spPr>
        <p:txBody>
          <a:bodyPr wrap="square" lIns="457200" tIns="45720" rIns="457200" bIns="45720" rtlCol="0" anchor="t"/>
          <a:lstStyle/>
          <a:p>
            <a:pPr marL="0" indent="0" algn="ctr">
              <a:spcBef>
                <a:spcPts val="440"/>
              </a:spcBef>
              <a:buNone/>
            </a:pPr>
            <a:r>
              <a:rPr lang="en-US" sz="2000" dirty="0">
                <a:solidFill>
                  <a:srgbClr val="000000"/>
                </a:solidFill>
                <a:latin typeface="Segoe UI"/>
                <a:cs typeface="Segoe UI"/>
              </a:rPr>
              <a:t>Phase I  -  Introduction to R for Clinical Research</a:t>
            </a:r>
          </a:p>
          <a:p>
            <a:pPr marL="0" indent="0" algn="ctr">
              <a:spcBef>
                <a:spcPts val="440"/>
              </a:spcBef>
              <a:buNone/>
            </a:pPr>
            <a:r>
              <a:rPr lang="en-US" sz="2000" dirty="0">
                <a:solidFill>
                  <a:srgbClr val="000000"/>
                </a:solidFill>
                <a:latin typeface="Segoe UI"/>
                <a:cs typeface="Segoe UI"/>
              </a:rPr>
              <a:t>A five-session evening short course  -  Tuesdays, 8:00 PM</a:t>
            </a:r>
          </a:p>
          <a:p>
            <a:pPr marL="0" indent="0" algn="ctr">
              <a:spcBef>
                <a:spcPts val="440"/>
              </a:spcBef>
              <a:buNone/>
            </a:pPr>
            <a:r>
              <a:rPr lang="en-US" sz="2000" dirty="0">
                <a:solidFill>
                  <a:srgbClr val="000000"/>
                </a:solidFill>
                <a:latin typeface="Segoe UI"/>
                <a:cs typeface="Segoe UI"/>
              </a:rPr>
              <a:t>Trainers: Bernard Osang'ir &amp; My Luong Vuong</a:t>
            </a:r>
          </a:p>
        </p:txBody>
      </p:sp>
      <p:sp>
        <p:nvSpPr>
          <p:cNvPr id="6" name="Date"/>
          <p:cNvSpPr txBox="1"/>
          <p:nvPr/>
        </p:nvSpPr>
        <p:spPr>
          <a:xfrm>
            <a:off x="7902094" y="5833766"/>
            <a:ext cx="3465009" cy="326571"/>
          </a:xfrm>
          <a:prstGeom prst="rect">
            <a:avLst/>
          </a:prstGeom>
          <a:noFill/>
          <a:ln>
            <a:noFill/>
          </a:ln>
        </p:spPr>
        <p:txBody>
          <a:bodyPr wrap="square" lIns="0" tIns="0" rIns="0" bIns="0" rtlCol="0" anchor="b"/>
          <a:lstStyle/>
          <a:p>
            <a:pPr marL="0" indent="0" algn="r">
              <a:buNone/>
            </a:pPr>
            <a:r>
              <a:rPr lang="en-US" sz="1400" b="1" dirty="0">
                <a:solidFill>
                  <a:srgbClr val="000000"/>
                </a:solidFill>
                <a:latin typeface="Segoe UI"/>
                <a:cs typeface="Segoe UI"/>
              </a:rPr>
              <a:t>Date: 8 September - 6 October 2026</a:t>
            </a:r>
          </a:p>
        </p:txBody>
      </p:sp>
      <p:sp>
        <p:nvSpPr>
          <p:cNvPr id="7"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Century Gothic"/>
                <a:cs typeface="Century Gothic"/>
              </a:rPr>
              <a:t>Welcome &amp; Course Aim</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Body"/>
          <p:cNvSpPr txBox="1"/>
          <p:nvPr/>
        </p:nvSpPr>
        <p:spPr>
          <a:xfrm>
            <a:off x="457200" y="1080000"/>
            <a:ext cx="11277600" cy="3150000"/>
          </a:xfrm>
          <a:prstGeom prst="rect">
            <a:avLst/>
          </a:prstGeom>
          <a:noFill/>
          <a:ln>
            <a:noFill/>
          </a:ln>
        </p:spPr>
        <p:txBody>
          <a:bodyPr wrap="square" lIns="91440" tIns="45720" rIns="91440" bIns="45720" rtlCol="0" anchor="t"/>
          <a:lstStyle/>
          <a:p>
            <a:pPr marL="0" indent="0" algn="l">
              <a:spcBef>
                <a:spcPts val="360"/>
              </a:spcBef>
              <a:buNone/>
            </a:pPr>
            <a:r>
              <a:rPr lang="en-US" sz="2050" b="1" dirty="0">
                <a:solidFill>
                  <a:srgbClr val="0D7377"/>
                </a:solidFill>
                <a:latin typeface="Century Gothic"/>
                <a:cs typeface="Century Gothic"/>
              </a:rPr>
              <a:t>Why this course</a:t>
            </a:r>
          </a:p>
          <a:p>
            <a:pPr marL="0" indent="0" algn="l">
              <a:lnSpc>
                <a:spcPct val="108000"/>
              </a:lnSpc>
              <a:spcBef>
                <a:spcPts val="440"/>
              </a:spcBef>
              <a:buNone/>
            </a:pPr>
            <a:r>
              <a:rPr lang="en-US" sz="1800" dirty="0">
                <a:solidFill>
                  <a:srgbClr val="000000"/>
                </a:solidFill>
                <a:latin typeface="Century Gothic"/>
                <a:cs typeface="Century Gothic"/>
              </a:rPr>
              <a:t>Clinicians increasingly need to analyse their own data and read statistics critically.</a:t>
            </a:r>
          </a:p>
          <a:p>
            <a:pPr marL="0" indent="0" algn="l">
              <a:lnSpc>
                <a:spcPct val="108000"/>
              </a:lnSpc>
              <a:spcBef>
                <a:spcPts val="440"/>
              </a:spcBef>
              <a:buNone/>
            </a:pPr>
            <a:r>
              <a:rPr lang="en-US" sz="1800" dirty="0">
                <a:solidFill>
                  <a:srgbClr val="000000"/>
                </a:solidFill>
                <a:latin typeface="Century Gothic"/>
                <a:cs typeface="Century Gothic"/>
              </a:rPr>
              <a:t>R is free, reproducible and the standard tool in modern clinical research.</a:t>
            </a:r>
          </a:p>
          <a:p>
            <a:pPr>
              <a:buNone/>
            </a:pPr>
            <a:endParaRPr sz="1050"/>
          </a:p>
          <a:p>
            <a:pPr marL="0" indent="0" algn="l">
              <a:spcBef>
                <a:spcPts val="360"/>
              </a:spcBef>
              <a:buNone/>
            </a:pPr>
            <a:r>
              <a:rPr lang="en-US" sz="2050" b="1" dirty="0">
                <a:solidFill>
                  <a:srgbClr val="0D7377"/>
                </a:solidFill>
                <a:latin typeface="Century Gothic"/>
                <a:cs typeface="Century Gothic"/>
              </a:rPr>
              <a:t>Our promise</a:t>
            </a:r>
          </a:p>
          <a:p>
            <a:pPr marL="0" indent="0" algn="l">
              <a:lnSpc>
                <a:spcPct val="108000"/>
              </a:lnSpc>
              <a:spcBef>
                <a:spcPts val="440"/>
              </a:spcBef>
              <a:buNone/>
            </a:pPr>
            <a:r>
              <a:rPr lang="en-US" sz="1800" dirty="0">
                <a:solidFill>
                  <a:srgbClr val="000000"/>
                </a:solidFill>
                <a:latin typeface="Century Gothic"/>
                <a:cs typeface="Century Gothic"/>
              </a:rPr>
              <a:t>Start from zero - no programming background assumed.</a:t>
            </a:r>
          </a:p>
          <a:p>
            <a:pPr marL="0" indent="0" algn="l">
              <a:lnSpc>
                <a:spcPct val="108000"/>
              </a:lnSpc>
              <a:spcBef>
                <a:spcPts val="440"/>
              </a:spcBef>
              <a:buNone/>
            </a:pPr>
            <a:r>
              <a:rPr lang="en-US" sz="1800" dirty="0">
                <a:solidFill>
                  <a:srgbClr val="000000"/>
                </a:solidFill>
                <a:latin typeface="Century Gothic"/>
                <a:cs typeface="Century Gothic"/>
              </a:rPr>
              <a:t>Learn by doing, using ONE real clinical dataset all week.</a:t>
            </a:r>
          </a:p>
          <a:p>
            <a:pPr marL="0" indent="0" algn="l">
              <a:lnSpc>
                <a:spcPct val="108000"/>
              </a:lnSpc>
              <a:spcBef>
                <a:spcPts val="440"/>
              </a:spcBef>
              <a:buNone/>
            </a:pPr>
            <a:r>
              <a:rPr lang="en-US" sz="1800" dirty="0">
                <a:solidFill>
                  <a:srgbClr val="000000"/>
                </a:solidFill>
                <a:latin typeface="Century Gothic"/>
                <a:cs typeface="Century Gothic"/>
              </a:rPr>
              <a:t>Finish able to produce publication-ready tables, figures and regression results.</a:t>
            </a:r>
          </a:p>
          <a:p>
            <a:pPr>
              <a:buNone/>
            </a:pPr>
            <a:endParaRPr sz="1050"/>
          </a:p>
        </p:txBody>
      </p:sp>
      <p:sp>
        <p:nvSpPr>
          <p:cNvPr id="40" name="Callout"/>
          <p:cNvSpPr/>
          <p:nvPr/>
        </p:nvSpPr>
        <p:spPr>
          <a:xfrm>
            <a:off x="457200" y="5070000"/>
            <a:ext cx="11277600" cy="810000"/>
          </a:xfrm>
          <a:prstGeom prst="roundRect">
            <a:avLst>
              <a:gd name="adj" fmla="val 6000"/>
            </a:avLst>
          </a:prstGeom>
          <a:solidFill>
            <a:srgbClr val="E8F4F4"/>
          </a:solidFill>
          <a:ln>
            <a:noFill/>
          </a:ln>
        </p:spPr>
        <p:txBody>
          <a:bodyPr wrap="square" lIns="137160" tIns="91440" rIns="137160" bIns="91440" rtlCol="0" anchor="t"/>
          <a:lstStyle/>
          <a:p>
            <a:pPr marL="0" indent="0" algn="l">
              <a:buNone/>
            </a:pPr>
            <a:r>
              <a:rPr lang="en-US" sz="1300" b="1" dirty="0">
                <a:solidFill>
                  <a:srgbClr val="0D7377"/>
                </a:solidFill>
                <a:latin typeface="Century Gothic"/>
                <a:cs typeface="Century Gothic"/>
              </a:rPr>
              <a:t>TIP  -  Learning by analogy</a:t>
            </a:r>
          </a:p>
          <a:p>
            <a:pPr marL="0" indent="0" algn="l">
              <a:spcBef>
                <a:spcPts val="100"/>
              </a:spcBef>
              <a:buNone/>
            </a:pPr>
            <a:r>
              <a:rPr lang="en-US" sz="1300" dirty="0">
                <a:solidFill>
                  <a:srgbClr val="000000"/>
                </a:solidFill>
                <a:latin typeface="Century Gothic"/>
                <a:cs typeface="Century Gothic"/>
              </a:rPr>
              <a:t>Think of R as a very precise research assistant: you write the instructions once, it repeats them perfectly forever.</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Century Gothic"/>
                <a:cs typeface="Century Gothic"/>
              </a:rPr>
              <a:t>Who This Course Is For</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Body"/>
          <p:cNvSpPr txBox="1"/>
          <p:nvPr/>
        </p:nvSpPr>
        <p:spPr>
          <a:xfrm>
            <a:off x="457200" y="1080000"/>
            <a:ext cx="11277600" cy="4780000"/>
          </a:xfrm>
          <a:prstGeom prst="rect">
            <a:avLst/>
          </a:prstGeom>
          <a:noFill/>
          <a:ln>
            <a:noFill/>
          </a:ln>
        </p:spPr>
        <p:txBody>
          <a:bodyPr wrap="square" lIns="91440" tIns="45720" rIns="91440" bIns="45720" rtlCol="0" anchor="ctr"/>
          <a:lstStyle/>
          <a:p>
            <a:pPr marL="0" indent="0" algn="l">
              <a:lnSpc>
                <a:spcPct val="108000"/>
              </a:lnSpc>
              <a:buNone/>
            </a:pPr>
            <a:r>
              <a:rPr lang="en-US" sz="1900" i="1" dirty="0">
                <a:solidFill>
                  <a:srgbClr val="595959"/>
                </a:solidFill>
                <a:latin typeface="Century Gothic"/>
                <a:cs typeface="Century Gothic"/>
              </a:rPr>
              <a:t>Designed for busy clinical professionals - no programming experience needed.</a:t>
            </a:r>
          </a:p>
          <a:p>
            <a:pPr>
              <a:buNone/>
            </a:pPr>
            <a:endParaRPr sz="950"/>
          </a:p>
          <a:p>
            <a:pPr marL="274320" indent="-274320" algn="l">
              <a:lnSpc>
                <a:spcPct val="106000"/>
              </a:lnSpc>
              <a:spcBef>
                <a:spcPts val="560"/>
              </a:spcBef>
              <a:buFont typeface="Arial"/>
              <a:buChar char="•"/>
            </a:pPr>
            <a:r>
              <a:rPr lang="en-US" sz="1950" dirty="0">
                <a:solidFill>
                  <a:srgbClr val="000000"/>
                </a:solidFill>
                <a:latin typeface="Century Gothic"/>
                <a:cs typeface="Century Gothic"/>
              </a:rPr>
              <a:t>Medical doctors and residents</a:t>
            </a:r>
          </a:p>
          <a:p>
            <a:pPr marL="274320" indent="-274320" algn="l">
              <a:lnSpc>
                <a:spcPct val="106000"/>
              </a:lnSpc>
              <a:spcBef>
                <a:spcPts val="560"/>
              </a:spcBef>
              <a:buFont typeface="Arial"/>
              <a:buChar char="•"/>
            </a:pPr>
            <a:r>
              <a:rPr lang="en-US" sz="1950" dirty="0">
                <a:solidFill>
                  <a:srgbClr val="000000"/>
                </a:solidFill>
                <a:latin typeface="Century Gothic"/>
                <a:cs typeface="Century Gothic"/>
              </a:rPr>
              <a:t>Nurses and hospital research staff</a:t>
            </a:r>
          </a:p>
          <a:p>
            <a:pPr marL="274320" indent="-274320" algn="l">
              <a:lnSpc>
                <a:spcPct val="106000"/>
              </a:lnSpc>
              <a:spcBef>
                <a:spcPts val="560"/>
              </a:spcBef>
              <a:buFont typeface="Arial"/>
              <a:buChar char="•"/>
            </a:pPr>
            <a:r>
              <a:rPr lang="en-US" sz="1950" dirty="0">
                <a:solidFill>
                  <a:srgbClr val="000000"/>
                </a:solidFill>
                <a:latin typeface="Century Gothic"/>
                <a:cs typeface="Century Gothic"/>
              </a:rPr>
              <a:t>Clinical and hospital pharmacists</a:t>
            </a:r>
          </a:p>
          <a:p>
            <a:pPr marL="274320" indent="-274320" algn="l">
              <a:lnSpc>
                <a:spcPct val="106000"/>
              </a:lnSpc>
              <a:spcBef>
                <a:spcPts val="560"/>
              </a:spcBef>
              <a:buFont typeface="Arial"/>
              <a:buChar char="•"/>
            </a:pPr>
            <a:r>
              <a:rPr lang="en-US" sz="1950" dirty="0">
                <a:solidFill>
                  <a:srgbClr val="000000"/>
                </a:solidFill>
                <a:latin typeface="Century Gothic"/>
                <a:cs typeface="Century Gothic"/>
              </a:rPr>
              <a:t>Clinical researchers and trial coordinators</a:t>
            </a:r>
          </a:p>
          <a:p>
            <a:pPr marL="274320" indent="-274320" algn="l">
              <a:lnSpc>
                <a:spcPct val="106000"/>
              </a:lnSpc>
              <a:spcBef>
                <a:spcPts val="560"/>
              </a:spcBef>
              <a:buFont typeface="Arial"/>
              <a:buChar char="•"/>
            </a:pPr>
            <a:r>
              <a:rPr lang="en-US" sz="1950" dirty="0">
                <a:solidFill>
                  <a:srgbClr val="000000"/>
                </a:solidFill>
                <a:latin typeface="Century Gothic"/>
                <a:cs typeface="Century Gothic"/>
              </a:rPr>
              <a:t>Public health professionals</a:t>
            </a:r>
          </a:p>
          <a:p>
            <a:pPr marL="274320" indent="-274320" algn="l">
              <a:lnSpc>
                <a:spcPct val="106000"/>
              </a:lnSpc>
              <a:spcBef>
                <a:spcPts val="560"/>
              </a:spcBef>
              <a:buFont typeface="Arial"/>
              <a:buChar char="•"/>
            </a:pPr>
            <a:r>
              <a:rPr lang="en-US" sz="1950" dirty="0">
                <a:solidFill>
                  <a:srgbClr val="000000"/>
                </a:solidFill>
                <a:latin typeface="Century Gothic"/>
                <a:cs typeface="Century Gothic"/>
              </a:rPr>
              <a:t>Masters students and PhD candidates</a:t>
            </a:r>
          </a:p>
          <a:p>
            <a:pPr marL="274320" indent="-274320" algn="l">
              <a:lnSpc>
                <a:spcPct val="106000"/>
              </a:lnSpc>
              <a:spcBef>
                <a:spcPts val="560"/>
              </a:spcBef>
              <a:buFont typeface="Arial"/>
              <a:buChar char="•"/>
            </a:pPr>
            <a:r>
              <a:rPr lang="en-US" sz="1950" dirty="0">
                <a:solidFill>
                  <a:srgbClr val="000000"/>
                </a:solidFill>
                <a:latin typeface="Century Gothic"/>
                <a:cs typeface="Century Gothic"/>
              </a:rPr>
              <a:t>Anyone who collects or interprets clinical data</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Century Gothic"/>
                <a:cs typeface="Century Gothic"/>
              </a:rPr>
              <a:t>Learning Objectives (1 of 2)</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Body"/>
          <p:cNvSpPr txBox="1"/>
          <p:nvPr/>
        </p:nvSpPr>
        <p:spPr>
          <a:xfrm>
            <a:off x="457200" y="1080000"/>
            <a:ext cx="11277600" cy="4780000"/>
          </a:xfrm>
          <a:prstGeom prst="rect">
            <a:avLst/>
          </a:prstGeom>
          <a:noFill/>
          <a:ln>
            <a:noFill/>
          </a:ln>
        </p:spPr>
        <p:txBody>
          <a:bodyPr wrap="square" lIns="91440" tIns="45720" rIns="91440" bIns="45720" rtlCol="0" anchor="ctr"/>
          <a:lstStyle/>
          <a:p>
            <a:pPr marL="0" indent="0" algn="l">
              <a:spcBef>
                <a:spcPts val="360"/>
              </a:spcBef>
              <a:buNone/>
            </a:pPr>
            <a:r>
              <a:rPr lang="en-US" sz="2050" b="1" dirty="0">
                <a:solidFill>
                  <a:srgbClr val="0D7377"/>
                </a:solidFill>
                <a:latin typeface="Century Gothic"/>
                <a:cs typeface="Century Gothic"/>
              </a:rPr>
              <a:t>By the end of the week you will be able to</a:t>
            </a:r>
          </a:p>
          <a:p>
            <a:pPr marL="274320" indent="-274320" algn="l">
              <a:lnSpc>
                <a:spcPct val="108000"/>
              </a:lnSpc>
              <a:spcBef>
                <a:spcPts val="440"/>
              </a:spcBef>
              <a:buFont typeface="Arial"/>
              <a:buChar char="•"/>
            </a:pPr>
            <a:r>
              <a:rPr lang="en-US" sz="1800" dirty="0">
                <a:solidFill>
                  <a:srgbClr val="000000"/>
                </a:solidFill>
                <a:latin typeface="Century Gothic"/>
                <a:cs typeface="Century Gothic"/>
              </a:rPr>
              <a:t>Navigate R and RStudio with confidence.</a:t>
            </a:r>
          </a:p>
          <a:p>
            <a:pPr marL="274320" indent="-274320" algn="l">
              <a:lnSpc>
                <a:spcPct val="108000"/>
              </a:lnSpc>
              <a:spcBef>
                <a:spcPts val="440"/>
              </a:spcBef>
              <a:buFont typeface="Arial"/>
              <a:buChar char="•"/>
            </a:pPr>
            <a:r>
              <a:rPr lang="en-US" sz="1800" dirty="0">
                <a:solidFill>
                  <a:srgbClr val="000000"/>
                </a:solidFill>
                <a:latin typeface="Century Gothic"/>
                <a:cs typeface="Century Gothic"/>
              </a:rPr>
              <a:t>Understand the structure of clinical datasets.</a:t>
            </a:r>
          </a:p>
          <a:p>
            <a:pPr marL="274320" indent="-274320" algn="l">
              <a:lnSpc>
                <a:spcPct val="108000"/>
              </a:lnSpc>
              <a:spcBef>
                <a:spcPts val="440"/>
              </a:spcBef>
              <a:buFont typeface="Arial"/>
              <a:buChar char="•"/>
            </a:pPr>
            <a:r>
              <a:rPr lang="en-US" sz="1800" dirty="0">
                <a:solidFill>
                  <a:srgbClr val="000000"/>
                </a:solidFill>
                <a:latin typeface="Century Gothic"/>
                <a:cs typeface="Century Gothic"/>
              </a:rPr>
              <a:t>Import data from Excel and CSV files.</a:t>
            </a:r>
          </a:p>
          <a:p>
            <a:pPr marL="274320" indent="-274320" algn="l">
              <a:lnSpc>
                <a:spcPct val="108000"/>
              </a:lnSpc>
              <a:spcBef>
                <a:spcPts val="440"/>
              </a:spcBef>
              <a:buFont typeface="Arial"/>
              <a:buChar char="•"/>
            </a:pPr>
            <a:r>
              <a:rPr lang="en-US" sz="1800" dirty="0">
                <a:solidFill>
                  <a:srgbClr val="000000"/>
                </a:solidFill>
                <a:latin typeface="Century Gothic"/>
                <a:cs typeface="Century Gothic"/>
              </a:rPr>
              <a:t>Clean, validate and recode clinical data.</a:t>
            </a:r>
          </a:p>
          <a:p>
            <a:pPr marL="274320" indent="-274320" algn="l">
              <a:lnSpc>
                <a:spcPct val="108000"/>
              </a:lnSpc>
              <a:spcBef>
                <a:spcPts val="440"/>
              </a:spcBef>
              <a:buFont typeface="Arial"/>
              <a:buChar char="•"/>
            </a:pPr>
            <a:r>
              <a:rPr lang="en-US" sz="1800" dirty="0">
                <a:solidFill>
                  <a:srgbClr val="000000"/>
                </a:solidFill>
                <a:latin typeface="Century Gothic"/>
                <a:cs typeface="Century Gothic"/>
              </a:rPr>
              <a:t>Perform and interpret descriptive statistics.</a:t>
            </a:r>
          </a:p>
          <a:p>
            <a:pPr marL="274320" indent="-274320" algn="l">
              <a:lnSpc>
                <a:spcPct val="108000"/>
              </a:lnSpc>
              <a:spcBef>
                <a:spcPts val="440"/>
              </a:spcBef>
              <a:buFont typeface="Arial"/>
              <a:buChar char="•"/>
            </a:pPr>
            <a:r>
              <a:rPr lang="en-US" sz="1800" dirty="0">
                <a:solidFill>
                  <a:srgbClr val="000000"/>
                </a:solidFill>
                <a:latin typeface="Century Gothic"/>
                <a:cs typeface="Century Gothic"/>
              </a:rPr>
              <a:t>Generate publication-quality tables (a manuscript Table 1).</a:t>
            </a:r>
          </a:p>
          <a:p>
            <a:pPr marL="274320" indent="-274320" algn="l">
              <a:lnSpc>
                <a:spcPct val="108000"/>
              </a:lnSpc>
              <a:spcBef>
                <a:spcPts val="440"/>
              </a:spcBef>
              <a:buFont typeface="Arial"/>
              <a:buChar char="•"/>
            </a:pPr>
            <a:r>
              <a:rPr lang="en-US" sz="1800" dirty="0">
                <a:solidFill>
                  <a:srgbClr val="000000"/>
                </a:solidFill>
                <a:latin typeface="Century Gothic"/>
                <a:cs typeface="Century Gothic"/>
              </a:rPr>
              <a:t>Generate publication-quality figures.</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Century Gothic"/>
                <a:cs typeface="Century Gothic"/>
              </a:rPr>
              <a:t>Learning Objectives (2 of 2)</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Body"/>
          <p:cNvSpPr txBox="1"/>
          <p:nvPr/>
        </p:nvSpPr>
        <p:spPr>
          <a:xfrm>
            <a:off x="457200" y="1080000"/>
            <a:ext cx="11277600" cy="4780000"/>
          </a:xfrm>
          <a:prstGeom prst="rect">
            <a:avLst/>
          </a:prstGeom>
          <a:noFill/>
          <a:ln>
            <a:noFill/>
          </a:ln>
        </p:spPr>
        <p:txBody>
          <a:bodyPr wrap="square" lIns="91440" tIns="45720" rIns="91440" bIns="45720" rtlCol="0" anchor="ctr"/>
          <a:lstStyle/>
          <a:p>
            <a:pPr marL="0" indent="0" algn="l">
              <a:spcBef>
                <a:spcPts val="360"/>
              </a:spcBef>
              <a:buNone/>
            </a:pPr>
            <a:r>
              <a:rPr lang="en-US" sz="2050" b="1" dirty="0">
                <a:solidFill>
                  <a:srgbClr val="0D7377"/>
                </a:solidFill>
                <a:latin typeface="Century Gothic"/>
                <a:cs typeface="Century Gothic"/>
              </a:rPr>
              <a:t>You will also be able to</a:t>
            </a:r>
          </a:p>
          <a:p>
            <a:pPr marL="274320" indent="-274320" algn="l">
              <a:lnSpc>
                <a:spcPct val="108000"/>
              </a:lnSpc>
              <a:spcBef>
                <a:spcPts val="440"/>
              </a:spcBef>
              <a:buFont typeface="Arial"/>
              <a:buChar char="•"/>
            </a:pPr>
            <a:r>
              <a:rPr lang="en-US" sz="1800" dirty="0">
                <a:solidFill>
                  <a:srgbClr val="000000"/>
                </a:solidFill>
                <a:latin typeface="Century Gothic"/>
                <a:cs typeface="Century Gothic"/>
              </a:rPr>
              <a:t>Choose and perform common statistical tests.</a:t>
            </a:r>
          </a:p>
          <a:p>
            <a:pPr marL="274320" indent="-274320" algn="l">
              <a:lnSpc>
                <a:spcPct val="108000"/>
              </a:lnSpc>
              <a:spcBef>
                <a:spcPts val="440"/>
              </a:spcBef>
              <a:buFont typeface="Arial"/>
              <a:buChar char="•"/>
            </a:pPr>
            <a:r>
              <a:rPr lang="en-US" sz="1800" dirty="0">
                <a:solidFill>
                  <a:srgbClr val="000000"/>
                </a:solidFill>
                <a:latin typeface="Century Gothic"/>
                <a:cs typeface="Century Gothic"/>
              </a:rPr>
              <a:t>Interpret statistical output correctly.</a:t>
            </a:r>
          </a:p>
          <a:p>
            <a:pPr marL="274320" indent="-274320" algn="l">
              <a:lnSpc>
                <a:spcPct val="108000"/>
              </a:lnSpc>
              <a:spcBef>
                <a:spcPts val="440"/>
              </a:spcBef>
              <a:buFont typeface="Arial"/>
              <a:buChar char="•"/>
            </a:pPr>
            <a:r>
              <a:rPr lang="en-US" sz="1800" dirty="0">
                <a:solidFill>
                  <a:srgbClr val="000000"/>
                </a:solidFill>
                <a:latin typeface="Century Gothic"/>
                <a:cs typeface="Century Gothic"/>
              </a:rPr>
              <a:t>Perform simple and multiple logistic regression.</a:t>
            </a:r>
          </a:p>
          <a:p>
            <a:pPr marL="274320" indent="-274320" algn="l">
              <a:lnSpc>
                <a:spcPct val="108000"/>
              </a:lnSpc>
              <a:spcBef>
                <a:spcPts val="440"/>
              </a:spcBef>
              <a:buFont typeface="Arial"/>
              <a:buChar char="•"/>
            </a:pPr>
            <a:r>
              <a:rPr lang="en-US" sz="1800" dirty="0">
                <a:solidFill>
                  <a:srgbClr val="000000"/>
                </a:solidFill>
                <a:latin typeface="Century Gothic"/>
                <a:cs typeface="Century Gothic"/>
              </a:rPr>
              <a:t>Report odds ratios with confidence intervals.</a:t>
            </a:r>
          </a:p>
          <a:p>
            <a:pPr marL="274320" indent="-274320" algn="l">
              <a:lnSpc>
                <a:spcPct val="108000"/>
              </a:lnSpc>
              <a:spcBef>
                <a:spcPts val="440"/>
              </a:spcBef>
              <a:buFont typeface="Arial"/>
              <a:buChar char="•"/>
            </a:pPr>
            <a:r>
              <a:rPr lang="en-US" sz="1800" dirty="0">
                <a:solidFill>
                  <a:srgbClr val="000000"/>
                </a:solidFill>
                <a:latin typeface="Century Gothic"/>
                <a:cs typeface="Century Gothic"/>
              </a:rPr>
              <a:t>Write reproducible analysis scripts.</a:t>
            </a:r>
          </a:p>
          <a:p>
            <a:pPr marL="274320" indent="-274320" algn="l">
              <a:lnSpc>
                <a:spcPct val="108000"/>
              </a:lnSpc>
              <a:spcBef>
                <a:spcPts val="440"/>
              </a:spcBef>
              <a:buFont typeface="Arial"/>
              <a:buChar char="•"/>
            </a:pPr>
            <a:r>
              <a:rPr lang="en-US" sz="1800" dirty="0">
                <a:solidFill>
                  <a:srgbClr val="000000"/>
                </a:solidFill>
                <a:latin typeface="Century Gothic"/>
                <a:cs typeface="Century Gothic"/>
              </a:rPr>
              <a:t>Export publication-ready outputs.</a:t>
            </a:r>
          </a:p>
          <a:p>
            <a:pPr marL="274320" indent="-274320" algn="l">
              <a:lnSpc>
                <a:spcPct val="108000"/>
              </a:lnSpc>
              <a:spcBef>
                <a:spcPts val="440"/>
              </a:spcBef>
              <a:buFont typeface="Arial"/>
              <a:buChar char="•"/>
            </a:pPr>
            <a:r>
              <a:rPr lang="en-US" sz="1800" dirty="0">
                <a:solidFill>
                  <a:srgbClr val="000000"/>
                </a:solidFill>
                <a:latin typeface="Century Gothic"/>
                <a:cs typeface="Century Gothic"/>
              </a:rPr>
              <a:t>Interpret findings for medical publications.</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Century Gothic"/>
                <a:cs typeface="Century Gothic"/>
              </a:rPr>
              <a:t>Course Structure - Five Sessions</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graphicFrame>
        <p:nvGraphicFramePr>
          <p:cNvPr id="30" name="Table"/>
          <p:cNvGraphicFramePr/>
          <p:nvPr/>
        </p:nvGraphicFramePr>
        <p:xfrm>
          <a:off x="457200" y="1150000"/>
          <a:ext cx="11277600" cy="2280000"/>
        </p:xfrm>
        <a:graphic>
          <a:graphicData uri="http://schemas.openxmlformats.org/drawingml/2006/table">
            <a:tbl>
              <a:tblPr firstRow="1" bandRow="1">
                <a:tableStyleId>{5C22544A-7EE6-4342-B048-85BDC9FD1C3A}</a:tableStyleId>
              </a:tblPr>
              <a:tblGrid>
                <a:gridCol w="2819400"/>
                <a:gridCol w="2819400"/>
                <a:gridCol w="2819400"/>
                <a:gridCol w="2819400"/>
              </a:tblGrid>
              <a:tr h="380000">
                <a:tc>
                  <a:txBody>
                    <a:bodyPr/>
                    <a:lstStyle/>
                    <a:p>
                      <a:pPr algn="l"/>
                      <a:r>
                        <a:rPr lang="en-US" sz="1300" b="1" dirty="0">
                          <a:solidFill>
                            <a:srgbClr val="FFFFFF"/>
                          </a:solidFill>
                          <a:latin typeface="Century Gothic"/>
                        </a:rPr>
                        <a:t>Session</a:t>
                      </a:r>
                    </a:p>
                  </a:txBody>
                  <a:tcPr marL="73152" marR="73152" marT="36576" marB="36576" anchor="ctr">
                    <a:solidFill>
                      <a:srgbClr val="0D7377"/>
                    </a:solidFill>
                  </a:tcPr>
                </a:tc>
                <a:tc>
                  <a:txBody>
                    <a:bodyPr/>
                    <a:lstStyle/>
                    <a:p>
                      <a:pPr algn="l"/>
                      <a:r>
                        <a:rPr lang="en-US" sz="1300" b="1" dirty="0">
                          <a:solidFill>
                            <a:srgbClr val="FFFFFF"/>
                          </a:solidFill>
                          <a:latin typeface="Century Gothic"/>
                        </a:rPr>
                        <a:t>Theme</a:t>
                      </a:r>
                    </a:p>
                  </a:txBody>
                  <a:tcPr marL="73152" marR="73152" marT="36576" marB="36576" anchor="ctr">
                    <a:solidFill>
                      <a:srgbClr val="0D7377"/>
                    </a:solidFill>
                  </a:tcPr>
                </a:tc>
                <a:tc>
                  <a:txBody>
                    <a:bodyPr/>
                    <a:lstStyle/>
                    <a:p>
                      <a:pPr algn="l"/>
                      <a:r>
                        <a:rPr lang="en-US" sz="1300" b="1" dirty="0">
                          <a:solidFill>
                            <a:srgbClr val="FFFFFF"/>
                          </a:solidFill>
                          <a:latin typeface="Century Gothic"/>
                        </a:rPr>
                        <a:t>Core skill</a:t>
                      </a:r>
                    </a:p>
                  </a:txBody>
                  <a:tcPr marL="73152" marR="73152" marT="36576" marB="36576" anchor="ctr">
                    <a:solidFill>
                      <a:srgbClr val="0D7377"/>
                    </a:solidFill>
                  </a:tcPr>
                </a:tc>
                <a:tc>
                  <a:txBody>
                    <a:bodyPr/>
                    <a:lstStyle/>
                    <a:p>
                      <a:pPr algn="l"/>
                      <a:r>
                        <a:rPr lang="en-US" sz="1300" b="1" dirty="0">
                          <a:solidFill>
                            <a:srgbClr val="FFFFFF"/>
                          </a:solidFill>
                          <a:latin typeface="Century Gothic"/>
                        </a:rPr>
                        <a:t>Exercise output</a:t>
                      </a:r>
                    </a:p>
                  </a:txBody>
                  <a:tcPr marL="73152" marR="73152" marT="36576" marB="36576" anchor="ctr">
                    <a:solidFill>
                      <a:srgbClr val="0D7377"/>
                    </a:solidFill>
                  </a:tcPr>
                </a:tc>
              </a:tr>
              <a:tr h="380000">
                <a:tc>
                  <a:txBody>
                    <a:bodyPr/>
                    <a:lstStyle/>
                    <a:p>
                      <a:pPr algn="l"/>
                      <a:r>
                        <a:rPr lang="en-US" sz="1300" b="0" dirty="0">
                          <a:solidFill>
                            <a:srgbClr val="000000"/>
                          </a:solidFill>
                          <a:latin typeface="Century Gothic"/>
                        </a:rPr>
                        <a:t>1</a:t>
                      </a:r>
                    </a:p>
                  </a:txBody>
                  <a:tcPr marL="73152" marR="73152" marT="36576" marB="36576" anchor="ctr">
                    <a:solidFill>
                      <a:srgbClr val="FFFFFF"/>
                    </a:solidFill>
                  </a:tcPr>
                </a:tc>
                <a:tc>
                  <a:txBody>
                    <a:bodyPr/>
                    <a:lstStyle/>
                    <a:p>
                      <a:pPr algn="l"/>
                      <a:r>
                        <a:rPr lang="en-US" sz="1300" b="0" dirty="0">
                          <a:solidFill>
                            <a:srgbClr val="000000"/>
                          </a:solidFill>
                          <a:latin typeface="Century Gothic"/>
                        </a:rPr>
                        <a:t>Introduction to R &amp; RStudio</a:t>
                      </a:r>
                    </a:p>
                  </a:txBody>
                  <a:tcPr marL="73152" marR="73152" marT="36576" marB="36576" anchor="ctr">
                    <a:solidFill>
                      <a:srgbClr val="FFFFFF"/>
                    </a:solidFill>
                  </a:tcPr>
                </a:tc>
                <a:tc>
                  <a:txBody>
                    <a:bodyPr/>
                    <a:lstStyle/>
                    <a:p>
                      <a:pPr algn="l"/>
                      <a:r>
                        <a:rPr lang="en-US" sz="1300" b="0" dirty="0">
                          <a:solidFill>
                            <a:srgbClr val="000000"/>
                          </a:solidFill>
                          <a:latin typeface="Century Gothic"/>
                        </a:rPr>
                        <a:t>Import data</a:t>
                      </a:r>
                    </a:p>
                  </a:txBody>
                  <a:tcPr marL="73152" marR="73152" marT="36576" marB="36576" anchor="ctr">
                    <a:solidFill>
                      <a:srgbClr val="FFFFFF"/>
                    </a:solidFill>
                  </a:tcPr>
                </a:tc>
                <a:tc>
                  <a:txBody>
                    <a:bodyPr/>
                    <a:lstStyle/>
                    <a:p>
                      <a:pPr algn="l"/>
                      <a:r>
                        <a:rPr lang="en-US" sz="1300" b="0" dirty="0">
                          <a:solidFill>
                            <a:srgbClr val="000000"/>
                          </a:solidFill>
                          <a:latin typeface="Century Gothic"/>
                        </a:rPr>
                        <a:t>Dataset imported</a:t>
                      </a:r>
                    </a:p>
                  </a:txBody>
                  <a:tcPr marL="73152" marR="73152" marT="36576" marB="36576" anchor="ctr">
                    <a:solidFill>
                      <a:srgbClr val="FFFFFF"/>
                    </a:solidFill>
                  </a:tcPr>
                </a:tc>
              </a:tr>
              <a:tr h="380000">
                <a:tc>
                  <a:txBody>
                    <a:bodyPr/>
                    <a:lstStyle/>
                    <a:p>
                      <a:pPr algn="l"/>
                      <a:r>
                        <a:rPr lang="en-US" sz="1300" b="0" dirty="0">
                          <a:solidFill>
                            <a:srgbClr val="000000"/>
                          </a:solidFill>
                          <a:latin typeface="Century Gothic"/>
                        </a:rPr>
                        <a:t>2</a:t>
                      </a:r>
                    </a:p>
                  </a:txBody>
                  <a:tcPr marL="73152" marR="73152" marT="36576" marB="36576" anchor="ctr">
                    <a:solidFill>
                      <a:srgbClr val="FFFFFF"/>
                    </a:solidFill>
                  </a:tcPr>
                </a:tc>
                <a:tc>
                  <a:txBody>
                    <a:bodyPr/>
                    <a:lstStyle/>
                    <a:p>
                      <a:pPr algn="l"/>
                      <a:r>
                        <a:rPr lang="en-US" sz="1300" b="0" dirty="0">
                          <a:solidFill>
                            <a:srgbClr val="000000"/>
                          </a:solidFill>
                          <a:latin typeface="Century Gothic"/>
                        </a:rPr>
                        <a:t>Understanding &amp; Cleaning Clinical Data</a:t>
                      </a:r>
                    </a:p>
                  </a:txBody>
                  <a:tcPr marL="73152" marR="73152" marT="36576" marB="36576" anchor="ctr">
                    <a:solidFill>
                      <a:srgbClr val="FFFFFF"/>
                    </a:solidFill>
                  </a:tcPr>
                </a:tc>
                <a:tc>
                  <a:txBody>
                    <a:bodyPr/>
                    <a:lstStyle/>
                    <a:p>
                      <a:pPr algn="l"/>
                      <a:r>
                        <a:rPr lang="en-US" sz="1300" b="0" dirty="0">
                          <a:solidFill>
                            <a:srgbClr val="000000"/>
                          </a:solidFill>
                          <a:latin typeface="Century Gothic"/>
                        </a:rPr>
                        <a:t>Clean &amp; recode</a:t>
                      </a:r>
                    </a:p>
                  </a:txBody>
                  <a:tcPr marL="73152" marR="73152" marT="36576" marB="36576" anchor="ctr">
                    <a:solidFill>
                      <a:srgbClr val="FFFFFF"/>
                    </a:solidFill>
                  </a:tcPr>
                </a:tc>
                <a:tc>
                  <a:txBody>
                    <a:bodyPr/>
                    <a:lstStyle/>
                    <a:p>
                      <a:pPr algn="l"/>
                      <a:r>
                        <a:rPr lang="en-US" sz="1300" b="0" dirty="0">
                          <a:solidFill>
                            <a:srgbClr val="000000"/>
                          </a:solidFill>
                          <a:latin typeface="Century Gothic"/>
                        </a:rPr>
                        <a:t>Analysis-ready data</a:t>
                      </a:r>
                    </a:p>
                  </a:txBody>
                  <a:tcPr marL="73152" marR="73152" marT="36576" marB="36576" anchor="ctr">
                    <a:solidFill>
                      <a:srgbClr val="FFFFFF"/>
                    </a:solidFill>
                  </a:tcPr>
                </a:tc>
              </a:tr>
              <a:tr h="380000">
                <a:tc>
                  <a:txBody>
                    <a:bodyPr/>
                    <a:lstStyle/>
                    <a:p>
                      <a:pPr algn="l"/>
                      <a:r>
                        <a:rPr lang="en-US" sz="1300" b="0" dirty="0">
                          <a:solidFill>
                            <a:srgbClr val="000000"/>
                          </a:solidFill>
                          <a:latin typeface="Century Gothic"/>
                        </a:rPr>
                        <a:t>3</a:t>
                      </a:r>
                    </a:p>
                  </a:txBody>
                  <a:tcPr marL="73152" marR="73152" marT="36576" marB="36576" anchor="ctr">
                    <a:solidFill>
                      <a:srgbClr val="FFFFFF"/>
                    </a:solidFill>
                  </a:tcPr>
                </a:tc>
                <a:tc>
                  <a:txBody>
                    <a:bodyPr/>
                    <a:lstStyle/>
                    <a:p>
                      <a:pPr algn="l"/>
                      <a:r>
                        <a:rPr lang="en-US" sz="1300" b="0" dirty="0">
                          <a:solidFill>
                            <a:srgbClr val="000000"/>
                          </a:solidFill>
                          <a:latin typeface="Century Gothic"/>
                        </a:rPr>
                        <a:t>Descriptive Statistics, Tables &amp; Figures</a:t>
                      </a:r>
                    </a:p>
                  </a:txBody>
                  <a:tcPr marL="73152" marR="73152" marT="36576" marB="36576" anchor="ctr">
                    <a:solidFill>
                      <a:srgbClr val="FFFFFF"/>
                    </a:solidFill>
                  </a:tcPr>
                </a:tc>
                <a:tc>
                  <a:txBody>
                    <a:bodyPr/>
                    <a:lstStyle/>
                    <a:p>
                      <a:pPr algn="l"/>
                      <a:r>
                        <a:rPr lang="en-US" sz="1300" b="0" dirty="0">
                          <a:solidFill>
                            <a:srgbClr val="000000"/>
                          </a:solidFill>
                          <a:latin typeface="Century Gothic"/>
                        </a:rPr>
                        <a:t>Tables &amp; figures</a:t>
                      </a:r>
                    </a:p>
                  </a:txBody>
                  <a:tcPr marL="73152" marR="73152" marT="36576" marB="36576" anchor="ctr">
                    <a:solidFill>
                      <a:srgbClr val="FFFFFF"/>
                    </a:solidFill>
                  </a:tcPr>
                </a:tc>
                <a:tc>
                  <a:txBody>
                    <a:bodyPr/>
                    <a:lstStyle/>
                    <a:p>
                      <a:pPr algn="l"/>
                      <a:r>
                        <a:rPr lang="en-US" sz="1300" b="0" dirty="0">
                          <a:solidFill>
                            <a:srgbClr val="000000"/>
                          </a:solidFill>
                          <a:latin typeface="Century Gothic"/>
                        </a:rPr>
                        <a:t>Manuscript Table 1</a:t>
                      </a:r>
                    </a:p>
                  </a:txBody>
                  <a:tcPr marL="73152" marR="73152" marT="36576" marB="36576" anchor="ctr">
                    <a:solidFill>
                      <a:srgbClr val="FFFFFF"/>
                    </a:solidFill>
                  </a:tcPr>
                </a:tc>
              </a:tr>
              <a:tr h="380000">
                <a:tc>
                  <a:txBody>
                    <a:bodyPr/>
                    <a:lstStyle/>
                    <a:p>
                      <a:pPr algn="l"/>
                      <a:r>
                        <a:rPr lang="en-US" sz="1300" b="0" dirty="0">
                          <a:solidFill>
                            <a:srgbClr val="000000"/>
                          </a:solidFill>
                          <a:latin typeface="Century Gothic"/>
                        </a:rPr>
                        <a:t>4</a:t>
                      </a:r>
                    </a:p>
                  </a:txBody>
                  <a:tcPr marL="73152" marR="73152" marT="36576" marB="36576" anchor="ctr">
                    <a:solidFill>
                      <a:srgbClr val="FFFFFF"/>
                    </a:solidFill>
                  </a:tcPr>
                </a:tc>
                <a:tc>
                  <a:txBody>
                    <a:bodyPr/>
                    <a:lstStyle/>
                    <a:p>
                      <a:pPr algn="l"/>
                      <a:r>
                        <a:rPr lang="en-US" sz="1300" b="0" dirty="0">
                          <a:solidFill>
                            <a:srgbClr val="000000"/>
                          </a:solidFill>
                          <a:latin typeface="Century Gothic"/>
                        </a:rPr>
                        <a:t>Common Medical Statistical Tests</a:t>
                      </a:r>
                    </a:p>
                  </a:txBody>
                  <a:tcPr marL="73152" marR="73152" marT="36576" marB="36576" anchor="ctr">
                    <a:solidFill>
                      <a:srgbClr val="FFFFFF"/>
                    </a:solidFill>
                  </a:tcPr>
                </a:tc>
                <a:tc>
                  <a:txBody>
                    <a:bodyPr/>
                    <a:lstStyle/>
                    <a:p>
                      <a:pPr algn="l"/>
                      <a:r>
                        <a:rPr lang="en-US" sz="1300" b="0" dirty="0">
                          <a:solidFill>
                            <a:srgbClr val="000000"/>
                          </a:solidFill>
                          <a:latin typeface="Century Gothic"/>
                        </a:rPr>
                        <a:t>t-test, Chi-square, Non-parametric</a:t>
                      </a:r>
                    </a:p>
                  </a:txBody>
                  <a:tcPr marL="73152" marR="73152" marT="36576" marB="36576" anchor="ctr">
                    <a:solidFill>
                      <a:srgbClr val="FFFFFF"/>
                    </a:solidFill>
                  </a:tcPr>
                </a:tc>
                <a:tc>
                  <a:txBody>
                    <a:bodyPr/>
                    <a:lstStyle/>
                    <a:p>
                      <a:pPr algn="l"/>
                      <a:r>
                        <a:rPr lang="en-US" sz="1300" b="0" dirty="0">
                          <a:solidFill>
                            <a:srgbClr val="000000"/>
                          </a:solidFill>
                          <a:latin typeface="Century Gothic"/>
                        </a:rPr>
                        <a:t>Correct test chosen</a:t>
                      </a:r>
                    </a:p>
                  </a:txBody>
                  <a:tcPr marL="73152" marR="73152" marT="36576" marB="36576" anchor="ctr">
                    <a:solidFill>
                      <a:srgbClr val="FFFFFF"/>
                    </a:solidFill>
                  </a:tcPr>
                </a:tc>
              </a:tr>
              <a:tr h="380000">
                <a:tc>
                  <a:txBody>
                    <a:bodyPr/>
                    <a:lstStyle/>
                    <a:p>
                      <a:pPr algn="l"/>
                      <a:r>
                        <a:rPr lang="en-US" sz="1300" b="0" dirty="0">
                          <a:solidFill>
                            <a:srgbClr val="000000"/>
                          </a:solidFill>
                          <a:latin typeface="Century Gothic"/>
                        </a:rPr>
                        <a:t>5</a:t>
                      </a:r>
                    </a:p>
                  </a:txBody>
                  <a:tcPr marL="73152" marR="73152" marT="36576" marB="36576" anchor="ctr">
                    <a:solidFill>
                      <a:srgbClr val="FFFFFF"/>
                    </a:solidFill>
                  </a:tcPr>
                </a:tc>
                <a:tc>
                  <a:txBody>
                    <a:bodyPr/>
                    <a:lstStyle/>
                    <a:p>
                      <a:pPr algn="l"/>
                      <a:r>
                        <a:rPr lang="en-US" sz="1300" b="0" dirty="0">
                          <a:solidFill>
                            <a:srgbClr val="000000"/>
                          </a:solidFill>
                          <a:latin typeface="Century Gothic"/>
                        </a:rPr>
                        <a:t>Introduction to Regression &amp; Interpreting Output</a:t>
                      </a:r>
                    </a:p>
                  </a:txBody>
                  <a:tcPr marL="73152" marR="73152" marT="36576" marB="36576" anchor="ctr">
                    <a:solidFill>
                      <a:srgbClr val="FFFFFF"/>
                    </a:solidFill>
                  </a:tcPr>
                </a:tc>
                <a:tc>
                  <a:txBody>
                    <a:bodyPr/>
                    <a:lstStyle/>
                    <a:p>
                      <a:pPr algn="l"/>
                      <a:r>
                        <a:rPr lang="en-US" sz="1300" b="0" dirty="0">
                          <a:solidFill>
                            <a:srgbClr val="000000"/>
                          </a:solidFill>
                          <a:latin typeface="Century Gothic"/>
                        </a:rPr>
                        <a:t>Modelling &amp; reporting</a:t>
                      </a:r>
                    </a:p>
                  </a:txBody>
                  <a:tcPr marL="73152" marR="73152" marT="36576" marB="36576" anchor="ctr">
                    <a:solidFill>
                      <a:srgbClr val="FFFFFF"/>
                    </a:solidFill>
                  </a:tcPr>
                </a:tc>
                <a:tc>
                  <a:txBody>
                    <a:bodyPr/>
                    <a:lstStyle/>
                    <a:p>
                      <a:pPr algn="l"/>
                      <a:r>
                        <a:rPr lang="en-US" sz="1300" b="0" dirty="0">
                          <a:solidFill>
                            <a:srgbClr val="000000"/>
                          </a:solidFill>
                          <a:latin typeface="Century Gothic"/>
                        </a:rPr>
                        <a:t>Short Results section</a:t>
                      </a:r>
                    </a:p>
                  </a:txBody>
                  <a:tcPr marL="73152" marR="73152" marT="36576" marB="36576" anchor="ctr">
                    <a:solidFill>
                      <a:srgbClr val="FFFFFF"/>
                    </a:solidFill>
                  </a:tcPr>
                </a:tc>
              </a:tr>
            </a:tbl>
          </a:graphicData>
        </a:graphic>
      </p:graphicFrame>
      <p:sp>
        <p:nvSpPr>
          <p:cNvPr id="31" name="Caption"/>
          <p:cNvSpPr txBox="1"/>
          <p:nvPr/>
        </p:nvSpPr>
        <p:spPr>
          <a:xfrm>
            <a:off x="457200" y="4060000"/>
            <a:ext cx="11277600" cy="500000"/>
          </a:xfrm>
          <a:prstGeom prst="rect">
            <a:avLst/>
          </a:prstGeom>
          <a:noFill/>
          <a:ln>
            <a:noFill/>
          </a:ln>
        </p:spPr>
        <p:txBody>
          <a:bodyPr wrap="square" lIns="91440" tIns="45720" rIns="91440" bIns="45720" rtlCol="0" anchor="t"/>
          <a:lstStyle/>
          <a:p>
            <a:pPr marL="0" indent="0" algn="l">
              <a:buNone/>
            </a:pPr>
            <a:r>
              <a:rPr lang="en-US" sz="1300" i="1" dirty="0">
                <a:solidFill>
                  <a:srgbClr val="595959"/>
                </a:solidFill>
                <a:latin typeface="Century Gothic"/>
                <a:cs typeface="Century Gothic"/>
              </a:rPr>
              <a:t>Five evening sessions (Tuesdays, 90 minutes each); each session builds on the last.</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Century Gothic"/>
                <a:cs typeface="Century Gothic"/>
              </a:rPr>
              <a:t>How Each Session Runs (90 Minutes)</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Body"/>
          <p:cNvSpPr txBox="1"/>
          <p:nvPr/>
        </p:nvSpPr>
        <p:spPr>
          <a:xfrm>
            <a:off x="457200" y="1080000"/>
            <a:ext cx="11277600" cy="3150000"/>
          </a:xfrm>
          <a:prstGeom prst="rect">
            <a:avLst/>
          </a:prstGeom>
          <a:noFill/>
          <a:ln>
            <a:noFill/>
          </a:ln>
        </p:spPr>
        <p:txBody>
          <a:bodyPr wrap="square" lIns="91440" tIns="45720" rIns="91440" bIns="45720" rtlCol="0" anchor="t"/>
          <a:lstStyle/>
          <a:p>
            <a:pPr marL="0" indent="0" algn="l">
              <a:spcBef>
                <a:spcPts val="360"/>
              </a:spcBef>
              <a:buNone/>
            </a:pPr>
            <a:r>
              <a:rPr lang="en-US" sz="2050" b="1" dirty="0">
                <a:solidFill>
                  <a:srgbClr val="0D7377"/>
                </a:solidFill>
                <a:latin typeface="Century Gothic"/>
                <a:cs typeface="Century Gothic"/>
              </a:rPr>
              <a:t>A predictable evening rhythm</a:t>
            </a:r>
          </a:p>
          <a:p>
            <a:pPr marL="0" indent="0" algn="l">
              <a:lnSpc>
                <a:spcPct val="108000"/>
              </a:lnSpc>
              <a:spcBef>
                <a:spcPts val="440"/>
              </a:spcBef>
              <a:buNone/>
            </a:pPr>
            <a:r>
              <a:rPr lang="en-US" sz="1800" dirty="0">
                <a:solidFill>
                  <a:srgbClr val="000000"/>
                </a:solidFill>
                <a:latin typeface="Century Gothic"/>
                <a:cs typeface="Century Gothic"/>
              </a:rPr>
              <a:t>Recap &amp; set-up - about 10 minutes: reconnect to last week.</a:t>
            </a:r>
          </a:p>
          <a:p>
            <a:pPr marL="0" indent="0" algn="l">
              <a:lnSpc>
                <a:spcPct val="108000"/>
              </a:lnSpc>
              <a:spcBef>
                <a:spcPts val="440"/>
              </a:spcBef>
              <a:buNone/>
            </a:pPr>
            <a:r>
              <a:rPr lang="en-US" sz="1800" dirty="0">
                <a:solidFill>
                  <a:srgbClr val="000000"/>
                </a:solidFill>
                <a:latin typeface="Century Gothic"/>
                <a:cs typeface="Century Gothic"/>
              </a:rPr>
              <a:t>Lecture &amp; live demo - about 55 minutes: concepts, then the trainer codes as you watch.</a:t>
            </a:r>
          </a:p>
          <a:p>
            <a:pPr marL="0" indent="0" algn="l">
              <a:lnSpc>
                <a:spcPct val="108000"/>
              </a:lnSpc>
              <a:spcBef>
                <a:spcPts val="440"/>
              </a:spcBef>
              <a:buNone/>
            </a:pPr>
            <a:r>
              <a:rPr lang="en-US" sz="1800" dirty="0">
                <a:solidFill>
                  <a:srgbClr val="000000"/>
                </a:solidFill>
                <a:latin typeface="Century Gothic"/>
                <a:cs typeface="Century Gothic"/>
              </a:rPr>
              <a:t>Guided exercise - about 20 minutes: you code, we help.</a:t>
            </a:r>
          </a:p>
          <a:p>
            <a:pPr marL="0" indent="0" algn="l">
              <a:lnSpc>
                <a:spcPct val="108000"/>
              </a:lnSpc>
              <a:spcBef>
                <a:spcPts val="440"/>
              </a:spcBef>
              <a:buNone/>
            </a:pPr>
            <a:r>
              <a:rPr lang="en-US" sz="1800" dirty="0">
                <a:solidFill>
                  <a:srgbClr val="000000"/>
                </a:solidFill>
                <a:latin typeface="Century Gothic"/>
                <a:cs typeface="Century Gothic"/>
              </a:rPr>
              <a:t>Wrap-up &amp; questions - throughout and in the last 5 minutes.</a:t>
            </a:r>
          </a:p>
          <a:p>
            <a:pPr>
              <a:buNone/>
            </a:pPr>
            <a:endParaRPr sz="1050"/>
          </a:p>
        </p:txBody>
      </p:sp>
      <p:sp>
        <p:nvSpPr>
          <p:cNvPr id="40" name="Callout"/>
          <p:cNvSpPr/>
          <p:nvPr/>
        </p:nvSpPr>
        <p:spPr>
          <a:xfrm>
            <a:off x="457200" y="5070000"/>
            <a:ext cx="11277600" cy="810000"/>
          </a:xfrm>
          <a:prstGeom prst="roundRect">
            <a:avLst>
              <a:gd name="adj" fmla="val 6000"/>
            </a:avLst>
          </a:prstGeom>
          <a:solidFill>
            <a:srgbClr val="F0F0F0"/>
          </a:solidFill>
          <a:ln>
            <a:noFill/>
          </a:ln>
        </p:spPr>
        <p:txBody>
          <a:bodyPr wrap="square" lIns="137160" tIns="91440" rIns="137160" bIns="91440" rtlCol="0" anchor="t"/>
          <a:lstStyle/>
          <a:p>
            <a:pPr marL="0" indent="0" algn="l">
              <a:buNone/>
            </a:pPr>
            <a:r>
              <a:rPr lang="en-US" sz="1300" b="1" dirty="0">
                <a:solidFill>
                  <a:srgbClr val="404040"/>
                </a:solidFill>
                <a:latin typeface="Century Gothic"/>
                <a:cs typeface="Century Gothic"/>
              </a:rPr>
              <a:t>NOTE  -  Bring</a:t>
            </a:r>
          </a:p>
          <a:p>
            <a:pPr marL="0" indent="0" algn="l">
              <a:spcBef>
                <a:spcPts val="100"/>
              </a:spcBef>
              <a:buNone/>
            </a:pPr>
            <a:r>
              <a:rPr lang="en-US" sz="1300" dirty="0">
                <a:solidFill>
                  <a:srgbClr val="000000"/>
                </a:solidFill>
                <a:latin typeface="Century Gothic"/>
                <a:cs typeface="Century Gothic"/>
              </a:rPr>
              <a:t>A laptop with R and RStudio installed (see the pre-course pack), and the course data folder.</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Century Gothic"/>
                <a:cs typeface="Century Gothic"/>
              </a:rPr>
              <a:t>Our Case Study - One Dataset All Week</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Body"/>
          <p:cNvSpPr txBox="1"/>
          <p:nvPr/>
        </p:nvSpPr>
        <p:spPr>
          <a:xfrm>
            <a:off x="457200" y="1080000"/>
            <a:ext cx="11277600" cy="4780000"/>
          </a:xfrm>
          <a:prstGeom prst="rect">
            <a:avLst/>
          </a:prstGeom>
          <a:noFill/>
          <a:ln>
            <a:noFill/>
          </a:ln>
        </p:spPr>
        <p:txBody>
          <a:bodyPr wrap="square" lIns="91440" tIns="45720" rIns="91440" bIns="45720" rtlCol="0" anchor="ctr"/>
          <a:lstStyle/>
          <a:p>
            <a:pPr marL="0" indent="0" algn="l">
              <a:spcBef>
                <a:spcPts val="360"/>
              </a:spcBef>
              <a:buNone/>
            </a:pPr>
            <a:r>
              <a:rPr lang="en-US" sz="2050" b="1" dirty="0">
                <a:solidFill>
                  <a:srgbClr val="0D7377"/>
                </a:solidFill>
                <a:latin typeface="Century Gothic"/>
                <a:cs typeface="Century Gothic"/>
              </a:rPr>
              <a:t>Study</a:t>
            </a:r>
          </a:p>
          <a:p>
            <a:pPr marL="0" indent="0" algn="l">
              <a:lnSpc>
                <a:spcPct val="108000"/>
              </a:lnSpc>
              <a:spcBef>
                <a:spcPts val="440"/>
              </a:spcBef>
              <a:buNone/>
            </a:pPr>
            <a:r>
              <a:rPr lang="en-US" sz="1800" dirty="0">
                <a:solidFill>
                  <a:srgbClr val="000000"/>
                </a:solidFill>
                <a:latin typeface="Century Gothic"/>
                <a:cs typeface="Century Gothic"/>
              </a:rPr>
              <a:t>Determinants of Hypertension Treatment Uptake among Adults attending Primary Healthcare Facilities.</a:t>
            </a:r>
          </a:p>
          <a:p>
            <a:pPr>
              <a:buNone/>
            </a:pPr>
            <a:endParaRPr sz="1050"/>
          </a:p>
          <a:p>
            <a:pPr marL="0" indent="0" algn="l">
              <a:spcBef>
                <a:spcPts val="360"/>
              </a:spcBef>
              <a:buNone/>
            </a:pPr>
            <a:r>
              <a:rPr lang="en-US" sz="2050" b="1" dirty="0">
                <a:solidFill>
                  <a:srgbClr val="0D7377"/>
                </a:solidFill>
                <a:latin typeface="Century Gothic"/>
                <a:cs typeface="Century Gothic"/>
              </a:rPr>
              <a:t>Design</a:t>
            </a:r>
          </a:p>
          <a:p>
            <a:pPr marL="0" indent="0" algn="l">
              <a:lnSpc>
                <a:spcPct val="108000"/>
              </a:lnSpc>
              <a:spcBef>
                <a:spcPts val="440"/>
              </a:spcBef>
              <a:buNone/>
            </a:pPr>
            <a:r>
              <a:rPr lang="en-US" sz="1800" dirty="0">
                <a:solidFill>
                  <a:srgbClr val="000000"/>
                </a:solidFill>
                <a:latin typeface="Century Gothic"/>
                <a:cs typeface="Century Gothic"/>
              </a:rPr>
              <a:t>Multicentre cross-sectional study - 6 primary healthcare facilities.</a:t>
            </a:r>
          </a:p>
          <a:p>
            <a:pPr marL="0" indent="0" algn="l">
              <a:lnSpc>
                <a:spcPct val="108000"/>
              </a:lnSpc>
              <a:spcBef>
                <a:spcPts val="440"/>
              </a:spcBef>
              <a:buNone/>
            </a:pPr>
            <a:r>
              <a:rPr lang="en-US" sz="1800" dirty="0">
                <a:solidFill>
                  <a:srgbClr val="000000"/>
                </a:solidFill>
                <a:latin typeface="Century Gothic"/>
                <a:cs typeface="Century Gothic"/>
              </a:rPr>
              <a:t>1,500 adult attendees screened for hypertension.</a:t>
            </a:r>
          </a:p>
          <a:p>
            <a:pPr marL="0" indent="0" algn="l">
              <a:lnSpc>
                <a:spcPct val="108000"/>
              </a:lnSpc>
              <a:spcBef>
                <a:spcPts val="440"/>
              </a:spcBef>
              <a:buNone/>
            </a:pPr>
            <a:r>
              <a:rPr lang="en-US" sz="1800" dirty="0">
                <a:solidFill>
                  <a:srgbClr val="000000"/>
                </a:solidFill>
                <a:latin typeface="Century Gothic"/>
                <a:cs typeface="Century Gothic"/>
              </a:rPr>
              <a:t>Facilities: Bugando PHC, Kisesa HC, Nyamagana PHC, Ilemela HC, Buzuruga PHC, Igoma HC.</a:t>
            </a:r>
          </a:p>
          <a:p>
            <a:pPr>
              <a:buNone/>
            </a:pPr>
            <a:endParaRPr sz="1050"/>
          </a:p>
          <a:p>
            <a:pPr marL="0" indent="0" algn="l">
              <a:spcBef>
                <a:spcPts val="360"/>
              </a:spcBef>
              <a:buNone/>
            </a:pPr>
            <a:r>
              <a:rPr lang="en-US" sz="2050" b="1" dirty="0">
                <a:solidFill>
                  <a:srgbClr val="0D7377"/>
                </a:solidFill>
                <a:latin typeface="Century Gothic"/>
                <a:cs typeface="Century Gothic"/>
              </a:rPr>
              <a:t>Primary outcome</a:t>
            </a:r>
          </a:p>
          <a:p>
            <a:pPr marL="0" indent="0" algn="l">
              <a:lnSpc>
                <a:spcPct val="108000"/>
              </a:lnSpc>
              <a:spcBef>
                <a:spcPts val="440"/>
              </a:spcBef>
              <a:buNone/>
            </a:pPr>
            <a:r>
              <a:rPr lang="en-US" sz="1800" dirty="0">
                <a:solidFill>
                  <a:srgbClr val="000000"/>
                </a:solidFill>
                <a:latin typeface="Century Gothic"/>
                <a:cs typeface="Century Gothic"/>
              </a:rPr>
              <a:t>Treatment uptake - whether a diagnosed patient is currently on antihypertensive therapy.</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Century Gothic"/>
                <a:cs typeface="Century Gothic"/>
              </a:rPr>
              <a:t>The Variables We Will Use</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Body"/>
          <p:cNvSpPr txBox="1"/>
          <p:nvPr/>
        </p:nvSpPr>
        <p:spPr>
          <a:xfrm>
            <a:off x="457200" y="1080000"/>
            <a:ext cx="11277600" cy="3150000"/>
          </a:xfrm>
          <a:prstGeom prst="rect">
            <a:avLst/>
          </a:prstGeom>
          <a:noFill/>
          <a:ln>
            <a:noFill/>
          </a:ln>
        </p:spPr>
        <p:txBody>
          <a:bodyPr wrap="square" lIns="91440" tIns="45720" rIns="91440" bIns="45720" rtlCol="0" anchor="t"/>
          <a:lstStyle/>
          <a:p>
            <a:pPr marL="0" indent="0" algn="l">
              <a:spcBef>
                <a:spcPts val="360"/>
              </a:spcBef>
              <a:buNone/>
            </a:pPr>
            <a:r>
              <a:rPr lang="en-US" sz="2050" b="1" dirty="0">
                <a:solidFill>
                  <a:srgbClr val="0D7377"/>
                </a:solidFill>
                <a:latin typeface="Century Gothic"/>
                <a:cs typeface="Century Gothic"/>
              </a:rPr>
              <a:t>Demographics &amp; social</a:t>
            </a:r>
          </a:p>
          <a:p>
            <a:pPr marL="0" indent="0" algn="l">
              <a:lnSpc>
                <a:spcPct val="108000"/>
              </a:lnSpc>
              <a:spcBef>
                <a:spcPts val="440"/>
              </a:spcBef>
              <a:buNone/>
            </a:pPr>
            <a:r>
              <a:rPr lang="en-US" sz="1800" dirty="0">
                <a:solidFill>
                  <a:srgbClr val="000000"/>
                </a:solidFill>
                <a:latin typeface="Century Gothic"/>
                <a:cs typeface="Century Gothic"/>
              </a:rPr>
              <a:t>Age, sex, residence, education, occupation, marital status, health insurance.</a:t>
            </a:r>
          </a:p>
          <a:p>
            <a:pPr>
              <a:buNone/>
            </a:pPr>
            <a:endParaRPr sz="1050"/>
          </a:p>
          <a:p>
            <a:pPr marL="0" indent="0" algn="l">
              <a:spcBef>
                <a:spcPts val="360"/>
              </a:spcBef>
              <a:buNone/>
            </a:pPr>
            <a:r>
              <a:rPr lang="en-US" sz="2050" b="1" dirty="0">
                <a:solidFill>
                  <a:srgbClr val="0D7377"/>
                </a:solidFill>
                <a:latin typeface="Century Gothic"/>
                <a:cs typeface="Century Gothic"/>
              </a:rPr>
              <a:t>Behavioural &amp; clinical</a:t>
            </a:r>
          </a:p>
          <a:p>
            <a:pPr marL="0" indent="0" algn="l">
              <a:lnSpc>
                <a:spcPct val="108000"/>
              </a:lnSpc>
              <a:spcBef>
                <a:spcPts val="440"/>
              </a:spcBef>
              <a:buNone/>
            </a:pPr>
            <a:r>
              <a:rPr lang="en-US" sz="1800" dirty="0">
                <a:solidFill>
                  <a:srgbClr val="000000"/>
                </a:solidFill>
                <a:latin typeface="Century Gothic"/>
                <a:cs typeface="Century Gothic"/>
              </a:rPr>
              <a:t>Smoking, alcohol, physical activity, BMI, diabetes, family history, blood pressure.</a:t>
            </a:r>
          </a:p>
          <a:p>
            <a:pPr>
              <a:buNone/>
            </a:pPr>
            <a:endParaRPr sz="1050"/>
          </a:p>
          <a:p>
            <a:pPr marL="0" indent="0" algn="l">
              <a:spcBef>
                <a:spcPts val="360"/>
              </a:spcBef>
              <a:buNone/>
            </a:pPr>
            <a:r>
              <a:rPr lang="en-US" sz="2050" b="1" dirty="0">
                <a:solidFill>
                  <a:srgbClr val="0D7377"/>
                </a:solidFill>
                <a:latin typeface="Century Gothic"/>
                <a:cs typeface="Century Gothic"/>
              </a:rPr>
              <a:t>Laboratory &amp; outcomes</a:t>
            </a:r>
          </a:p>
          <a:p>
            <a:pPr marL="0" indent="0" algn="l">
              <a:lnSpc>
                <a:spcPct val="108000"/>
              </a:lnSpc>
              <a:spcBef>
                <a:spcPts val="440"/>
              </a:spcBef>
              <a:buNone/>
            </a:pPr>
            <a:r>
              <a:rPr lang="en-US" sz="1800" dirty="0">
                <a:solidFill>
                  <a:srgbClr val="000000"/>
                </a:solidFill>
                <a:latin typeface="Century Gothic"/>
                <a:cs typeface="Century Gothic"/>
              </a:rPr>
              <a:t>Cholesterol panel, glucose, creatinine, electrolytes; treatment uptake, adherence, BP control.</a:t>
            </a:r>
          </a:p>
          <a:p>
            <a:pPr>
              <a:buNone/>
            </a:pPr>
            <a:endParaRPr sz="1050"/>
          </a:p>
        </p:txBody>
      </p:sp>
      <p:sp>
        <p:nvSpPr>
          <p:cNvPr id="40" name="Callout"/>
          <p:cNvSpPr/>
          <p:nvPr/>
        </p:nvSpPr>
        <p:spPr>
          <a:xfrm>
            <a:off x="457200" y="5070000"/>
            <a:ext cx="11277600" cy="810000"/>
          </a:xfrm>
          <a:prstGeom prst="roundRect">
            <a:avLst>
              <a:gd name="adj" fmla="val 6000"/>
            </a:avLst>
          </a:prstGeom>
          <a:solidFill>
            <a:srgbClr val="E8F4F4"/>
          </a:solidFill>
          <a:ln>
            <a:noFill/>
          </a:ln>
        </p:spPr>
        <p:txBody>
          <a:bodyPr wrap="square" lIns="137160" tIns="91440" rIns="137160" bIns="91440" rtlCol="0" anchor="t"/>
          <a:lstStyle/>
          <a:p>
            <a:pPr marL="0" indent="0" algn="l">
              <a:buNone/>
            </a:pPr>
            <a:r>
              <a:rPr lang="en-US" sz="1300" b="1" dirty="0">
                <a:solidFill>
                  <a:srgbClr val="0D7377"/>
                </a:solidFill>
                <a:latin typeface="Century Gothic"/>
                <a:cs typeface="Century Gothic"/>
              </a:rPr>
              <a:t>TIP  -  Data dictionary</a:t>
            </a:r>
          </a:p>
          <a:p>
            <a:pPr marL="0" indent="0" algn="l">
              <a:spcBef>
                <a:spcPts val="100"/>
              </a:spcBef>
              <a:buNone/>
            </a:pPr>
            <a:r>
              <a:rPr lang="en-US" sz="1300" dirty="0">
                <a:solidFill>
                  <a:srgbClr val="000000"/>
                </a:solidFill>
                <a:latin typeface="Century Gothic"/>
                <a:cs typeface="Century Gothic"/>
              </a:rPr>
              <a:t>A full data dictionary (36 variables) is provided - keep it open during every exercise.</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Century Gothic"/>
                <a:cs typeface="Century Gothic"/>
              </a:rPr>
              <a:t>How the Week Builds to a Published Result</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Body"/>
          <p:cNvSpPr txBox="1"/>
          <p:nvPr/>
        </p:nvSpPr>
        <p:spPr>
          <a:xfrm>
            <a:off x="457200" y="1080000"/>
            <a:ext cx="11277600" cy="3150000"/>
          </a:xfrm>
          <a:prstGeom prst="rect">
            <a:avLst/>
          </a:prstGeom>
          <a:noFill/>
          <a:ln>
            <a:noFill/>
          </a:ln>
        </p:spPr>
        <p:txBody>
          <a:bodyPr wrap="square" lIns="91440" tIns="45720" rIns="91440" bIns="45720" rtlCol="0" anchor="t"/>
          <a:lstStyle/>
          <a:p>
            <a:pPr marL="0" indent="0" algn="l">
              <a:spcBef>
                <a:spcPts val="360"/>
              </a:spcBef>
              <a:buNone/>
            </a:pPr>
            <a:r>
              <a:rPr lang="en-US" sz="2050" b="1" dirty="0">
                <a:solidFill>
                  <a:srgbClr val="0D7377"/>
                </a:solidFill>
                <a:latin typeface="Century Gothic"/>
                <a:cs typeface="Century Gothic"/>
              </a:rPr>
              <a:t>The analysis pipeline</a:t>
            </a:r>
          </a:p>
          <a:p>
            <a:pPr marL="0" indent="0" algn="l">
              <a:lnSpc>
                <a:spcPct val="108000"/>
              </a:lnSpc>
              <a:spcBef>
                <a:spcPts val="440"/>
              </a:spcBef>
              <a:buNone/>
            </a:pPr>
            <a:r>
              <a:rPr lang="en-US" sz="1800" dirty="0">
                <a:solidFill>
                  <a:srgbClr val="000000"/>
                </a:solidFill>
                <a:latin typeface="Century Gothic"/>
                <a:cs typeface="Century Gothic"/>
              </a:rPr>
              <a:t>Import (Day 1)  -&gt;  Clean &amp; validate (Day 2)  -&gt;  Describe (Day 3)</a:t>
            </a:r>
          </a:p>
          <a:p>
            <a:pPr marL="0" indent="0" algn="l">
              <a:lnSpc>
                <a:spcPct val="108000"/>
              </a:lnSpc>
              <a:spcBef>
                <a:spcPts val="440"/>
              </a:spcBef>
              <a:buNone/>
            </a:pPr>
            <a:r>
              <a:rPr lang="en-US" sz="1800" dirty="0">
                <a:solidFill>
                  <a:srgbClr val="000000"/>
                </a:solidFill>
                <a:latin typeface="Century Gothic"/>
                <a:cs typeface="Century Gothic"/>
              </a:rPr>
              <a:t>Test &amp; model (Day 4)  -&gt;  Final model, interpret &amp; report (Day 5).</a:t>
            </a:r>
          </a:p>
          <a:p>
            <a:pPr>
              <a:buNone/>
            </a:pPr>
            <a:endParaRPr sz="1050"/>
          </a:p>
          <a:p>
            <a:pPr marL="0" indent="0" algn="l">
              <a:spcBef>
                <a:spcPts val="360"/>
              </a:spcBef>
              <a:buNone/>
            </a:pPr>
            <a:r>
              <a:rPr lang="en-US" sz="2050" b="1" dirty="0">
                <a:solidFill>
                  <a:srgbClr val="0D7377"/>
                </a:solidFill>
                <a:latin typeface="Century Gothic"/>
                <a:cs typeface="Century Gothic"/>
              </a:rPr>
              <a:t>Your final deliverable</a:t>
            </a:r>
          </a:p>
          <a:p>
            <a:pPr marL="0" indent="0" algn="l">
              <a:lnSpc>
                <a:spcPct val="108000"/>
              </a:lnSpc>
              <a:spcBef>
                <a:spcPts val="440"/>
              </a:spcBef>
              <a:buNone/>
            </a:pPr>
            <a:r>
              <a:rPr lang="en-US" sz="1800" dirty="0">
                <a:solidFill>
                  <a:srgbClr val="000000"/>
                </a:solidFill>
                <a:latin typeface="Century Gothic"/>
                <a:cs typeface="Century Gothic"/>
              </a:rPr>
              <a:t>A short, reproducible Results section identifying the determinants of treatment uptake -</a:t>
            </a:r>
          </a:p>
          <a:p>
            <a:pPr marL="0" indent="0" algn="l">
              <a:lnSpc>
                <a:spcPct val="108000"/>
              </a:lnSpc>
              <a:spcBef>
                <a:spcPts val="440"/>
              </a:spcBef>
              <a:buNone/>
            </a:pPr>
            <a:r>
              <a:rPr lang="en-US" sz="1800" dirty="0">
                <a:solidFill>
                  <a:srgbClr val="000000"/>
                </a:solidFill>
                <a:latin typeface="Century Gothic"/>
                <a:cs typeface="Century Gothic"/>
              </a:rPr>
              <a:t>exactly what a journal would expect.</a:t>
            </a:r>
          </a:p>
          <a:p>
            <a:pPr>
              <a:buNone/>
            </a:pPr>
            <a:endParaRPr sz="1050"/>
          </a:p>
        </p:txBody>
      </p:sp>
      <p:sp>
        <p:nvSpPr>
          <p:cNvPr id="40" name="Callout"/>
          <p:cNvSpPr/>
          <p:nvPr/>
        </p:nvSpPr>
        <p:spPr>
          <a:xfrm>
            <a:off x="457200" y="5070000"/>
            <a:ext cx="11277600" cy="810000"/>
          </a:xfrm>
          <a:prstGeom prst="roundRect">
            <a:avLst>
              <a:gd name="adj" fmla="val 6000"/>
            </a:avLst>
          </a:prstGeom>
          <a:solidFill>
            <a:srgbClr val="EAF1F7"/>
          </a:solidFill>
          <a:ln>
            <a:noFill/>
          </a:ln>
        </p:spPr>
        <p:txBody>
          <a:bodyPr wrap="square" lIns="137160" tIns="91440" rIns="137160" bIns="91440" rtlCol="0" anchor="t"/>
          <a:lstStyle/>
          <a:p>
            <a:pPr marL="0" indent="0" algn="l">
              <a:buNone/>
            </a:pPr>
            <a:r>
              <a:rPr lang="en-US" sz="1300" b="1" dirty="0">
                <a:solidFill>
                  <a:srgbClr val="1F5C7A"/>
                </a:solidFill>
                <a:latin typeface="Century Gothic"/>
                <a:cs typeface="Century Gothic"/>
              </a:rPr>
              <a:t>CLINICAL INTERPRETATION  -  The big idea</a:t>
            </a:r>
          </a:p>
          <a:p>
            <a:pPr marL="0" indent="0" algn="l">
              <a:spcBef>
                <a:spcPts val="100"/>
              </a:spcBef>
              <a:buNone/>
            </a:pPr>
            <a:r>
              <a:rPr lang="en-US" sz="1300" dirty="0">
                <a:solidFill>
                  <a:srgbClr val="000000"/>
                </a:solidFill>
                <a:latin typeface="Century Gothic"/>
                <a:cs typeface="Century Gothic"/>
              </a:rPr>
              <a:t>Every day produces one piece of a real manuscript; by Friday the pieces form a whole analysis.</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Century Gothic"/>
                <a:cs typeface="Century Gothic"/>
              </a:rPr>
              <a:t>Sessions, Trainers &amp; How to Register</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Body"/>
          <p:cNvSpPr txBox="1"/>
          <p:nvPr/>
        </p:nvSpPr>
        <p:spPr>
          <a:xfrm>
            <a:off x="457200" y="1080000"/>
            <a:ext cx="11277600" cy="3150000"/>
          </a:xfrm>
          <a:prstGeom prst="rect">
            <a:avLst/>
          </a:prstGeom>
          <a:noFill/>
          <a:ln>
            <a:noFill/>
          </a:ln>
        </p:spPr>
        <p:txBody>
          <a:bodyPr wrap="square" lIns="91440" tIns="45720" rIns="91440" bIns="45720" rtlCol="0" anchor="t"/>
          <a:lstStyle/>
          <a:p>
            <a:pPr marL="0" indent="0" algn="l">
              <a:spcBef>
                <a:spcPts val="360"/>
              </a:spcBef>
              <a:buNone/>
            </a:pPr>
            <a:r>
              <a:rPr lang="en-US" sz="2050" b="1" dirty="0">
                <a:solidFill>
                  <a:srgbClr val="0D7377"/>
                </a:solidFill>
                <a:latin typeface="Century Gothic"/>
                <a:cs typeface="Century Gothic"/>
              </a:rPr>
              <a:t>When we meet</a:t>
            </a:r>
          </a:p>
          <a:p>
            <a:pPr marL="0" indent="0" algn="l">
              <a:lnSpc>
                <a:spcPct val="108000"/>
              </a:lnSpc>
              <a:spcBef>
                <a:spcPts val="440"/>
              </a:spcBef>
              <a:buNone/>
            </a:pPr>
            <a:r>
              <a:rPr lang="en-US" sz="1800" dirty="0">
                <a:solidFill>
                  <a:srgbClr val="000000"/>
                </a:solidFill>
                <a:latin typeface="Century Gothic"/>
                <a:cs typeface="Century Gothic"/>
              </a:rPr>
              <a:t>Five evening sessions - every Tuesday, 8:00 PM, 90 minutes each.</a:t>
            </a:r>
          </a:p>
          <a:p>
            <a:pPr marL="0" indent="0" algn="l">
              <a:lnSpc>
                <a:spcPct val="108000"/>
              </a:lnSpc>
              <a:spcBef>
                <a:spcPts val="440"/>
              </a:spcBef>
              <a:buNone/>
            </a:pPr>
            <a:r>
              <a:rPr lang="en-US" sz="1800" dirty="0">
                <a:solidFill>
                  <a:srgbClr val="000000"/>
                </a:solidFill>
                <a:latin typeface="Century Gothic"/>
                <a:cs typeface="Century Gothic"/>
              </a:rPr>
              <a:t>8 September to 6 October 2026.</a:t>
            </a:r>
          </a:p>
          <a:p>
            <a:pPr marL="0" indent="0" algn="l">
              <a:lnSpc>
                <a:spcPct val="108000"/>
              </a:lnSpc>
              <a:spcBef>
                <a:spcPts val="440"/>
              </a:spcBef>
              <a:buNone/>
            </a:pPr>
            <a:r>
              <a:rPr lang="en-US" sz="1800" dirty="0">
                <a:solidFill>
                  <a:srgbClr val="000000"/>
                </a:solidFill>
                <a:latin typeface="Century Gothic"/>
                <a:cs typeface="Century Gothic"/>
              </a:rPr>
              <a:t>Online delivery - join from anywhere with a laptop.</a:t>
            </a:r>
          </a:p>
          <a:p>
            <a:pPr>
              <a:buNone/>
            </a:pPr>
            <a:endParaRPr sz="1050"/>
          </a:p>
          <a:p>
            <a:pPr marL="0" indent="0" algn="l">
              <a:spcBef>
                <a:spcPts val="360"/>
              </a:spcBef>
              <a:buNone/>
            </a:pPr>
            <a:r>
              <a:rPr lang="en-US" sz="2050" b="1" dirty="0">
                <a:solidFill>
                  <a:srgbClr val="0D7377"/>
                </a:solidFill>
                <a:latin typeface="Century Gothic"/>
                <a:cs typeface="Century Gothic"/>
              </a:rPr>
              <a:t>Your trainers</a:t>
            </a:r>
          </a:p>
          <a:p>
            <a:pPr marL="0" indent="0" algn="l">
              <a:lnSpc>
                <a:spcPct val="108000"/>
              </a:lnSpc>
              <a:spcBef>
                <a:spcPts val="440"/>
              </a:spcBef>
              <a:buNone/>
            </a:pPr>
            <a:r>
              <a:rPr lang="en-US" sz="1800" dirty="0">
                <a:solidFill>
                  <a:srgbClr val="000000"/>
                </a:solidFill>
                <a:latin typeface="Century Gothic"/>
                <a:cs typeface="Century Gothic"/>
              </a:rPr>
              <a:t>Bernard Osang'ir - Senior Biostatistician (lead trainer).</a:t>
            </a:r>
          </a:p>
          <a:p>
            <a:pPr marL="0" indent="0" algn="l">
              <a:lnSpc>
                <a:spcPct val="108000"/>
              </a:lnSpc>
              <a:spcBef>
                <a:spcPts val="440"/>
              </a:spcBef>
              <a:buNone/>
            </a:pPr>
            <a:r>
              <a:rPr lang="en-US" sz="1800" dirty="0">
                <a:solidFill>
                  <a:srgbClr val="000000"/>
                </a:solidFill>
                <a:latin typeface="Century Gothic"/>
                <a:cs typeface="Century Gothic"/>
              </a:rPr>
              <a:t>My Luong Vuong - Biostatistician &amp; Epidemiologist.</a:t>
            </a:r>
          </a:p>
          <a:p>
            <a:pPr>
              <a:buNone/>
            </a:pPr>
            <a:endParaRPr sz="1050"/>
          </a:p>
        </p:txBody>
      </p:sp>
      <p:sp>
        <p:nvSpPr>
          <p:cNvPr id="40" name="Callout"/>
          <p:cNvSpPr/>
          <p:nvPr/>
        </p:nvSpPr>
        <p:spPr>
          <a:xfrm>
            <a:off x="457200" y="5070000"/>
            <a:ext cx="11277600" cy="810000"/>
          </a:xfrm>
          <a:prstGeom prst="roundRect">
            <a:avLst>
              <a:gd name="adj" fmla="val 6000"/>
            </a:avLst>
          </a:prstGeom>
          <a:solidFill>
            <a:srgbClr val="E8F4F4"/>
          </a:solidFill>
          <a:ln>
            <a:noFill/>
          </a:ln>
        </p:spPr>
        <p:txBody>
          <a:bodyPr wrap="square" lIns="137160" tIns="91440" rIns="137160" bIns="91440" rtlCol="0" anchor="t"/>
          <a:lstStyle/>
          <a:p>
            <a:pPr marL="0" indent="0" algn="l">
              <a:buNone/>
            </a:pPr>
            <a:r>
              <a:rPr lang="en-US" sz="1300" b="1" dirty="0">
                <a:solidFill>
                  <a:srgbClr val="0D7377"/>
                </a:solidFill>
                <a:latin typeface="Century Gothic"/>
                <a:cs typeface="Century Gothic"/>
              </a:rPr>
              <a:t>TIP  -  Register / enquire</a:t>
            </a:r>
          </a:p>
          <a:p>
            <a:pPr marL="0" indent="0" algn="l">
              <a:spcBef>
                <a:spcPts val="100"/>
              </a:spcBef>
              <a:buNone/>
            </a:pPr>
            <a:r>
              <a:rPr lang="en-US" sz="1300" dirty="0">
                <a:solidFill>
                  <a:srgbClr val="000000"/>
                </a:solidFill>
                <a:latin typeface="Century Gothic"/>
                <a:cs typeface="Century Gothic"/>
              </a:rPr>
              <a:t>My Luong Vuong  -  myluong1710@gmail.com  -  www.neu-data.com  -  scan the poster QR code to register.</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 name="DayTitle"/>
          <p:cNvSpPr txBox="1"/>
          <p:nvPr/>
        </p:nvSpPr>
        <p:spPr>
          <a:xfrm>
            <a:off x="457200" y="548640"/>
            <a:ext cx="11430000" cy="700000"/>
          </a:xfrm>
          <a:prstGeom prst="rect">
            <a:avLst/>
          </a:prstGeom>
          <a:noFill/>
          <a:ln>
            <a:noFill/>
          </a:ln>
        </p:spPr>
        <p:txBody>
          <a:bodyPr wrap="square" lIns="91440" tIns="45720" rIns="91440" bIns="45720" rtlCol="0" anchor="t"/>
          <a:lstStyle/>
          <a:p>
            <a:pPr marL="0" indent="0" algn="l">
              <a:buNone/>
            </a:pPr>
            <a:r>
              <a:rPr lang="en-US" sz="3200" b="1" dirty="0">
                <a:solidFill>
                  <a:srgbClr val="0D7377"/>
                </a:solidFill>
                <a:latin typeface="Century Gothic"/>
                <a:cs typeface="Century Gothic"/>
              </a:rPr>
              <a:t>Day 1: Introduction to R &amp; RStudio</a:t>
            </a:r>
          </a:p>
        </p:txBody>
      </p:sp>
      <p:sp>
        <p:nvSpPr>
          <p:cNvPr id="7" name="Rule"/>
          <p:cNvSpPr/>
          <p:nvPr/>
        </p:nvSpPr>
        <p:spPr>
          <a:xfrm>
            <a:off x="457200" y="1325880"/>
            <a:ext cx="11277600" cy="19050"/>
          </a:xfrm>
          <a:prstGeom prst="rect">
            <a:avLst/>
          </a:prstGeom>
          <a:solidFill>
            <a:srgbClr val="0D7377"/>
          </a:solidFill>
          <a:ln>
            <a:noFill/>
          </a:ln>
        </p:spPr>
        <p:txBody>
          <a:bodyPr/>
          <a:lstStyle/>
          <a:p>
            <a:endParaRPr/>
          </a:p>
        </p:txBody>
      </p:sp>
      <p:sp>
        <p:nvSpPr>
          <p:cNvPr id="8" name="Agenda"/>
          <p:cNvSpPr txBox="1"/>
          <p:nvPr/>
        </p:nvSpPr>
        <p:spPr>
          <a:xfrm>
            <a:off x="457200" y="1600000"/>
            <a:ext cx="11277600" cy="4400000"/>
          </a:xfrm>
          <a:prstGeom prst="rect">
            <a:avLst/>
          </a:prstGeom>
          <a:noFill/>
          <a:ln>
            <a:noFill/>
          </a:ln>
        </p:spPr>
        <p:txBody>
          <a:bodyPr wrap="square" lIns="91440" tIns="45720" rIns="91440" bIns="45720" rtlCol="0" anchor="t"/>
          <a:lstStyle/>
          <a:p>
            <a:pPr marL="0" indent="0" algn="l">
              <a:buNone/>
            </a:pPr>
            <a:r>
              <a:rPr lang="en-US" sz="2800" dirty="0">
                <a:solidFill>
                  <a:srgbClr val="0070C0"/>
                </a:solidFill>
                <a:latin typeface="Century Gothic"/>
                <a:cs typeface="Century Gothic"/>
              </a:rPr>
              <a:t>Today's Plan</a:t>
            </a:r>
          </a:p>
          <a:p>
            <a:pPr>
              <a:buNone/>
            </a:pPr>
            <a:endParaRPr sz="800"/>
          </a:p>
          <a:p>
            <a:pPr marL="274320" indent="-274320" algn="l">
              <a:spcBef>
                <a:spcPts val="440"/>
              </a:spcBef>
              <a:buFont typeface="Arial"/>
              <a:buChar char="•"/>
            </a:pPr>
            <a:r>
              <a:rPr lang="en-US" sz="1900" dirty="0">
                <a:solidFill>
                  <a:srgbClr val="000000"/>
                </a:solidFill>
                <a:latin typeface="Century Gothic"/>
                <a:cs typeface="Century Gothic"/>
              </a:rPr>
              <a:t>Why R for clinical research</a:t>
            </a:r>
          </a:p>
          <a:p>
            <a:pPr marL="274320" indent="-274320" algn="l">
              <a:spcBef>
                <a:spcPts val="440"/>
              </a:spcBef>
              <a:buFont typeface="Arial"/>
              <a:buChar char="•"/>
            </a:pPr>
            <a:r>
              <a:rPr lang="en-US" sz="1900" dirty="0">
                <a:solidFill>
                  <a:srgbClr val="000000"/>
                </a:solidFill>
                <a:latin typeface="Century Gothic"/>
                <a:cs typeface="Century Gothic"/>
              </a:rPr>
              <a:t>R vs RStudio: install and the interface</a:t>
            </a:r>
          </a:p>
          <a:p>
            <a:pPr marL="274320" indent="-274320" algn="l">
              <a:spcBef>
                <a:spcPts val="440"/>
              </a:spcBef>
              <a:buFont typeface="Arial"/>
              <a:buChar char="•"/>
            </a:pPr>
            <a:r>
              <a:rPr lang="en-US" sz="1900" dirty="0">
                <a:solidFill>
                  <a:srgbClr val="000000"/>
                </a:solidFill>
                <a:latin typeface="Century Gothic"/>
                <a:cs typeface="Century Gothic"/>
              </a:rPr>
              <a:t>Projects, scripts, objects and vectors</a:t>
            </a:r>
          </a:p>
          <a:p>
            <a:pPr marL="274320" indent="-274320" algn="l">
              <a:spcBef>
                <a:spcPts val="440"/>
              </a:spcBef>
              <a:buFont typeface="Arial"/>
              <a:buChar char="•"/>
            </a:pPr>
            <a:r>
              <a:rPr lang="en-US" sz="1900" dirty="0">
                <a:solidFill>
                  <a:srgbClr val="000000"/>
                </a:solidFill>
                <a:latin typeface="Century Gothic"/>
                <a:cs typeface="Century Gothic"/>
              </a:rPr>
              <a:t>Data frames and packages (tidyverse)</a:t>
            </a:r>
          </a:p>
          <a:p>
            <a:pPr marL="274320" indent="-274320" algn="l">
              <a:spcBef>
                <a:spcPts val="440"/>
              </a:spcBef>
              <a:buFont typeface="Arial"/>
              <a:buChar char="•"/>
            </a:pPr>
            <a:r>
              <a:rPr lang="en-US" sz="1900" dirty="0">
                <a:solidFill>
                  <a:srgbClr val="000000"/>
                </a:solidFill>
                <a:latin typeface="Century Gothic"/>
                <a:cs typeface="Century Gothic"/>
              </a:rPr>
              <a:t>Importing and a first look at the study data</a:t>
            </a:r>
          </a:p>
          <a:p>
            <a:pPr marL="274320" indent="-274320" algn="l">
              <a:spcBef>
                <a:spcPts val="440"/>
              </a:spcBef>
              <a:buFont typeface="Arial"/>
              <a:buChar char="•"/>
            </a:pPr>
            <a:r>
              <a:rPr lang="en-US" sz="1900" dirty="0">
                <a:solidFill>
                  <a:srgbClr val="000000"/>
                </a:solidFill>
                <a:latin typeface="Century Gothic"/>
                <a:cs typeface="Century Gothic"/>
              </a:rPr>
              <a:t>Hands-on exercise</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Century Gothic"/>
                <a:cs typeface="Century Gothic"/>
              </a:rPr>
              <a:t>Why R for Clinical Research</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Body"/>
          <p:cNvSpPr txBox="1"/>
          <p:nvPr/>
        </p:nvSpPr>
        <p:spPr>
          <a:xfrm>
            <a:off x="457200" y="1080000"/>
            <a:ext cx="11277600" cy="3150000"/>
          </a:xfrm>
          <a:prstGeom prst="rect">
            <a:avLst/>
          </a:prstGeom>
          <a:noFill/>
          <a:ln>
            <a:noFill/>
          </a:ln>
        </p:spPr>
        <p:txBody>
          <a:bodyPr wrap="square" lIns="91440" tIns="45720" rIns="91440" bIns="45720" rtlCol="0" anchor="t"/>
          <a:lstStyle/>
          <a:p>
            <a:pPr marL="0" indent="0" algn="l">
              <a:spcBef>
                <a:spcPts val="360"/>
              </a:spcBef>
              <a:buNone/>
            </a:pPr>
            <a:r>
              <a:rPr lang="en-US" sz="2050" b="1" dirty="0">
                <a:solidFill>
                  <a:srgbClr val="0D7377"/>
                </a:solidFill>
                <a:latin typeface="Century Gothic"/>
                <a:cs typeface="Century Gothic"/>
              </a:rPr>
              <a:t>What R gives you</a:t>
            </a:r>
          </a:p>
          <a:p>
            <a:pPr marL="0" indent="0" algn="l">
              <a:lnSpc>
                <a:spcPct val="108000"/>
              </a:lnSpc>
              <a:spcBef>
                <a:spcPts val="440"/>
              </a:spcBef>
              <a:buNone/>
            </a:pPr>
            <a:r>
              <a:rPr lang="en-US" sz="1800" dirty="0">
                <a:solidFill>
                  <a:srgbClr val="000000"/>
                </a:solidFill>
                <a:latin typeface="Century Gothic"/>
                <a:cs typeface="Century Gothic"/>
              </a:rPr>
              <a:t>A free, open-source language for statistics and data</a:t>
            </a:r>
          </a:p>
          <a:p>
            <a:pPr marL="0" indent="0" algn="l">
              <a:lnSpc>
                <a:spcPct val="108000"/>
              </a:lnSpc>
              <a:spcBef>
                <a:spcPts val="440"/>
              </a:spcBef>
              <a:buNone/>
            </a:pPr>
            <a:r>
              <a:rPr lang="en-US" sz="1800" dirty="0">
                <a:solidFill>
                  <a:srgbClr val="000000"/>
                </a:solidFill>
                <a:latin typeface="Century Gothic"/>
                <a:cs typeface="Century Gothic"/>
              </a:rPr>
              <a:t>Used in clinical trials, epidemiology and journals</a:t>
            </a:r>
          </a:p>
          <a:p>
            <a:pPr marL="0" indent="0" algn="l">
              <a:lnSpc>
                <a:spcPct val="108000"/>
              </a:lnSpc>
              <a:spcBef>
                <a:spcPts val="440"/>
              </a:spcBef>
              <a:buNone/>
            </a:pPr>
            <a:r>
              <a:rPr lang="en-US" sz="1800" dirty="0">
                <a:solidFill>
                  <a:srgbClr val="000000"/>
                </a:solidFill>
                <a:latin typeface="Century Gothic"/>
                <a:cs typeface="Century Gothic"/>
              </a:rPr>
              <a:t>Handles import, cleaning, analysis and plots in one place</a:t>
            </a:r>
          </a:p>
          <a:p>
            <a:pPr>
              <a:buNone/>
            </a:pPr>
            <a:endParaRPr sz="1050"/>
          </a:p>
          <a:p>
            <a:pPr marL="0" indent="0" algn="l">
              <a:spcBef>
                <a:spcPts val="360"/>
              </a:spcBef>
              <a:buNone/>
            </a:pPr>
            <a:r>
              <a:rPr lang="en-US" sz="2050" b="1" dirty="0">
                <a:solidFill>
                  <a:srgbClr val="0D7377"/>
                </a:solidFill>
                <a:latin typeface="Century Gothic"/>
                <a:cs typeface="Century Gothic"/>
              </a:rPr>
              <a:t>Why it matters</a:t>
            </a:r>
          </a:p>
          <a:p>
            <a:pPr marL="0" indent="0" algn="l">
              <a:lnSpc>
                <a:spcPct val="108000"/>
              </a:lnSpc>
              <a:spcBef>
                <a:spcPts val="440"/>
              </a:spcBef>
              <a:buNone/>
            </a:pPr>
            <a:r>
              <a:rPr lang="en-US" sz="1800" dirty="0">
                <a:solidFill>
                  <a:srgbClr val="000000"/>
                </a:solidFill>
                <a:latin typeface="Century Gothic"/>
                <a:cs typeface="Century Gothic"/>
              </a:rPr>
              <a:t>Every step is written down, so the analysis is repeatable</a:t>
            </a:r>
          </a:p>
          <a:p>
            <a:pPr marL="0" indent="0" algn="l">
              <a:lnSpc>
                <a:spcPct val="108000"/>
              </a:lnSpc>
              <a:spcBef>
                <a:spcPts val="440"/>
              </a:spcBef>
              <a:buNone/>
            </a:pPr>
            <a:r>
              <a:rPr lang="en-US" sz="1800" dirty="0">
                <a:solidFill>
                  <a:srgbClr val="000000"/>
                </a:solidFill>
                <a:latin typeface="Century Gothic"/>
                <a:cs typeface="Century Gothic"/>
              </a:rPr>
              <a:t>No cost and no licence: install on any computer</a:t>
            </a:r>
          </a:p>
          <a:p>
            <a:pPr marL="0" indent="0" algn="l">
              <a:lnSpc>
                <a:spcPct val="108000"/>
              </a:lnSpc>
              <a:spcBef>
                <a:spcPts val="440"/>
              </a:spcBef>
              <a:buNone/>
            </a:pPr>
            <a:r>
              <a:rPr lang="en-US" sz="1800" dirty="0">
                <a:solidFill>
                  <a:srgbClr val="000000"/>
                </a:solidFill>
                <a:latin typeface="Century Gothic"/>
                <a:cs typeface="Century Gothic"/>
              </a:rPr>
              <a:t>A huge community and packages for medical research</a:t>
            </a:r>
          </a:p>
          <a:p>
            <a:pPr>
              <a:buNone/>
            </a:pPr>
            <a:endParaRPr sz="1050"/>
          </a:p>
        </p:txBody>
      </p:sp>
      <p:sp>
        <p:nvSpPr>
          <p:cNvPr id="40" name="Callout"/>
          <p:cNvSpPr/>
          <p:nvPr/>
        </p:nvSpPr>
        <p:spPr>
          <a:xfrm>
            <a:off x="457200" y="5070000"/>
            <a:ext cx="11277600" cy="810000"/>
          </a:xfrm>
          <a:prstGeom prst="roundRect">
            <a:avLst>
              <a:gd name="adj" fmla="val 6000"/>
            </a:avLst>
          </a:prstGeom>
          <a:solidFill>
            <a:srgbClr val="EAF1F7"/>
          </a:solidFill>
          <a:ln>
            <a:noFill/>
          </a:ln>
        </p:spPr>
        <p:txBody>
          <a:bodyPr wrap="square" lIns="137160" tIns="91440" rIns="137160" bIns="91440" rtlCol="0" anchor="t"/>
          <a:lstStyle/>
          <a:p>
            <a:pPr marL="0" indent="0" algn="l">
              <a:buNone/>
            </a:pPr>
            <a:r>
              <a:rPr lang="en-US" sz="1300" b="1" dirty="0">
                <a:solidFill>
                  <a:srgbClr val="1F5C7A"/>
                </a:solidFill>
                <a:latin typeface="Century Gothic"/>
                <a:cs typeface="Century Gothic"/>
              </a:rPr>
              <a:t>CLINICAL INTERPRETATION  -  Reproducibility</a:t>
            </a:r>
          </a:p>
          <a:p>
            <a:pPr marL="0" indent="0" algn="l">
              <a:spcBef>
                <a:spcPts val="100"/>
              </a:spcBef>
              <a:buNone/>
            </a:pPr>
            <a:r>
              <a:rPr lang="en-US" sz="1300" dirty="0">
                <a:solidFill>
                  <a:srgbClr val="000000"/>
                </a:solidFill>
                <a:latin typeface="Century Gothic"/>
                <a:cs typeface="Century Gothic"/>
              </a:rPr>
              <a:t>If you can re-run the script, you can defend the result.</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Century Gothic"/>
                <a:cs typeface="Century Gothic"/>
              </a:rPr>
              <a:t>R vs RStudio: Two Different Things</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1" name="Col"/>
          <p:cNvSpPr txBox="1"/>
          <p:nvPr/>
        </p:nvSpPr>
        <p:spPr>
          <a:xfrm>
            <a:off x="457200" y="1150000"/>
            <a:ext cx="5478780" cy="5050000"/>
          </a:xfrm>
          <a:prstGeom prst="rect">
            <a:avLst/>
          </a:prstGeom>
          <a:noFill/>
          <a:ln>
            <a:noFill/>
          </a:ln>
        </p:spPr>
        <p:txBody>
          <a:bodyPr wrap="square" lIns="91440" tIns="45720" rIns="91440" bIns="45720" rtlCol="0" anchor="t"/>
          <a:lstStyle/>
          <a:p>
            <a:pPr marL="0" indent="0" algn="l">
              <a:buNone/>
            </a:pPr>
            <a:r>
              <a:rPr lang="en-US" sz="2050" b="1" dirty="0">
                <a:solidFill>
                  <a:srgbClr val="0D7377"/>
                </a:solidFill>
                <a:latin typeface="Century Gothic"/>
                <a:cs typeface="Century Gothic"/>
              </a:rPr>
              <a:t>R (the engine)</a:t>
            </a:r>
          </a:p>
          <a:p>
            <a:pPr marL="274320" indent="-274320" algn="l">
              <a:lnSpc>
                <a:spcPct val="106000"/>
              </a:lnSpc>
              <a:spcBef>
                <a:spcPts val="520"/>
              </a:spcBef>
              <a:buFont typeface="Arial"/>
              <a:buChar char="•"/>
            </a:pPr>
            <a:r>
              <a:rPr lang="en-US" sz="1650" dirty="0">
                <a:solidFill>
                  <a:srgbClr val="000000"/>
                </a:solidFill>
                <a:latin typeface="Century Gothic"/>
                <a:cs typeface="Century Gothic"/>
              </a:rPr>
              <a:t>The actual statistical language</a:t>
            </a:r>
          </a:p>
          <a:p>
            <a:pPr marL="274320" indent="-274320" algn="l">
              <a:lnSpc>
                <a:spcPct val="106000"/>
              </a:lnSpc>
              <a:spcBef>
                <a:spcPts val="520"/>
              </a:spcBef>
              <a:buFont typeface="Arial"/>
              <a:buChar char="•"/>
            </a:pPr>
            <a:r>
              <a:rPr lang="en-US" sz="1650" dirty="0">
                <a:solidFill>
                  <a:srgbClr val="000000"/>
                </a:solidFill>
                <a:latin typeface="Century Gothic"/>
                <a:cs typeface="Century Gothic"/>
              </a:rPr>
              <a:t>Does the computation</a:t>
            </a:r>
          </a:p>
          <a:p>
            <a:pPr marL="274320" indent="-274320" algn="l">
              <a:lnSpc>
                <a:spcPct val="106000"/>
              </a:lnSpc>
              <a:spcBef>
                <a:spcPts val="520"/>
              </a:spcBef>
              <a:buFont typeface="Arial"/>
              <a:buChar char="•"/>
            </a:pPr>
            <a:r>
              <a:rPr lang="en-US" sz="1650" dirty="0">
                <a:solidFill>
                  <a:srgbClr val="000000"/>
                </a:solidFill>
                <a:latin typeface="Century Gothic"/>
                <a:cs typeface="Century Gothic"/>
              </a:rPr>
              <a:t>You install it first</a:t>
            </a:r>
          </a:p>
          <a:p>
            <a:pPr marL="274320" indent="-274320" algn="l">
              <a:lnSpc>
                <a:spcPct val="106000"/>
              </a:lnSpc>
              <a:spcBef>
                <a:spcPts val="520"/>
              </a:spcBef>
              <a:buFont typeface="Arial"/>
              <a:buChar char="•"/>
            </a:pPr>
            <a:r>
              <a:rPr lang="en-US" sz="1650" dirty="0">
                <a:solidFill>
                  <a:srgbClr val="000000"/>
                </a:solidFill>
                <a:latin typeface="Century Gothic"/>
                <a:cs typeface="Century Gothic"/>
              </a:rPr>
              <a:t>Rarely opened on its own</a:t>
            </a:r>
          </a:p>
        </p:txBody>
      </p:sp>
      <p:sp>
        <p:nvSpPr>
          <p:cNvPr id="22" name="Col"/>
          <p:cNvSpPr txBox="1"/>
          <p:nvPr/>
        </p:nvSpPr>
        <p:spPr>
          <a:xfrm>
            <a:off x="6256020" y="1150000"/>
            <a:ext cx="5478780" cy="5050000"/>
          </a:xfrm>
          <a:prstGeom prst="rect">
            <a:avLst/>
          </a:prstGeom>
          <a:noFill/>
          <a:ln>
            <a:noFill/>
          </a:ln>
        </p:spPr>
        <p:txBody>
          <a:bodyPr wrap="square" lIns="91440" tIns="45720" rIns="91440" bIns="45720" rtlCol="0" anchor="t"/>
          <a:lstStyle/>
          <a:p>
            <a:pPr marL="0" indent="0" algn="l">
              <a:buNone/>
            </a:pPr>
            <a:r>
              <a:rPr lang="en-US" sz="2050" b="1" dirty="0">
                <a:solidFill>
                  <a:srgbClr val="0D7377"/>
                </a:solidFill>
                <a:latin typeface="Century Gothic"/>
                <a:cs typeface="Century Gothic"/>
              </a:rPr>
              <a:t>RStudio (the dashboard)</a:t>
            </a:r>
          </a:p>
          <a:p>
            <a:pPr marL="274320" indent="-274320" algn="l">
              <a:lnSpc>
                <a:spcPct val="106000"/>
              </a:lnSpc>
              <a:spcBef>
                <a:spcPts val="520"/>
              </a:spcBef>
              <a:buFont typeface="Arial"/>
              <a:buChar char="•"/>
            </a:pPr>
            <a:r>
              <a:rPr lang="en-US" sz="1650" dirty="0">
                <a:solidFill>
                  <a:srgbClr val="000000"/>
                </a:solidFill>
                <a:latin typeface="Century Gothic"/>
                <a:cs typeface="Century Gothic"/>
              </a:rPr>
              <a:t>A friendly workspace around R</a:t>
            </a:r>
          </a:p>
          <a:p>
            <a:pPr marL="274320" indent="-274320" algn="l">
              <a:lnSpc>
                <a:spcPct val="106000"/>
              </a:lnSpc>
              <a:spcBef>
                <a:spcPts val="520"/>
              </a:spcBef>
              <a:buFont typeface="Arial"/>
              <a:buChar char="•"/>
            </a:pPr>
            <a:r>
              <a:rPr lang="en-US" sz="1650" dirty="0">
                <a:solidFill>
                  <a:srgbClr val="000000"/>
                </a:solidFill>
                <a:latin typeface="Century Gothic"/>
                <a:cs typeface="Century Gothic"/>
              </a:rPr>
              <a:t>Editor, console, plots, help</a:t>
            </a:r>
          </a:p>
          <a:p>
            <a:pPr marL="274320" indent="-274320" algn="l">
              <a:lnSpc>
                <a:spcPct val="106000"/>
              </a:lnSpc>
              <a:spcBef>
                <a:spcPts val="520"/>
              </a:spcBef>
              <a:buFont typeface="Arial"/>
              <a:buChar char="•"/>
            </a:pPr>
            <a:r>
              <a:rPr lang="en-US" sz="1650" dirty="0">
                <a:solidFill>
                  <a:srgbClr val="000000"/>
                </a:solidFill>
                <a:latin typeface="Century Gothic"/>
                <a:cs typeface="Century Gothic"/>
              </a:rPr>
              <a:t>Install it second</a:t>
            </a:r>
          </a:p>
          <a:p>
            <a:pPr marL="274320" indent="-274320" algn="l">
              <a:lnSpc>
                <a:spcPct val="106000"/>
              </a:lnSpc>
              <a:spcBef>
                <a:spcPts val="520"/>
              </a:spcBef>
              <a:buFont typeface="Arial"/>
              <a:buChar char="•"/>
            </a:pPr>
            <a:r>
              <a:rPr lang="en-US" sz="1650" dirty="0">
                <a:solidFill>
                  <a:srgbClr val="000000"/>
                </a:solidFill>
                <a:latin typeface="Century Gothic"/>
                <a:cs typeface="Century Gothic"/>
              </a:rPr>
              <a:t>This is what you open daily</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Century Gothic"/>
                <a:cs typeface="Century Gothic"/>
              </a:rPr>
              <a:t>The RStudio Interface: Four Panes</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Body"/>
          <p:cNvSpPr txBox="1"/>
          <p:nvPr/>
        </p:nvSpPr>
        <p:spPr>
          <a:xfrm>
            <a:off x="457200" y="1080000"/>
            <a:ext cx="11277600" cy="3150000"/>
          </a:xfrm>
          <a:prstGeom prst="rect">
            <a:avLst/>
          </a:prstGeom>
          <a:noFill/>
          <a:ln>
            <a:noFill/>
          </a:ln>
        </p:spPr>
        <p:txBody>
          <a:bodyPr wrap="square" lIns="91440" tIns="45720" rIns="91440" bIns="45720" rtlCol="0" anchor="t"/>
          <a:lstStyle/>
          <a:p>
            <a:pPr marL="0" indent="0" algn="l">
              <a:spcBef>
                <a:spcPts val="360"/>
              </a:spcBef>
              <a:buNone/>
            </a:pPr>
            <a:r>
              <a:rPr lang="en-US" sz="2050" b="1" dirty="0">
                <a:solidFill>
                  <a:srgbClr val="0D7377"/>
                </a:solidFill>
                <a:latin typeface="Century Gothic"/>
                <a:cs typeface="Century Gothic"/>
              </a:rPr>
              <a:t>Top-left: Source (Script editor)</a:t>
            </a:r>
          </a:p>
          <a:p>
            <a:pPr marL="0" indent="0" algn="l">
              <a:lnSpc>
                <a:spcPct val="108000"/>
              </a:lnSpc>
              <a:spcBef>
                <a:spcPts val="440"/>
              </a:spcBef>
              <a:buNone/>
            </a:pPr>
            <a:r>
              <a:rPr lang="en-US" sz="1800" dirty="0">
                <a:solidFill>
                  <a:srgbClr val="000000"/>
                </a:solidFill>
                <a:latin typeface="Century Gothic"/>
                <a:cs typeface="Century Gothic"/>
              </a:rPr>
              <a:t>Where you write and save your code</a:t>
            </a:r>
          </a:p>
          <a:p>
            <a:pPr>
              <a:buNone/>
            </a:pPr>
            <a:endParaRPr sz="1050"/>
          </a:p>
          <a:p>
            <a:pPr marL="0" indent="0" algn="l">
              <a:spcBef>
                <a:spcPts val="360"/>
              </a:spcBef>
              <a:buNone/>
            </a:pPr>
            <a:r>
              <a:rPr lang="en-US" sz="2050" b="1" dirty="0">
                <a:solidFill>
                  <a:srgbClr val="0D7377"/>
                </a:solidFill>
                <a:latin typeface="Century Gothic"/>
                <a:cs typeface="Century Gothic"/>
              </a:rPr>
              <a:t>Bottom-left: Console</a:t>
            </a:r>
          </a:p>
          <a:p>
            <a:pPr marL="0" indent="0" algn="l">
              <a:lnSpc>
                <a:spcPct val="108000"/>
              </a:lnSpc>
              <a:spcBef>
                <a:spcPts val="440"/>
              </a:spcBef>
              <a:buNone/>
            </a:pPr>
            <a:r>
              <a:rPr lang="en-US" sz="1800" dirty="0">
                <a:solidFill>
                  <a:srgbClr val="000000"/>
                </a:solidFill>
                <a:latin typeface="Century Gothic"/>
                <a:cs typeface="Century Gothic"/>
              </a:rPr>
              <a:t>Where code runs and results appear</a:t>
            </a:r>
          </a:p>
          <a:p>
            <a:pPr>
              <a:buNone/>
            </a:pPr>
            <a:endParaRPr sz="1050"/>
          </a:p>
          <a:p>
            <a:pPr marL="0" indent="0" algn="l">
              <a:spcBef>
                <a:spcPts val="360"/>
              </a:spcBef>
              <a:buNone/>
            </a:pPr>
            <a:r>
              <a:rPr lang="en-US" sz="2050" b="1" dirty="0">
                <a:solidFill>
                  <a:srgbClr val="0D7377"/>
                </a:solidFill>
                <a:latin typeface="Century Gothic"/>
                <a:cs typeface="Century Gothic"/>
              </a:rPr>
              <a:t>Top-right: Environment</a:t>
            </a:r>
          </a:p>
          <a:p>
            <a:pPr marL="0" indent="0" algn="l">
              <a:lnSpc>
                <a:spcPct val="108000"/>
              </a:lnSpc>
              <a:spcBef>
                <a:spcPts val="440"/>
              </a:spcBef>
              <a:buNone/>
            </a:pPr>
            <a:r>
              <a:rPr lang="en-US" sz="1800" dirty="0">
                <a:solidFill>
                  <a:srgbClr val="000000"/>
                </a:solidFill>
                <a:latin typeface="Century Gothic"/>
                <a:cs typeface="Century Gothic"/>
              </a:rPr>
              <a:t>The objects and data you have created</a:t>
            </a:r>
          </a:p>
          <a:p>
            <a:pPr>
              <a:buNone/>
            </a:pPr>
            <a:endParaRPr sz="1050"/>
          </a:p>
          <a:p>
            <a:pPr marL="0" indent="0" algn="l">
              <a:spcBef>
                <a:spcPts val="360"/>
              </a:spcBef>
              <a:buNone/>
            </a:pPr>
            <a:r>
              <a:rPr lang="en-US" sz="2050" b="1" dirty="0">
                <a:solidFill>
                  <a:srgbClr val="0D7377"/>
                </a:solidFill>
                <a:latin typeface="Century Gothic"/>
                <a:cs typeface="Century Gothic"/>
              </a:rPr>
              <a:t>Bottom-right: Files / Plots / Help</a:t>
            </a:r>
          </a:p>
          <a:p>
            <a:pPr marL="0" indent="0" algn="l">
              <a:lnSpc>
                <a:spcPct val="108000"/>
              </a:lnSpc>
              <a:spcBef>
                <a:spcPts val="440"/>
              </a:spcBef>
              <a:buNone/>
            </a:pPr>
            <a:r>
              <a:rPr lang="en-US" sz="1800" dirty="0">
                <a:solidFill>
                  <a:srgbClr val="000000"/>
                </a:solidFill>
                <a:latin typeface="Century Gothic"/>
                <a:cs typeface="Century Gothic"/>
              </a:rPr>
              <a:t>Folders, your graphs, and documentation</a:t>
            </a:r>
          </a:p>
          <a:p>
            <a:pPr>
              <a:buNone/>
            </a:pPr>
            <a:endParaRPr sz="1050"/>
          </a:p>
        </p:txBody>
      </p:sp>
      <p:sp>
        <p:nvSpPr>
          <p:cNvPr id="40" name="Callout"/>
          <p:cNvSpPr/>
          <p:nvPr/>
        </p:nvSpPr>
        <p:spPr>
          <a:xfrm>
            <a:off x="457200" y="5070000"/>
            <a:ext cx="11277600" cy="810000"/>
          </a:xfrm>
          <a:prstGeom prst="roundRect">
            <a:avLst>
              <a:gd name="adj" fmla="val 6000"/>
            </a:avLst>
          </a:prstGeom>
          <a:solidFill>
            <a:srgbClr val="E8F4F4"/>
          </a:solidFill>
          <a:ln>
            <a:noFill/>
          </a:ln>
        </p:spPr>
        <p:txBody>
          <a:bodyPr wrap="square" lIns="137160" tIns="91440" rIns="137160" bIns="91440" rtlCol="0" anchor="t"/>
          <a:lstStyle/>
          <a:p>
            <a:pPr marL="0" indent="0" algn="l">
              <a:buNone/>
            </a:pPr>
            <a:r>
              <a:rPr lang="en-US" sz="1300" b="1" dirty="0">
                <a:solidFill>
                  <a:srgbClr val="0D7377"/>
                </a:solidFill>
                <a:latin typeface="Century Gothic"/>
                <a:cs typeface="Century Gothic"/>
              </a:rPr>
              <a:t>TIP  -  Orientation</a:t>
            </a:r>
          </a:p>
          <a:p>
            <a:pPr marL="0" indent="0" algn="l">
              <a:spcBef>
                <a:spcPts val="100"/>
              </a:spcBef>
              <a:buNone/>
            </a:pPr>
            <a:r>
              <a:rPr lang="en-US" sz="1300" dirty="0">
                <a:solidFill>
                  <a:srgbClr val="000000"/>
                </a:solidFill>
                <a:latin typeface="Century Gothic"/>
                <a:cs typeface="Century Gothic"/>
              </a:rPr>
              <a:t>Spend two minutes finding each pane before you type.</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Century Gothic"/>
                <a:cs typeface="Century Gothic"/>
              </a:rPr>
              <a:t>RStudio Projects and the Working Directory</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Body"/>
          <p:cNvSpPr txBox="1"/>
          <p:nvPr/>
        </p:nvSpPr>
        <p:spPr>
          <a:xfrm>
            <a:off x="457200" y="1080000"/>
            <a:ext cx="11277600" cy="3150000"/>
          </a:xfrm>
          <a:prstGeom prst="rect">
            <a:avLst/>
          </a:prstGeom>
          <a:noFill/>
          <a:ln>
            <a:noFill/>
          </a:ln>
        </p:spPr>
        <p:txBody>
          <a:bodyPr wrap="square" lIns="91440" tIns="45720" rIns="91440" bIns="45720" rtlCol="0" anchor="t"/>
          <a:lstStyle/>
          <a:p>
            <a:pPr marL="0" indent="0" algn="l">
              <a:spcBef>
                <a:spcPts val="360"/>
              </a:spcBef>
              <a:buNone/>
            </a:pPr>
            <a:r>
              <a:rPr lang="en-US" sz="2050" b="1" dirty="0">
                <a:solidFill>
                  <a:srgbClr val="0D7377"/>
                </a:solidFill>
                <a:latin typeface="Century Gothic"/>
                <a:cs typeface="Century Gothic"/>
              </a:rPr>
              <a:t>The working directory</a:t>
            </a:r>
          </a:p>
          <a:p>
            <a:pPr marL="0" indent="0" algn="l">
              <a:lnSpc>
                <a:spcPct val="108000"/>
              </a:lnSpc>
              <a:spcBef>
                <a:spcPts val="440"/>
              </a:spcBef>
              <a:buNone/>
            </a:pPr>
            <a:r>
              <a:rPr lang="en-US" sz="1800" dirty="0">
                <a:solidFill>
                  <a:srgbClr val="000000"/>
                </a:solidFill>
                <a:latin typeface="Century Gothic"/>
                <a:cs typeface="Century Gothic"/>
              </a:rPr>
              <a:t>The folder R looks in when you open a file</a:t>
            </a:r>
          </a:p>
          <a:p>
            <a:pPr marL="0" indent="0" algn="l">
              <a:lnSpc>
                <a:spcPct val="108000"/>
              </a:lnSpc>
              <a:spcBef>
                <a:spcPts val="440"/>
              </a:spcBef>
              <a:buNone/>
            </a:pPr>
            <a:r>
              <a:rPr lang="en-US" sz="1800" dirty="0">
                <a:solidFill>
                  <a:srgbClr val="000000"/>
                </a:solidFill>
                <a:latin typeface="Century Gothic"/>
                <a:cs typeface="Century Gothic"/>
              </a:rPr>
              <a:t>Check it with getwd()</a:t>
            </a:r>
          </a:p>
          <a:p>
            <a:pPr>
              <a:buNone/>
            </a:pPr>
            <a:endParaRPr sz="1050"/>
          </a:p>
          <a:p>
            <a:pPr marL="0" indent="0" algn="l">
              <a:spcBef>
                <a:spcPts val="360"/>
              </a:spcBef>
              <a:buNone/>
            </a:pPr>
            <a:r>
              <a:rPr lang="en-US" sz="2050" b="1" dirty="0">
                <a:solidFill>
                  <a:srgbClr val="0D7377"/>
                </a:solidFill>
                <a:latin typeface="Century Gothic"/>
                <a:cs typeface="Century Gothic"/>
              </a:rPr>
              <a:t>Use a Project, not setwd()</a:t>
            </a:r>
          </a:p>
          <a:p>
            <a:pPr marL="0" indent="0" algn="l">
              <a:lnSpc>
                <a:spcPct val="108000"/>
              </a:lnSpc>
              <a:spcBef>
                <a:spcPts val="440"/>
              </a:spcBef>
              <a:buNone/>
            </a:pPr>
            <a:r>
              <a:rPr lang="en-US" sz="1800" dirty="0">
                <a:solidFill>
                  <a:srgbClr val="000000"/>
                </a:solidFill>
                <a:latin typeface="Century Gothic"/>
                <a:cs typeface="Century Gothic"/>
              </a:rPr>
              <a:t>File &gt; New Project keeps everything in one folder</a:t>
            </a:r>
          </a:p>
          <a:p>
            <a:pPr marL="0" indent="0" algn="l">
              <a:lnSpc>
                <a:spcPct val="108000"/>
              </a:lnSpc>
              <a:spcBef>
                <a:spcPts val="440"/>
              </a:spcBef>
              <a:buNone/>
            </a:pPr>
            <a:r>
              <a:rPr lang="en-US" sz="1800" dirty="0">
                <a:solidFill>
                  <a:srgbClr val="000000"/>
                </a:solidFill>
                <a:latin typeface="Century Gothic"/>
                <a:cs typeface="Century Gothic"/>
              </a:rPr>
              <a:t>Paths become relative, like Data/file.csv</a:t>
            </a:r>
          </a:p>
          <a:p>
            <a:pPr marL="0" indent="0" algn="l">
              <a:lnSpc>
                <a:spcPct val="108000"/>
              </a:lnSpc>
              <a:spcBef>
                <a:spcPts val="440"/>
              </a:spcBef>
              <a:buNone/>
            </a:pPr>
            <a:r>
              <a:rPr lang="en-US" sz="1800" dirty="0">
                <a:solidFill>
                  <a:srgbClr val="000000"/>
                </a:solidFill>
                <a:latin typeface="Century Gothic"/>
                <a:cs typeface="Century Gothic"/>
              </a:rPr>
              <a:t>The work runs on any computer, unchanged</a:t>
            </a:r>
          </a:p>
          <a:p>
            <a:pPr>
              <a:buNone/>
            </a:pPr>
            <a:endParaRPr sz="1050"/>
          </a:p>
        </p:txBody>
      </p:sp>
      <p:sp>
        <p:nvSpPr>
          <p:cNvPr id="40" name="Callout"/>
          <p:cNvSpPr/>
          <p:nvPr/>
        </p:nvSpPr>
        <p:spPr>
          <a:xfrm>
            <a:off x="457200" y="5070000"/>
            <a:ext cx="11277600" cy="810000"/>
          </a:xfrm>
          <a:prstGeom prst="roundRect">
            <a:avLst>
              <a:gd name="adj" fmla="val 6000"/>
            </a:avLst>
          </a:prstGeom>
          <a:solidFill>
            <a:srgbClr val="FBE9E7"/>
          </a:solidFill>
          <a:ln>
            <a:noFill/>
          </a:ln>
        </p:spPr>
        <p:txBody>
          <a:bodyPr wrap="square" lIns="137160" tIns="91440" rIns="137160" bIns="91440" rtlCol="0" anchor="t"/>
          <a:lstStyle/>
          <a:p>
            <a:pPr marL="0" indent="0" algn="l">
              <a:buNone/>
            </a:pPr>
            <a:r>
              <a:rPr lang="en-US" sz="1300" b="1" dirty="0">
                <a:solidFill>
                  <a:srgbClr val="B23B2E"/>
                </a:solidFill>
                <a:latin typeface="Century Gothic"/>
                <a:cs typeface="Century Gothic"/>
              </a:rPr>
              <a:t>WARNING  -  Avoid setwd()</a:t>
            </a:r>
          </a:p>
          <a:p>
            <a:pPr marL="0" indent="0" algn="l">
              <a:spcBef>
                <a:spcPts val="100"/>
              </a:spcBef>
              <a:buNone/>
            </a:pPr>
            <a:r>
              <a:rPr lang="en-US" sz="1300" dirty="0">
                <a:solidFill>
                  <a:srgbClr val="000000"/>
                </a:solidFill>
                <a:latin typeface="Century Gothic"/>
                <a:cs typeface="Century Gothic"/>
              </a:rPr>
              <a:t>A hard-coded path breaks on every other machine.</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Century Gothic"/>
                <a:cs typeface="Century Gothic"/>
              </a:rPr>
              <a:t>Script vs Console</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1" name="Col"/>
          <p:cNvSpPr txBox="1"/>
          <p:nvPr/>
        </p:nvSpPr>
        <p:spPr>
          <a:xfrm>
            <a:off x="457200" y="1150000"/>
            <a:ext cx="5478780" cy="5050000"/>
          </a:xfrm>
          <a:prstGeom prst="rect">
            <a:avLst/>
          </a:prstGeom>
          <a:noFill/>
          <a:ln>
            <a:noFill/>
          </a:ln>
        </p:spPr>
        <p:txBody>
          <a:bodyPr wrap="square" lIns="91440" tIns="45720" rIns="91440" bIns="45720" rtlCol="0" anchor="t"/>
          <a:lstStyle/>
          <a:p>
            <a:pPr marL="0" indent="0" algn="l">
              <a:buNone/>
            </a:pPr>
            <a:r>
              <a:rPr lang="en-US" sz="2050" b="1" dirty="0">
                <a:solidFill>
                  <a:srgbClr val="0D7377"/>
                </a:solidFill>
                <a:latin typeface="Century Gothic"/>
                <a:cs typeface="Century Gothic"/>
              </a:rPr>
              <a:t>Console</a:t>
            </a:r>
          </a:p>
          <a:p>
            <a:pPr marL="274320" indent="-274320" algn="l">
              <a:lnSpc>
                <a:spcPct val="106000"/>
              </a:lnSpc>
              <a:spcBef>
                <a:spcPts val="520"/>
              </a:spcBef>
              <a:buFont typeface="Arial"/>
              <a:buChar char="•"/>
            </a:pPr>
            <a:r>
              <a:rPr lang="en-US" sz="1650" dirty="0">
                <a:solidFill>
                  <a:srgbClr val="000000"/>
                </a:solidFill>
                <a:latin typeface="Century Gothic"/>
                <a:cs typeface="Century Gothic"/>
              </a:rPr>
              <a:t>Type, press Enter, get an answer</a:t>
            </a:r>
          </a:p>
          <a:p>
            <a:pPr marL="274320" indent="-274320" algn="l">
              <a:lnSpc>
                <a:spcPct val="106000"/>
              </a:lnSpc>
              <a:spcBef>
                <a:spcPts val="520"/>
              </a:spcBef>
              <a:buFont typeface="Arial"/>
              <a:buChar char="•"/>
            </a:pPr>
            <a:r>
              <a:rPr lang="en-US" sz="1650" dirty="0">
                <a:solidFill>
                  <a:srgbClr val="000000"/>
                </a:solidFill>
                <a:latin typeface="Century Gothic"/>
                <a:cs typeface="Century Gothic"/>
              </a:rPr>
              <a:t>Good for quick tries</a:t>
            </a:r>
          </a:p>
          <a:p>
            <a:pPr marL="274320" indent="-274320" algn="l">
              <a:lnSpc>
                <a:spcPct val="106000"/>
              </a:lnSpc>
              <a:spcBef>
                <a:spcPts val="520"/>
              </a:spcBef>
              <a:buFont typeface="Arial"/>
              <a:buChar char="•"/>
            </a:pPr>
            <a:r>
              <a:rPr lang="en-US" sz="1650" dirty="0">
                <a:solidFill>
                  <a:srgbClr val="000000"/>
                </a:solidFill>
                <a:latin typeface="Century Gothic"/>
                <a:cs typeface="Century Gothic"/>
              </a:rPr>
              <a:t>Not saved when you close</a:t>
            </a:r>
          </a:p>
        </p:txBody>
      </p:sp>
      <p:sp>
        <p:nvSpPr>
          <p:cNvPr id="22" name="Col"/>
          <p:cNvSpPr txBox="1"/>
          <p:nvPr/>
        </p:nvSpPr>
        <p:spPr>
          <a:xfrm>
            <a:off x="6256020" y="1150000"/>
            <a:ext cx="5478780" cy="5050000"/>
          </a:xfrm>
          <a:prstGeom prst="rect">
            <a:avLst/>
          </a:prstGeom>
          <a:noFill/>
          <a:ln>
            <a:noFill/>
          </a:ln>
        </p:spPr>
        <p:txBody>
          <a:bodyPr wrap="square" lIns="91440" tIns="45720" rIns="91440" bIns="45720" rtlCol="0" anchor="t"/>
          <a:lstStyle/>
          <a:p>
            <a:pPr marL="0" indent="0" algn="l">
              <a:buNone/>
            </a:pPr>
            <a:r>
              <a:rPr lang="en-US" sz="2050" b="1" dirty="0">
                <a:solidFill>
                  <a:srgbClr val="0D7377"/>
                </a:solidFill>
                <a:latin typeface="Century Gothic"/>
                <a:cs typeface="Century Gothic"/>
              </a:rPr>
              <a:t>Script (Source)</a:t>
            </a:r>
          </a:p>
          <a:p>
            <a:pPr marL="274320" indent="-274320" algn="l">
              <a:lnSpc>
                <a:spcPct val="106000"/>
              </a:lnSpc>
              <a:spcBef>
                <a:spcPts val="520"/>
              </a:spcBef>
              <a:buFont typeface="Arial"/>
              <a:buChar char="•"/>
            </a:pPr>
            <a:r>
              <a:rPr lang="en-US" sz="1650" dirty="0">
                <a:solidFill>
                  <a:srgbClr val="000000"/>
                </a:solidFill>
                <a:latin typeface="Century Gothic"/>
                <a:cs typeface="Century Gothic"/>
              </a:rPr>
              <a:t>You write, then save as a .R file</a:t>
            </a:r>
          </a:p>
          <a:p>
            <a:pPr marL="274320" indent="-274320" algn="l">
              <a:lnSpc>
                <a:spcPct val="106000"/>
              </a:lnSpc>
              <a:spcBef>
                <a:spcPts val="520"/>
              </a:spcBef>
              <a:buFont typeface="Arial"/>
              <a:buChar char="•"/>
            </a:pPr>
            <a:r>
              <a:rPr lang="en-US" sz="1650" dirty="0">
                <a:solidFill>
                  <a:srgbClr val="000000"/>
                </a:solidFill>
                <a:latin typeface="Century Gothic"/>
                <a:cs typeface="Century Gothic"/>
              </a:rPr>
              <a:t>Re-run any time, line by line</a:t>
            </a:r>
          </a:p>
          <a:p>
            <a:pPr marL="274320" indent="-274320" algn="l">
              <a:lnSpc>
                <a:spcPct val="106000"/>
              </a:lnSpc>
              <a:spcBef>
                <a:spcPts val="520"/>
              </a:spcBef>
              <a:buFont typeface="Arial"/>
              <a:buChar char="•"/>
            </a:pPr>
            <a:r>
              <a:rPr lang="en-US" sz="1650" dirty="0">
                <a:solidFill>
                  <a:srgbClr val="000000"/>
                </a:solidFill>
                <a:latin typeface="Century Gothic"/>
                <a:cs typeface="Century Gothic"/>
              </a:rPr>
              <a:t>This is your reproducible record</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Century Gothic"/>
                <a:cs typeface="Century Gothic"/>
              </a:rPr>
              <a:t>First Steps: R as a Calculator</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Intro"/>
          <p:cNvSpPr txBox="1"/>
          <p:nvPr/>
        </p:nvSpPr>
        <p:spPr>
          <a:xfrm>
            <a:off x="457200" y="1080000"/>
            <a:ext cx="11277600" cy="520000"/>
          </a:xfrm>
          <a:prstGeom prst="rect">
            <a:avLst/>
          </a:prstGeom>
          <a:noFill/>
          <a:ln>
            <a:noFill/>
          </a:ln>
        </p:spPr>
        <p:txBody>
          <a:bodyPr wrap="square" lIns="91440" tIns="45720" rIns="91440" bIns="45720" rtlCol="0" anchor="t"/>
          <a:lstStyle/>
          <a:p>
            <a:pPr marL="0" indent="0" algn="l">
              <a:buNone/>
            </a:pPr>
            <a:r>
              <a:rPr lang="en-US" sz="1600" i="1" dirty="0">
                <a:solidFill>
                  <a:srgbClr val="595959"/>
                </a:solidFill>
                <a:latin typeface="Century Gothic"/>
                <a:cs typeface="Century Gothic"/>
              </a:rPr>
              <a:t>The simplest way to start - just type sums into the Console.</a:t>
            </a:r>
          </a:p>
        </p:txBody>
      </p:sp>
      <p:sp>
        <p:nvSpPr>
          <p:cNvPr id="30" name="Code"/>
          <p:cNvSpPr/>
          <p:nvPr/>
        </p:nvSpPr>
        <p:spPr>
          <a:xfrm>
            <a:off x="457200" y="1640000"/>
            <a:ext cx="11277600" cy="1020000"/>
          </a:xfrm>
          <a:prstGeom prst="roundRect">
            <a:avLst>
              <a:gd name="adj" fmla="val 6000"/>
            </a:avLst>
          </a:prstGeom>
          <a:solidFill>
            <a:srgbClr val="EDF1F2"/>
          </a:solidFill>
          <a:ln>
            <a:noFill/>
          </a:ln>
        </p:spPr>
        <p:txBody>
          <a:bodyPr wrap="square" lIns="137160" tIns="91440" rIns="137160" bIns="91440" rtlCol="0" anchor="t"/>
          <a:lstStyle/>
          <a:p>
            <a:pPr marL="0" indent="0" algn="l">
              <a:lnSpc>
                <a:spcPct val="100000"/>
              </a:lnSpc>
              <a:buNone/>
            </a:pPr>
            <a:r>
              <a:rPr lang="en-US" sz="1300" dirty="0">
                <a:solidFill>
                  <a:srgbClr val="1B3A4B"/>
                </a:solidFill>
                <a:latin typeface="Consolas"/>
                <a:cs typeface="Consolas"/>
              </a:rPr>
              <a:t>2 + 2</a:t>
            </a:r>
          </a:p>
          <a:p>
            <a:pPr marL="0" indent="0" algn="l">
              <a:lnSpc>
                <a:spcPct val="100000"/>
              </a:lnSpc>
              <a:buNone/>
            </a:pPr>
            <a:r>
              <a:rPr lang="en-US" sz="1300" dirty="0">
                <a:solidFill>
                  <a:srgbClr val="1B3A4B"/>
                </a:solidFill>
                <a:latin typeface="Consolas"/>
                <a:cs typeface="Consolas"/>
              </a:rPr>
              <a:t>140 / 90        # a blood-pressure ratio</a:t>
            </a:r>
          </a:p>
          <a:p>
            <a:pPr marL="0" indent="0" algn="l">
              <a:lnSpc>
                <a:spcPct val="100000"/>
              </a:lnSpc>
              <a:buNone/>
            </a:pPr>
            <a:r>
              <a:rPr lang="en-US" sz="1300" dirty="0">
                <a:solidFill>
                  <a:srgbClr val="1B3A4B"/>
                </a:solidFill>
                <a:latin typeface="Consolas"/>
                <a:cs typeface="Consolas"/>
              </a:rPr>
              <a:t>sqrt(16)</a:t>
            </a:r>
          </a:p>
          <a:p>
            <a:pPr marL="0" indent="0" algn="l">
              <a:lnSpc>
                <a:spcPct val="100000"/>
              </a:lnSpc>
              <a:buNone/>
            </a:pPr>
            <a:r>
              <a:rPr lang="en-US" sz="1300" dirty="0">
                <a:solidFill>
                  <a:srgbClr val="1B3A4B"/>
                </a:solidFill>
                <a:latin typeface="Consolas"/>
                <a:cs typeface="Consolas"/>
              </a:rPr>
              <a:t>(120 + 130 + 145 + 150) / 4   # mean of four readings</a:t>
            </a:r>
          </a:p>
        </p:txBody>
      </p:sp>
      <p:sp>
        <p:nvSpPr>
          <p:cNvPr id="31" name="Output"/>
          <p:cNvSpPr/>
          <p:nvPr/>
        </p:nvSpPr>
        <p:spPr>
          <a:xfrm>
            <a:off x="457200" y="2810000"/>
            <a:ext cx="11277600" cy="1100000"/>
          </a:xfrm>
          <a:prstGeom prst="roundRect">
            <a:avLst>
              <a:gd name="adj" fmla="val 6000"/>
            </a:avLst>
          </a:prstGeom>
          <a:solidFill>
            <a:srgbClr val="F2EFE6"/>
          </a:solidFill>
          <a:ln>
            <a:noFill/>
          </a:ln>
        </p:spPr>
        <p:txBody>
          <a:bodyPr wrap="square" lIns="137160" tIns="91440" rIns="137160" bIns="91440" rtlCol="0" anchor="t"/>
          <a:lstStyle/>
          <a:p>
            <a:pPr marL="0" indent="0" algn="l">
              <a:buNone/>
            </a:pPr>
            <a:r>
              <a:rPr lang="en-US" sz="1150" b="1" dirty="0">
                <a:solidFill>
                  <a:srgbClr val="595959"/>
                </a:solidFill>
                <a:latin typeface="Century Gothic"/>
                <a:cs typeface="Century Gothic"/>
              </a:rPr>
              <a:t>Console output</a:t>
            </a:r>
          </a:p>
          <a:p>
            <a:pPr marL="0" indent="0" algn="l">
              <a:lnSpc>
                <a:spcPct val="100000"/>
              </a:lnSpc>
              <a:buNone/>
            </a:pPr>
            <a:r>
              <a:rPr lang="en-US" sz="1250" dirty="0">
                <a:solidFill>
                  <a:srgbClr val="1A1A1A"/>
                </a:solidFill>
                <a:latin typeface="Consolas"/>
                <a:cs typeface="Consolas"/>
              </a:rPr>
              <a:t>[1] 4</a:t>
            </a:r>
          </a:p>
          <a:p>
            <a:pPr marL="0" indent="0" algn="l">
              <a:lnSpc>
                <a:spcPct val="100000"/>
              </a:lnSpc>
              <a:buNone/>
            </a:pPr>
            <a:r>
              <a:rPr lang="en-US" sz="1250" dirty="0">
                <a:solidFill>
                  <a:srgbClr val="1A1A1A"/>
                </a:solidFill>
                <a:latin typeface="Consolas"/>
                <a:cs typeface="Consolas"/>
              </a:rPr>
              <a:t>[1] 1.555556</a:t>
            </a:r>
          </a:p>
          <a:p>
            <a:pPr marL="0" indent="0" algn="l">
              <a:lnSpc>
                <a:spcPct val="100000"/>
              </a:lnSpc>
              <a:buNone/>
            </a:pPr>
            <a:r>
              <a:rPr lang="en-US" sz="1250" dirty="0">
                <a:solidFill>
                  <a:srgbClr val="1A1A1A"/>
                </a:solidFill>
                <a:latin typeface="Consolas"/>
                <a:cs typeface="Consolas"/>
              </a:rPr>
              <a:t>[1] 4</a:t>
            </a:r>
          </a:p>
          <a:p>
            <a:pPr marL="0" indent="0" algn="l">
              <a:lnSpc>
                <a:spcPct val="100000"/>
              </a:lnSpc>
              <a:buNone/>
            </a:pPr>
            <a:r>
              <a:rPr lang="en-US" sz="1250" dirty="0">
                <a:solidFill>
                  <a:srgbClr val="1A1A1A"/>
                </a:solidFill>
                <a:latin typeface="Consolas"/>
                <a:cs typeface="Consolas"/>
              </a:rPr>
              <a:t>[1] 136.25</a:t>
            </a:r>
          </a:p>
        </p:txBody>
      </p:sp>
      <p:sp>
        <p:nvSpPr>
          <p:cNvPr id="32" name="Note"/>
          <p:cNvSpPr/>
          <p:nvPr/>
        </p:nvSpPr>
        <p:spPr>
          <a:xfrm>
            <a:off x="457200" y="4050000"/>
            <a:ext cx="11277600" cy="470000"/>
          </a:xfrm>
          <a:prstGeom prst="roundRect">
            <a:avLst>
              <a:gd name="adj" fmla="val 6000"/>
            </a:avLst>
          </a:prstGeom>
          <a:solidFill>
            <a:srgbClr val="EAF1F7"/>
          </a:solidFill>
          <a:ln>
            <a:noFill/>
          </a:ln>
        </p:spPr>
        <p:txBody>
          <a:bodyPr wrap="square" lIns="137160" tIns="91440" rIns="137160" bIns="91440" rtlCol="0" anchor="t"/>
          <a:lstStyle/>
          <a:p>
            <a:pPr marL="0" indent="0" algn="l">
              <a:buNone/>
            </a:pPr>
            <a:r>
              <a:rPr lang="en-US" sz="1300" dirty="0">
                <a:solidFill>
                  <a:srgbClr val="1F5C7A"/>
                </a:solidFill>
                <a:latin typeface="Century Gothic"/>
                <a:cs typeface="Century Gothic"/>
              </a:rPr>
              <a:t>INTERPRETATION  -  Everything in R is built from small steps like these - start simple, then build up.</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Century Gothic"/>
                <a:cs typeface="Century Gothic"/>
              </a:rPr>
              <a:t>Objects and the Assignment Arrow</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Body"/>
          <p:cNvSpPr txBox="1"/>
          <p:nvPr/>
        </p:nvSpPr>
        <p:spPr>
          <a:xfrm>
            <a:off x="457200" y="1080000"/>
            <a:ext cx="11277600" cy="3150000"/>
          </a:xfrm>
          <a:prstGeom prst="rect">
            <a:avLst/>
          </a:prstGeom>
          <a:noFill/>
          <a:ln>
            <a:noFill/>
          </a:ln>
        </p:spPr>
        <p:txBody>
          <a:bodyPr wrap="square" lIns="91440" tIns="45720" rIns="91440" bIns="45720" rtlCol="0" anchor="t"/>
          <a:lstStyle/>
          <a:p>
            <a:pPr marL="0" indent="0" algn="l">
              <a:spcBef>
                <a:spcPts val="360"/>
              </a:spcBef>
              <a:buNone/>
            </a:pPr>
            <a:r>
              <a:rPr lang="en-US" sz="2050" b="1" dirty="0">
                <a:solidFill>
                  <a:srgbClr val="0D7377"/>
                </a:solidFill>
                <a:latin typeface="Century Gothic"/>
                <a:cs typeface="Century Gothic"/>
              </a:rPr>
              <a:t>Store a value in an object</a:t>
            </a:r>
          </a:p>
          <a:p>
            <a:pPr marL="0" indent="0" algn="l">
              <a:lnSpc>
                <a:spcPct val="108000"/>
              </a:lnSpc>
              <a:spcBef>
                <a:spcPts val="440"/>
              </a:spcBef>
              <a:buNone/>
            </a:pPr>
            <a:r>
              <a:rPr lang="en-US" sz="1800" dirty="0">
                <a:solidFill>
                  <a:srgbClr val="000000"/>
                </a:solidFill>
                <a:latin typeface="Century Gothic"/>
                <a:cs typeface="Century Gothic"/>
              </a:rPr>
              <a:t>sbp &lt;- 152 means store 152 in an object named sbp</a:t>
            </a:r>
          </a:p>
          <a:p>
            <a:pPr marL="0" indent="0" algn="l">
              <a:lnSpc>
                <a:spcPct val="108000"/>
              </a:lnSpc>
              <a:spcBef>
                <a:spcPts val="440"/>
              </a:spcBef>
              <a:buNone/>
            </a:pPr>
            <a:r>
              <a:rPr lang="en-US" sz="1800" dirty="0">
                <a:solidFill>
                  <a:srgbClr val="000000"/>
                </a:solidFill>
                <a:latin typeface="Century Gothic"/>
                <a:cs typeface="Century Gothic"/>
              </a:rPr>
              <a:t>Type the name sbp to print it back</a:t>
            </a:r>
          </a:p>
          <a:p>
            <a:pPr marL="0" indent="0" algn="l">
              <a:lnSpc>
                <a:spcPct val="108000"/>
              </a:lnSpc>
              <a:spcBef>
                <a:spcPts val="440"/>
              </a:spcBef>
              <a:buNone/>
            </a:pPr>
            <a:r>
              <a:rPr lang="en-US" sz="1800" dirty="0">
                <a:solidFill>
                  <a:srgbClr val="000000"/>
                </a:solidFill>
                <a:latin typeface="Century Gothic"/>
                <a:cs typeface="Century Gothic"/>
              </a:rPr>
              <a:t>The arrow &lt;- is the assignment operator</a:t>
            </a:r>
          </a:p>
          <a:p>
            <a:pPr>
              <a:buNone/>
            </a:pPr>
            <a:endParaRPr sz="1050"/>
          </a:p>
          <a:p>
            <a:pPr marL="0" indent="0" algn="l">
              <a:spcBef>
                <a:spcPts val="360"/>
              </a:spcBef>
              <a:buNone/>
            </a:pPr>
            <a:r>
              <a:rPr lang="en-US" sz="2050" b="1" dirty="0">
                <a:solidFill>
                  <a:srgbClr val="0D7377"/>
                </a:solidFill>
                <a:latin typeface="Century Gothic"/>
                <a:cs typeface="Century Gothic"/>
              </a:rPr>
              <a:t>R is case-sensitive</a:t>
            </a:r>
          </a:p>
          <a:p>
            <a:pPr marL="0" indent="0" algn="l">
              <a:lnSpc>
                <a:spcPct val="108000"/>
              </a:lnSpc>
              <a:spcBef>
                <a:spcPts val="440"/>
              </a:spcBef>
              <a:buNone/>
            </a:pPr>
            <a:r>
              <a:rPr lang="en-US" sz="1800" dirty="0">
                <a:solidFill>
                  <a:srgbClr val="000000"/>
                </a:solidFill>
                <a:latin typeface="Century Gothic"/>
                <a:cs typeface="Century Gothic"/>
              </a:rPr>
              <a:t>SBP and sbp are two different objects</a:t>
            </a:r>
          </a:p>
          <a:p>
            <a:pPr>
              <a:buNone/>
            </a:pPr>
            <a:endParaRPr sz="1050"/>
          </a:p>
        </p:txBody>
      </p:sp>
      <p:sp>
        <p:nvSpPr>
          <p:cNvPr id="40" name="Callout"/>
          <p:cNvSpPr/>
          <p:nvPr/>
        </p:nvSpPr>
        <p:spPr>
          <a:xfrm>
            <a:off x="457200" y="5070000"/>
            <a:ext cx="11277600" cy="810000"/>
          </a:xfrm>
          <a:prstGeom prst="roundRect">
            <a:avLst>
              <a:gd name="adj" fmla="val 6000"/>
            </a:avLst>
          </a:prstGeom>
          <a:solidFill>
            <a:srgbClr val="FFF4E5"/>
          </a:solidFill>
          <a:ln>
            <a:noFill/>
          </a:ln>
        </p:spPr>
        <p:txBody>
          <a:bodyPr wrap="square" lIns="137160" tIns="91440" rIns="137160" bIns="91440" rtlCol="0" anchor="t"/>
          <a:lstStyle/>
          <a:p>
            <a:pPr marL="0" indent="0" algn="l">
              <a:buNone/>
            </a:pPr>
            <a:r>
              <a:rPr lang="en-US" sz="1300" b="1" dirty="0">
                <a:solidFill>
                  <a:srgbClr val="B5651D"/>
                </a:solidFill>
                <a:latin typeface="Century Gothic"/>
                <a:cs typeface="Century Gothic"/>
              </a:rPr>
              <a:t>COMMON MISTAKE  -  Common slips</a:t>
            </a:r>
          </a:p>
          <a:p>
            <a:pPr marL="0" indent="0" algn="l">
              <a:spcBef>
                <a:spcPts val="100"/>
              </a:spcBef>
              <a:buNone/>
            </a:pPr>
            <a:r>
              <a:rPr lang="en-US" sz="1300" dirty="0">
                <a:solidFill>
                  <a:srgbClr val="000000"/>
                </a:solidFill>
                <a:latin typeface="Century Gothic"/>
                <a:cs typeface="Century Gothic"/>
              </a:rPr>
              <a:t>Using = instead of &lt;-; mixing up upper and lower case.</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Century Gothic"/>
                <a:cs typeface="Century Gothic"/>
              </a:rPr>
              <a:t>Objects and Vectors in Action</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Intro"/>
          <p:cNvSpPr txBox="1"/>
          <p:nvPr/>
        </p:nvSpPr>
        <p:spPr>
          <a:xfrm>
            <a:off x="457200" y="1080000"/>
            <a:ext cx="11277600" cy="520000"/>
          </a:xfrm>
          <a:prstGeom prst="rect">
            <a:avLst/>
          </a:prstGeom>
          <a:noFill/>
          <a:ln>
            <a:noFill/>
          </a:ln>
        </p:spPr>
        <p:txBody>
          <a:bodyPr wrap="square" lIns="91440" tIns="45720" rIns="91440" bIns="45720" rtlCol="0" anchor="t"/>
          <a:lstStyle/>
          <a:p>
            <a:pPr marL="0" indent="0" algn="l">
              <a:buNone/>
            </a:pPr>
            <a:r>
              <a:rPr lang="en-US" sz="1600" i="1" dirty="0">
                <a:solidFill>
                  <a:srgbClr val="595959"/>
                </a:solidFill>
                <a:latin typeface="Century Gothic"/>
                <a:cs typeface="Century Gothic"/>
              </a:rPr>
              <a:t>A vector holds many values of the same type.</a:t>
            </a:r>
          </a:p>
        </p:txBody>
      </p:sp>
      <p:sp>
        <p:nvSpPr>
          <p:cNvPr id="30" name="Code"/>
          <p:cNvSpPr/>
          <p:nvPr/>
        </p:nvSpPr>
        <p:spPr>
          <a:xfrm>
            <a:off x="457200" y="1640000"/>
            <a:ext cx="11277600" cy="1440000"/>
          </a:xfrm>
          <a:prstGeom prst="roundRect">
            <a:avLst>
              <a:gd name="adj" fmla="val 6000"/>
            </a:avLst>
          </a:prstGeom>
          <a:solidFill>
            <a:srgbClr val="EDF1F2"/>
          </a:solidFill>
          <a:ln>
            <a:noFill/>
          </a:ln>
        </p:spPr>
        <p:txBody>
          <a:bodyPr wrap="square" lIns="137160" tIns="91440" rIns="137160" bIns="91440" rtlCol="0" anchor="t"/>
          <a:lstStyle/>
          <a:p>
            <a:pPr marL="0" indent="0" algn="l">
              <a:lnSpc>
                <a:spcPct val="100000"/>
              </a:lnSpc>
              <a:buNone/>
            </a:pPr>
            <a:r>
              <a:rPr lang="en-US" sz="1300" dirty="0">
                <a:solidFill>
                  <a:srgbClr val="1B3A4B"/>
                </a:solidFill>
                <a:latin typeface="Consolas"/>
                <a:cs typeface="Consolas"/>
              </a:rPr>
              <a:t>sbp &lt;- 152</a:t>
            </a:r>
          </a:p>
          <a:p>
            <a:pPr marL="0" indent="0" algn="l">
              <a:lnSpc>
                <a:spcPct val="100000"/>
              </a:lnSpc>
              <a:buNone/>
            </a:pPr>
            <a:r>
              <a:rPr lang="en-US" sz="1300" dirty="0">
                <a:solidFill>
                  <a:srgbClr val="1B3A4B"/>
                </a:solidFill>
                <a:latin typeface="Consolas"/>
                <a:cs typeface="Consolas"/>
              </a:rPr>
              <a:t>sbp</a:t>
            </a:r>
          </a:p>
          <a:p>
            <a:pPr marL="0" indent="0" algn="l">
              <a:lnSpc>
                <a:spcPct val="100000"/>
              </a:lnSpc>
              <a:buNone/>
            </a:pPr>
            <a:r>
              <a:rPr lang="en-US" sz="1300" dirty="0">
                <a:solidFill>
                  <a:srgbClr val="1B3A4B"/>
                </a:solidFill>
                <a:latin typeface="Consolas"/>
                <a:cs typeface="Consolas"/>
              </a:rPr>
              <a:t>sbp_readings &lt;- c(152, 138, 145, 160, 129, 142)</a:t>
            </a:r>
          </a:p>
          <a:p>
            <a:pPr marL="0" indent="0" algn="l">
              <a:lnSpc>
                <a:spcPct val="100000"/>
              </a:lnSpc>
              <a:buNone/>
            </a:pPr>
            <a:r>
              <a:rPr lang="en-US" sz="1300" dirty="0">
                <a:solidFill>
                  <a:srgbClr val="1B3A4B"/>
                </a:solidFill>
                <a:latin typeface="Consolas"/>
                <a:cs typeface="Consolas"/>
              </a:rPr>
              <a:t>length(sbp_readings)</a:t>
            </a:r>
          </a:p>
          <a:p>
            <a:pPr marL="0" indent="0" algn="l">
              <a:lnSpc>
                <a:spcPct val="100000"/>
              </a:lnSpc>
              <a:buNone/>
            </a:pPr>
            <a:r>
              <a:rPr lang="en-US" sz="1300" dirty="0">
                <a:solidFill>
                  <a:srgbClr val="1B3A4B"/>
                </a:solidFill>
                <a:latin typeface="Consolas"/>
                <a:cs typeface="Consolas"/>
              </a:rPr>
              <a:t>mean(sbp_readings)</a:t>
            </a:r>
          </a:p>
          <a:p>
            <a:pPr marL="0" indent="0" algn="l">
              <a:lnSpc>
                <a:spcPct val="100000"/>
              </a:lnSpc>
              <a:buNone/>
            </a:pPr>
            <a:r>
              <a:rPr lang="en-US" sz="1300" dirty="0">
                <a:solidFill>
                  <a:srgbClr val="1B3A4B"/>
                </a:solidFill>
                <a:latin typeface="Consolas"/>
                <a:cs typeface="Consolas"/>
              </a:rPr>
              <a:t>sd(sbp_readings)</a:t>
            </a:r>
          </a:p>
        </p:txBody>
      </p:sp>
      <p:sp>
        <p:nvSpPr>
          <p:cNvPr id="31" name="Output"/>
          <p:cNvSpPr/>
          <p:nvPr/>
        </p:nvSpPr>
        <p:spPr>
          <a:xfrm>
            <a:off x="457200" y="3230000"/>
            <a:ext cx="11277600" cy="1100000"/>
          </a:xfrm>
          <a:prstGeom prst="roundRect">
            <a:avLst>
              <a:gd name="adj" fmla="val 6000"/>
            </a:avLst>
          </a:prstGeom>
          <a:solidFill>
            <a:srgbClr val="F2EFE6"/>
          </a:solidFill>
          <a:ln>
            <a:noFill/>
          </a:ln>
        </p:spPr>
        <p:txBody>
          <a:bodyPr wrap="square" lIns="137160" tIns="91440" rIns="137160" bIns="91440" rtlCol="0" anchor="t"/>
          <a:lstStyle/>
          <a:p>
            <a:pPr marL="0" indent="0" algn="l">
              <a:buNone/>
            </a:pPr>
            <a:r>
              <a:rPr lang="en-US" sz="1150" b="1" dirty="0">
                <a:solidFill>
                  <a:srgbClr val="595959"/>
                </a:solidFill>
                <a:latin typeface="Century Gothic"/>
                <a:cs typeface="Century Gothic"/>
              </a:rPr>
              <a:t>Console output</a:t>
            </a:r>
          </a:p>
          <a:p>
            <a:pPr marL="0" indent="0" algn="l">
              <a:lnSpc>
                <a:spcPct val="100000"/>
              </a:lnSpc>
              <a:buNone/>
            </a:pPr>
            <a:r>
              <a:rPr lang="en-US" sz="1250" dirty="0">
                <a:solidFill>
                  <a:srgbClr val="1A1A1A"/>
                </a:solidFill>
                <a:latin typeface="Consolas"/>
                <a:cs typeface="Consolas"/>
              </a:rPr>
              <a:t>[1] 152</a:t>
            </a:r>
          </a:p>
          <a:p>
            <a:pPr marL="0" indent="0" algn="l">
              <a:lnSpc>
                <a:spcPct val="100000"/>
              </a:lnSpc>
              <a:buNone/>
            </a:pPr>
            <a:r>
              <a:rPr lang="en-US" sz="1250" dirty="0">
                <a:solidFill>
                  <a:srgbClr val="1A1A1A"/>
                </a:solidFill>
                <a:latin typeface="Consolas"/>
                <a:cs typeface="Consolas"/>
              </a:rPr>
              <a:t>[1] 6</a:t>
            </a:r>
          </a:p>
          <a:p>
            <a:pPr marL="0" indent="0" algn="l">
              <a:lnSpc>
                <a:spcPct val="100000"/>
              </a:lnSpc>
              <a:buNone/>
            </a:pPr>
            <a:r>
              <a:rPr lang="en-US" sz="1250" dirty="0">
                <a:solidFill>
                  <a:srgbClr val="1A1A1A"/>
                </a:solidFill>
                <a:latin typeface="Consolas"/>
                <a:cs typeface="Consolas"/>
              </a:rPr>
              <a:t>[1] 144.3333</a:t>
            </a:r>
          </a:p>
          <a:p>
            <a:pPr marL="0" indent="0" algn="l">
              <a:lnSpc>
                <a:spcPct val="100000"/>
              </a:lnSpc>
              <a:buNone/>
            </a:pPr>
            <a:r>
              <a:rPr lang="en-US" sz="1250" dirty="0">
                <a:solidFill>
                  <a:srgbClr val="1A1A1A"/>
                </a:solidFill>
                <a:latin typeface="Consolas"/>
                <a:cs typeface="Consolas"/>
              </a:rPr>
              <a:t>[1] 11.23239</a:t>
            </a:r>
          </a:p>
        </p:txBody>
      </p:sp>
      <p:sp>
        <p:nvSpPr>
          <p:cNvPr id="32" name="Note"/>
          <p:cNvSpPr/>
          <p:nvPr/>
        </p:nvSpPr>
        <p:spPr>
          <a:xfrm>
            <a:off x="457200" y="4470000"/>
            <a:ext cx="11277600" cy="470000"/>
          </a:xfrm>
          <a:prstGeom prst="roundRect">
            <a:avLst>
              <a:gd name="adj" fmla="val 6000"/>
            </a:avLst>
          </a:prstGeom>
          <a:solidFill>
            <a:srgbClr val="EAF1F7"/>
          </a:solidFill>
          <a:ln>
            <a:noFill/>
          </a:ln>
        </p:spPr>
        <p:txBody>
          <a:bodyPr wrap="square" lIns="137160" tIns="91440" rIns="137160" bIns="91440" rtlCol="0" anchor="t"/>
          <a:lstStyle/>
          <a:p>
            <a:pPr marL="0" indent="0" algn="l">
              <a:buNone/>
            </a:pPr>
            <a:r>
              <a:rPr lang="en-US" sz="1300" dirty="0">
                <a:solidFill>
                  <a:srgbClr val="1F5C7A"/>
                </a:solidFill>
                <a:latin typeface="Century Gothic"/>
                <a:cs typeface="Century Gothic"/>
              </a:rPr>
              <a:t>INTERPRETATION  -  c() means combine; mean() and sd() summarise the whole vector.</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Century Gothic"/>
                <a:cs typeface="Century Gothic"/>
              </a:rPr>
              <a:t>Data Types You Will Meet</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Body"/>
          <p:cNvSpPr txBox="1"/>
          <p:nvPr/>
        </p:nvSpPr>
        <p:spPr>
          <a:xfrm>
            <a:off x="457200" y="1080000"/>
            <a:ext cx="11277600" cy="3150000"/>
          </a:xfrm>
          <a:prstGeom prst="rect">
            <a:avLst/>
          </a:prstGeom>
          <a:noFill/>
          <a:ln>
            <a:noFill/>
          </a:ln>
        </p:spPr>
        <p:txBody>
          <a:bodyPr wrap="square" lIns="91440" tIns="45720" rIns="91440" bIns="45720" rtlCol="0" anchor="t"/>
          <a:lstStyle/>
          <a:p>
            <a:pPr marL="0" indent="0" algn="l">
              <a:spcBef>
                <a:spcPts val="360"/>
              </a:spcBef>
              <a:buNone/>
            </a:pPr>
            <a:r>
              <a:rPr lang="en-US" sz="2050" b="1" dirty="0">
                <a:solidFill>
                  <a:srgbClr val="0D7377"/>
                </a:solidFill>
                <a:latin typeface="Century Gothic"/>
                <a:cs typeface="Century Gothic"/>
              </a:rPr>
              <a:t>Three everyday types</a:t>
            </a:r>
          </a:p>
          <a:p>
            <a:pPr marL="0" indent="0" algn="l">
              <a:lnSpc>
                <a:spcPct val="108000"/>
              </a:lnSpc>
              <a:spcBef>
                <a:spcPts val="440"/>
              </a:spcBef>
              <a:buNone/>
            </a:pPr>
            <a:r>
              <a:rPr lang="en-US" sz="1800" dirty="0">
                <a:solidFill>
                  <a:srgbClr val="000000"/>
                </a:solidFill>
                <a:latin typeface="Century Gothic"/>
                <a:cs typeface="Century Gothic"/>
              </a:rPr>
              <a:t>numeric: numbers, like age or sbp (60, 152)</a:t>
            </a:r>
          </a:p>
          <a:p>
            <a:pPr marL="0" indent="0" algn="l">
              <a:lnSpc>
                <a:spcPct val="108000"/>
              </a:lnSpc>
              <a:spcBef>
                <a:spcPts val="440"/>
              </a:spcBef>
              <a:buNone/>
            </a:pPr>
            <a:r>
              <a:rPr lang="en-US" sz="1800" dirty="0">
                <a:solidFill>
                  <a:srgbClr val="000000"/>
                </a:solidFill>
                <a:latin typeface="Century Gothic"/>
                <a:cs typeface="Century Gothic"/>
              </a:rPr>
              <a:t>character: text in quotes, like "Female"</a:t>
            </a:r>
          </a:p>
          <a:p>
            <a:pPr marL="0" indent="0" algn="l">
              <a:lnSpc>
                <a:spcPct val="108000"/>
              </a:lnSpc>
              <a:spcBef>
                <a:spcPts val="440"/>
              </a:spcBef>
              <a:buNone/>
            </a:pPr>
            <a:r>
              <a:rPr lang="en-US" sz="1800" dirty="0">
                <a:solidFill>
                  <a:srgbClr val="000000"/>
                </a:solidFill>
                <a:latin typeface="Century Gothic"/>
                <a:cs typeface="Century Gothic"/>
              </a:rPr>
              <a:t>logical: TRUE or FALSE, like sbp &gt;= 140</a:t>
            </a:r>
          </a:p>
          <a:p>
            <a:pPr>
              <a:buNone/>
            </a:pPr>
            <a:endParaRPr sz="1050"/>
          </a:p>
          <a:p>
            <a:pPr marL="0" indent="0" algn="l">
              <a:spcBef>
                <a:spcPts val="360"/>
              </a:spcBef>
              <a:buNone/>
            </a:pPr>
            <a:r>
              <a:rPr lang="en-US" sz="2050" b="1" dirty="0">
                <a:solidFill>
                  <a:srgbClr val="0D7377"/>
                </a:solidFill>
                <a:latin typeface="Century Gothic"/>
                <a:cs typeface="Century Gothic"/>
              </a:rPr>
              <a:t>Why type matters</a:t>
            </a:r>
          </a:p>
          <a:p>
            <a:pPr marL="0" indent="0" algn="l">
              <a:lnSpc>
                <a:spcPct val="108000"/>
              </a:lnSpc>
              <a:spcBef>
                <a:spcPts val="440"/>
              </a:spcBef>
              <a:buNone/>
            </a:pPr>
            <a:r>
              <a:rPr lang="en-US" sz="1800" dirty="0">
                <a:solidFill>
                  <a:srgbClr val="000000"/>
                </a:solidFill>
                <a:latin typeface="Century Gothic"/>
                <a:cs typeface="Century Gothic"/>
              </a:rPr>
              <a:t>You can average numbers, not text</a:t>
            </a:r>
          </a:p>
          <a:p>
            <a:pPr marL="0" indent="0" algn="l">
              <a:lnSpc>
                <a:spcPct val="108000"/>
              </a:lnSpc>
              <a:spcBef>
                <a:spcPts val="440"/>
              </a:spcBef>
              <a:buNone/>
            </a:pPr>
            <a:r>
              <a:rPr lang="en-US" sz="1800" dirty="0">
                <a:solidFill>
                  <a:srgbClr val="000000"/>
                </a:solidFill>
                <a:latin typeface="Century Gothic"/>
                <a:cs typeface="Century Gothic"/>
              </a:rPr>
              <a:t>R picks the type when it reads your data</a:t>
            </a:r>
          </a:p>
          <a:p>
            <a:pPr>
              <a:buNone/>
            </a:pPr>
            <a:endParaRPr sz="1050"/>
          </a:p>
        </p:txBody>
      </p:sp>
      <p:sp>
        <p:nvSpPr>
          <p:cNvPr id="40" name="Callout"/>
          <p:cNvSpPr/>
          <p:nvPr/>
        </p:nvSpPr>
        <p:spPr>
          <a:xfrm>
            <a:off x="457200" y="5070000"/>
            <a:ext cx="11277600" cy="810000"/>
          </a:xfrm>
          <a:prstGeom prst="roundRect">
            <a:avLst>
              <a:gd name="adj" fmla="val 6000"/>
            </a:avLst>
          </a:prstGeom>
          <a:solidFill>
            <a:srgbClr val="F0F0F0"/>
          </a:solidFill>
          <a:ln>
            <a:noFill/>
          </a:ln>
        </p:spPr>
        <p:txBody>
          <a:bodyPr wrap="square" lIns="137160" tIns="91440" rIns="137160" bIns="91440" rtlCol="0" anchor="t"/>
          <a:lstStyle/>
          <a:p>
            <a:pPr marL="0" indent="0" algn="l">
              <a:buNone/>
            </a:pPr>
            <a:r>
              <a:rPr lang="en-US" sz="1300" b="1" dirty="0">
                <a:solidFill>
                  <a:srgbClr val="404040"/>
                </a:solidFill>
                <a:latin typeface="Century Gothic"/>
                <a:cs typeface="Century Gothic"/>
              </a:rPr>
              <a:t>NOTE  -  Tip</a:t>
            </a:r>
          </a:p>
          <a:p>
            <a:pPr marL="0" indent="0" algn="l">
              <a:spcBef>
                <a:spcPts val="100"/>
              </a:spcBef>
              <a:buNone/>
            </a:pPr>
            <a:r>
              <a:rPr lang="en-US" sz="1300" dirty="0">
                <a:solidFill>
                  <a:srgbClr val="000000"/>
                </a:solidFill>
                <a:latin typeface="Century Gothic"/>
                <a:cs typeface="Century Gothic"/>
              </a:rPr>
              <a:t>glimpse() shows the type of every column at a glance.</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Century Gothic"/>
                <a:cs typeface="Century Gothic"/>
              </a:rPr>
              <a:t>Data Frames and Tibbles</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Body"/>
          <p:cNvSpPr txBox="1"/>
          <p:nvPr/>
        </p:nvSpPr>
        <p:spPr>
          <a:xfrm>
            <a:off x="457200" y="1080000"/>
            <a:ext cx="11277600" cy="3150000"/>
          </a:xfrm>
          <a:prstGeom prst="rect">
            <a:avLst/>
          </a:prstGeom>
          <a:noFill/>
          <a:ln>
            <a:noFill/>
          </a:ln>
        </p:spPr>
        <p:txBody>
          <a:bodyPr wrap="square" lIns="91440" tIns="45720" rIns="91440" bIns="45720" rtlCol="0" anchor="t"/>
          <a:lstStyle/>
          <a:p>
            <a:pPr marL="0" indent="0" algn="l">
              <a:spcBef>
                <a:spcPts val="360"/>
              </a:spcBef>
              <a:buNone/>
            </a:pPr>
            <a:r>
              <a:rPr lang="en-US" sz="2050" b="1" dirty="0">
                <a:solidFill>
                  <a:srgbClr val="0D7377"/>
                </a:solidFill>
                <a:latin typeface="Century Gothic"/>
                <a:cs typeface="Century Gothic"/>
              </a:rPr>
              <a:t>The shape of a dataset</a:t>
            </a:r>
          </a:p>
          <a:p>
            <a:pPr marL="0" indent="0" algn="l">
              <a:lnSpc>
                <a:spcPct val="108000"/>
              </a:lnSpc>
              <a:spcBef>
                <a:spcPts val="440"/>
              </a:spcBef>
              <a:buNone/>
            </a:pPr>
            <a:r>
              <a:rPr lang="en-US" sz="1800" dirty="0">
                <a:solidFill>
                  <a:srgbClr val="000000"/>
                </a:solidFill>
                <a:latin typeface="Century Gothic"/>
                <a:cs typeface="Century Gothic"/>
              </a:rPr>
              <a:t>A data frame is a table: rows and columns</a:t>
            </a:r>
          </a:p>
          <a:p>
            <a:pPr marL="0" indent="0" algn="l">
              <a:lnSpc>
                <a:spcPct val="108000"/>
              </a:lnSpc>
              <a:spcBef>
                <a:spcPts val="440"/>
              </a:spcBef>
              <a:buNone/>
            </a:pPr>
            <a:r>
              <a:rPr lang="en-US" sz="1800" dirty="0">
                <a:solidFill>
                  <a:srgbClr val="000000"/>
                </a:solidFill>
                <a:latin typeface="Century Gothic"/>
                <a:cs typeface="Century Gothic"/>
              </a:rPr>
              <a:t>Each row is one patient (one observation)</a:t>
            </a:r>
          </a:p>
          <a:p>
            <a:pPr marL="0" indent="0" algn="l">
              <a:lnSpc>
                <a:spcPct val="108000"/>
              </a:lnSpc>
              <a:spcBef>
                <a:spcPts val="440"/>
              </a:spcBef>
              <a:buNone/>
            </a:pPr>
            <a:r>
              <a:rPr lang="en-US" sz="1800" dirty="0">
                <a:solidFill>
                  <a:srgbClr val="000000"/>
                </a:solidFill>
                <a:latin typeface="Century Gothic"/>
                <a:cs typeface="Century Gothic"/>
              </a:rPr>
              <a:t>Each column is one variable (age, sex, sbp)</a:t>
            </a:r>
          </a:p>
          <a:p>
            <a:pPr>
              <a:buNone/>
            </a:pPr>
            <a:endParaRPr sz="1050"/>
          </a:p>
          <a:p>
            <a:pPr marL="0" indent="0" algn="l">
              <a:spcBef>
                <a:spcPts val="360"/>
              </a:spcBef>
              <a:buNone/>
            </a:pPr>
            <a:r>
              <a:rPr lang="en-US" sz="2050" b="1" dirty="0">
                <a:solidFill>
                  <a:srgbClr val="0D7377"/>
                </a:solidFill>
                <a:latin typeface="Century Gothic"/>
                <a:cs typeface="Century Gothic"/>
              </a:rPr>
              <a:t>Tibble</a:t>
            </a:r>
          </a:p>
          <a:p>
            <a:pPr marL="0" indent="0" algn="l">
              <a:lnSpc>
                <a:spcPct val="108000"/>
              </a:lnSpc>
              <a:spcBef>
                <a:spcPts val="440"/>
              </a:spcBef>
              <a:buNone/>
            </a:pPr>
            <a:r>
              <a:rPr lang="en-US" sz="1800" dirty="0">
                <a:solidFill>
                  <a:srgbClr val="000000"/>
                </a:solidFill>
                <a:latin typeface="Century Gothic"/>
                <a:cs typeface="Century Gothic"/>
              </a:rPr>
              <a:t>The tidyverse version of a data frame</a:t>
            </a:r>
          </a:p>
          <a:p>
            <a:pPr marL="0" indent="0" algn="l">
              <a:lnSpc>
                <a:spcPct val="108000"/>
              </a:lnSpc>
              <a:spcBef>
                <a:spcPts val="440"/>
              </a:spcBef>
              <a:buNone/>
            </a:pPr>
            <a:r>
              <a:rPr lang="en-US" sz="1800" dirty="0">
                <a:solidFill>
                  <a:srgbClr val="000000"/>
                </a:solidFill>
                <a:latin typeface="Century Gothic"/>
                <a:cs typeface="Century Gothic"/>
              </a:rPr>
              <a:t>Prints neatly and shows column types</a:t>
            </a:r>
          </a:p>
          <a:p>
            <a:pPr>
              <a:buNone/>
            </a:pPr>
            <a:endParaRPr sz="1050"/>
          </a:p>
        </p:txBody>
      </p:sp>
      <p:sp>
        <p:nvSpPr>
          <p:cNvPr id="40" name="Callout"/>
          <p:cNvSpPr/>
          <p:nvPr/>
        </p:nvSpPr>
        <p:spPr>
          <a:xfrm>
            <a:off x="457200" y="5070000"/>
            <a:ext cx="11277600" cy="810000"/>
          </a:xfrm>
          <a:prstGeom prst="roundRect">
            <a:avLst>
              <a:gd name="adj" fmla="val 6000"/>
            </a:avLst>
          </a:prstGeom>
          <a:solidFill>
            <a:srgbClr val="EAF1F7"/>
          </a:solidFill>
          <a:ln>
            <a:noFill/>
          </a:ln>
        </p:spPr>
        <p:txBody>
          <a:bodyPr wrap="square" lIns="137160" tIns="91440" rIns="137160" bIns="91440" rtlCol="0" anchor="t"/>
          <a:lstStyle/>
          <a:p>
            <a:pPr marL="0" indent="0" algn="l">
              <a:buNone/>
            </a:pPr>
            <a:r>
              <a:rPr lang="en-US" sz="1300" b="1" dirty="0">
                <a:solidFill>
                  <a:srgbClr val="1F5C7A"/>
                </a:solidFill>
                <a:latin typeface="Century Gothic"/>
                <a:cs typeface="Century Gothic"/>
              </a:rPr>
              <a:t>CLINICAL INTERPRETATION  -  Read it as a clinic</a:t>
            </a:r>
          </a:p>
          <a:p>
            <a:pPr marL="0" indent="0" algn="l">
              <a:spcBef>
                <a:spcPts val="100"/>
              </a:spcBef>
              <a:buNone/>
            </a:pPr>
            <a:r>
              <a:rPr lang="en-US" sz="1300" dirty="0">
                <a:solidFill>
                  <a:srgbClr val="000000"/>
                </a:solidFill>
                <a:latin typeface="Century Gothic"/>
                <a:cs typeface="Century Gothic"/>
              </a:rPr>
              <a:t>Rows are people; columns are what you measured.</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Century Gothic"/>
                <a:cs typeface="Century Gothic"/>
              </a:rPr>
              <a:t>Packages: Install Once, Load Each Session</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Body"/>
          <p:cNvSpPr txBox="1"/>
          <p:nvPr/>
        </p:nvSpPr>
        <p:spPr>
          <a:xfrm>
            <a:off x="457200" y="1080000"/>
            <a:ext cx="11277600" cy="3150000"/>
          </a:xfrm>
          <a:prstGeom prst="rect">
            <a:avLst/>
          </a:prstGeom>
          <a:noFill/>
          <a:ln>
            <a:noFill/>
          </a:ln>
        </p:spPr>
        <p:txBody>
          <a:bodyPr wrap="square" lIns="91440" tIns="45720" rIns="91440" bIns="45720" rtlCol="0" anchor="t"/>
          <a:lstStyle/>
          <a:p>
            <a:pPr marL="0" indent="0" algn="l">
              <a:spcBef>
                <a:spcPts val="360"/>
              </a:spcBef>
              <a:buNone/>
            </a:pPr>
            <a:r>
              <a:rPr lang="en-US" sz="2050" b="1" dirty="0">
                <a:solidFill>
                  <a:srgbClr val="0D7377"/>
                </a:solidFill>
                <a:latin typeface="Century Gothic"/>
                <a:cs typeface="Century Gothic"/>
              </a:rPr>
              <a:t>Two different commands</a:t>
            </a:r>
          </a:p>
          <a:p>
            <a:pPr marL="0" indent="0" algn="l">
              <a:lnSpc>
                <a:spcPct val="108000"/>
              </a:lnSpc>
              <a:spcBef>
                <a:spcPts val="440"/>
              </a:spcBef>
              <a:buNone/>
            </a:pPr>
            <a:r>
              <a:rPr lang="en-US" sz="1800" dirty="0">
                <a:solidFill>
                  <a:srgbClr val="000000"/>
                </a:solidFill>
                <a:latin typeface="Century Gothic"/>
                <a:cs typeface="Century Gothic"/>
              </a:rPr>
              <a:t>install.packages("tidyverse") downloads it once</a:t>
            </a:r>
          </a:p>
          <a:p>
            <a:pPr marL="0" indent="0" algn="l">
              <a:lnSpc>
                <a:spcPct val="108000"/>
              </a:lnSpc>
              <a:spcBef>
                <a:spcPts val="440"/>
              </a:spcBef>
              <a:buNone/>
            </a:pPr>
            <a:r>
              <a:rPr lang="en-US" sz="1800" dirty="0">
                <a:solidFill>
                  <a:srgbClr val="000000"/>
                </a:solidFill>
                <a:latin typeface="Century Gothic"/>
                <a:cs typeface="Century Gothic"/>
              </a:rPr>
              <a:t>library(tidyverse) loads it every new session</a:t>
            </a:r>
          </a:p>
          <a:p>
            <a:pPr>
              <a:buNone/>
            </a:pPr>
            <a:endParaRPr sz="1050"/>
          </a:p>
          <a:p>
            <a:pPr marL="0" indent="0" algn="l">
              <a:spcBef>
                <a:spcPts val="360"/>
              </a:spcBef>
              <a:buNone/>
            </a:pPr>
            <a:r>
              <a:rPr lang="en-US" sz="2050" b="1" dirty="0">
                <a:solidFill>
                  <a:srgbClr val="0D7377"/>
                </a:solidFill>
                <a:latin typeface="Century Gothic"/>
                <a:cs typeface="Century Gothic"/>
              </a:rPr>
              <a:t>Packages we use today</a:t>
            </a:r>
          </a:p>
          <a:p>
            <a:pPr marL="0" indent="0" algn="l">
              <a:lnSpc>
                <a:spcPct val="108000"/>
              </a:lnSpc>
              <a:spcBef>
                <a:spcPts val="440"/>
              </a:spcBef>
              <a:buNone/>
            </a:pPr>
            <a:r>
              <a:rPr lang="en-US" sz="1800" dirty="0">
                <a:solidFill>
                  <a:srgbClr val="000000"/>
                </a:solidFill>
                <a:latin typeface="Century Gothic"/>
                <a:cs typeface="Century Gothic"/>
              </a:rPr>
              <a:t>tidyverse: import, wrangle, plot</a:t>
            </a:r>
          </a:p>
          <a:p>
            <a:pPr marL="0" indent="0" algn="l">
              <a:lnSpc>
                <a:spcPct val="108000"/>
              </a:lnSpc>
              <a:spcBef>
                <a:spcPts val="440"/>
              </a:spcBef>
              <a:buNone/>
            </a:pPr>
            <a:r>
              <a:rPr lang="en-US" sz="1800" dirty="0">
                <a:solidFill>
                  <a:srgbClr val="000000"/>
                </a:solidFill>
                <a:latin typeface="Century Gothic"/>
                <a:cs typeface="Century Gothic"/>
              </a:rPr>
              <a:t>readxl: read Excel .xlsx files</a:t>
            </a:r>
          </a:p>
          <a:p>
            <a:pPr>
              <a:buNone/>
            </a:pPr>
            <a:endParaRPr sz="1050"/>
          </a:p>
        </p:txBody>
      </p:sp>
      <p:sp>
        <p:nvSpPr>
          <p:cNvPr id="40" name="Callout"/>
          <p:cNvSpPr/>
          <p:nvPr/>
        </p:nvSpPr>
        <p:spPr>
          <a:xfrm>
            <a:off x="457200" y="5070000"/>
            <a:ext cx="11277600" cy="810000"/>
          </a:xfrm>
          <a:prstGeom prst="roundRect">
            <a:avLst>
              <a:gd name="adj" fmla="val 6000"/>
            </a:avLst>
          </a:prstGeom>
          <a:solidFill>
            <a:srgbClr val="FFF4E5"/>
          </a:solidFill>
          <a:ln>
            <a:noFill/>
          </a:ln>
        </p:spPr>
        <p:txBody>
          <a:bodyPr wrap="square" lIns="137160" tIns="91440" rIns="137160" bIns="91440" rtlCol="0" anchor="t"/>
          <a:lstStyle/>
          <a:p>
            <a:pPr marL="0" indent="0" algn="l">
              <a:buNone/>
            </a:pPr>
            <a:r>
              <a:rPr lang="en-US" sz="1300" b="1" dirty="0">
                <a:solidFill>
                  <a:srgbClr val="B5651D"/>
                </a:solidFill>
                <a:latin typeface="Century Gothic"/>
                <a:cs typeface="Century Gothic"/>
              </a:rPr>
              <a:t>COMMON MISTAKE  -  Common mistake</a:t>
            </a:r>
          </a:p>
          <a:p>
            <a:pPr marL="0" indent="0" algn="l">
              <a:spcBef>
                <a:spcPts val="100"/>
              </a:spcBef>
              <a:buNone/>
            </a:pPr>
            <a:r>
              <a:rPr lang="en-US" sz="1300" dirty="0">
                <a:solidFill>
                  <a:srgbClr val="000000"/>
                </a:solidFill>
                <a:latin typeface="Century Gothic"/>
                <a:cs typeface="Century Gothic"/>
              </a:rPr>
              <a:t>Running install.packages() every time (slow, needs internet).</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Century Gothic"/>
                <a:cs typeface="Century Gothic"/>
              </a:rPr>
              <a:t>Importing the Study Data</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Intro"/>
          <p:cNvSpPr txBox="1"/>
          <p:nvPr/>
        </p:nvSpPr>
        <p:spPr>
          <a:xfrm>
            <a:off x="457200" y="1080000"/>
            <a:ext cx="11277600" cy="520000"/>
          </a:xfrm>
          <a:prstGeom prst="rect">
            <a:avLst/>
          </a:prstGeom>
          <a:noFill/>
          <a:ln>
            <a:noFill/>
          </a:ln>
        </p:spPr>
        <p:txBody>
          <a:bodyPr wrap="square" lIns="91440" tIns="45720" rIns="91440" bIns="45720" rtlCol="0" anchor="t"/>
          <a:lstStyle/>
          <a:p>
            <a:pPr marL="0" indent="0" algn="l">
              <a:buNone/>
            </a:pPr>
            <a:r>
              <a:rPr lang="en-US" sz="1600" i="1" dirty="0">
                <a:solidFill>
                  <a:srgbClr val="595959"/>
                </a:solidFill>
                <a:latin typeface="Century Gothic"/>
                <a:cs typeface="Century Gothic"/>
              </a:rPr>
              <a:t>Load packages first, then read the file.</a:t>
            </a:r>
          </a:p>
        </p:txBody>
      </p:sp>
      <p:sp>
        <p:nvSpPr>
          <p:cNvPr id="30" name="Code"/>
          <p:cNvSpPr/>
          <p:nvPr/>
        </p:nvSpPr>
        <p:spPr>
          <a:xfrm>
            <a:off x="457200" y="1640000"/>
            <a:ext cx="11277600" cy="1440000"/>
          </a:xfrm>
          <a:prstGeom prst="roundRect">
            <a:avLst>
              <a:gd name="adj" fmla="val 6000"/>
            </a:avLst>
          </a:prstGeom>
          <a:solidFill>
            <a:srgbClr val="EDF1F2"/>
          </a:solidFill>
          <a:ln>
            <a:noFill/>
          </a:ln>
        </p:spPr>
        <p:txBody>
          <a:bodyPr wrap="square" lIns="137160" tIns="91440" rIns="137160" bIns="91440" rtlCol="0" anchor="t"/>
          <a:lstStyle/>
          <a:p>
            <a:pPr marL="0" indent="0" algn="l">
              <a:lnSpc>
                <a:spcPct val="100000"/>
              </a:lnSpc>
              <a:buNone/>
            </a:pPr>
            <a:r>
              <a:rPr lang="en-US" sz="1300" dirty="0">
                <a:solidFill>
                  <a:srgbClr val="1B3A4B"/>
                </a:solidFill>
                <a:latin typeface="Consolas"/>
                <a:cs typeface="Consolas"/>
              </a:rPr>
              <a:t>library(tidyverse)</a:t>
            </a:r>
          </a:p>
          <a:p>
            <a:pPr marL="0" indent="0" algn="l">
              <a:lnSpc>
                <a:spcPct val="100000"/>
              </a:lnSpc>
              <a:buNone/>
            </a:pPr>
            <a:r>
              <a:rPr lang="en-US" sz="1300" dirty="0">
                <a:solidFill>
                  <a:srgbClr val="1B3A4B"/>
                </a:solidFill>
                <a:latin typeface="Consolas"/>
                <a:cs typeface="Consolas"/>
              </a:rPr>
              <a:t>library(readxl)</a:t>
            </a:r>
          </a:p>
          <a:p>
            <a:pPr marL="0" indent="0" algn="l">
              <a:lnSpc>
                <a:spcPct val="100000"/>
              </a:lnSpc>
              <a:buNone/>
            </a:pPr>
            <a:r>
              <a:rPr lang="en-US" sz="1300" dirty="0">
                <a:solidFill>
                  <a:srgbClr val="1B3A4B"/>
                </a:solidFill>
                <a:latin typeface="Consolas"/>
                <a:cs typeface="Consolas"/>
              </a:rPr>
              <a:t>htn &lt;- read_csv("Data/hypertension_phc_raw.csv")</a:t>
            </a:r>
          </a:p>
          <a:p>
            <a:pPr marL="0" indent="0" algn="l">
              <a:lnSpc>
                <a:spcPct val="100000"/>
              </a:lnSpc>
              <a:buNone/>
            </a:pPr>
            <a:r>
              <a:rPr lang="en-US" sz="1300" dirty="0">
                <a:solidFill>
                  <a:srgbClr val="1B3A4B"/>
                </a:solidFill>
                <a:latin typeface="Consolas"/>
                <a:cs typeface="Consolas"/>
              </a:rPr>
              <a:t>htn_xl &lt;- read_excel(</a:t>
            </a:r>
          </a:p>
          <a:p>
            <a:pPr marL="0" indent="0" algn="l">
              <a:lnSpc>
                <a:spcPct val="100000"/>
              </a:lnSpc>
              <a:buNone/>
            </a:pPr>
            <a:r>
              <a:rPr lang="en-US" sz="1300" dirty="0">
                <a:solidFill>
                  <a:srgbClr val="1B3A4B"/>
                </a:solidFill>
                <a:latin typeface="Consolas"/>
                <a:cs typeface="Consolas"/>
              </a:rPr>
              <a:t>  "Data/hypertension_phc_raw.xlsx", sheet = "data")</a:t>
            </a:r>
          </a:p>
          <a:p>
            <a:pPr marL="0" indent="0" algn="l">
              <a:lnSpc>
                <a:spcPct val="100000"/>
              </a:lnSpc>
              <a:buNone/>
            </a:pPr>
            <a:r>
              <a:rPr lang="en-US" sz="1300" dirty="0">
                <a:solidFill>
                  <a:srgbClr val="1B3A4B"/>
                </a:solidFill>
                <a:latin typeface="Consolas"/>
                <a:cs typeface="Consolas"/>
              </a:rPr>
              <a:t>dim(htn)</a:t>
            </a:r>
          </a:p>
        </p:txBody>
      </p:sp>
      <p:sp>
        <p:nvSpPr>
          <p:cNvPr id="31" name="Output"/>
          <p:cNvSpPr/>
          <p:nvPr/>
        </p:nvSpPr>
        <p:spPr>
          <a:xfrm>
            <a:off x="457200" y="3230000"/>
            <a:ext cx="11277600" cy="700000"/>
          </a:xfrm>
          <a:prstGeom prst="roundRect">
            <a:avLst>
              <a:gd name="adj" fmla="val 6000"/>
            </a:avLst>
          </a:prstGeom>
          <a:solidFill>
            <a:srgbClr val="F2EFE6"/>
          </a:solidFill>
          <a:ln>
            <a:noFill/>
          </a:ln>
        </p:spPr>
        <p:txBody>
          <a:bodyPr wrap="square" lIns="137160" tIns="91440" rIns="137160" bIns="91440" rtlCol="0" anchor="t"/>
          <a:lstStyle/>
          <a:p>
            <a:pPr marL="0" indent="0" algn="l">
              <a:buNone/>
            </a:pPr>
            <a:r>
              <a:rPr lang="en-US" sz="1150" b="1" dirty="0">
                <a:solidFill>
                  <a:srgbClr val="595959"/>
                </a:solidFill>
                <a:latin typeface="Century Gothic"/>
                <a:cs typeface="Century Gothic"/>
              </a:rPr>
              <a:t>Console output</a:t>
            </a:r>
          </a:p>
          <a:p>
            <a:pPr marL="0" indent="0" algn="l">
              <a:lnSpc>
                <a:spcPct val="100000"/>
              </a:lnSpc>
              <a:buNone/>
            </a:pPr>
            <a:r>
              <a:rPr lang="en-US" sz="1250" dirty="0">
                <a:solidFill>
                  <a:srgbClr val="1A1A1A"/>
                </a:solidFill>
                <a:latin typeface="Consolas"/>
                <a:cs typeface="Consolas"/>
              </a:rPr>
              <a:t>Rows: 1503  Columns: 36</a:t>
            </a:r>
          </a:p>
          <a:p>
            <a:pPr marL="0" indent="0" algn="l">
              <a:lnSpc>
                <a:spcPct val="100000"/>
              </a:lnSpc>
              <a:buNone/>
            </a:pPr>
            <a:r>
              <a:rPr lang="en-US" sz="1250" dirty="0">
                <a:solidFill>
                  <a:srgbClr val="1A1A1A"/>
                </a:solidFill>
                <a:latin typeface="Consolas"/>
                <a:cs typeface="Consolas"/>
              </a:rPr>
              <a:t>[1] 1503   36</a:t>
            </a:r>
          </a:p>
        </p:txBody>
      </p:sp>
      <p:sp>
        <p:nvSpPr>
          <p:cNvPr id="32" name="Note"/>
          <p:cNvSpPr/>
          <p:nvPr/>
        </p:nvSpPr>
        <p:spPr>
          <a:xfrm>
            <a:off x="457200" y="4070000"/>
            <a:ext cx="11277600" cy="470000"/>
          </a:xfrm>
          <a:prstGeom prst="roundRect">
            <a:avLst>
              <a:gd name="adj" fmla="val 6000"/>
            </a:avLst>
          </a:prstGeom>
          <a:solidFill>
            <a:srgbClr val="EAF1F7"/>
          </a:solidFill>
          <a:ln>
            <a:noFill/>
          </a:ln>
        </p:spPr>
        <p:txBody>
          <a:bodyPr wrap="square" lIns="137160" tIns="91440" rIns="137160" bIns="91440" rtlCol="0" anchor="t"/>
          <a:lstStyle/>
          <a:p>
            <a:pPr marL="0" indent="0" algn="l">
              <a:buNone/>
            </a:pPr>
            <a:r>
              <a:rPr lang="en-US" sz="1300" dirty="0">
                <a:solidFill>
                  <a:srgbClr val="1F5C7A"/>
                </a:solidFill>
                <a:latin typeface="Century Gothic"/>
                <a:cs typeface="Century Gothic"/>
              </a:rPr>
              <a:t>INTERPRETATION  -  read_csv for CSV, read_excel for Excel. Note 1503, not 1500.</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Century Gothic"/>
                <a:cs typeface="Century Gothic"/>
              </a:rPr>
              <a:t>First Look: Knowing Your Data</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Body"/>
          <p:cNvSpPr txBox="1"/>
          <p:nvPr/>
        </p:nvSpPr>
        <p:spPr>
          <a:xfrm>
            <a:off x="457200" y="1080000"/>
            <a:ext cx="11277600" cy="4780000"/>
          </a:xfrm>
          <a:prstGeom prst="rect">
            <a:avLst/>
          </a:prstGeom>
          <a:noFill/>
          <a:ln>
            <a:noFill/>
          </a:ln>
        </p:spPr>
        <p:txBody>
          <a:bodyPr wrap="square" lIns="91440" tIns="45720" rIns="91440" bIns="45720" rtlCol="0" anchor="ctr"/>
          <a:lstStyle/>
          <a:p>
            <a:pPr marL="0" indent="0" algn="l">
              <a:lnSpc>
                <a:spcPct val="108000"/>
              </a:lnSpc>
              <a:buNone/>
            </a:pPr>
            <a:r>
              <a:rPr lang="en-US" sz="1900" i="1" dirty="0">
                <a:solidFill>
                  <a:srgbClr val="595959"/>
                </a:solidFill>
                <a:latin typeface="Century Gothic"/>
                <a:cs typeface="Century Gothic"/>
              </a:rPr>
              <a:t>Run these the moment any dataset is imported.</a:t>
            </a:r>
          </a:p>
          <a:p>
            <a:pPr>
              <a:buNone/>
            </a:pPr>
            <a:endParaRPr sz="950"/>
          </a:p>
          <a:p>
            <a:pPr marL="274320" indent="-274320" algn="l">
              <a:lnSpc>
                <a:spcPct val="106000"/>
              </a:lnSpc>
              <a:spcBef>
                <a:spcPts val="560"/>
              </a:spcBef>
              <a:buFont typeface="Arial"/>
              <a:buChar char="•"/>
            </a:pPr>
            <a:r>
              <a:rPr lang="en-US" sz="1950" dirty="0">
                <a:solidFill>
                  <a:srgbClr val="000000"/>
                </a:solidFill>
                <a:latin typeface="Century Gothic"/>
                <a:cs typeface="Century Gothic"/>
              </a:rPr>
              <a:t>dim(htn): how many rows and columns</a:t>
            </a:r>
          </a:p>
          <a:p>
            <a:pPr marL="274320" indent="-274320" algn="l">
              <a:lnSpc>
                <a:spcPct val="106000"/>
              </a:lnSpc>
              <a:spcBef>
                <a:spcPts val="560"/>
              </a:spcBef>
              <a:buFont typeface="Arial"/>
              <a:buChar char="•"/>
            </a:pPr>
            <a:r>
              <a:rPr lang="en-US" sz="1950" dirty="0">
                <a:solidFill>
                  <a:srgbClr val="000000"/>
                </a:solidFill>
                <a:latin typeface="Century Gothic"/>
                <a:cs typeface="Century Gothic"/>
              </a:rPr>
              <a:t>names(htn): the variable names</a:t>
            </a:r>
          </a:p>
          <a:p>
            <a:pPr marL="274320" indent="-274320" algn="l">
              <a:lnSpc>
                <a:spcPct val="106000"/>
              </a:lnSpc>
              <a:spcBef>
                <a:spcPts val="560"/>
              </a:spcBef>
              <a:buFont typeface="Arial"/>
              <a:buChar char="•"/>
            </a:pPr>
            <a:r>
              <a:rPr lang="en-US" sz="1950" dirty="0">
                <a:solidFill>
                  <a:srgbClr val="000000"/>
                </a:solidFill>
                <a:latin typeface="Century Gothic"/>
                <a:cs typeface="Century Gothic"/>
              </a:rPr>
              <a:t>glimpse(htn): every column with its type</a:t>
            </a:r>
          </a:p>
          <a:p>
            <a:pPr marL="274320" indent="-274320" algn="l">
              <a:lnSpc>
                <a:spcPct val="106000"/>
              </a:lnSpc>
              <a:spcBef>
                <a:spcPts val="560"/>
              </a:spcBef>
              <a:buFont typeface="Arial"/>
              <a:buChar char="•"/>
            </a:pPr>
            <a:r>
              <a:rPr lang="en-US" sz="1950" dirty="0">
                <a:solidFill>
                  <a:srgbClr val="000000"/>
                </a:solidFill>
                <a:latin typeface="Century Gothic"/>
                <a:cs typeface="Century Gothic"/>
              </a:rPr>
              <a:t>head(htn): the first few rows</a:t>
            </a:r>
          </a:p>
          <a:p>
            <a:pPr marL="274320" indent="-274320" algn="l">
              <a:lnSpc>
                <a:spcPct val="106000"/>
              </a:lnSpc>
              <a:spcBef>
                <a:spcPts val="560"/>
              </a:spcBef>
              <a:buFont typeface="Arial"/>
              <a:buChar char="•"/>
            </a:pPr>
            <a:r>
              <a:rPr lang="en-US" sz="1950" dirty="0">
                <a:solidFill>
                  <a:srgbClr val="000000"/>
                </a:solidFill>
                <a:latin typeface="Century Gothic"/>
                <a:cs typeface="Century Gothic"/>
              </a:rPr>
              <a:t>View(htn): open the spreadsheet viewer</a:t>
            </a:r>
          </a:p>
          <a:p>
            <a:pPr marL="274320" indent="-274320" algn="l">
              <a:lnSpc>
                <a:spcPct val="106000"/>
              </a:lnSpc>
              <a:spcBef>
                <a:spcPts val="560"/>
              </a:spcBef>
              <a:buFont typeface="Arial"/>
              <a:buChar char="•"/>
            </a:pPr>
            <a:r>
              <a:rPr lang="en-US" sz="1950" dirty="0">
                <a:solidFill>
                  <a:srgbClr val="000000"/>
                </a:solidFill>
                <a:latin typeface="Century Gothic"/>
                <a:cs typeface="Century Gothic"/>
              </a:rPr>
              <a:t>htn$age: pull one column out with the dollar sign</a:t>
            </a:r>
          </a:p>
          <a:p>
            <a:pPr marL="274320" indent="-274320" algn="l">
              <a:lnSpc>
                <a:spcPct val="106000"/>
              </a:lnSpc>
              <a:spcBef>
                <a:spcPts val="560"/>
              </a:spcBef>
              <a:buFont typeface="Arial"/>
              <a:buChar char="•"/>
            </a:pPr>
            <a:r>
              <a:rPr lang="en-US" sz="1950" dirty="0">
                <a:solidFill>
                  <a:srgbClr val="000000"/>
                </a:solidFill>
                <a:latin typeface="Century Gothic"/>
                <a:cs typeface="Century Gothic"/>
              </a:rPr>
              <a:t>summary(htn$age): min, mean, max of a variable</a:t>
            </a:r>
          </a:p>
          <a:p>
            <a:pPr marL="274320" indent="-274320" algn="l">
              <a:lnSpc>
                <a:spcPct val="106000"/>
              </a:lnSpc>
              <a:spcBef>
                <a:spcPts val="560"/>
              </a:spcBef>
              <a:buFont typeface="Arial"/>
              <a:buChar char="•"/>
            </a:pPr>
            <a:r>
              <a:rPr lang="en-US" sz="1950" dirty="0">
                <a:solidFill>
                  <a:srgbClr val="000000"/>
                </a:solidFill>
                <a:latin typeface="Century Gothic"/>
                <a:cs typeface="Century Gothic"/>
              </a:rPr>
              <a:t>table(htn$sex): counts of each category</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Century Gothic"/>
                <a:cs typeface="Century Gothic"/>
              </a:rPr>
              <a:t>Inspecting Single Variables</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Intro"/>
          <p:cNvSpPr txBox="1"/>
          <p:nvPr/>
        </p:nvSpPr>
        <p:spPr>
          <a:xfrm>
            <a:off x="457200" y="1080000"/>
            <a:ext cx="11277600" cy="520000"/>
          </a:xfrm>
          <a:prstGeom prst="rect">
            <a:avLst/>
          </a:prstGeom>
          <a:noFill/>
          <a:ln>
            <a:noFill/>
          </a:ln>
        </p:spPr>
        <p:txBody>
          <a:bodyPr wrap="square" lIns="91440" tIns="45720" rIns="91440" bIns="45720" rtlCol="0" anchor="t"/>
          <a:lstStyle/>
          <a:p>
            <a:pPr marL="0" indent="0" algn="l">
              <a:buNone/>
            </a:pPr>
            <a:r>
              <a:rPr lang="en-US" sz="1600" i="1" dirty="0">
                <a:solidFill>
                  <a:srgbClr val="595959"/>
                </a:solidFill>
                <a:latin typeface="Century Gothic"/>
                <a:cs typeface="Century Gothic"/>
              </a:rPr>
              <a:t>The $ extracts one column to summarise.</a:t>
            </a:r>
          </a:p>
        </p:txBody>
      </p:sp>
      <p:sp>
        <p:nvSpPr>
          <p:cNvPr id="30" name="Code"/>
          <p:cNvSpPr/>
          <p:nvPr/>
        </p:nvSpPr>
        <p:spPr>
          <a:xfrm>
            <a:off x="457200" y="1640000"/>
            <a:ext cx="11277600" cy="600000"/>
          </a:xfrm>
          <a:prstGeom prst="roundRect">
            <a:avLst>
              <a:gd name="adj" fmla="val 6000"/>
            </a:avLst>
          </a:prstGeom>
          <a:solidFill>
            <a:srgbClr val="EDF1F2"/>
          </a:solidFill>
          <a:ln>
            <a:noFill/>
          </a:ln>
        </p:spPr>
        <p:txBody>
          <a:bodyPr wrap="square" lIns="137160" tIns="91440" rIns="137160" bIns="91440" rtlCol="0" anchor="t"/>
          <a:lstStyle/>
          <a:p>
            <a:pPr marL="0" indent="0" algn="l">
              <a:lnSpc>
                <a:spcPct val="100000"/>
              </a:lnSpc>
              <a:buNone/>
            </a:pPr>
            <a:r>
              <a:rPr lang="en-US" sz="1300" dirty="0">
                <a:solidFill>
                  <a:srgbClr val="1B3A4B"/>
                </a:solidFill>
                <a:latin typeface="Consolas"/>
                <a:cs typeface="Consolas"/>
              </a:rPr>
              <a:t>summary(htn$age)</a:t>
            </a:r>
          </a:p>
          <a:p>
            <a:pPr marL="0" indent="0" algn="l">
              <a:lnSpc>
                <a:spcPct val="100000"/>
              </a:lnSpc>
              <a:buNone/>
            </a:pPr>
            <a:r>
              <a:rPr lang="en-US" sz="1300" dirty="0">
                <a:solidFill>
                  <a:srgbClr val="1B3A4B"/>
                </a:solidFill>
                <a:latin typeface="Consolas"/>
                <a:cs typeface="Consolas"/>
              </a:rPr>
              <a:t>table(htn$sex)</a:t>
            </a:r>
          </a:p>
        </p:txBody>
      </p:sp>
      <p:sp>
        <p:nvSpPr>
          <p:cNvPr id="31" name="Output"/>
          <p:cNvSpPr/>
          <p:nvPr/>
        </p:nvSpPr>
        <p:spPr>
          <a:xfrm>
            <a:off x="457200" y="2390000"/>
            <a:ext cx="11277600" cy="1300000"/>
          </a:xfrm>
          <a:prstGeom prst="roundRect">
            <a:avLst>
              <a:gd name="adj" fmla="val 6000"/>
            </a:avLst>
          </a:prstGeom>
          <a:solidFill>
            <a:srgbClr val="F2EFE6"/>
          </a:solidFill>
          <a:ln>
            <a:noFill/>
          </a:ln>
        </p:spPr>
        <p:txBody>
          <a:bodyPr wrap="square" lIns="137160" tIns="91440" rIns="137160" bIns="91440" rtlCol="0" anchor="t"/>
          <a:lstStyle/>
          <a:p>
            <a:pPr marL="0" indent="0" algn="l">
              <a:buNone/>
            </a:pPr>
            <a:r>
              <a:rPr lang="en-US" sz="1150" b="1" dirty="0">
                <a:solidFill>
                  <a:srgbClr val="595959"/>
                </a:solidFill>
                <a:latin typeface="Century Gothic"/>
                <a:cs typeface="Century Gothic"/>
              </a:rPr>
              <a:t>Console output</a:t>
            </a:r>
          </a:p>
          <a:p>
            <a:pPr marL="0" indent="0" algn="l">
              <a:lnSpc>
                <a:spcPct val="100000"/>
              </a:lnSpc>
              <a:buNone/>
            </a:pPr>
            <a:r>
              <a:rPr lang="en-US" sz="1250" dirty="0">
                <a:solidFill>
                  <a:srgbClr val="1A1A1A"/>
                </a:solidFill>
                <a:latin typeface="Consolas"/>
                <a:cs typeface="Consolas"/>
              </a:rPr>
              <a:t>   Min. 1st Qu.  Median    Mean 3rd Qu.    Max.</a:t>
            </a:r>
          </a:p>
          <a:p>
            <a:pPr marL="0" indent="0" algn="l">
              <a:lnSpc>
                <a:spcPct val="100000"/>
              </a:lnSpc>
              <a:buNone/>
            </a:pPr>
            <a:r>
              <a:rPr lang="en-US" sz="1250" dirty="0">
                <a:solidFill>
                  <a:srgbClr val="1A1A1A"/>
                </a:solidFill>
                <a:latin typeface="Consolas"/>
                <a:cs typeface="Consolas"/>
              </a:rPr>
              <a:t>   0.0    38.0    52.0    53.4    66.0   200.0</a:t>
            </a:r>
          </a:p>
          <a:p>
            <a:pPr marL="0" indent="0" algn="l">
              <a:lnSpc>
                <a:spcPct val="100000"/>
              </a:lnSpc>
              <a:buNone/>
            </a:pPr>
            <a:r>
              <a:rPr lang="en-US" sz="1250" dirty="0">
                <a:solidFill>
                  <a:srgbClr val="1A1A1A"/>
                </a:solidFill>
                <a:latin typeface="Consolas"/>
                <a:cs typeface="Consolas"/>
              </a:rPr>
              <a:t> </a:t>
            </a:r>
          </a:p>
          <a:p>
            <a:pPr marL="0" indent="0" algn="l">
              <a:lnSpc>
                <a:spcPct val="100000"/>
              </a:lnSpc>
              <a:buNone/>
            </a:pPr>
            <a:r>
              <a:rPr lang="en-US" sz="1250" dirty="0">
                <a:solidFill>
                  <a:srgbClr val="1A1A1A"/>
                </a:solidFill>
                <a:latin typeface="Consolas"/>
                <a:cs typeface="Consolas"/>
              </a:rPr>
              <a:t>     f      F female Female      m ...</a:t>
            </a:r>
          </a:p>
          <a:p>
            <a:pPr marL="0" indent="0" algn="l">
              <a:lnSpc>
                <a:spcPct val="100000"/>
              </a:lnSpc>
              <a:buNone/>
            </a:pPr>
            <a:r>
              <a:rPr lang="en-US" sz="1250" dirty="0">
                <a:solidFill>
                  <a:srgbClr val="1A1A1A"/>
                </a:solidFill>
                <a:latin typeface="Consolas"/>
                <a:cs typeface="Consolas"/>
              </a:rPr>
              <a:t>    11     63    402    498     14 ...</a:t>
            </a:r>
          </a:p>
        </p:txBody>
      </p:sp>
      <p:sp>
        <p:nvSpPr>
          <p:cNvPr id="32" name="Note"/>
          <p:cNvSpPr/>
          <p:nvPr/>
        </p:nvSpPr>
        <p:spPr>
          <a:xfrm>
            <a:off x="457200" y="3830000"/>
            <a:ext cx="11277600" cy="470000"/>
          </a:xfrm>
          <a:prstGeom prst="roundRect">
            <a:avLst>
              <a:gd name="adj" fmla="val 6000"/>
            </a:avLst>
          </a:prstGeom>
          <a:solidFill>
            <a:srgbClr val="EAF1F7"/>
          </a:solidFill>
          <a:ln>
            <a:noFill/>
          </a:ln>
        </p:spPr>
        <p:txBody>
          <a:bodyPr wrap="square" lIns="137160" tIns="91440" rIns="137160" bIns="91440" rtlCol="0" anchor="t"/>
          <a:lstStyle/>
          <a:p>
            <a:pPr marL="0" indent="0" algn="l">
              <a:buNone/>
            </a:pPr>
            <a:r>
              <a:rPr lang="en-US" sz="1300" dirty="0">
                <a:solidFill>
                  <a:srgbClr val="1F5C7A"/>
                </a:solidFill>
                <a:latin typeface="Century Gothic"/>
                <a:cs typeface="Century Gothic"/>
              </a:rPr>
              <a:t>INTERPRETATION  -  Max age 200 and eight spellings of sex: this data needs cleaning.</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Century Gothic"/>
                <a:cs typeface="Century Gothic"/>
              </a:rPr>
              <a:t>Common Mistakes and Quick Debugging</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Body"/>
          <p:cNvSpPr txBox="1"/>
          <p:nvPr/>
        </p:nvSpPr>
        <p:spPr>
          <a:xfrm>
            <a:off x="457200" y="1080000"/>
            <a:ext cx="11277600" cy="3150000"/>
          </a:xfrm>
          <a:prstGeom prst="rect">
            <a:avLst/>
          </a:prstGeom>
          <a:noFill/>
          <a:ln>
            <a:noFill/>
          </a:ln>
        </p:spPr>
        <p:txBody>
          <a:bodyPr wrap="square" lIns="91440" tIns="45720" rIns="91440" bIns="45720" rtlCol="0" anchor="t"/>
          <a:lstStyle/>
          <a:p>
            <a:pPr marL="0" indent="0" algn="l">
              <a:spcBef>
                <a:spcPts val="360"/>
              </a:spcBef>
              <a:buNone/>
            </a:pPr>
            <a:r>
              <a:rPr lang="en-US" sz="2050" b="1" dirty="0">
                <a:solidFill>
                  <a:srgbClr val="0D7377"/>
                </a:solidFill>
                <a:latin typeface="Century Gothic"/>
                <a:cs typeface="Century Gothic"/>
              </a:rPr>
              <a:t>When it does not work, check</a:t>
            </a:r>
          </a:p>
          <a:p>
            <a:pPr marL="0" indent="0" algn="l">
              <a:lnSpc>
                <a:spcPct val="108000"/>
              </a:lnSpc>
              <a:spcBef>
                <a:spcPts val="440"/>
              </a:spcBef>
              <a:buNone/>
            </a:pPr>
            <a:r>
              <a:rPr lang="en-US" sz="1800" dirty="0">
                <a:solidFill>
                  <a:srgbClr val="000000"/>
                </a:solidFill>
                <a:latin typeface="Century Gothic"/>
                <a:cs typeface="Century Gothic"/>
              </a:rPr>
              <a:t>Did you run library() for the package?</a:t>
            </a:r>
          </a:p>
          <a:p>
            <a:pPr marL="0" indent="0" algn="l">
              <a:lnSpc>
                <a:spcPct val="108000"/>
              </a:lnSpc>
              <a:spcBef>
                <a:spcPts val="440"/>
              </a:spcBef>
              <a:buNone/>
            </a:pPr>
            <a:r>
              <a:rPr lang="en-US" sz="1800" dirty="0">
                <a:solidFill>
                  <a:srgbClr val="000000"/>
                </a:solidFill>
                <a:latin typeface="Century Gothic"/>
                <a:cs typeface="Century Gothic"/>
              </a:rPr>
              <a:t>Did you use &lt;- and not = for assignment?</a:t>
            </a:r>
          </a:p>
          <a:p>
            <a:pPr marL="0" indent="0" algn="l">
              <a:lnSpc>
                <a:spcPct val="108000"/>
              </a:lnSpc>
              <a:spcBef>
                <a:spcPts val="440"/>
              </a:spcBef>
              <a:buNone/>
            </a:pPr>
            <a:r>
              <a:rPr lang="en-US" sz="1800" dirty="0">
                <a:solidFill>
                  <a:srgbClr val="000000"/>
                </a:solidFill>
                <a:latin typeface="Century Gothic"/>
                <a:cs typeface="Century Gothic"/>
              </a:rPr>
              <a:t>Is the spelling and CASE exactly right?</a:t>
            </a:r>
          </a:p>
          <a:p>
            <a:pPr marL="0" indent="0" algn="l">
              <a:lnSpc>
                <a:spcPct val="108000"/>
              </a:lnSpc>
              <a:spcBef>
                <a:spcPts val="440"/>
              </a:spcBef>
              <a:buNone/>
            </a:pPr>
            <a:r>
              <a:rPr lang="en-US" sz="1800" dirty="0">
                <a:solidFill>
                  <a:srgbClr val="000000"/>
                </a:solidFill>
                <a:latin typeface="Century Gothic"/>
                <a:cs typeface="Century Gothic"/>
              </a:rPr>
              <a:t>Is the file path and name correct?</a:t>
            </a:r>
          </a:p>
          <a:p>
            <a:pPr>
              <a:buNone/>
            </a:pPr>
            <a:endParaRPr sz="1050"/>
          </a:p>
          <a:p>
            <a:pPr>
              <a:buNone/>
            </a:pPr>
            <a:endParaRPr sz="1050"/>
          </a:p>
        </p:txBody>
      </p:sp>
      <p:sp>
        <p:nvSpPr>
          <p:cNvPr id="40" name="Callout"/>
          <p:cNvSpPr/>
          <p:nvPr/>
        </p:nvSpPr>
        <p:spPr>
          <a:xfrm>
            <a:off x="457200" y="4130000"/>
            <a:ext cx="11277600" cy="810000"/>
          </a:xfrm>
          <a:prstGeom prst="roundRect">
            <a:avLst>
              <a:gd name="adj" fmla="val 6000"/>
            </a:avLst>
          </a:prstGeom>
          <a:solidFill>
            <a:srgbClr val="FBE9E7"/>
          </a:solidFill>
          <a:ln>
            <a:noFill/>
          </a:ln>
        </p:spPr>
        <p:txBody>
          <a:bodyPr wrap="square" lIns="137160" tIns="91440" rIns="137160" bIns="91440" rtlCol="0" anchor="t"/>
          <a:lstStyle/>
          <a:p>
            <a:pPr marL="0" indent="0" algn="l">
              <a:buNone/>
            </a:pPr>
            <a:r>
              <a:rPr lang="en-US" sz="1300" b="1" dirty="0">
                <a:solidFill>
                  <a:srgbClr val="B23B2E"/>
                </a:solidFill>
                <a:latin typeface="Century Gothic"/>
                <a:cs typeface="Century Gothic"/>
              </a:rPr>
              <a:t>WARNING  -  could not find function</a:t>
            </a:r>
          </a:p>
          <a:p>
            <a:pPr marL="0" indent="0" algn="l">
              <a:spcBef>
                <a:spcPts val="100"/>
              </a:spcBef>
              <a:buNone/>
            </a:pPr>
            <a:r>
              <a:rPr lang="en-US" sz="1300" dirty="0">
                <a:solidFill>
                  <a:srgbClr val="000000"/>
                </a:solidFill>
                <a:latin typeface="Century Gothic"/>
                <a:cs typeface="Century Gothic"/>
              </a:rPr>
              <a:t>Usually means the package is not loaded: run library().</a:t>
            </a:r>
          </a:p>
        </p:txBody>
      </p:sp>
      <p:sp>
        <p:nvSpPr>
          <p:cNvPr id="41" name="Callout"/>
          <p:cNvSpPr/>
          <p:nvPr/>
        </p:nvSpPr>
        <p:spPr>
          <a:xfrm>
            <a:off x="457200" y="5070000"/>
            <a:ext cx="11277600" cy="810000"/>
          </a:xfrm>
          <a:prstGeom prst="roundRect">
            <a:avLst>
              <a:gd name="adj" fmla="val 6000"/>
            </a:avLst>
          </a:prstGeom>
          <a:solidFill>
            <a:srgbClr val="FFF4E5"/>
          </a:solidFill>
          <a:ln>
            <a:noFill/>
          </a:ln>
        </p:spPr>
        <p:txBody>
          <a:bodyPr wrap="square" lIns="137160" tIns="91440" rIns="137160" bIns="91440" rtlCol="0" anchor="t"/>
          <a:lstStyle/>
          <a:p>
            <a:pPr marL="0" indent="0" algn="l">
              <a:buNone/>
            </a:pPr>
            <a:r>
              <a:rPr lang="en-US" sz="1300" b="1" dirty="0">
                <a:solidFill>
                  <a:srgbClr val="B5651D"/>
                </a:solidFill>
                <a:latin typeface="Century Gothic"/>
                <a:cs typeface="Century Gothic"/>
              </a:rPr>
              <a:t>COMMON MISTAKE  -  cannot open file</a:t>
            </a:r>
          </a:p>
          <a:p>
            <a:pPr marL="0" indent="0" algn="l">
              <a:spcBef>
                <a:spcPts val="100"/>
              </a:spcBef>
              <a:buNone/>
            </a:pPr>
            <a:r>
              <a:rPr lang="en-US" sz="1300" dirty="0">
                <a:solidFill>
                  <a:srgbClr val="000000"/>
                </a:solidFill>
                <a:latin typeface="Century Gothic"/>
                <a:cs typeface="Century Gothic"/>
              </a:rPr>
              <a:t>Wrong path or file name; check the Files pane.</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Century Gothic"/>
                <a:cs typeface="Century Gothic"/>
              </a:rPr>
              <a:t>What the Data Is Already Telling Us</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Body"/>
          <p:cNvSpPr txBox="1"/>
          <p:nvPr/>
        </p:nvSpPr>
        <p:spPr>
          <a:xfrm>
            <a:off x="457200" y="1080000"/>
            <a:ext cx="11277600" cy="3150000"/>
          </a:xfrm>
          <a:prstGeom prst="rect">
            <a:avLst/>
          </a:prstGeom>
          <a:noFill/>
          <a:ln>
            <a:noFill/>
          </a:ln>
        </p:spPr>
        <p:txBody>
          <a:bodyPr wrap="square" lIns="91440" tIns="45720" rIns="91440" bIns="45720" rtlCol="0" anchor="t"/>
          <a:lstStyle/>
          <a:p>
            <a:pPr marL="0" indent="0" algn="l">
              <a:spcBef>
                <a:spcPts val="360"/>
              </a:spcBef>
              <a:buNone/>
            </a:pPr>
            <a:r>
              <a:rPr lang="en-US" sz="2050" b="1" dirty="0">
                <a:solidFill>
                  <a:srgbClr val="0D7377"/>
                </a:solidFill>
                <a:latin typeface="Century Gothic"/>
                <a:cs typeface="Century Gothic"/>
              </a:rPr>
              <a:t>Problems visible on the first look</a:t>
            </a:r>
          </a:p>
          <a:p>
            <a:pPr marL="0" indent="0" algn="l">
              <a:lnSpc>
                <a:spcPct val="108000"/>
              </a:lnSpc>
              <a:spcBef>
                <a:spcPts val="440"/>
              </a:spcBef>
              <a:buNone/>
            </a:pPr>
            <a:r>
              <a:rPr lang="en-US" sz="1800" dirty="0">
                <a:solidFill>
                  <a:srgbClr val="000000"/>
                </a:solidFill>
                <a:latin typeface="Century Gothic"/>
                <a:cs typeface="Century Gothic"/>
              </a:rPr>
              <a:t>Age = 200 and age = 0: impossible values</a:t>
            </a:r>
          </a:p>
          <a:p>
            <a:pPr marL="0" indent="0" algn="l">
              <a:lnSpc>
                <a:spcPct val="108000"/>
              </a:lnSpc>
              <a:spcBef>
                <a:spcPts val="440"/>
              </a:spcBef>
              <a:buNone/>
            </a:pPr>
            <a:r>
              <a:rPr lang="en-US" sz="1800" dirty="0">
                <a:solidFill>
                  <a:srgbClr val="000000"/>
                </a:solidFill>
                <a:latin typeface="Century Gothic"/>
                <a:cs typeface="Century Gothic"/>
              </a:rPr>
              <a:t>Sex recorded eight different ways</a:t>
            </a:r>
          </a:p>
          <a:p>
            <a:pPr marL="0" indent="0" algn="l">
              <a:lnSpc>
                <a:spcPct val="108000"/>
              </a:lnSpc>
              <a:spcBef>
                <a:spcPts val="440"/>
              </a:spcBef>
              <a:buNone/>
            </a:pPr>
            <a:r>
              <a:rPr lang="en-US" sz="1800" dirty="0">
                <a:solidFill>
                  <a:srgbClr val="000000"/>
                </a:solidFill>
                <a:latin typeface="Century Gothic"/>
                <a:cs typeface="Century Gothic"/>
              </a:rPr>
              <a:t>1503 rows for 1,500 people: duplicates</a:t>
            </a:r>
          </a:p>
          <a:p>
            <a:pPr>
              <a:buNone/>
            </a:pPr>
            <a:endParaRPr sz="1050"/>
          </a:p>
          <a:p>
            <a:pPr marL="0" indent="0" algn="l">
              <a:spcBef>
                <a:spcPts val="360"/>
              </a:spcBef>
              <a:buNone/>
            </a:pPr>
            <a:r>
              <a:rPr lang="en-US" sz="2050" b="1" dirty="0">
                <a:solidFill>
                  <a:srgbClr val="0D7377"/>
                </a:solidFill>
                <a:latin typeface="Century Gothic"/>
                <a:cs typeface="Century Gothic"/>
              </a:rPr>
              <a:t>Why this is good news</a:t>
            </a:r>
          </a:p>
          <a:p>
            <a:pPr marL="0" indent="0" algn="l">
              <a:lnSpc>
                <a:spcPct val="108000"/>
              </a:lnSpc>
              <a:spcBef>
                <a:spcPts val="440"/>
              </a:spcBef>
              <a:buNone/>
            </a:pPr>
            <a:r>
              <a:rPr lang="en-US" sz="1800" dirty="0">
                <a:solidFill>
                  <a:srgbClr val="000000"/>
                </a:solidFill>
                <a:latin typeface="Century Gothic"/>
                <a:cs typeface="Century Gothic"/>
              </a:rPr>
              <a:t>We found it in seconds, before any analysis</a:t>
            </a:r>
          </a:p>
          <a:p>
            <a:pPr marL="0" indent="0" algn="l">
              <a:lnSpc>
                <a:spcPct val="108000"/>
              </a:lnSpc>
              <a:spcBef>
                <a:spcPts val="440"/>
              </a:spcBef>
              <a:buNone/>
            </a:pPr>
            <a:r>
              <a:rPr lang="en-US" sz="1800" dirty="0">
                <a:solidFill>
                  <a:srgbClr val="000000"/>
                </a:solidFill>
                <a:latin typeface="Century Gothic"/>
                <a:cs typeface="Century Gothic"/>
              </a:rPr>
              <a:t>Cleaning is the topic of Day 2</a:t>
            </a:r>
          </a:p>
          <a:p>
            <a:pPr>
              <a:buNone/>
            </a:pPr>
            <a:endParaRPr sz="1050"/>
          </a:p>
        </p:txBody>
      </p:sp>
      <p:sp>
        <p:nvSpPr>
          <p:cNvPr id="40" name="Callout"/>
          <p:cNvSpPr/>
          <p:nvPr/>
        </p:nvSpPr>
        <p:spPr>
          <a:xfrm>
            <a:off x="457200" y="5070000"/>
            <a:ext cx="11277600" cy="810000"/>
          </a:xfrm>
          <a:prstGeom prst="roundRect">
            <a:avLst>
              <a:gd name="adj" fmla="val 6000"/>
            </a:avLst>
          </a:prstGeom>
          <a:solidFill>
            <a:srgbClr val="EAF1F7"/>
          </a:solidFill>
          <a:ln>
            <a:noFill/>
          </a:ln>
        </p:spPr>
        <p:txBody>
          <a:bodyPr wrap="square" lIns="137160" tIns="91440" rIns="137160" bIns="91440" rtlCol="0" anchor="t"/>
          <a:lstStyle/>
          <a:p>
            <a:pPr marL="0" indent="0" algn="l">
              <a:buNone/>
            </a:pPr>
            <a:r>
              <a:rPr lang="en-US" sz="1300" b="1" dirty="0">
                <a:solidFill>
                  <a:srgbClr val="1F5C7A"/>
                </a:solidFill>
                <a:latin typeface="Century Gothic"/>
                <a:cs typeface="Century Gothic"/>
              </a:rPr>
              <a:t>CLINICAL INTERPRETATION  -  Garbage in, garbage out</a:t>
            </a:r>
          </a:p>
          <a:p>
            <a:pPr marL="0" indent="0" algn="l">
              <a:spcBef>
                <a:spcPts val="100"/>
              </a:spcBef>
              <a:buNone/>
            </a:pPr>
            <a:r>
              <a:rPr lang="en-US" sz="1300" dirty="0">
                <a:solidFill>
                  <a:srgbClr val="000000"/>
                </a:solidFill>
                <a:latin typeface="Century Gothic"/>
                <a:cs typeface="Century Gothic"/>
              </a:rPr>
              <a:t>No statistic is trustworthy on uncleaned data.</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Century Gothic"/>
                <a:cs typeface="Century Gothic"/>
              </a:rPr>
              <a:t>Day 1 Exercise: Import the Clinical Dataset</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Body"/>
          <p:cNvSpPr txBox="1"/>
          <p:nvPr/>
        </p:nvSpPr>
        <p:spPr>
          <a:xfrm>
            <a:off x="457200" y="1080000"/>
            <a:ext cx="11277600" cy="3150000"/>
          </a:xfrm>
          <a:prstGeom prst="rect">
            <a:avLst/>
          </a:prstGeom>
          <a:noFill/>
          <a:ln>
            <a:noFill/>
          </a:ln>
        </p:spPr>
        <p:txBody>
          <a:bodyPr wrap="square" lIns="91440" tIns="45720" rIns="91440" bIns="45720" rtlCol="0" anchor="t"/>
          <a:lstStyle/>
          <a:p>
            <a:pPr marL="0" indent="0" algn="l">
              <a:spcBef>
                <a:spcPts val="360"/>
              </a:spcBef>
              <a:buNone/>
            </a:pPr>
            <a:r>
              <a:rPr lang="en-US" sz="2050" b="1" dirty="0">
                <a:solidFill>
                  <a:srgbClr val="0D7377"/>
                </a:solidFill>
                <a:latin typeface="Century Gothic"/>
                <a:cs typeface="Century Gothic"/>
              </a:rPr>
              <a:t>Your tasks</a:t>
            </a:r>
          </a:p>
          <a:p>
            <a:pPr marL="0" indent="0" algn="l">
              <a:lnSpc>
                <a:spcPct val="108000"/>
              </a:lnSpc>
              <a:spcBef>
                <a:spcPts val="440"/>
              </a:spcBef>
              <a:buNone/>
            </a:pPr>
            <a:r>
              <a:rPr lang="en-US" sz="1800" dirty="0">
                <a:solidFill>
                  <a:srgbClr val="000000"/>
                </a:solidFill>
                <a:latin typeface="Century Gothic"/>
                <a:cs typeface="Century Gothic"/>
              </a:rPr>
              <a:t>Open the course RStudio Project</a:t>
            </a:r>
          </a:p>
          <a:p>
            <a:pPr marL="0" indent="0" algn="l">
              <a:lnSpc>
                <a:spcPct val="108000"/>
              </a:lnSpc>
              <a:spcBef>
                <a:spcPts val="440"/>
              </a:spcBef>
              <a:buNone/>
            </a:pPr>
            <a:r>
              <a:rPr lang="en-US" sz="1800" dirty="0">
                <a:solidFill>
                  <a:srgbClr val="000000"/>
                </a:solidFill>
                <a:latin typeface="Century Gothic"/>
                <a:cs typeface="Century Gothic"/>
              </a:rPr>
              <a:t>library(tidyverse) and library(readxl)</a:t>
            </a:r>
          </a:p>
          <a:p>
            <a:pPr marL="0" indent="0" algn="l">
              <a:lnSpc>
                <a:spcPct val="108000"/>
              </a:lnSpc>
              <a:spcBef>
                <a:spcPts val="440"/>
              </a:spcBef>
              <a:buNone/>
            </a:pPr>
            <a:r>
              <a:rPr lang="en-US" sz="1800" dirty="0">
                <a:solidFill>
                  <a:srgbClr val="000000"/>
                </a:solidFill>
                <a:latin typeface="Century Gothic"/>
                <a:cs typeface="Century Gothic"/>
              </a:rPr>
              <a:t>Import the CSV with read_csv()</a:t>
            </a:r>
          </a:p>
          <a:p>
            <a:pPr marL="0" indent="0" algn="l">
              <a:lnSpc>
                <a:spcPct val="108000"/>
              </a:lnSpc>
              <a:spcBef>
                <a:spcPts val="440"/>
              </a:spcBef>
              <a:buNone/>
            </a:pPr>
            <a:r>
              <a:rPr lang="en-US" sz="1800" dirty="0">
                <a:solidFill>
                  <a:srgbClr val="000000"/>
                </a:solidFill>
                <a:latin typeface="Century Gothic"/>
                <a:cs typeface="Century Gothic"/>
              </a:rPr>
              <a:t>Import the Excel file with read_excel()</a:t>
            </a:r>
          </a:p>
          <a:p>
            <a:pPr marL="0" indent="0" algn="l">
              <a:lnSpc>
                <a:spcPct val="108000"/>
              </a:lnSpc>
              <a:spcBef>
                <a:spcPts val="440"/>
              </a:spcBef>
              <a:buNone/>
            </a:pPr>
            <a:r>
              <a:rPr lang="en-US" sz="1800" dirty="0">
                <a:solidFill>
                  <a:srgbClr val="000000"/>
                </a:solidFill>
                <a:latin typeface="Century Gothic"/>
                <a:cs typeface="Century Gothic"/>
              </a:rPr>
              <a:t>Run glimpse() on the data</a:t>
            </a:r>
          </a:p>
          <a:p>
            <a:pPr marL="0" indent="0" algn="l">
              <a:lnSpc>
                <a:spcPct val="108000"/>
              </a:lnSpc>
              <a:spcBef>
                <a:spcPts val="440"/>
              </a:spcBef>
              <a:buNone/>
            </a:pPr>
            <a:r>
              <a:rPr lang="en-US" sz="1800" dirty="0">
                <a:solidFill>
                  <a:srgbClr val="000000"/>
                </a:solidFill>
                <a:latin typeface="Century Gothic"/>
                <a:cs typeface="Century Gothic"/>
              </a:rPr>
              <a:t>summary() the age column, table() the sex column</a:t>
            </a:r>
          </a:p>
          <a:p>
            <a:pPr>
              <a:buNone/>
            </a:pPr>
            <a:endParaRPr sz="1050"/>
          </a:p>
        </p:txBody>
      </p:sp>
      <p:sp>
        <p:nvSpPr>
          <p:cNvPr id="40" name="Callout"/>
          <p:cNvSpPr/>
          <p:nvPr/>
        </p:nvSpPr>
        <p:spPr>
          <a:xfrm>
            <a:off x="457200" y="5070000"/>
            <a:ext cx="11277600" cy="810000"/>
          </a:xfrm>
          <a:prstGeom prst="roundRect">
            <a:avLst>
              <a:gd name="adj" fmla="val 6000"/>
            </a:avLst>
          </a:prstGeom>
          <a:solidFill>
            <a:srgbClr val="E8F4F4"/>
          </a:solidFill>
          <a:ln>
            <a:noFill/>
          </a:ln>
        </p:spPr>
        <p:txBody>
          <a:bodyPr wrap="square" lIns="137160" tIns="91440" rIns="137160" bIns="91440" rtlCol="0" anchor="t"/>
          <a:lstStyle/>
          <a:p>
            <a:pPr marL="0" indent="0" algn="l">
              <a:buNone/>
            </a:pPr>
            <a:r>
              <a:rPr lang="en-US" sz="1300" b="1" dirty="0">
                <a:solidFill>
                  <a:srgbClr val="0D7377"/>
                </a:solidFill>
                <a:latin typeface="Century Gothic"/>
                <a:cs typeface="Century Gothic"/>
              </a:rPr>
              <a:t>TIP  -  What to notice</a:t>
            </a:r>
          </a:p>
          <a:p>
            <a:pPr marL="0" indent="0" algn="l">
              <a:spcBef>
                <a:spcPts val="100"/>
              </a:spcBef>
              <a:buNone/>
            </a:pPr>
            <a:r>
              <a:rPr lang="en-US" sz="1300" dirty="0">
                <a:solidFill>
                  <a:srgbClr val="000000"/>
                </a:solidFill>
                <a:latin typeface="Century Gothic"/>
                <a:cs typeface="Century Gothic"/>
              </a:rPr>
              <a:t>Spot the impossible age, the many sex spellings, 1503 rows.</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Century Gothic"/>
                <a:cs typeface="Century Gothic"/>
              </a:rPr>
              <a:t>Recap and Bridge to Day 2</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Body"/>
          <p:cNvSpPr txBox="1"/>
          <p:nvPr/>
        </p:nvSpPr>
        <p:spPr>
          <a:xfrm>
            <a:off x="457200" y="1080000"/>
            <a:ext cx="11277600" cy="3150000"/>
          </a:xfrm>
          <a:prstGeom prst="rect">
            <a:avLst/>
          </a:prstGeom>
          <a:noFill/>
          <a:ln>
            <a:noFill/>
          </a:ln>
        </p:spPr>
        <p:txBody>
          <a:bodyPr wrap="square" lIns="91440" tIns="45720" rIns="91440" bIns="45720" rtlCol="0" anchor="t"/>
          <a:lstStyle/>
          <a:p>
            <a:pPr marL="0" indent="0" algn="l">
              <a:spcBef>
                <a:spcPts val="360"/>
              </a:spcBef>
              <a:buNone/>
            </a:pPr>
            <a:r>
              <a:rPr lang="en-US" sz="2050" b="1" dirty="0">
                <a:solidFill>
                  <a:srgbClr val="0D7377"/>
                </a:solidFill>
                <a:latin typeface="Century Gothic"/>
                <a:cs typeface="Century Gothic"/>
              </a:rPr>
              <a:t>Today you learned to</a:t>
            </a:r>
          </a:p>
          <a:p>
            <a:pPr marL="0" indent="0" algn="l">
              <a:lnSpc>
                <a:spcPct val="108000"/>
              </a:lnSpc>
              <a:spcBef>
                <a:spcPts val="440"/>
              </a:spcBef>
              <a:buNone/>
            </a:pPr>
            <a:r>
              <a:rPr lang="en-US" sz="1800" dirty="0">
                <a:solidFill>
                  <a:srgbClr val="000000"/>
                </a:solidFill>
                <a:latin typeface="Century Gothic"/>
                <a:cs typeface="Century Gothic"/>
              </a:rPr>
              <a:t>Tell R from RStudio and find the four panes</a:t>
            </a:r>
          </a:p>
          <a:p>
            <a:pPr marL="0" indent="0" algn="l">
              <a:lnSpc>
                <a:spcPct val="108000"/>
              </a:lnSpc>
              <a:spcBef>
                <a:spcPts val="440"/>
              </a:spcBef>
              <a:buNone/>
            </a:pPr>
            <a:r>
              <a:rPr lang="en-US" sz="1800" dirty="0">
                <a:solidFill>
                  <a:srgbClr val="000000"/>
                </a:solidFill>
                <a:latin typeface="Century Gothic"/>
                <a:cs typeface="Century Gothic"/>
              </a:rPr>
              <a:t>Work in a Project with a saved script</a:t>
            </a:r>
          </a:p>
          <a:p>
            <a:pPr marL="0" indent="0" algn="l">
              <a:lnSpc>
                <a:spcPct val="108000"/>
              </a:lnSpc>
              <a:spcBef>
                <a:spcPts val="440"/>
              </a:spcBef>
              <a:buNone/>
            </a:pPr>
            <a:r>
              <a:rPr lang="en-US" sz="1800" dirty="0">
                <a:solidFill>
                  <a:srgbClr val="000000"/>
                </a:solidFill>
                <a:latin typeface="Century Gothic"/>
                <a:cs typeface="Century Gothic"/>
              </a:rPr>
              <a:t>Make objects (&lt;-) and vectors (c())</a:t>
            </a:r>
          </a:p>
          <a:p>
            <a:pPr marL="0" indent="0" algn="l">
              <a:lnSpc>
                <a:spcPct val="108000"/>
              </a:lnSpc>
              <a:spcBef>
                <a:spcPts val="440"/>
              </a:spcBef>
              <a:buNone/>
            </a:pPr>
            <a:r>
              <a:rPr lang="en-US" sz="1800" dirty="0">
                <a:solidFill>
                  <a:srgbClr val="000000"/>
                </a:solidFill>
                <a:latin typeface="Century Gothic"/>
                <a:cs typeface="Century Gothic"/>
              </a:rPr>
              <a:t>Load packages and import CSV and Excel data</a:t>
            </a:r>
          </a:p>
          <a:p>
            <a:pPr marL="0" indent="0" algn="l">
              <a:lnSpc>
                <a:spcPct val="108000"/>
              </a:lnSpc>
              <a:spcBef>
                <a:spcPts val="440"/>
              </a:spcBef>
              <a:buNone/>
            </a:pPr>
            <a:r>
              <a:rPr lang="en-US" sz="1800" dirty="0">
                <a:solidFill>
                  <a:srgbClr val="000000"/>
                </a:solidFill>
                <a:latin typeface="Century Gothic"/>
                <a:cs typeface="Century Gothic"/>
              </a:rPr>
              <a:t>Inspect data with glimpse, summary and table</a:t>
            </a:r>
          </a:p>
          <a:p>
            <a:pPr>
              <a:buNone/>
            </a:pPr>
            <a:endParaRPr sz="1050"/>
          </a:p>
          <a:p>
            <a:pPr marL="0" indent="0" algn="l">
              <a:spcBef>
                <a:spcPts val="360"/>
              </a:spcBef>
              <a:buNone/>
            </a:pPr>
            <a:r>
              <a:rPr lang="en-US" sz="2050" b="1" dirty="0">
                <a:solidFill>
                  <a:srgbClr val="0D7377"/>
                </a:solidFill>
                <a:latin typeface="Century Gothic"/>
                <a:cs typeface="Century Gothic"/>
              </a:rPr>
              <a:t>Tomorrow: Day 2</a:t>
            </a:r>
          </a:p>
          <a:p>
            <a:pPr marL="0" indent="0" algn="l">
              <a:lnSpc>
                <a:spcPct val="108000"/>
              </a:lnSpc>
              <a:spcBef>
                <a:spcPts val="440"/>
              </a:spcBef>
              <a:buNone/>
            </a:pPr>
            <a:r>
              <a:rPr lang="en-US" sz="1800" dirty="0">
                <a:solidFill>
                  <a:srgbClr val="000000"/>
                </a:solidFill>
                <a:latin typeface="Century Gothic"/>
                <a:cs typeface="Century Gothic"/>
              </a:rPr>
              <a:t>Cleaning the mess: fix ages, unify categories</a:t>
            </a:r>
          </a:p>
          <a:p>
            <a:pPr marL="0" indent="0" algn="l">
              <a:lnSpc>
                <a:spcPct val="108000"/>
              </a:lnSpc>
              <a:spcBef>
                <a:spcPts val="440"/>
              </a:spcBef>
              <a:buNone/>
            </a:pPr>
            <a:r>
              <a:rPr lang="en-US" sz="1800" dirty="0">
                <a:solidFill>
                  <a:srgbClr val="000000"/>
                </a:solidFill>
                <a:latin typeface="Century Gothic"/>
                <a:cs typeface="Century Gothic"/>
              </a:rPr>
              <a:t>Remove duplicates and handle missing values</a:t>
            </a:r>
          </a:p>
          <a:p>
            <a:pPr>
              <a:buNone/>
            </a:pPr>
            <a:endParaRPr sz="1050"/>
          </a:p>
        </p:txBody>
      </p:sp>
      <p:sp>
        <p:nvSpPr>
          <p:cNvPr id="40" name="Callout"/>
          <p:cNvSpPr/>
          <p:nvPr/>
        </p:nvSpPr>
        <p:spPr>
          <a:xfrm>
            <a:off x="457200" y="5070000"/>
            <a:ext cx="11277600" cy="810000"/>
          </a:xfrm>
          <a:prstGeom prst="roundRect">
            <a:avLst>
              <a:gd name="adj" fmla="val 6000"/>
            </a:avLst>
          </a:prstGeom>
          <a:solidFill>
            <a:srgbClr val="F0F0F0"/>
          </a:solidFill>
          <a:ln>
            <a:noFill/>
          </a:ln>
        </p:spPr>
        <p:txBody>
          <a:bodyPr wrap="square" lIns="137160" tIns="91440" rIns="137160" bIns="91440" rtlCol="0" anchor="t"/>
          <a:lstStyle/>
          <a:p>
            <a:pPr marL="0" indent="0" algn="l">
              <a:buNone/>
            </a:pPr>
            <a:r>
              <a:rPr lang="en-US" sz="1300" b="1" dirty="0">
                <a:solidFill>
                  <a:srgbClr val="404040"/>
                </a:solidFill>
                <a:latin typeface="Century Gothic"/>
                <a:cs typeface="Century Gothic"/>
              </a:rPr>
              <a:t>NOTE  -  Well done</a:t>
            </a:r>
          </a:p>
          <a:p>
            <a:pPr marL="0" indent="0" algn="l">
              <a:spcBef>
                <a:spcPts val="100"/>
              </a:spcBef>
              <a:buNone/>
            </a:pPr>
            <a:r>
              <a:rPr lang="en-US" sz="1300" dirty="0">
                <a:solidFill>
                  <a:srgbClr val="000000"/>
                </a:solidFill>
                <a:latin typeface="Century Gothic"/>
                <a:cs typeface="Century Gothic"/>
              </a:rPr>
              <a:t>You imported real clinical data on day one.</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 name="DayTitle"/>
          <p:cNvSpPr txBox="1"/>
          <p:nvPr/>
        </p:nvSpPr>
        <p:spPr>
          <a:xfrm>
            <a:off x="457200" y="548640"/>
            <a:ext cx="11430000" cy="700000"/>
          </a:xfrm>
          <a:prstGeom prst="rect">
            <a:avLst/>
          </a:prstGeom>
          <a:noFill/>
          <a:ln>
            <a:noFill/>
          </a:ln>
        </p:spPr>
        <p:txBody>
          <a:bodyPr wrap="square" lIns="91440" tIns="45720" rIns="91440" bIns="45720" rtlCol="0" anchor="t"/>
          <a:lstStyle/>
          <a:p>
            <a:pPr marL="0" indent="0" algn="l">
              <a:buNone/>
            </a:pPr>
            <a:r>
              <a:rPr lang="en-US" sz="3200" b="1" dirty="0">
                <a:solidFill>
                  <a:srgbClr val="0D7377"/>
                </a:solidFill>
                <a:latin typeface="Century Gothic"/>
                <a:cs typeface="Century Gothic"/>
              </a:rPr>
              <a:t>Day 2: Understanding &amp; Cleaning Clinical Data</a:t>
            </a:r>
          </a:p>
        </p:txBody>
      </p:sp>
      <p:sp>
        <p:nvSpPr>
          <p:cNvPr id="7" name="Rule"/>
          <p:cNvSpPr/>
          <p:nvPr/>
        </p:nvSpPr>
        <p:spPr>
          <a:xfrm>
            <a:off x="457200" y="1325880"/>
            <a:ext cx="11277600" cy="19050"/>
          </a:xfrm>
          <a:prstGeom prst="rect">
            <a:avLst/>
          </a:prstGeom>
          <a:solidFill>
            <a:srgbClr val="0D7377"/>
          </a:solidFill>
          <a:ln>
            <a:noFill/>
          </a:ln>
        </p:spPr>
        <p:txBody>
          <a:bodyPr/>
          <a:lstStyle/>
          <a:p>
            <a:endParaRPr/>
          </a:p>
        </p:txBody>
      </p:sp>
      <p:sp>
        <p:nvSpPr>
          <p:cNvPr id="8" name="Agenda"/>
          <p:cNvSpPr txBox="1"/>
          <p:nvPr/>
        </p:nvSpPr>
        <p:spPr>
          <a:xfrm>
            <a:off x="457200" y="1600000"/>
            <a:ext cx="11277600" cy="4400000"/>
          </a:xfrm>
          <a:prstGeom prst="rect">
            <a:avLst/>
          </a:prstGeom>
          <a:noFill/>
          <a:ln>
            <a:noFill/>
          </a:ln>
        </p:spPr>
        <p:txBody>
          <a:bodyPr wrap="square" lIns="91440" tIns="45720" rIns="91440" bIns="45720" rtlCol="0" anchor="t"/>
          <a:lstStyle/>
          <a:p>
            <a:pPr marL="0" indent="0" algn="l">
              <a:buNone/>
            </a:pPr>
            <a:r>
              <a:rPr lang="en-US" sz="2800" dirty="0">
                <a:solidFill>
                  <a:srgbClr val="0070C0"/>
                </a:solidFill>
                <a:latin typeface="Century Gothic"/>
                <a:cs typeface="Century Gothic"/>
              </a:rPr>
              <a:t>Plan</a:t>
            </a:r>
          </a:p>
          <a:p>
            <a:pPr>
              <a:buNone/>
            </a:pPr>
            <a:endParaRPr sz="800"/>
          </a:p>
          <a:p>
            <a:pPr marL="274320" indent="-274320" algn="l">
              <a:spcBef>
                <a:spcPts val="440"/>
              </a:spcBef>
              <a:buFont typeface="Arial"/>
              <a:buChar char="•"/>
            </a:pPr>
            <a:r>
              <a:rPr lang="en-US" sz="1900" dirty="0">
                <a:solidFill>
                  <a:srgbClr val="000000"/>
                </a:solidFill>
                <a:latin typeface="Century Gothic"/>
                <a:cs typeface="Century Gothic"/>
              </a:rPr>
              <a:t>Why cleaning matters: garbage in, garbage out</a:t>
            </a:r>
          </a:p>
          <a:p>
            <a:pPr marL="274320" indent="-274320" algn="l">
              <a:spcBef>
                <a:spcPts val="440"/>
              </a:spcBef>
              <a:buFont typeface="Arial"/>
              <a:buChar char="•"/>
            </a:pPr>
            <a:r>
              <a:rPr lang="en-US" sz="1900" dirty="0">
                <a:solidFill>
                  <a:srgbClr val="000000"/>
                </a:solidFill>
                <a:latin typeface="Century Gothic"/>
                <a:cs typeface="Century Gothic"/>
              </a:rPr>
              <a:t>Variable types and clinical coding</a:t>
            </a:r>
          </a:p>
          <a:p>
            <a:pPr marL="274320" indent="-274320" algn="l">
              <a:spcBef>
                <a:spcPts val="440"/>
              </a:spcBef>
              <a:buFont typeface="Arial"/>
              <a:buChar char="•"/>
            </a:pPr>
            <a:r>
              <a:rPr lang="en-US" sz="1900" dirty="0">
                <a:solidFill>
                  <a:srgbClr val="000000"/>
                </a:solidFill>
                <a:latin typeface="Century Gothic"/>
                <a:cs typeface="Century Gothic"/>
              </a:rPr>
              <a:t>Missing data, duplicates, inconsistent categories</a:t>
            </a:r>
          </a:p>
          <a:p>
            <a:pPr marL="274320" indent="-274320" algn="l">
              <a:spcBef>
                <a:spcPts val="440"/>
              </a:spcBef>
              <a:buFont typeface="Arial"/>
              <a:buChar char="•"/>
            </a:pPr>
            <a:r>
              <a:rPr lang="en-US" sz="1900" dirty="0">
                <a:solidFill>
                  <a:srgbClr val="000000"/>
                </a:solidFill>
                <a:latin typeface="Century Gothic"/>
                <a:cs typeface="Century Gothic"/>
              </a:rPr>
              <a:t>Validation, recoding, dates and factors</a:t>
            </a:r>
          </a:p>
          <a:p>
            <a:pPr marL="274320" indent="-274320" algn="l">
              <a:spcBef>
                <a:spcPts val="440"/>
              </a:spcBef>
              <a:buFont typeface="Arial"/>
              <a:buChar char="•"/>
            </a:pPr>
            <a:r>
              <a:rPr lang="en-US" sz="1900" dirty="0">
                <a:solidFill>
                  <a:srgbClr val="000000"/>
                </a:solidFill>
                <a:latin typeface="Century Gothic"/>
                <a:cs typeface="Century Gothic"/>
              </a:rPr>
              <a:t>Save the clean dataset: the contract for Days 3-5</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Century Gothic"/>
                <a:cs typeface="Century Gothic"/>
              </a:rPr>
              <a:t>Why Data Cleaning Matters</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Body"/>
          <p:cNvSpPr txBox="1"/>
          <p:nvPr/>
        </p:nvSpPr>
        <p:spPr>
          <a:xfrm>
            <a:off x="457200" y="1080000"/>
            <a:ext cx="11277600" cy="3150000"/>
          </a:xfrm>
          <a:prstGeom prst="rect">
            <a:avLst/>
          </a:prstGeom>
          <a:noFill/>
          <a:ln>
            <a:noFill/>
          </a:ln>
        </p:spPr>
        <p:txBody>
          <a:bodyPr wrap="square" lIns="91440" tIns="45720" rIns="91440" bIns="45720" rtlCol="0" anchor="t"/>
          <a:lstStyle/>
          <a:p>
            <a:pPr marL="0" indent="0" algn="l">
              <a:spcBef>
                <a:spcPts val="360"/>
              </a:spcBef>
              <a:buNone/>
            </a:pPr>
            <a:r>
              <a:rPr lang="en-US" sz="2050" b="1" dirty="0">
                <a:solidFill>
                  <a:srgbClr val="0D7377"/>
                </a:solidFill>
                <a:latin typeface="Century Gothic"/>
                <a:cs typeface="Century Gothic"/>
              </a:rPr>
              <a:t>Garbage in, garbage out</a:t>
            </a:r>
          </a:p>
          <a:p>
            <a:pPr marL="0" indent="0" algn="l">
              <a:lnSpc>
                <a:spcPct val="108000"/>
              </a:lnSpc>
              <a:spcBef>
                <a:spcPts val="440"/>
              </a:spcBef>
              <a:buNone/>
            </a:pPr>
            <a:r>
              <a:rPr lang="en-US" sz="1800" dirty="0">
                <a:solidFill>
                  <a:srgbClr val="000000"/>
                </a:solidFill>
                <a:latin typeface="Century Gothic"/>
                <a:cs typeface="Century Gothic"/>
              </a:rPr>
              <a:t>A p-value cannot rescue a mistyped blood pressure.</a:t>
            </a:r>
          </a:p>
          <a:p>
            <a:pPr marL="0" indent="0" algn="l">
              <a:lnSpc>
                <a:spcPct val="108000"/>
              </a:lnSpc>
              <a:spcBef>
                <a:spcPts val="440"/>
              </a:spcBef>
              <a:buNone/>
            </a:pPr>
            <a:r>
              <a:rPr lang="en-US" sz="1800" dirty="0">
                <a:solidFill>
                  <a:srgbClr val="000000"/>
                </a:solidFill>
                <a:latin typeface="Century Gothic"/>
                <a:cs typeface="Century Gothic"/>
              </a:rPr>
              <a:t>Errors do not announce themselves; they hide in plausible numbers.</a:t>
            </a:r>
          </a:p>
          <a:p>
            <a:pPr marL="0" indent="0" algn="l">
              <a:lnSpc>
                <a:spcPct val="108000"/>
              </a:lnSpc>
              <a:spcBef>
                <a:spcPts val="440"/>
              </a:spcBef>
              <a:buNone/>
            </a:pPr>
            <a:r>
              <a:rPr lang="en-US" sz="1800" dirty="0">
                <a:solidFill>
                  <a:srgbClr val="000000"/>
                </a:solidFill>
                <a:latin typeface="Century Gothic"/>
                <a:cs typeface="Century Gothic"/>
              </a:rPr>
              <a:t>Clean data is the foundation of a credible result.</a:t>
            </a:r>
          </a:p>
          <a:p>
            <a:pPr>
              <a:buNone/>
            </a:pPr>
            <a:endParaRPr sz="1050"/>
          </a:p>
          <a:p>
            <a:pPr marL="0" indent="0" algn="l">
              <a:spcBef>
                <a:spcPts val="360"/>
              </a:spcBef>
              <a:buNone/>
            </a:pPr>
            <a:r>
              <a:rPr lang="en-US" sz="2050" b="1" dirty="0">
                <a:solidFill>
                  <a:srgbClr val="0D7377"/>
                </a:solidFill>
                <a:latin typeface="Century Gothic"/>
                <a:cs typeface="Century Gothic"/>
              </a:rPr>
              <a:t>How much of a project is cleaning?</a:t>
            </a:r>
          </a:p>
          <a:p>
            <a:pPr marL="0" indent="0" algn="l">
              <a:lnSpc>
                <a:spcPct val="108000"/>
              </a:lnSpc>
              <a:spcBef>
                <a:spcPts val="440"/>
              </a:spcBef>
              <a:buNone/>
            </a:pPr>
            <a:r>
              <a:rPr lang="en-US" sz="1800" dirty="0">
                <a:solidFill>
                  <a:srgbClr val="000000"/>
                </a:solidFill>
                <a:latin typeface="Century Gothic"/>
                <a:cs typeface="Century Gothic"/>
              </a:rPr>
              <a:t>Typically 60-80% of total analysis time.</a:t>
            </a:r>
          </a:p>
          <a:p>
            <a:pPr marL="0" indent="0" algn="l">
              <a:lnSpc>
                <a:spcPct val="108000"/>
              </a:lnSpc>
              <a:spcBef>
                <a:spcPts val="440"/>
              </a:spcBef>
              <a:buNone/>
            </a:pPr>
            <a:r>
              <a:rPr lang="en-US" sz="1800" dirty="0">
                <a:solidFill>
                  <a:srgbClr val="000000"/>
                </a:solidFill>
                <a:latin typeface="Century Gothic"/>
                <a:cs typeface="Century Gothic"/>
              </a:rPr>
              <a:t>Skipping it does not save time; it moves the cost to peer review.</a:t>
            </a:r>
          </a:p>
          <a:p>
            <a:pPr>
              <a:buNone/>
            </a:pPr>
            <a:endParaRPr sz="1050"/>
          </a:p>
        </p:txBody>
      </p:sp>
      <p:sp>
        <p:nvSpPr>
          <p:cNvPr id="40" name="Callout"/>
          <p:cNvSpPr/>
          <p:nvPr/>
        </p:nvSpPr>
        <p:spPr>
          <a:xfrm>
            <a:off x="457200" y="5070000"/>
            <a:ext cx="11277600" cy="810000"/>
          </a:xfrm>
          <a:prstGeom prst="roundRect">
            <a:avLst>
              <a:gd name="adj" fmla="val 6000"/>
            </a:avLst>
          </a:prstGeom>
          <a:solidFill>
            <a:srgbClr val="EAF1F7"/>
          </a:solidFill>
          <a:ln>
            <a:noFill/>
          </a:ln>
        </p:spPr>
        <p:txBody>
          <a:bodyPr wrap="square" lIns="137160" tIns="91440" rIns="137160" bIns="91440" rtlCol="0" anchor="t"/>
          <a:lstStyle/>
          <a:p>
            <a:pPr marL="0" indent="0" algn="l">
              <a:buNone/>
            </a:pPr>
            <a:r>
              <a:rPr lang="en-US" sz="1300" b="1" dirty="0">
                <a:solidFill>
                  <a:srgbClr val="1F5C7A"/>
                </a:solidFill>
                <a:latin typeface="Century Gothic"/>
                <a:cs typeface="Century Gothic"/>
              </a:rPr>
              <a:t>CLINICAL INTERPRETATION  -  Why clinicians should care</a:t>
            </a:r>
          </a:p>
          <a:p>
            <a:pPr marL="0" indent="0" algn="l">
              <a:spcBef>
                <a:spcPts val="100"/>
              </a:spcBef>
              <a:buNone/>
            </a:pPr>
            <a:r>
              <a:rPr lang="en-US" sz="1300" dirty="0">
                <a:solidFill>
                  <a:srgbClr val="000000"/>
                </a:solidFill>
                <a:latin typeface="Century Gothic"/>
                <a:cs typeface="Century Gothic"/>
              </a:rPr>
              <a:t>A wrong cut-off or unit can flip a clinical conclusion.</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Century Gothic"/>
                <a:cs typeface="Century Gothic"/>
              </a:rPr>
              <a:t>Variable Types in Clinical Data</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graphicFrame>
        <p:nvGraphicFramePr>
          <p:cNvPr id="30" name="Table"/>
          <p:cNvGraphicFramePr/>
          <p:nvPr/>
        </p:nvGraphicFramePr>
        <p:xfrm>
          <a:off x="457200" y="1150000"/>
          <a:ext cx="11277600" cy="2280000"/>
        </p:xfrm>
        <a:graphic>
          <a:graphicData uri="http://schemas.openxmlformats.org/drawingml/2006/table">
            <a:tbl>
              <a:tblPr firstRow="1" bandRow="1">
                <a:tableStyleId>{5C22544A-7EE6-4342-B048-85BDC9FD1C3A}</a:tableStyleId>
              </a:tblPr>
              <a:tblGrid>
                <a:gridCol w="3759200"/>
                <a:gridCol w="3759200"/>
                <a:gridCol w="3759200"/>
              </a:tblGrid>
              <a:tr h="380000">
                <a:tc>
                  <a:txBody>
                    <a:bodyPr/>
                    <a:lstStyle/>
                    <a:p>
                      <a:pPr algn="l"/>
                      <a:r>
                        <a:rPr lang="en-US" sz="1300" b="1" dirty="0">
                          <a:solidFill>
                            <a:srgbClr val="FFFFFF"/>
                          </a:solidFill>
                          <a:latin typeface="Century Gothic"/>
                        </a:rPr>
                        <a:t>Type</a:t>
                      </a:r>
                    </a:p>
                  </a:txBody>
                  <a:tcPr marL="73152" marR="73152" marT="36576" marB="36576" anchor="ctr">
                    <a:solidFill>
                      <a:srgbClr val="0D7377"/>
                    </a:solidFill>
                  </a:tcPr>
                </a:tc>
                <a:tc>
                  <a:txBody>
                    <a:bodyPr/>
                    <a:lstStyle/>
                    <a:p>
                      <a:pPr algn="l"/>
                      <a:r>
                        <a:rPr lang="en-US" sz="1300" b="1" dirty="0">
                          <a:solidFill>
                            <a:srgbClr val="FFFFFF"/>
                          </a:solidFill>
                          <a:latin typeface="Century Gothic"/>
                        </a:rPr>
                        <a:t>What it is</a:t>
                      </a:r>
                    </a:p>
                  </a:txBody>
                  <a:tcPr marL="73152" marR="73152" marT="36576" marB="36576" anchor="ctr">
                    <a:solidFill>
                      <a:srgbClr val="0D7377"/>
                    </a:solidFill>
                  </a:tcPr>
                </a:tc>
                <a:tc>
                  <a:txBody>
                    <a:bodyPr/>
                    <a:lstStyle/>
                    <a:p>
                      <a:pPr algn="l"/>
                      <a:r>
                        <a:rPr lang="en-US" sz="1300" b="1" dirty="0">
                          <a:solidFill>
                            <a:srgbClr val="FFFFFF"/>
                          </a:solidFill>
                          <a:latin typeface="Century Gothic"/>
                        </a:rPr>
                        <a:t>Example in our data</a:t>
                      </a:r>
                    </a:p>
                  </a:txBody>
                  <a:tcPr marL="73152" marR="73152" marT="36576" marB="36576" anchor="ctr">
                    <a:solidFill>
                      <a:srgbClr val="0D7377"/>
                    </a:solidFill>
                  </a:tcPr>
                </a:tc>
              </a:tr>
              <a:tr h="380000">
                <a:tc>
                  <a:txBody>
                    <a:bodyPr/>
                    <a:lstStyle/>
                    <a:p>
                      <a:pPr algn="l"/>
                      <a:r>
                        <a:rPr lang="en-US" sz="1300" b="0" dirty="0">
                          <a:solidFill>
                            <a:srgbClr val="000000"/>
                          </a:solidFill>
                          <a:latin typeface="Century Gothic"/>
                        </a:rPr>
                        <a:t>Continuous</a:t>
                      </a:r>
                    </a:p>
                  </a:txBody>
                  <a:tcPr marL="73152" marR="73152" marT="36576" marB="36576" anchor="ctr">
                    <a:solidFill>
                      <a:srgbClr val="FFFFFF"/>
                    </a:solidFill>
                  </a:tcPr>
                </a:tc>
                <a:tc>
                  <a:txBody>
                    <a:bodyPr/>
                    <a:lstStyle/>
                    <a:p>
                      <a:pPr algn="l"/>
                      <a:r>
                        <a:rPr lang="en-US" sz="1300" b="0" dirty="0">
                          <a:solidFill>
                            <a:srgbClr val="000000"/>
                          </a:solidFill>
                          <a:latin typeface="Century Gothic"/>
                        </a:rPr>
                        <a:t>Numbers on a scale</a:t>
                      </a:r>
                    </a:p>
                  </a:txBody>
                  <a:tcPr marL="73152" marR="73152" marT="36576" marB="36576" anchor="ctr">
                    <a:solidFill>
                      <a:srgbClr val="FFFFFF"/>
                    </a:solidFill>
                  </a:tcPr>
                </a:tc>
                <a:tc>
                  <a:txBody>
                    <a:bodyPr/>
                    <a:lstStyle/>
                    <a:p>
                      <a:pPr algn="l"/>
                      <a:r>
                        <a:rPr lang="en-US" sz="1300" b="0" dirty="0">
                          <a:solidFill>
                            <a:srgbClr val="000000"/>
                          </a:solidFill>
                          <a:latin typeface="Century Gothic"/>
                        </a:rPr>
                        <a:t>age, sbp_mmhg, weight_kg</a:t>
                      </a:r>
                    </a:p>
                  </a:txBody>
                  <a:tcPr marL="73152" marR="73152" marT="36576" marB="36576" anchor="ctr">
                    <a:solidFill>
                      <a:srgbClr val="FFFFFF"/>
                    </a:solidFill>
                  </a:tcPr>
                </a:tc>
              </a:tr>
              <a:tr h="380000">
                <a:tc>
                  <a:txBody>
                    <a:bodyPr/>
                    <a:lstStyle/>
                    <a:p>
                      <a:pPr algn="l"/>
                      <a:r>
                        <a:rPr lang="en-US" sz="1300" b="0" dirty="0">
                          <a:solidFill>
                            <a:srgbClr val="000000"/>
                          </a:solidFill>
                          <a:latin typeface="Century Gothic"/>
                        </a:rPr>
                        <a:t>Binary</a:t>
                      </a:r>
                    </a:p>
                  </a:txBody>
                  <a:tcPr marL="73152" marR="73152" marT="36576" marB="36576" anchor="ctr">
                    <a:solidFill>
                      <a:srgbClr val="FFFFFF"/>
                    </a:solidFill>
                  </a:tcPr>
                </a:tc>
                <a:tc>
                  <a:txBody>
                    <a:bodyPr/>
                    <a:lstStyle/>
                    <a:p>
                      <a:pPr algn="l"/>
                      <a:r>
                        <a:rPr lang="en-US" sz="1300" b="0" dirty="0">
                          <a:solidFill>
                            <a:srgbClr val="000000"/>
                          </a:solidFill>
                          <a:latin typeface="Century Gothic"/>
                        </a:rPr>
                        <a:t>Two categories</a:t>
                      </a:r>
                    </a:p>
                  </a:txBody>
                  <a:tcPr marL="73152" marR="73152" marT="36576" marB="36576" anchor="ctr">
                    <a:solidFill>
                      <a:srgbClr val="FFFFFF"/>
                    </a:solidFill>
                  </a:tcPr>
                </a:tc>
                <a:tc>
                  <a:txBody>
                    <a:bodyPr/>
                    <a:lstStyle/>
                    <a:p>
                      <a:pPr algn="l"/>
                      <a:r>
                        <a:rPr lang="en-US" sz="1300" b="0" dirty="0">
                          <a:solidFill>
                            <a:srgbClr val="000000"/>
                          </a:solidFill>
                          <a:latin typeface="Century Gothic"/>
                        </a:rPr>
                        <a:t>diabetes (Yes/No)</a:t>
                      </a:r>
                    </a:p>
                  </a:txBody>
                  <a:tcPr marL="73152" marR="73152" marT="36576" marB="36576" anchor="ctr">
                    <a:solidFill>
                      <a:srgbClr val="FFFFFF"/>
                    </a:solidFill>
                  </a:tcPr>
                </a:tc>
              </a:tr>
              <a:tr h="380000">
                <a:tc>
                  <a:txBody>
                    <a:bodyPr/>
                    <a:lstStyle/>
                    <a:p>
                      <a:pPr algn="l"/>
                      <a:r>
                        <a:rPr lang="en-US" sz="1300" b="0" dirty="0">
                          <a:solidFill>
                            <a:srgbClr val="000000"/>
                          </a:solidFill>
                          <a:latin typeface="Century Gothic"/>
                        </a:rPr>
                        <a:t>Categorical</a:t>
                      </a:r>
                    </a:p>
                  </a:txBody>
                  <a:tcPr marL="73152" marR="73152" marT="36576" marB="36576" anchor="ctr">
                    <a:solidFill>
                      <a:srgbClr val="FFFFFF"/>
                    </a:solidFill>
                  </a:tcPr>
                </a:tc>
                <a:tc>
                  <a:txBody>
                    <a:bodyPr/>
                    <a:lstStyle/>
                    <a:p>
                      <a:pPr algn="l"/>
                      <a:r>
                        <a:rPr lang="en-US" sz="1300" b="0" dirty="0">
                          <a:solidFill>
                            <a:srgbClr val="000000"/>
                          </a:solidFill>
                          <a:latin typeface="Century Gothic"/>
                        </a:rPr>
                        <a:t>Unordered groups</a:t>
                      </a:r>
                    </a:p>
                  </a:txBody>
                  <a:tcPr marL="73152" marR="73152" marT="36576" marB="36576" anchor="ctr">
                    <a:solidFill>
                      <a:srgbClr val="FFFFFF"/>
                    </a:solidFill>
                  </a:tcPr>
                </a:tc>
                <a:tc>
                  <a:txBody>
                    <a:bodyPr/>
                    <a:lstStyle/>
                    <a:p>
                      <a:pPr algn="l"/>
                      <a:r>
                        <a:rPr lang="en-US" sz="1300" b="0" dirty="0">
                          <a:solidFill>
                            <a:srgbClr val="000000"/>
                          </a:solidFill>
                          <a:latin typeface="Century Gothic"/>
                        </a:rPr>
                        <a:t>facility, occupation</a:t>
                      </a:r>
                    </a:p>
                  </a:txBody>
                  <a:tcPr marL="73152" marR="73152" marT="36576" marB="36576" anchor="ctr">
                    <a:solidFill>
                      <a:srgbClr val="FFFFFF"/>
                    </a:solidFill>
                  </a:tcPr>
                </a:tc>
              </a:tr>
              <a:tr h="380000">
                <a:tc>
                  <a:txBody>
                    <a:bodyPr/>
                    <a:lstStyle/>
                    <a:p>
                      <a:pPr algn="l"/>
                      <a:r>
                        <a:rPr lang="en-US" sz="1300" b="0" dirty="0">
                          <a:solidFill>
                            <a:srgbClr val="000000"/>
                          </a:solidFill>
                          <a:latin typeface="Century Gothic"/>
                        </a:rPr>
                        <a:t>Ordinal</a:t>
                      </a:r>
                    </a:p>
                  </a:txBody>
                  <a:tcPr marL="73152" marR="73152" marT="36576" marB="36576" anchor="ctr">
                    <a:solidFill>
                      <a:srgbClr val="FFFFFF"/>
                    </a:solidFill>
                  </a:tcPr>
                </a:tc>
                <a:tc>
                  <a:txBody>
                    <a:bodyPr/>
                    <a:lstStyle/>
                    <a:p>
                      <a:pPr algn="l"/>
                      <a:r>
                        <a:rPr lang="en-US" sz="1300" b="0" dirty="0">
                          <a:solidFill>
                            <a:srgbClr val="000000"/>
                          </a:solidFill>
                          <a:latin typeface="Century Gothic"/>
                        </a:rPr>
                        <a:t>Ordered groups</a:t>
                      </a:r>
                    </a:p>
                  </a:txBody>
                  <a:tcPr marL="73152" marR="73152" marT="36576" marB="36576" anchor="ctr">
                    <a:solidFill>
                      <a:srgbClr val="FFFFFF"/>
                    </a:solidFill>
                  </a:tcPr>
                </a:tc>
                <a:tc>
                  <a:txBody>
                    <a:bodyPr/>
                    <a:lstStyle/>
                    <a:p>
                      <a:pPr algn="l"/>
                      <a:r>
                        <a:rPr lang="en-US" sz="1300" b="0" dirty="0">
                          <a:solidFill>
                            <a:srgbClr val="000000"/>
                          </a:solidFill>
                          <a:latin typeface="Century Gothic"/>
                        </a:rPr>
                        <a:t>education (None to Tertiary)</a:t>
                      </a:r>
                    </a:p>
                  </a:txBody>
                  <a:tcPr marL="73152" marR="73152" marT="36576" marB="36576" anchor="ctr">
                    <a:solidFill>
                      <a:srgbClr val="FFFFFF"/>
                    </a:solidFill>
                  </a:tcPr>
                </a:tc>
              </a:tr>
              <a:tr h="380000">
                <a:tc>
                  <a:txBody>
                    <a:bodyPr/>
                    <a:lstStyle/>
                    <a:p>
                      <a:pPr algn="l"/>
                      <a:r>
                        <a:rPr lang="en-US" sz="1300" b="0" dirty="0">
                          <a:solidFill>
                            <a:srgbClr val="000000"/>
                          </a:solidFill>
                          <a:latin typeface="Century Gothic"/>
                        </a:rPr>
                        <a:t>Date</a:t>
                      </a:r>
                    </a:p>
                  </a:txBody>
                  <a:tcPr marL="73152" marR="73152" marT="36576" marB="36576" anchor="ctr">
                    <a:solidFill>
                      <a:srgbClr val="FFFFFF"/>
                    </a:solidFill>
                  </a:tcPr>
                </a:tc>
                <a:tc>
                  <a:txBody>
                    <a:bodyPr/>
                    <a:lstStyle/>
                    <a:p>
                      <a:pPr algn="l"/>
                      <a:r>
                        <a:rPr lang="en-US" sz="1300" b="0" dirty="0">
                          <a:solidFill>
                            <a:srgbClr val="000000"/>
                          </a:solidFill>
                          <a:latin typeface="Century Gothic"/>
                        </a:rPr>
                        <a:t>Calendar time</a:t>
                      </a:r>
                    </a:p>
                  </a:txBody>
                  <a:tcPr marL="73152" marR="73152" marT="36576" marB="36576" anchor="ctr">
                    <a:solidFill>
                      <a:srgbClr val="FFFFFF"/>
                    </a:solidFill>
                  </a:tcPr>
                </a:tc>
                <a:tc>
                  <a:txBody>
                    <a:bodyPr/>
                    <a:lstStyle/>
                    <a:p>
                      <a:pPr algn="l"/>
                      <a:r>
                        <a:rPr lang="en-US" sz="1300" b="0" dirty="0">
                          <a:solidFill>
                            <a:srgbClr val="000000"/>
                          </a:solidFill>
                          <a:latin typeface="Century Gothic"/>
                        </a:rPr>
                        <a:t>enroll_date</a:t>
                      </a:r>
                    </a:p>
                  </a:txBody>
                  <a:tcPr marL="73152" marR="73152" marT="36576" marB="36576" anchor="ctr">
                    <a:solidFill>
                      <a:srgbClr val="FFFFFF"/>
                    </a:solidFill>
                  </a:tcPr>
                </a:tc>
              </a:tr>
            </a:tbl>
          </a:graphicData>
        </a:graphic>
      </p:graphicFrame>
      <p:sp>
        <p:nvSpPr>
          <p:cNvPr id="31" name="Caption"/>
          <p:cNvSpPr txBox="1"/>
          <p:nvPr/>
        </p:nvSpPr>
        <p:spPr>
          <a:xfrm>
            <a:off x="457200" y="4060000"/>
            <a:ext cx="11277600" cy="500000"/>
          </a:xfrm>
          <a:prstGeom prst="rect">
            <a:avLst/>
          </a:prstGeom>
          <a:noFill/>
          <a:ln>
            <a:noFill/>
          </a:ln>
        </p:spPr>
        <p:txBody>
          <a:bodyPr wrap="square" lIns="91440" tIns="45720" rIns="91440" bIns="45720" rtlCol="0" anchor="t"/>
          <a:lstStyle/>
          <a:p>
            <a:pPr marL="0" indent="0" algn="l">
              <a:buNone/>
            </a:pPr>
            <a:r>
              <a:rPr lang="en-US" sz="1300" i="1" dirty="0">
                <a:solidFill>
                  <a:srgbClr val="595959"/>
                </a:solidFill>
                <a:latin typeface="Century Gothic"/>
                <a:cs typeface="Century Gothic"/>
              </a:rPr>
              <a:t>The type decides how R stores, summarises and models a variable.</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Century Gothic"/>
                <a:cs typeface="Century Gothic"/>
              </a:rPr>
              <a:t>Clinical Coding: Consistent Codes</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Body"/>
          <p:cNvSpPr txBox="1"/>
          <p:nvPr/>
        </p:nvSpPr>
        <p:spPr>
          <a:xfrm>
            <a:off x="457200" y="1080000"/>
            <a:ext cx="11277600" cy="3150000"/>
          </a:xfrm>
          <a:prstGeom prst="rect">
            <a:avLst/>
          </a:prstGeom>
          <a:noFill/>
          <a:ln>
            <a:noFill/>
          </a:ln>
        </p:spPr>
        <p:txBody>
          <a:bodyPr wrap="square" lIns="91440" tIns="45720" rIns="91440" bIns="45720" rtlCol="0" anchor="t"/>
          <a:lstStyle/>
          <a:p>
            <a:pPr marL="0" indent="0" algn="l">
              <a:spcBef>
                <a:spcPts val="360"/>
              </a:spcBef>
              <a:buNone/>
            </a:pPr>
            <a:r>
              <a:rPr lang="en-US" sz="2050" b="1" dirty="0">
                <a:solidFill>
                  <a:srgbClr val="0D7377"/>
                </a:solidFill>
                <a:latin typeface="Century Gothic"/>
                <a:cs typeface="Century Gothic"/>
              </a:rPr>
              <a:t>What coding means</a:t>
            </a:r>
          </a:p>
          <a:p>
            <a:pPr marL="0" indent="0" algn="l">
              <a:lnSpc>
                <a:spcPct val="108000"/>
              </a:lnSpc>
              <a:spcBef>
                <a:spcPts val="440"/>
              </a:spcBef>
              <a:buNone/>
            </a:pPr>
            <a:r>
              <a:rPr lang="en-US" sz="1800" dirty="0">
                <a:solidFill>
                  <a:srgbClr val="000000"/>
                </a:solidFill>
                <a:latin typeface="Century Gothic"/>
                <a:cs typeface="Century Gothic"/>
              </a:rPr>
              <a:t>Agreeing one written value per real-world category.</a:t>
            </a:r>
          </a:p>
          <a:p>
            <a:pPr marL="0" indent="0" algn="l">
              <a:lnSpc>
                <a:spcPct val="108000"/>
              </a:lnSpc>
              <a:spcBef>
                <a:spcPts val="440"/>
              </a:spcBef>
              <a:buNone/>
            </a:pPr>
            <a:r>
              <a:rPr lang="en-US" sz="1800" dirty="0">
                <a:solidFill>
                  <a:srgbClr val="000000"/>
                </a:solidFill>
                <a:latin typeface="Century Gothic"/>
                <a:cs typeface="Century Gothic"/>
              </a:rPr>
              <a:t>Sex stored as Female / Male, not F / f / female.</a:t>
            </a:r>
          </a:p>
          <a:p>
            <a:pPr marL="0" indent="0" algn="l">
              <a:lnSpc>
                <a:spcPct val="108000"/>
              </a:lnSpc>
              <a:spcBef>
                <a:spcPts val="440"/>
              </a:spcBef>
              <a:buNone/>
            </a:pPr>
            <a:r>
              <a:rPr lang="en-US" sz="1800" dirty="0">
                <a:solidFill>
                  <a:srgbClr val="000000"/>
                </a:solidFill>
                <a:latin typeface="Century Gothic"/>
                <a:cs typeface="Century Gothic"/>
              </a:rPr>
              <a:t>Binaries stored as Yes / No, not a mix of Y, 1, true.</a:t>
            </a:r>
          </a:p>
          <a:p>
            <a:pPr>
              <a:buNone/>
            </a:pPr>
            <a:endParaRPr sz="1050"/>
          </a:p>
          <a:p>
            <a:pPr marL="0" indent="0" algn="l">
              <a:spcBef>
                <a:spcPts val="360"/>
              </a:spcBef>
              <a:buNone/>
            </a:pPr>
            <a:r>
              <a:rPr lang="en-US" sz="2050" b="1" dirty="0">
                <a:solidFill>
                  <a:srgbClr val="0D7377"/>
                </a:solidFill>
                <a:latin typeface="Century Gothic"/>
                <a:cs typeface="Century Gothic"/>
              </a:rPr>
              <a:t>Why it matters</a:t>
            </a:r>
          </a:p>
          <a:p>
            <a:pPr marL="0" indent="0" algn="l">
              <a:lnSpc>
                <a:spcPct val="108000"/>
              </a:lnSpc>
              <a:spcBef>
                <a:spcPts val="440"/>
              </a:spcBef>
              <a:buNone/>
            </a:pPr>
            <a:r>
              <a:rPr lang="en-US" sz="1800" dirty="0">
                <a:solidFill>
                  <a:srgbClr val="000000"/>
                </a:solidFill>
                <a:latin typeface="Century Gothic"/>
                <a:cs typeface="Century Gothic"/>
              </a:rPr>
              <a:t>R treats 'Yes' and 'yes' as two different groups.</a:t>
            </a:r>
          </a:p>
          <a:p>
            <a:pPr marL="0" indent="0" algn="l">
              <a:lnSpc>
                <a:spcPct val="108000"/>
              </a:lnSpc>
              <a:spcBef>
                <a:spcPts val="440"/>
              </a:spcBef>
              <a:buNone/>
            </a:pPr>
            <a:r>
              <a:rPr lang="en-US" sz="1800" dirty="0">
                <a:solidFill>
                  <a:srgbClr val="000000"/>
                </a:solidFill>
                <a:latin typeface="Century Gothic"/>
                <a:cs typeface="Century Gothic"/>
              </a:rPr>
              <a:t>Inconsistent codes split one category into several.</a:t>
            </a:r>
          </a:p>
          <a:p>
            <a:pPr marL="0" indent="0" algn="l">
              <a:lnSpc>
                <a:spcPct val="108000"/>
              </a:lnSpc>
              <a:spcBef>
                <a:spcPts val="440"/>
              </a:spcBef>
              <a:buNone/>
            </a:pPr>
            <a:r>
              <a:rPr lang="en-US" sz="1800" dirty="0">
                <a:solidFill>
                  <a:srgbClr val="000000"/>
                </a:solidFill>
                <a:latin typeface="Century Gothic"/>
                <a:cs typeface="Century Gothic"/>
              </a:rPr>
              <a:t>Consistent codes make tables and models trustworthy.</a:t>
            </a:r>
          </a:p>
          <a:p>
            <a:pPr>
              <a:buNone/>
            </a:pPr>
            <a:endParaRPr sz="1050"/>
          </a:p>
        </p:txBody>
      </p:sp>
      <p:sp>
        <p:nvSpPr>
          <p:cNvPr id="40" name="Callout"/>
          <p:cNvSpPr/>
          <p:nvPr/>
        </p:nvSpPr>
        <p:spPr>
          <a:xfrm>
            <a:off x="457200" y="5070000"/>
            <a:ext cx="11277600" cy="810000"/>
          </a:xfrm>
          <a:prstGeom prst="roundRect">
            <a:avLst>
              <a:gd name="adj" fmla="val 6000"/>
            </a:avLst>
          </a:prstGeom>
          <a:solidFill>
            <a:srgbClr val="FBE9E7"/>
          </a:solidFill>
          <a:ln>
            <a:noFill/>
          </a:ln>
        </p:spPr>
        <p:txBody>
          <a:bodyPr wrap="square" lIns="137160" tIns="91440" rIns="137160" bIns="91440" rtlCol="0" anchor="t"/>
          <a:lstStyle/>
          <a:p>
            <a:pPr marL="0" indent="0" algn="l">
              <a:buNone/>
            </a:pPr>
            <a:r>
              <a:rPr lang="en-US" sz="1300" b="1" dirty="0">
                <a:solidFill>
                  <a:srgbClr val="B23B2E"/>
                </a:solidFill>
                <a:latin typeface="Century Gothic"/>
                <a:cs typeface="Century Gothic"/>
              </a:rPr>
              <a:t>WARNING  -  Common trap</a:t>
            </a:r>
          </a:p>
          <a:p>
            <a:pPr marL="0" indent="0" algn="l">
              <a:spcBef>
                <a:spcPts val="100"/>
              </a:spcBef>
              <a:buNone/>
            </a:pPr>
            <a:r>
              <a:rPr lang="en-US" sz="1300" dirty="0">
                <a:solidFill>
                  <a:srgbClr val="000000"/>
                </a:solidFill>
                <a:latin typeface="Century Gothic"/>
                <a:cs typeface="Century Gothic"/>
              </a:rPr>
              <a:t>Eight spellings of sex become eight phantom categories.</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Century Gothic"/>
                <a:cs typeface="Century Gothic"/>
              </a:rPr>
              <a:t>Missing Data: How It Hides</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Body"/>
          <p:cNvSpPr txBox="1"/>
          <p:nvPr/>
        </p:nvSpPr>
        <p:spPr>
          <a:xfrm>
            <a:off x="457200" y="1080000"/>
            <a:ext cx="11277600" cy="3150000"/>
          </a:xfrm>
          <a:prstGeom prst="rect">
            <a:avLst/>
          </a:prstGeom>
          <a:noFill/>
          <a:ln>
            <a:noFill/>
          </a:ln>
        </p:spPr>
        <p:txBody>
          <a:bodyPr wrap="square" lIns="91440" tIns="45720" rIns="91440" bIns="45720" rtlCol="0" anchor="t"/>
          <a:lstStyle/>
          <a:p>
            <a:pPr marL="0" indent="0" algn="l">
              <a:spcBef>
                <a:spcPts val="360"/>
              </a:spcBef>
              <a:buNone/>
            </a:pPr>
            <a:r>
              <a:rPr lang="en-US" sz="2050" b="1" dirty="0">
                <a:solidFill>
                  <a:srgbClr val="0D7377"/>
                </a:solidFill>
                <a:latin typeface="Century Gothic"/>
                <a:cs typeface="Century Gothic"/>
              </a:rPr>
              <a:t>It rarely looks like one thing</a:t>
            </a:r>
          </a:p>
          <a:p>
            <a:pPr marL="0" indent="0" algn="l">
              <a:lnSpc>
                <a:spcPct val="108000"/>
              </a:lnSpc>
              <a:spcBef>
                <a:spcPts val="440"/>
              </a:spcBef>
              <a:buNone/>
            </a:pPr>
            <a:r>
              <a:rPr lang="en-US" sz="1800" dirty="0">
                <a:solidFill>
                  <a:srgbClr val="000000"/>
                </a:solidFill>
                <a:latin typeface="Century Gothic"/>
                <a:cs typeface="Century Gothic"/>
              </a:rPr>
              <a:t>Blank cells, the word NA, and sentinel codes 999 or -99.</a:t>
            </a:r>
          </a:p>
          <a:p>
            <a:pPr marL="0" indent="0" algn="l">
              <a:lnSpc>
                <a:spcPct val="108000"/>
              </a:lnSpc>
              <a:spcBef>
                <a:spcPts val="440"/>
              </a:spcBef>
              <a:buNone/>
            </a:pPr>
            <a:r>
              <a:rPr lang="en-US" sz="1800" dirty="0">
                <a:solidFill>
                  <a:srgbClr val="000000"/>
                </a:solidFill>
                <a:latin typeface="Century Gothic"/>
                <a:cs typeface="Century Gothic"/>
              </a:rPr>
              <a:t>If R does not recognise them, 999 is treated as a real value.</a:t>
            </a:r>
          </a:p>
          <a:p>
            <a:pPr marL="0" indent="0" algn="l">
              <a:lnSpc>
                <a:spcPct val="108000"/>
              </a:lnSpc>
              <a:spcBef>
                <a:spcPts val="440"/>
              </a:spcBef>
              <a:buNone/>
            </a:pPr>
            <a:r>
              <a:rPr lang="en-US" sz="1800" dirty="0">
                <a:solidFill>
                  <a:srgbClr val="000000"/>
                </a:solidFill>
                <a:latin typeface="Century Gothic"/>
                <a:cs typeface="Century Gothic"/>
              </a:rPr>
              <a:t>A single 999 can wreck a mean or a regression.</a:t>
            </a:r>
          </a:p>
          <a:p>
            <a:pPr>
              <a:buNone/>
            </a:pPr>
            <a:endParaRPr sz="1050"/>
          </a:p>
          <a:p>
            <a:pPr marL="0" indent="0" algn="l">
              <a:spcBef>
                <a:spcPts val="360"/>
              </a:spcBef>
              <a:buNone/>
            </a:pPr>
            <a:r>
              <a:rPr lang="en-US" sz="2050" b="1" dirty="0">
                <a:solidFill>
                  <a:srgbClr val="0D7377"/>
                </a:solidFill>
                <a:latin typeface="Century Gothic"/>
                <a:cs typeface="Century Gothic"/>
              </a:rPr>
              <a:t>Read it correctly at import</a:t>
            </a:r>
          </a:p>
          <a:p>
            <a:pPr marL="0" indent="0" algn="l">
              <a:lnSpc>
                <a:spcPct val="108000"/>
              </a:lnSpc>
              <a:spcBef>
                <a:spcPts val="440"/>
              </a:spcBef>
              <a:buNone/>
            </a:pPr>
            <a:r>
              <a:rPr lang="en-US" sz="1800" dirty="0">
                <a:solidFill>
                  <a:srgbClr val="000000"/>
                </a:solidFill>
                <a:latin typeface="Century Gothic"/>
                <a:cs typeface="Century Gothic"/>
              </a:rPr>
              <a:t>Tell read_csv which strings mean missing.</a:t>
            </a:r>
          </a:p>
          <a:p>
            <a:pPr marL="0" indent="0" algn="l">
              <a:lnSpc>
                <a:spcPct val="108000"/>
              </a:lnSpc>
              <a:spcBef>
                <a:spcPts val="440"/>
              </a:spcBef>
              <a:buNone/>
            </a:pPr>
            <a:r>
              <a:rPr lang="en-US" sz="1800" dirty="0">
                <a:solidFill>
                  <a:srgbClr val="000000"/>
                </a:solidFill>
                <a:latin typeface="Century Gothic"/>
                <a:cs typeface="Century Gothic"/>
              </a:rPr>
              <a:t>na = c("", "NA", "999", "-99")</a:t>
            </a:r>
          </a:p>
          <a:p>
            <a:pPr>
              <a:buNone/>
            </a:pPr>
            <a:endParaRPr sz="1050"/>
          </a:p>
        </p:txBody>
      </p:sp>
      <p:sp>
        <p:nvSpPr>
          <p:cNvPr id="40" name="Callout"/>
          <p:cNvSpPr/>
          <p:nvPr/>
        </p:nvSpPr>
        <p:spPr>
          <a:xfrm>
            <a:off x="457200" y="5070000"/>
            <a:ext cx="11277600" cy="810000"/>
          </a:xfrm>
          <a:prstGeom prst="roundRect">
            <a:avLst>
              <a:gd name="adj" fmla="val 6000"/>
            </a:avLst>
          </a:prstGeom>
          <a:solidFill>
            <a:srgbClr val="F0F0F0"/>
          </a:solidFill>
          <a:ln>
            <a:noFill/>
          </a:ln>
        </p:spPr>
        <p:txBody>
          <a:bodyPr wrap="square" lIns="137160" tIns="91440" rIns="137160" bIns="91440" rtlCol="0" anchor="t"/>
          <a:lstStyle/>
          <a:p>
            <a:pPr marL="0" indent="0" algn="l">
              <a:buNone/>
            </a:pPr>
            <a:r>
              <a:rPr lang="en-US" sz="1300" b="1" dirty="0">
                <a:solidFill>
                  <a:srgbClr val="404040"/>
                </a:solidFill>
                <a:latin typeface="Century Gothic"/>
                <a:cs typeface="Century Gothic"/>
              </a:rPr>
              <a:t>NOTE  -  Types of missingness (brief)</a:t>
            </a:r>
          </a:p>
          <a:p>
            <a:pPr marL="0" indent="0" algn="l">
              <a:spcBef>
                <a:spcPts val="100"/>
              </a:spcBef>
              <a:buNone/>
            </a:pPr>
            <a:r>
              <a:rPr lang="en-US" sz="1300" dirty="0">
                <a:solidFill>
                  <a:srgbClr val="000000"/>
                </a:solidFill>
                <a:latin typeface="Century Gothic"/>
                <a:cs typeface="Century Gothic"/>
              </a:rPr>
              <a:t>MCAR, MAR, MNAR - the pattern affects how we handle it later.</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Century Gothic"/>
                <a:cs typeface="Century Gothic"/>
              </a:rPr>
              <a:t>Duplicates: 1503 vs 1500</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Body"/>
          <p:cNvSpPr txBox="1"/>
          <p:nvPr/>
        </p:nvSpPr>
        <p:spPr>
          <a:xfrm>
            <a:off x="457200" y="1080000"/>
            <a:ext cx="11277600" cy="3150000"/>
          </a:xfrm>
          <a:prstGeom prst="rect">
            <a:avLst/>
          </a:prstGeom>
          <a:noFill/>
          <a:ln>
            <a:noFill/>
          </a:ln>
        </p:spPr>
        <p:txBody>
          <a:bodyPr wrap="square" lIns="91440" tIns="45720" rIns="91440" bIns="45720" rtlCol="0" anchor="t"/>
          <a:lstStyle/>
          <a:p>
            <a:pPr marL="0" indent="0" algn="l">
              <a:spcBef>
                <a:spcPts val="360"/>
              </a:spcBef>
              <a:buNone/>
            </a:pPr>
            <a:r>
              <a:rPr lang="en-US" sz="2050" b="1" dirty="0">
                <a:solidFill>
                  <a:srgbClr val="0D7377"/>
                </a:solidFill>
                <a:latin typeface="Century Gothic"/>
                <a:cs typeface="Century Gothic"/>
              </a:rPr>
              <a:t>The story</a:t>
            </a:r>
          </a:p>
          <a:p>
            <a:pPr marL="0" indent="0" algn="l">
              <a:lnSpc>
                <a:spcPct val="108000"/>
              </a:lnSpc>
              <a:spcBef>
                <a:spcPts val="440"/>
              </a:spcBef>
              <a:buNone/>
            </a:pPr>
            <a:r>
              <a:rPr lang="en-US" sz="1800" dirty="0">
                <a:solidFill>
                  <a:srgbClr val="000000"/>
                </a:solidFill>
                <a:latin typeface="Century Gothic"/>
                <a:cs typeface="Century Gothic"/>
              </a:rPr>
              <a:t>The raw file has 1503 rows but only 1500 patients.</a:t>
            </a:r>
          </a:p>
          <a:p>
            <a:pPr marL="0" indent="0" algn="l">
              <a:lnSpc>
                <a:spcPct val="108000"/>
              </a:lnSpc>
              <a:spcBef>
                <a:spcPts val="440"/>
              </a:spcBef>
              <a:buNone/>
            </a:pPr>
            <a:r>
              <a:rPr lang="en-US" sz="1800" dirty="0">
                <a:solidFill>
                  <a:srgbClr val="000000"/>
                </a:solidFill>
                <a:latin typeface="Century Gothic"/>
                <a:cs typeface="Century Gothic"/>
              </a:rPr>
              <a:t>Three records were entered twice - exact duplicates.</a:t>
            </a:r>
          </a:p>
          <a:p>
            <a:pPr marL="0" indent="0" algn="l">
              <a:lnSpc>
                <a:spcPct val="108000"/>
              </a:lnSpc>
              <a:spcBef>
                <a:spcPts val="440"/>
              </a:spcBef>
              <a:buNone/>
            </a:pPr>
            <a:r>
              <a:rPr lang="en-US" sz="1800" dirty="0">
                <a:solidFill>
                  <a:srgbClr val="000000"/>
                </a:solidFill>
                <a:latin typeface="Century Gothic"/>
                <a:cs typeface="Century Gothic"/>
              </a:rPr>
              <a:t>Duplicates inflate the sample and distort estimates.</a:t>
            </a:r>
          </a:p>
          <a:p>
            <a:pPr>
              <a:buNone/>
            </a:pPr>
            <a:endParaRPr sz="1050"/>
          </a:p>
          <a:p>
            <a:pPr marL="0" indent="0" algn="l">
              <a:spcBef>
                <a:spcPts val="360"/>
              </a:spcBef>
              <a:buNone/>
            </a:pPr>
            <a:r>
              <a:rPr lang="en-US" sz="2050" b="1" dirty="0">
                <a:solidFill>
                  <a:srgbClr val="0D7377"/>
                </a:solidFill>
                <a:latin typeface="Century Gothic"/>
                <a:cs typeface="Century Gothic"/>
              </a:rPr>
              <a:t>Detect and remove</a:t>
            </a:r>
          </a:p>
          <a:p>
            <a:pPr marL="0" indent="0" algn="l">
              <a:lnSpc>
                <a:spcPct val="108000"/>
              </a:lnSpc>
              <a:spcBef>
                <a:spcPts val="440"/>
              </a:spcBef>
              <a:buNone/>
            </a:pPr>
            <a:r>
              <a:rPr lang="en-US" sz="1800" dirty="0">
                <a:solidFill>
                  <a:srgbClr val="000000"/>
                </a:solidFill>
                <a:latin typeface="Century Gothic"/>
                <a:cs typeface="Century Gothic"/>
              </a:rPr>
              <a:t>sum(duplicated(raw)) shows how many full duplicates.</a:t>
            </a:r>
          </a:p>
          <a:p>
            <a:pPr marL="0" indent="0" algn="l">
              <a:lnSpc>
                <a:spcPct val="108000"/>
              </a:lnSpc>
              <a:spcBef>
                <a:spcPts val="440"/>
              </a:spcBef>
              <a:buNone/>
            </a:pPr>
            <a:r>
              <a:rPr lang="en-US" sz="1800" dirty="0">
                <a:solidFill>
                  <a:srgbClr val="000000"/>
                </a:solidFill>
                <a:latin typeface="Century Gothic"/>
                <a:cs typeface="Century Gothic"/>
              </a:rPr>
              <a:t>distinct(raw) keeps one copy of each unique row.</a:t>
            </a:r>
          </a:p>
          <a:p>
            <a:pPr marL="0" indent="0" algn="l">
              <a:lnSpc>
                <a:spcPct val="108000"/>
              </a:lnSpc>
              <a:spcBef>
                <a:spcPts val="440"/>
              </a:spcBef>
              <a:buNone/>
            </a:pPr>
            <a:r>
              <a:rPr lang="en-US" sz="1800" dirty="0">
                <a:solidFill>
                  <a:srgbClr val="000000"/>
                </a:solidFill>
                <a:latin typeface="Century Gothic"/>
                <a:cs typeface="Century Gothic"/>
              </a:rPr>
              <a:t>n_distinct(raw$patient_id) should then equal nrow(raw).</a:t>
            </a:r>
          </a:p>
          <a:p>
            <a:pPr>
              <a:buNone/>
            </a:pPr>
            <a:endParaRPr sz="1050"/>
          </a:p>
        </p:txBody>
      </p:sp>
      <p:sp>
        <p:nvSpPr>
          <p:cNvPr id="40" name="Callout"/>
          <p:cNvSpPr/>
          <p:nvPr/>
        </p:nvSpPr>
        <p:spPr>
          <a:xfrm>
            <a:off x="457200" y="5070000"/>
            <a:ext cx="11277600" cy="810000"/>
          </a:xfrm>
          <a:prstGeom prst="roundRect">
            <a:avLst>
              <a:gd name="adj" fmla="val 6000"/>
            </a:avLst>
          </a:prstGeom>
          <a:solidFill>
            <a:srgbClr val="E8F4F4"/>
          </a:solidFill>
          <a:ln>
            <a:noFill/>
          </a:ln>
        </p:spPr>
        <p:txBody>
          <a:bodyPr wrap="square" lIns="137160" tIns="91440" rIns="137160" bIns="91440" rtlCol="0" anchor="t"/>
          <a:lstStyle/>
          <a:p>
            <a:pPr marL="0" indent="0" algn="l">
              <a:buNone/>
            </a:pPr>
            <a:r>
              <a:rPr lang="en-US" sz="1300" b="1" dirty="0">
                <a:solidFill>
                  <a:srgbClr val="0D7377"/>
                </a:solidFill>
                <a:latin typeface="Century Gothic"/>
                <a:cs typeface="Century Gothic"/>
              </a:rPr>
              <a:t>TIP  -  Always re-check</a:t>
            </a:r>
          </a:p>
          <a:p>
            <a:pPr marL="0" indent="0" algn="l">
              <a:spcBef>
                <a:spcPts val="100"/>
              </a:spcBef>
              <a:buNone/>
            </a:pPr>
            <a:r>
              <a:rPr lang="en-US" sz="1300" dirty="0">
                <a:solidFill>
                  <a:srgbClr val="000000"/>
                </a:solidFill>
                <a:latin typeface="Century Gothic"/>
                <a:cs typeface="Century Gothic"/>
              </a:rPr>
              <a:t>Confirm row count is 1500 after distinct().</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Century Gothic"/>
                <a:cs typeface="Century Gothic"/>
              </a:rPr>
              <a:t>Inconsistent Categories: the 8 Spellings of Sex</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Body"/>
          <p:cNvSpPr txBox="1"/>
          <p:nvPr/>
        </p:nvSpPr>
        <p:spPr>
          <a:xfrm>
            <a:off x="457200" y="1080000"/>
            <a:ext cx="11277600" cy="3150000"/>
          </a:xfrm>
          <a:prstGeom prst="rect">
            <a:avLst/>
          </a:prstGeom>
          <a:noFill/>
          <a:ln>
            <a:noFill/>
          </a:ln>
        </p:spPr>
        <p:txBody>
          <a:bodyPr wrap="square" lIns="91440" tIns="45720" rIns="91440" bIns="45720" rtlCol="0" anchor="t"/>
          <a:lstStyle/>
          <a:p>
            <a:pPr marL="0" indent="0" algn="l">
              <a:spcBef>
                <a:spcPts val="360"/>
              </a:spcBef>
              <a:buNone/>
            </a:pPr>
            <a:r>
              <a:rPr lang="en-US" sz="2050" b="1" dirty="0">
                <a:solidFill>
                  <a:srgbClr val="0D7377"/>
                </a:solidFill>
                <a:latin typeface="Century Gothic"/>
                <a:cs typeface="Century Gothic"/>
              </a:rPr>
              <a:t>The mess</a:t>
            </a:r>
          </a:p>
          <a:p>
            <a:pPr marL="0" indent="0" algn="l">
              <a:lnSpc>
                <a:spcPct val="108000"/>
              </a:lnSpc>
              <a:spcBef>
                <a:spcPts val="440"/>
              </a:spcBef>
              <a:buNone/>
            </a:pPr>
            <a:r>
              <a:rPr lang="en-US" sz="1800" dirty="0">
                <a:solidFill>
                  <a:srgbClr val="000000"/>
                </a:solidFill>
                <a:latin typeface="Century Gothic"/>
                <a:cs typeface="Century Gothic"/>
              </a:rPr>
              <a:t>Female, F, female, f and Male, M, male, m.</a:t>
            </a:r>
          </a:p>
          <a:p>
            <a:pPr marL="0" indent="0" algn="l">
              <a:lnSpc>
                <a:spcPct val="108000"/>
              </a:lnSpc>
              <a:spcBef>
                <a:spcPts val="440"/>
              </a:spcBef>
              <a:buNone/>
            </a:pPr>
            <a:r>
              <a:rPr lang="en-US" sz="1800" dirty="0">
                <a:solidFill>
                  <a:srgbClr val="000000"/>
                </a:solidFill>
                <a:latin typeface="Century Gothic"/>
                <a:cs typeface="Century Gothic"/>
              </a:rPr>
              <a:t>Stray spaces make even more variants.</a:t>
            </a:r>
          </a:p>
          <a:p>
            <a:pPr marL="0" indent="0" algn="l">
              <a:lnSpc>
                <a:spcPct val="108000"/>
              </a:lnSpc>
              <a:spcBef>
                <a:spcPts val="440"/>
              </a:spcBef>
              <a:buNone/>
            </a:pPr>
            <a:r>
              <a:rPr lang="en-US" sz="1800" dirty="0">
                <a:solidFill>
                  <a:srgbClr val="000000"/>
                </a:solidFill>
                <a:latin typeface="Century Gothic"/>
                <a:cs typeface="Century Gothic"/>
              </a:rPr>
              <a:t>Eight labels for two real groups.</a:t>
            </a:r>
          </a:p>
          <a:p>
            <a:pPr>
              <a:buNone/>
            </a:pPr>
            <a:endParaRPr sz="1050"/>
          </a:p>
          <a:p>
            <a:pPr marL="0" indent="0" algn="l">
              <a:spcBef>
                <a:spcPts val="360"/>
              </a:spcBef>
              <a:buNone/>
            </a:pPr>
            <a:r>
              <a:rPr lang="en-US" sz="2050" b="1" dirty="0">
                <a:solidFill>
                  <a:srgbClr val="0D7377"/>
                </a:solidFill>
                <a:latin typeface="Century Gothic"/>
                <a:cs typeface="Century Gothic"/>
              </a:rPr>
              <a:t>The fix</a:t>
            </a:r>
          </a:p>
          <a:p>
            <a:pPr marL="0" indent="0" algn="l">
              <a:lnSpc>
                <a:spcPct val="108000"/>
              </a:lnSpc>
              <a:spcBef>
                <a:spcPts val="440"/>
              </a:spcBef>
              <a:buNone/>
            </a:pPr>
            <a:r>
              <a:rPr lang="en-US" sz="1800" dirty="0">
                <a:solidFill>
                  <a:srgbClr val="000000"/>
                </a:solidFill>
                <a:latin typeface="Century Gothic"/>
                <a:cs typeface="Century Gothic"/>
              </a:rPr>
              <a:t>str_trim() removes leading and trailing spaces.</a:t>
            </a:r>
          </a:p>
          <a:p>
            <a:pPr marL="0" indent="0" algn="l">
              <a:lnSpc>
                <a:spcPct val="108000"/>
              </a:lnSpc>
              <a:spcBef>
                <a:spcPts val="440"/>
              </a:spcBef>
              <a:buNone/>
            </a:pPr>
            <a:r>
              <a:rPr lang="en-US" sz="1800" dirty="0">
                <a:solidFill>
                  <a:srgbClr val="000000"/>
                </a:solidFill>
                <a:latin typeface="Century Gothic"/>
                <a:cs typeface="Century Gothic"/>
              </a:rPr>
              <a:t>str_to_lower() makes case irrelevant.</a:t>
            </a:r>
          </a:p>
          <a:p>
            <a:pPr marL="0" indent="0" algn="l">
              <a:lnSpc>
                <a:spcPct val="108000"/>
              </a:lnSpc>
              <a:spcBef>
                <a:spcPts val="440"/>
              </a:spcBef>
              <a:buNone/>
            </a:pPr>
            <a:r>
              <a:rPr lang="en-US" sz="1800" dirty="0">
                <a:solidFill>
                  <a:srgbClr val="000000"/>
                </a:solidFill>
                <a:latin typeface="Century Gothic"/>
                <a:cs typeface="Century Gothic"/>
              </a:rPr>
              <a:t>case_when() maps every variant to Female or Male.</a:t>
            </a:r>
          </a:p>
          <a:p>
            <a:pPr>
              <a:buNone/>
            </a:pPr>
            <a:endParaRPr sz="1050"/>
          </a:p>
        </p:txBody>
      </p:sp>
      <p:sp>
        <p:nvSpPr>
          <p:cNvPr id="40" name="Callout"/>
          <p:cNvSpPr/>
          <p:nvPr/>
        </p:nvSpPr>
        <p:spPr>
          <a:xfrm>
            <a:off x="457200" y="5070000"/>
            <a:ext cx="11277600" cy="810000"/>
          </a:xfrm>
          <a:prstGeom prst="roundRect">
            <a:avLst>
              <a:gd name="adj" fmla="val 6000"/>
            </a:avLst>
          </a:prstGeom>
          <a:solidFill>
            <a:srgbClr val="EAF1F7"/>
          </a:solidFill>
          <a:ln>
            <a:noFill/>
          </a:ln>
        </p:spPr>
        <p:txBody>
          <a:bodyPr wrap="square" lIns="137160" tIns="91440" rIns="137160" bIns="91440" rtlCol="0" anchor="t"/>
          <a:lstStyle/>
          <a:p>
            <a:pPr marL="0" indent="0" algn="l">
              <a:buNone/>
            </a:pPr>
            <a:r>
              <a:rPr lang="en-US" sz="1300" b="1" dirty="0">
                <a:solidFill>
                  <a:srgbClr val="1F5C7A"/>
                </a:solidFill>
                <a:latin typeface="Century Gothic"/>
                <a:cs typeface="Century Gothic"/>
              </a:rPr>
              <a:t>CLINICAL INTERPRETATION  -  Clinical sense</a:t>
            </a:r>
          </a:p>
          <a:p>
            <a:pPr marL="0" indent="0" algn="l">
              <a:spcBef>
                <a:spcPts val="100"/>
              </a:spcBef>
              <a:buNone/>
            </a:pPr>
            <a:r>
              <a:rPr lang="en-US" sz="1300" dirty="0">
                <a:solidFill>
                  <a:srgbClr val="000000"/>
                </a:solidFill>
                <a:latin typeface="Century Gothic"/>
                <a:cs typeface="Century Gothic"/>
              </a:rPr>
              <a:t>Anything unexpected becomes NA, not a guess.</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Century Gothic"/>
                <a:cs typeface="Century Gothic"/>
              </a:rPr>
              <a:t>Standardising Binaries with a Helper</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Intro"/>
          <p:cNvSpPr txBox="1"/>
          <p:nvPr/>
        </p:nvSpPr>
        <p:spPr>
          <a:xfrm>
            <a:off x="457200" y="1080000"/>
            <a:ext cx="11277600" cy="520000"/>
          </a:xfrm>
          <a:prstGeom prst="rect">
            <a:avLst/>
          </a:prstGeom>
          <a:noFill/>
          <a:ln>
            <a:noFill/>
          </a:ln>
        </p:spPr>
        <p:txBody>
          <a:bodyPr wrap="square" lIns="91440" tIns="45720" rIns="91440" bIns="45720" rtlCol="0" anchor="t"/>
          <a:lstStyle/>
          <a:p>
            <a:pPr marL="0" indent="0" algn="l">
              <a:buNone/>
            </a:pPr>
            <a:r>
              <a:rPr lang="en-US" sz="1600" i="1" dirty="0">
                <a:solidFill>
                  <a:srgbClr val="595959"/>
                </a:solidFill>
                <a:latin typeface="Century Gothic"/>
                <a:cs typeface="Century Gothic"/>
              </a:rPr>
              <a:t>One reusable function fixes every Yes/No variable.</a:t>
            </a:r>
          </a:p>
        </p:txBody>
      </p:sp>
      <p:sp>
        <p:nvSpPr>
          <p:cNvPr id="30" name="Code"/>
          <p:cNvSpPr/>
          <p:nvPr/>
        </p:nvSpPr>
        <p:spPr>
          <a:xfrm>
            <a:off x="457200" y="1640000"/>
            <a:ext cx="11277600" cy="2280000"/>
          </a:xfrm>
          <a:prstGeom prst="roundRect">
            <a:avLst>
              <a:gd name="adj" fmla="val 6000"/>
            </a:avLst>
          </a:prstGeom>
          <a:solidFill>
            <a:srgbClr val="EDF1F2"/>
          </a:solidFill>
          <a:ln>
            <a:noFill/>
          </a:ln>
        </p:spPr>
        <p:txBody>
          <a:bodyPr wrap="square" lIns="137160" tIns="91440" rIns="137160" bIns="91440" rtlCol="0" anchor="t"/>
          <a:lstStyle/>
          <a:p>
            <a:pPr marL="0" indent="0" algn="l">
              <a:lnSpc>
                <a:spcPct val="100000"/>
              </a:lnSpc>
              <a:buNone/>
            </a:pPr>
            <a:r>
              <a:rPr lang="en-US" sz="1300" dirty="0">
                <a:solidFill>
                  <a:srgbClr val="1B3A4B"/>
                </a:solidFill>
                <a:latin typeface="Consolas"/>
                <a:cs typeface="Consolas"/>
              </a:rPr>
              <a:t>to_yesno &lt;- function(x) {</a:t>
            </a:r>
          </a:p>
          <a:p>
            <a:pPr marL="0" indent="0" algn="l">
              <a:lnSpc>
                <a:spcPct val="100000"/>
              </a:lnSpc>
              <a:buNone/>
            </a:pPr>
            <a:r>
              <a:rPr lang="en-US" sz="1300" dirty="0">
                <a:solidFill>
                  <a:srgbClr val="1B3A4B"/>
                </a:solidFill>
                <a:latin typeface="Consolas"/>
                <a:cs typeface="Consolas"/>
              </a:rPr>
              <a:t>  x &lt;- str_to_lower(str_trim(as.character(x)))</a:t>
            </a:r>
          </a:p>
          <a:p>
            <a:pPr marL="0" indent="0" algn="l">
              <a:lnSpc>
                <a:spcPct val="100000"/>
              </a:lnSpc>
              <a:buNone/>
            </a:pPr>
            <a:r>
              <a:rPr lang="en-US" sz="1300" dirty="0">
                <a:solidFill>
                  <a:srgbClr val="1B3A4B"/>
                </a:solidFill>
                <a:latin typeface="Consolas"/>
                <a:cs typeface="Consolas"/>
              </a:rPr>
              <a:t>  case_when(</a:t>
            </a:r>
          </a:p>
          <a:p>
            <a:pPr marL="0" indent="0" algn="l">
              <a:lnSpc>
                <a:spcPct val="100000"/>
              </a:lnSpc>
              <a:buNone/>
            </a:pPr>
            <a:r>
              <a:rPr lang="en-US" sz="1300" dirty="0">
                <a:solidFill>
                  <a:srgbClr val="1B3A4B"/>
                </a:solidFill>
                <a:latin typeface="Consolas"/>
                <a:cs typeface="Consolas"/>
              </a:rPr>
              <a:t>    x %in% c("yes","y","1","true") ~ "Yes",</a:t>
            </a:r>
          </a:p>
          <a:p>
            <a:pPr marL="0" indent="0" algn="l">
              <a:lnSpc>
                <a:spcPct val="100000"/>
              </a:lnSpc>
              <a:buNone/>
            </a:pPr>
            <a:r>
              <a:rPr lang="en-US" sz="1300" dirty="0">
                <a:solidFill>
                  <a:srgbClr val="1B3A4B"/>
                </a:solidFill>
                <a:latin typeface="Consolas"/>
                <a:cs typeface="Consolas"/>
              </a:rPr>
              <a:t>    x %in% c("no","n","0","false") ~ "No",</a:t>
            </a:r>
          </a:p>
          <a:p>
            <a:pPr marL="0" indent="0" algn="l">
              <a:lnSpc>
                <a:spcPct val="100000"/>
              </a:lnSpc>
              <a:buNone/>
            </a:pPr>
            <a:r>
              <a:rPr lang="en-US" sz="1300" dirty="0">
                <a:solidFill>
                  <a:srgbClr val="1B3A4B"/>
                </a:solidFill>
                <a:latin typeface="Consolas"/>
                <a:cs typeface="Consolas"/>
              </a:rPr>
              <a:t>    TRUE ~ NA_character_)</a:t>
            </a:r>
          </a:p>
          <a:p>
            <a:pPr marL="0" indent="0" algn="l">
              <a:lnSpc>
                <a:spcPct val="100000"/>
              </a:lnSpc>
              <a:buNone/>
            </a:pPr>
            <a:r>
              <a:rPr lang="en-US" sz="1300" dirty="0">
                <a:solidFill>
                  <a:srgbClr val="1B3A4B"/>
                </a:solidFill>
                <a:latin typeface="Consolas"/>
                <a:cs typeface="Consolas"/>
              </a:rPr>
              <a:t>}</a:t>
            </a:r>
          </a:p>
          <a:p>
            <a:pPr marL="0" indent="0" algn="l">
              <a:lnSpc>
                <a:spcPct val="100000"/>
              </a:lnSpc>
              <a:buNone/>
            </a:pPr>
            <a:r>
              <a:rPr lang="en-US" sz="1300" dirty="0">
                <a:solidFill>
                  <a:srgbClr val="1B3A4B"/>
                </a:solidFill>
                <a:latin typeface="Consolas"/>
                <a:cs typeface="Consolas"/>
              </a:rPr>
              <a:t>raw &lt;- raw |&gt; mutate(across(</a:t>
            </a:r>
          </a:p>
          <a:p>
            <a:pPr marL="0" indent="0" algn="l">
              <a:lnSpc>
                <a:spcPct val="100000"/>
              </a:lnSpc>
              <a:buNone/>
            </a:pPr>
            <a:r>
              <a:rPr lang="en-US" sz="1300" dirty="0">
                <a:solidFill>
                  <a:srgbClr val="1B3A4B"/>
                </a:solidFill>
                <a:latin typeface="Consolas"/>
                <a:cs typeface="Consolas"/>
              </a:rPr>
              <a:t>  c(diabetes, family_history_htn, health_insurance,</a:t>
            </a:r>
          </a:p>
          <a:p>
            <a:pPr marL="0" indent="0" algn="l">
              <a:lnSpc>
                <a:spcPct val="100000"/>
              </a:lnSpc>
              <a:buNone/>
            </a:pPr>
            <a:r>
              <a:rPr lang="en-US" sz="1300" dirty="0">
                <a:solidFill>
                  <a:srgbClr val="1B3A4B"/>
                </a:solidFill>
                <a:latin typeface="Consolas"/>
                <a:cs typeface="Consolas"/>
              </a:rPr>
              <a:t>    htn_diagnosed, treatment_uptake), to_yesno))</a:t>
            </a:r>
          </a:p>
        </p:txBody>
      </p:sp>
      <p:sp>
        <p:nvSpPr>
          <p:cNvPr id="32" name="Note"/>
          <p:cNvSpPr/>
          <p:nvPr/>
        </p:nvSpPr>
        <p:spPr>
          <a:xfrm>
            <a:off x="457200" y="4070000"/>
            <a:ext cx="11277600" cy="470000"/>
          </a:xfrm>
          <a:prstGeom prst="roundRect">
            <a:avLst>
              <a:gd name="adj" fmla="val 6000"/>
            </a:avLst>
          </a:prstGeom>
          <a:solidFill>
            <a:srgbClr val="EAF1F7"/>
          </a:solidFill>
          <a:ln>
            <a:noFill/>
          </a:ln>
        </p:spPr>
        <p:txBody>
          <a:bodyPr wrap="square" lIns="137160" tIns="91440" rIns="137160" bIns="91440" rtlCol="0" anchor="t"/>
          <a:lstStyle/>
          <a:p>
            <a:pPr marL="0" indent="0" algn="l">
              <a:buNone/>
            </a:pPr>
            <a:r>
              <a:rPr lang="en-US" sz="1300" dirty="0">
                <a:solidFill>
                  <a:srgbClr val="1F5C7A"/>
                </a:solidFill>
                <a:latin typeface="Century Gothic"/>
                <a:cs typeface="Century Gothic"/>
              </a:rPr>
              <a:t>INTERPRETATION  -  Write the rule once, apply it to many columns with across().</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Century Gothic"/>
                <a:cs typeface="Century Gothic"/>
              </a:rPr>
              <a:t>Validation: Impossible Physiological Values</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Body"/>
          <p:cNvSpPr txBox="1"/>
          <p:nvPr/>
        </p:nvSpPr>
        <p:spPr>
          <a:xfrm>
            <a:off x="457200" y="1080000"/>
            <a:ext cx="11277600" cy="3150000"/>
          </a:xfrm>
          <a:prstGeom prst="rect">
            <a:avLst/>
          </a:prstGeom>
          <a:noFill/>
          <a:ln>
            <a:noFill/>
          </a:ln>
        </p:spPr>
        <p:txBody>
          <a:bodyPr wrap="square" lIns="91440" tIns="45720" rIns="91440" bIns="45720" rtlCol="0" anchor="t"/>
          <a:lstStyle/>
          <a:p>
            <a:pPr marL="0" indent="0" algn="l">
              <a:spcBef>
                <a:spcPts val="360"/>
              </a:spcBef>
              <a:buNone/>
            </a:pPr>
            <a:r>
              <a:rPr lang="en-US" sz="2050" b="1" dirty="0">
                <a:solidFill>
                  <a:srgbClr val="0D7377"/>
                </a:solidFill>
                <a:latin typeface="Century Gothic"/>
                <a:cs typeface="Century Gothic"/>
              </a:rPr>
              <a:t>Spot the impossible</a:t>
            </a:r>
          </a:p>
          <a:p>
            <a:pPr marL="0" indent="0" algn="l">
              <a:lnSpc>
                <a:spcPct val="108000"/>
              </a:lnSpc>
              <a:spcBef>
                <a:spcPts val="440"/>
              </a:spcBef>
              <a:buNone/>
            </a:pPr>
            <a:r>
              <a:rPr lang="en-US" sz="1800" dirty="0">
                <a:solidFill>
                  <a:srgbClr val="000000"/>
                </a:solidFill>
                <a:latin typeface="Century Gothic"/>
                <a:cs typeface="Century Gothic"/>
              </a:rPr>
              <a:t>age 200 and age 0; sbp 0 and sbp 700.</a:t>
            </a:r>
          </a:p>
          <a:p>
            <a:pPr marL="0" indent="0" algn="l">
              <a:lnSpc>
                <a:spcPct val="108000"/>
              </a:lnSpc>
              <a:spcBef>
                <a:spcPts val="440"/>
              </a:spcBef>
              <a:buNone/>
            </a:pPr>
            <a:r>
              <a:rPr lang="en-US" sz="1800" dirty="0">
                <a:solidFill>
                  <a:srgbClr val="000000"/>
                </a:solidFill>
                <a:latin typeface="Century Gothic"/>
                <a:cs typeface="Century Gothic"/>
              </a:rPr>
              <a:t>weight 7 kg; height 17 cm.</a:t>
            </a:r>
          </a:p>
          <a:p>
            <a:pPr marL="0" indent="0" algn="l">
              <a:lnSpc>
                <a:spcPct val="108000"/>
              </a:lnSpc>
              <a:spcBef>
                <a:spcPts val="440"/>
              </a:spcBef>
              <a:buNone/>
            </a:pPr>
            <a:r>
              <a:rPr lang="en-US" sz="1800" dirty="0">
                <a:solidFill>
                  <a:srgbClr val="000000"/>
                </a:solidFill>
                <a:latin typeface="Century Gothic"/>
                <a:cs typeface="Century Gothic"/>
              </a:rPr>
              <a:t>These are data-entry errors, not real patients.</a:t>
            </a:r>
          </a:p>
          <a:p>
            <a:pPr>
              <a:buNone/>
            </a:pPr>
            <a:endParaRPr sz="1050"/>
          </a:p>
          <a:p>
            <a:pPr marL="0" indent="0" algn="l">
              <a:spcBef>
                <a:spcPts val="360"/>
              </a:spcBef>
              <a:buNone/>
            </a:pPr>
            <a:r>
              <a:rPr lang="en-US" sz="2050" b="1" dirty="0">
                <a:solidFill>
                  <a:srgbClr val="0D7377"/>
                </a:solidFill>
                <a:latin typeface="Century Gothic"/>
                <a:cs typeface="Century Gothic"/>
              </a:rPr>
              <a:t>Fix with plausible ranges</a:t>
            </a:r>
          </a:p>
          <a:p>
            <a:pPr marL="0" indent="0" algn="l">
              <a:lnSpc>
                <a:spcPct val="108000"/>
              </a:lnSpc>
              <a:spcBef>
                <a:spcPts val="440"/>
              </a:spcBef>
              <a:buNone/>
            </a:pPr>
            <a:r>
              <a:rPr lang="en-US" sz="1800" dirty="0">
                <a:solidFill>
                  <a:srgbClr val="000000"/>
                </a:solidFill>
                <a:latin typeface="Century Gothic"/>
                <a:cs typeface="Century Gothic"/>
              </a:rPr>
              <a:t>if_else(age &gt;= 18 &amp; age &lt;= 110, age, NA_real_)</a:t>
            </a:r>
          </a:p>
          <a:p>
            <a:pPr marL="0" indent="0" algn="l">
              <a:lnSpc>
                <a:spcPct val="108000"/>
              </a:lnSpc>
              <a:spcBef>
                <a:spcPts val="440"/>
              </a:spcBef>
              <a:buNone/>
            </a:pPr>
            <a:r>
              <a:rPr lang="en-US" sz="1800" dirty="0">
                <a:solidFill>
                  <a:srgbClr val="000000"/>
                </a:solidFill>
                <a:latin typeface="Century Gothic"/>
                <a:cs typeface="Century Gothic"/>
              </a:rPr>
              <a:t>Outside the range becomes NA, not a deletion of the row.</a:t>
            </a:r>
          </a:p>
          <a:p>
            <a:pPr>
              <a:buNone/>
            </a:pPr>
            <a:endParaRPr sz="1050"/>
          </a:p>
        </p:txBody>
      </p:sp>
      <p:sp>
        <p:nvSpPr>
          <p:cNvPr id="40" name="Callout"/>
          <p:cNvSpPr/>
          <p:nvPr/>
        </p:nvSpPr>
        <p:spPr>
          <a:xfrm>
            <a:off x="457200" y="5070000"/>
            <a:ext cx="11277600" cy="810000"/>
          </a:xfrm>
          <a:prstGeom prst="roundRect">
            <a:avLst>
              <a:gd name="adj" fmla="val 6000"/>
            </a:avLst>
          </a:prstGeom>
          <a:solidFill>
            <a:srgbClr val="EAF1F7"/>
          </a:solidFill>
          <a:ln>
            <a:noFill/>
          </a:ln>
        </p:spPr>
        <p:txBody>
          <a:bodyPr wrap="square" lIns="137160" tIns="91440" rIns="137160" bIns="91440" rtlCol="0" anchor="t"/>
          <a:lstStyle/>
          <a:p>
            <a:pPr marL="0" indent="0" algn="l">
              <a:buNone/>
            </a:pPr>
            <a:r>
              <a:rPr lang="en-US" sz="1300" b="1" dirty="0">
                <a:solidFill>
                  <a:srgbClr val="1F5C7A"/>
                </a:solidFill>
                <a:latin typeface="Century Gothic"/>
                <a:cs typeface="Century Gothic"/>
              </a:rPr>
              <a:t>CLINICAL INTERPRETATION  -  Choosing ranges</a:t>
            </a:r>
          </a:p>
          <a:p>
            <a:pPr marL="0" indent="0" algn="l">
              <a:spcBef>
                <a:spcPts val="100"/>
              </a:spcBef>
              <a:buNone/>
            </a:pPr>
            <a:r>
              <a:rPr lang="en-US" sz="1300" dirty="0">
                <a:solidFill>
                  <a:srgbClr val="000000"/>
                </a:solidFill>
                <a:latin typeface="Century Gothic"/>
                <a:cs typeface="Century Gothic"/>
              </a:rPr>
              <a:t>Set limits from clinical knowledge and your study's population, not from the data alone.</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Century Gothic"/>
                <a:cs typeface="Century Gothic"/>
              </a:rPr>
              <a:t>Recoding and Deriving Variables</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1" name="Col"/>
          <p:cNvSpPr txBox="1"/>
          <p:nvPr/>
        </p:nvSpPr>
        <p:spPr>
          <a:xfrm>
            <a:off x="457200" y="1150000"/>
            <a:ext cx="5478780" cy="5050000"/>
          </a:xfrm>
          <a:prstGeom prst="rect">
            <a:avLst/>
          </a:prstGeom>
          <a:noFill/>
          <a:ln>
            <a:noFill/>
          </a:ln>
        </p:spPr>
        <p:txBody>
          <a:bodyPr wrap="square" lIns="91440" tIns="45720" rIns="91440" bIns="45720" rtlCol="0" anchor="t"/>
          <a:lstStyle/>
          <a:p>
            <a:pPr marL="0" indent="0" algn="l">
              <a:buNone/>
            </a:pPr>
            <a:r>
              <a:rPr lang="en-US" sz="2050" b="1" dirty="0">
                <a:solidFill>
                  <a:srgbClr val="0D7377"/>
                </a:solidFill>
                <a:latin typeface="Century Gothic"/>
                <a:cs typeface="Century Gothic"/>
              </a:rPr>
              <a:t>Recompute BMI from source</a:t>
            </a:r>
          </a:p>
          <a:p>
            <a:pPr marL="274320" indent="-274320" algn="l">
              <a:lnSpc>
                <a:spcPct val="106000"/>
              </a:lnSpc>
              <a:spcBef>
                <a:spcPts val="520"/>
              </a:spcBef>
              <a:buFont typeface="Arial"/>
              <a:buChar char="•"/>
            </a:pPr>
            <a:r>
              <a:rPr lang="en-US" sz="1650" dirty="0">
                <a:solidFill>
                  <a:srgbClr val="000000"/>
                </a:solidFill>
                <a:latin typeface="Century Gothic"/>
                <a:cs typeface="Century Gothic"/>
              </a:rPr>
              <a:t>bmi = weight_kg / (height_cm/100)^2</a:t>
            </a:r>
          </a:p>
          <a:p>
            <a:pPr marL="274320" indent="-274320" algn="l">
              <a:lnSpc>
                <a:spcPct val="106000"/>
              </a:lnSpc>
              <a:spcBef>
                <a:spcPts val="520"/>
              </a:spcBef>
              <a:buFont typeface="Arial"/>
              <a:buChar char="•"/>
            </a:pPr>
            <a:r>
              <a:rPr lang="en-US" sz="1650" dirty="0">
                <a:solidFill>
                  <a:srgbClr val="000000"/>
                </a:solidFill>
                <a:latin typeface="Century Gothic"/>
                <a:cs typeface="Century Gothic"/>
              </a:rPr>
              <a:t>Derive after cleaning height and weight.</a:t>
            </a:r>
          </a:p>
          <a:p>
            <a:pPr marL="274320" indent="-274320" algn="l">
              <a:lnSpc>
                <a:spcPct val="106000"/>
              </a:lnSpc>
              <a:spcBef>
                <a:spcPts val="520"/>
              </a:spcBef>
              <a:buFont typeface="Arial"/>
              <a:buChar char="•"/>
            </a:pPr>
            <a:r>
              <a:rPr lang="en-US" sz="1650" dirty="0">
                <a:solidFill>
                  <a:srgbClr val="000000"/>
                </a:solidFill>
                <a:latin typeface="Century Gothic"/>
                <a:cs typeface="Century Gothic"/>
              </a:rPr>
              <a:t>Never trust a pre-computed BMI blindly.</a:t>
            </a:r>
          </a:p>
        </p:txBody>
      </p:sp>
      <p:sp>
        <p:nvSpPr>
          <p:cNvPr id="22" name="Col"/>
          <p:cNvSpPr txBox="1"/>
          <p:nvPr/>
        </p:nvSpPr>
        <p:spPr>
          <a:xfrm>
            <a:off x="6256020" y="1150000"/>
            <a:ext cx="5478780" cy="5050000"/>
          </a:xfrm>
          <a:prstGeom prst="rect">
            <a:avLst/>
          </a:prstGeom>
          <a:noFill/>
          <a:ln>
            <a:noFill/>
          </a:ln>
        </p:spPr>
        <p:txBody>
          <a:bodyPr wrap="square" lIns="91440" tIns="45720" rIns="91440" bIns="45720" rtlCol="0" anchor="t"/>
          <a:lstStyle/>
          <a:p>
            <a:pPr marL="0" indent="0" algn="l">
              <a:buNone/>
            </a:pPr>
            <a:r>
              <a:rPr lang="en-US" sz="2050" b="1" dirty="0">
                <a:solidFill>
                  <a:srgbClr val="0D7377"/>
                </a:solidFill>
                <a:latin typeface="Century Gothic"/>
                <a:cs typeface="Century Gothic"/>
              </a:rPr>
              <a:t>Create clinical categories</a:t>
            </a:r>
          </a:p>
          <a:p>
            <a:pPr marL="274320" indent="-274320" algn="l">
              <a:lnSpc>
                <a:spcPct val="106000"/>
              </a:lnSpc>
              <a:spcBef>
                <a:spcPts val="520"/>
              </a:spcBef>
              <a:buFont typeface="Arial"/>
              <a:buChar char="•"/>
            </a:pPr>
            <a:r>
              <a:rPr lang="en-US" sz="1650" dirty="0">
                <a:solidFill>
                  <a:srgbClr val="000000"/>
                </a:solidFill>
                <a:latin typeface="Century Gothic"/>
                <a:cs typeface="Century Gothic"/>
              </a:rPr>
              <a:t>bmi_cat with cut(): Underweight to Obese.</a:t>
            </a:r>
          </a:p>
          <a:p>
            <a:pPr marL="274320" indent="-274320" algn="l">
              <a:lnSpc>
                <a:spcPct val="106000"/>
              </a:lnSpc>
              <a:spcBef>
                <a:spcPts val="520"/>
              </a:spcBef>
              <a:buFont typeface="Arial"/>
              <a:buChar char="•"/>
            </a:pPr>
            <a:r>
              <a:rPr lang="en-US" sz="1650" dirty="0">
                <a:solidFill>
                  <a:srgbClr val="000000"/>
                </a:solidFill>
                <a:latin typeface="Century Gothic"/>
                <a:cs typeface="Century Gothic"/>
              </a:rPr>
              <a:t>bp_category with case_when().</a:t>
            </a:r>
          </a:p>
          <a:p>
            <a:pPr marL="274320" indent="-274320" algn="l">
              <a:lnSpc>
                <a:spcPct val="106000"/>
              </a:lnSpc>
              <a:spcBef>
                <a:spcPts val="520"/>
              </a:spcBef>
              <a:buFont typeface="Arial"/>
              <a:buChar char="•"/>
            </a:pPr>
            <a:r>
              <a:rPr lang="en-US" sz="1650" dirty="0">
                <a:solidFill>
                  <a:srgbClr val="000000"/>
                </a:solidFill>
                <a:latin typeface="Century Gothic"/>
                <a:cs typeface="Century Gothic"/>
              </a:rPr>
              <a:t>Normal, Elevated, Hypertension.</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Century Gothic"/>
                <a:cs typeface="Century Gothic"/>
              </a:rPr>
              <a:t>Demo: Recompute BMI and Categorise</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30" name="Code"/>
          <p:cNvSpPr/>
          <p:nvPr/>
        </p:nvSpPr>
        <p:spPr>
          <a:xfrm>
            <a:off x="457200" y="1080000"/>
            <a:ext cx="11277600" cy="2490000"/>
          </a:xfrm>
          <a:prstGeom prst="roundRect">
            <a:avLst>
              <a:gd name="adj" fmla="val 6000"/>
            </a:avLst>
          </a:prstGeom>
          <a:solidFill>
            <a:srgbClr val="EDF1F2"/>
          </a:solidFill>
          <a:ln>
            <a:noFill/>
          </a:ln>
        </p:spPr>
        <p:txBody>
          <a:bodyPr wrap="square" lIns="137160" tIns="91440" rIns="137160" bIns="91440" rtlCol="0" anchor="t"/>
          <a:lstStyle/>
          <a:p>
            <a:pPr marL="0" indent="0" algn="l">
              <a:lnSpc>
                <a:spcPct val="100000"/>
              </a:lnSpc>
              <a:buNone/>
            </a:pPr>
            <a:r>
              <a:rPr lang="en-US" sz="1300" dirty="0">
                <a:solidFill>
                  <a:srgbClr val="1B3A4B"/>
                </a:solidFill>
                <a:latin typeface="Consolas"/>
                <a:cs typeface="Consolas"/>
              </a:rPr>
              <a:t>raw &lt;- raw |&gt; mutate(</a:t>
            </a:r>
          </a:p>
          <a:p>
            <a:pPr marL="0" indent="0" algn="l">
              <a:lnSpc>
                <a:spcPct val="100000"/>
              </a:lnSpc>
              <a:buNone/>
            </a:pPr>
            <a:r>
              <a:rPr lang="en-US" sz="1300" dirty="0">
                <a:solidFill>
                  <a:srgbClr val="1B3A4B"/>
                </a:solidFill>
                <a:latin typeface="Consolas"/>
                <a:cs typeface="Consolas"/>
              </a:rPr>
              <a:t>  bmi = round(weight_kg / (height_cm/100)^2, 1),</a:t>
            </a:r>
          </a:p>
          <a:p>
            <a:pPr marL="0" indent="0" algn="l">
              <a:lnSpc>
                <a:spcPct val="100000"/>
              </a:lnSpc>
              <a:buNone/>
            </a:pPr>
            <a:r>
              <a:rPr lang="en-US" sz="1300" dirty="0">
                <a:solidFill>
                  <a:srgbClr val="1B3A4B"/>
                </a:solidFill>
                <a:latin typeface="Consolas"/>
                <a:cs typeface="Consolas"/>
              </a:rPr>
              <a:t>  bmi_cat = cut(bmi,</a:t>
            </a:r>
          </a:p>
          <a:p>
            <a:pPr marL="0" indent="0" algn="l">
              <a:lnSpc>
                <a:spcPct val="100000"/>
              </a:lnSpc>
              <a:buNone/>
            </a:pPr>
            <a:r>
              <a:rPr lang="en-US" sz="1300" dirty="0">
                <a:solidFill>
                  <a:srgbClr val="1B3A4B"/>
                </a:solidFill>
                <a:latin typeface="Consolas"/>
                <a:cs typeface="Consolas"/>
              </a:rPr>
              <a:t>    breaks = c(-Inf, 18.5, 25, 30, Inf),</a:t>
            </a:r>
          </a:p>
          <a:p>
            <a:pPr marL="0" indent="0" algn="l">
              <a:lnSpc>
                <a:spcPct val="100000"/>
              </a:lnSpc>
              <a:buNone/>
            </a:pPr>
            <a:r>
              <a:rPr lang="en-US" sz="1300" dirty="0">
                <a:solidFill>
                  <a:srgbClr val="1B3A4B"/>
                </a:solidFill>
                <a:latin typeface="Consolas"/>
                <a:cs typeface="Consolas"/>
              </a:rPr>
              <a:t>    labels = c("Underweight","Normal",</a:t>
            </a:r>
          </a:p>
          <a:p>
            <a:pPr marL="0" indent="0" algn="l">
              <a:lnSpc>
                <a:spcPct val="100000"/>
              </a:lnSpc>
              <a:buNone/>
            </a:pPr>
            <a:r>
              <a:rPr lang="en-US" sz="1300" dirty="0">
                <a:solidFill>
                  <a:srgbClr val="1B3A4B"/>
                </a:solidFill>
                <a:latin typeface="Consolas"/>
                <a:cs typeface="Consolas"/>
              </a:rPr>
              <a:t>               "Overweight","Obese")),</a:t>
            </a:r>
          </a:p>
          <a:p>
            <a:pPr marL="0" indent="0" algn="l">
              <a:lnSpc>
                <a:spcPct val="100000"/>
              </a:lnSpc>
              <a:buNone/>
            </a:pPr>
            <a:r>
              <a:rPr lang="en-US" sz="1300" dirty="0">
                <a:solidFill>
                  <a:srgbClr val="1B3A4B"/>
                </a:solidFill>
                <a:latin typeface="Consolas"/>
                <a:cs typeface="Consolas"/>
              </a:rPr>
              <a:t>  bp_category = case_when(</a:t>
            </a:r>
          </a:p>
          <a:p>
            <a:pPr marL="0" indent="0" algn="l">
              <a:lnSpc>
                <a:spcPct val="100000"/>
              </a:lnSpc>
              <a:buNone/>
            </a:pPr>
            <a:r>
              <a:rPr lang="en-US" sz="1300" dirty="0">
                <a:solidFill>
                  <a:srgbClr val="1B3A4B"/>
                </a:solidFill>
                <a:latin typeface="Consolas"/>
                <a:cs typeface="Consolas"/>
              </a:rPr>
              <a:t>    is.na(sbp_mmhg) | is.na(dbp_mmhg) ~ NA_character_,</a:t>
            </a:r>
          </a:p>
          <a:p>
            <a:pPr marL="0" indent="0" algn="l">
              <a:lnSpc>
                <a:spcPct val="100000"/>
              </a:lnSpc>
              <a:buNone/>
            </a:pPr>
            <a:r>
              <a:rPr lang="en-US" sz="1300" dirty="0">
                <a:solidFill>
                  <a:srgbClr val="1B3A4B"/>
                </a:solidFill>
                <a:latin typeface="Consolas"/>
                <a:cs typeface="Consolas"/>
              </a:rPr>
              <a:t>    sbp_mmhg &gt;= 140 | dbp_mmhg &gt;= 90 ~ "Hypertension",</a:t>
            </a:r>
          </a:p>
          <a:p>
            <a:pPr marL="0" indent="0" algn="l">
              <a:lnSpc>
                <a:spcPct val="100000"/>
              </a:lnSpc>
              <a:buNone/>
            </a:pPr>
            <a:r>
              <a:rPr lang="en-US" sz="1300" dirty="0">
                <a:solidFill>
                  <a:srgbClr val="1B3A4B"/>
                </a:solidFill>
                <a:latin typeface="Consolas"/>
                <a:cs typeface="Consolas"/>
              </a:rPr>
              <a:t>    sbp_mmhg &gt;= 130 | dbp_mmhg &gt;= 80 ~ "Elevated",</a:t>
            </a:r>
          </a:p>
          <a:p>
            <a:pPr marL="0" indent="0" algn="l">
              <a:lnSpc>
                <a:spcPct val="100000"/>
              </a:lnSpc>
              <a:buNone/>
            </a:pPr>
            <a:r>
              <a:rPr lang="en-US" sz="1300" dirty="0">
                <a:solidFill>
                  <a:srgbClr val="1B3A4B"/>
                </a:solidFill>
                <a:latin typeface="Consolas"/>
                <a:cs typeface="Consolas"/>
              </a:rPr>
              <a:t>    TRUE ~ "Normal"))</a:t>
            </a:r>
          </a:p>
        </p:txBody>
      </p:sp>
      <p:sp>
        <p:nvSpPr>
          <p:cNvPr id="32" name="Note"/>
          <p:cNvSpPr/>
          <p:nvPr/>
        </p:nvSpPr>
        <p:spPr>
          <a:xfrm>
            <a:off x="457200" y="3720000"/>
            <a:ext cx="11277600" cy="470000"/>
          </a:xfrm>
          <a:prstGeom prst="roundRect">
            <a:avLst>
              <a:gd name="adj" fmla="val 6000"/>
            </a:avLst>
          </a:prstGeom>
          <a:solidFill>
            <a:srgbClr val="EAF1F7"/>
          </a:solidFill>
          <a:ln>
            <a:noFill/>
          </a:ln>
        </p:spPr>
        <p:txBody>
          <a:bodyPr wrap="square" lIns="137160" tIns="91440" rIns="137160" bIns="91440" rtlCol="0" anchor="t"/>
          <a:lstStyle/>
          <a:p>
            <a:pPr marL="0" indent="0" algn="l">
              <a:buNone/>
            </a:pPr>
            <a:r>
              <a:rPr lang="en-US" sz="1300" dirty="0">
                <a:solidFill>
                  <a:srgbClr val="1F5C7A"/>
                </a:solidFill>
                <a:latin typeface="Century Gothic"/>
                <a:cs typeface="Century Gothic"/>
              </a:rPr>
              <a:t>INTERPRETATION  -  Handle NA explicitly first so missing BP never reads as Normal.</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Century Gothic"/>
                <a:cs typeface="Century Gothic"/>
              </a:rPr>
              <a:t>Demo: Parsing Mixed Date Formats</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Intro"/>
          <p:cNvSpPr txBox="1"/>
          <p:nvPr/>
        </p:nvSpPr>
        <p:spPr>
          <a:xfrm>
            <a:off x="457200" y="1080000"/>
            <a:ext cx="11277600" cy="520000"/>
          </a:xfrm>
          <a:prstGeom prst="rect">
            <a:avLst/>
          </a:prstGeom>
          <a:noFill/>
          <a:ln>
            <a:noFill/>
          </a:ln>
        </p:spPr>
        <p:txBody>
          <a:bodyPr wrap="square" lIns="91440" tIns="45720" rIns="91440" bIns="45720" rtlCol="0" anchor="t"/>
          <a:lstStyle/>
          <a:p>
            <a:pPr marL="0" indent="0" algn="l">
              <a:buNone/>
            </a:pPr>
            <a:r>
              <a:rPr lang="en-US" sz="1600" i="1" dirty="0">
                <a:solidFill>
                  <a:srgbClr val="595959"/>
                </a:solidFill>
                <a:latin typeface="Century Gothic"/>
                <a:cs typeface="Century Gothic"/>
              </a:rPr>
              <a:t>enroll_date arrives in several different formats.</a:t>
            </a:r>
          </a:p>
        </p:txBody>
      </p:sp>
      <p:sp>
        <p:nvSpPr>
          <p:cNvPr id="30" name="Code"/>
          <p:cNvSpPr/>
          <p:nvPr/>
        </p:nvSpPr>
        <p:spPr>
          <a:xfrm>
            <a:off x="457200" y="1640000"/>
            <a:ext cx="11277600" cy="1650000"/>
          </a:xfrm>
          <a:prstGeom prst="roundRect">
            <a:avLst>
              <a:gd name="adj" fmla="val 6000"/>
            </a:avLst>
          </a:prstGeom>
          <a:solidFill>
            <a:srgbClr val="EDF1F2"/>
          </a:solidFill>
          <a:ln>
            <a:noFill/>
          </a:ln>
        </p:spPr>
        <p:txBody>
          <a:bodyPr wrap="square" lIns="137160" tIns="91440" rIns="137160" bIns="91440" rtlCol="0" anchor="t"/>
          <a:lstStyle/>
          <a:p>
            <a:pPr marL="0" indent="0" algn="l">
              <a:lnSpc>
                <a:spcPct val="100000"/>
              </a:lnSpc>
              <a:buNone/>
            </a:pPr>
            <a:r>
              <a:rPr lang="en-US" sz="1300" dirty="0">
                <a:solidFill>
                  <a:srgbClr val="1B3A4B"/>
                </a:solidFill>
                <a:latin typeface="Consolas"/>
                <a:cs typeface="Consolas"/>
              </a:rPr>
              <a:t>library(lubridate)</a:t>
            </a:r>
          </a:p>
          <a:p>
            <a:pPr marL="0" indent="0" algn="l">
              <a:lnSpc>
                <a:spcPct val="100000"/>
              </a:lnSpc>
              <a:buNone/>
            </a:pPr>
            <a:r>
              <a:rPr lang="en-US" sz="1300" dirty="0">
                <a:solidFill>
                  <a:srgbClr val="1B3A4B"/>
                </a:solidFill>
                <a:latin typeface="Consolas"/>
                <a:cs typeface="Consolas"/>
              </a:rPr>
              <a:t>raw &lt;- raw |&gt; mutate(</a:t>
            </a:r>
          </a:p>
          <a:p>
            <a:pPr marL="0" indent="0" algn="l">
              <a:lnSpc>
                <a:spcPct val="100000"/>
              </a:lnSpc>
              <a:buNone/>
            </a:pPr>
            <a:r>
              <a:rPr lang="en-US" sz="1300" dirty="0">
                <a:solidFill>
                  <a:srgbClr val="1B3A4B"/>
                </a:solidFill>
                <a:latin typeface="Consolas"/>
                <a:cs typeface="Consolas"/>
              </a:rPr>
              <a:t>  enroll_date = parse_date_time(</a:t>
            </a:r>
          </a:p>
          <a:p>
            <a:pPr marL="0" indent="0" algn="l">
              <a:lnSpc>
                <a:spcPct val="100000"/>
              </a:lnSpc>
              <a:buNone/>
            </a:pPr>
            <a:r>
              <a:rPr lang="en-US" sz="1300" dirty="0">
                <a:solidFill>
                  <a:srgbClr val="1B3A4B"/>
                </a:solidFill>
                <a:latin typeface="Consolas"/>
                <a:cs typeface="Consolas"/>
              </a:rPr>
              <a:t>    enroll_date,</a:t>
            </a:r>
          </a:p>
          <a:p>
            <a:pPr marL="0" indent="0" algn="l">
              <a:lnSpc>
                <a:spcPct val="100000"/>
              </a:lnSpc>
              <a:buNone/>
            </a:pPr>
            <a:r>
              <a:rPr lang="en-US" sz="1300" dirty="0">
                <a:solidFill>
                  <a:srgbClr val="1B3A4B"/>
                </a:solidFill>
                <a:latin typeface="Consolas"/>
                <a:cs typeface="Consolas"/>
              </a:rPr>
              <a:t>    orders = c("ymd","dmy","d-b-Y")) |&gt;</a:t>
            </a:r>
          </a:p>
          <a:p>
            <a:pPr marL="0" indent="0" algn="l">
              <a:lnSpc>
                <a:spcPct val="100000"/>
              </a:lnSpc>
              <a:buNone/>
            </a:pPr>
            <a:r>
              <a:rPr lang="en-US" sz="1300" dirty="0">
                <a:solidFill>
                  <a:srgbClr val="1B3A4B"/>
                </a:solidFill>
                <a:latin typeface="Consolas"/>
                <a:cs typeface="Consolas"/>
              </a:rPr>
              <a:t>  as_date())</a:t>
            </a:r>
          </a:p>
          <a:p>
            <a:pPr marL="0" indent="0" algn="l">
              <a:lnSpc>
                <a:spcPct val="100000"/>
              </a:lnSpc>
              <a:buNone/>
            </a:pPr>
            <a:r>
              <a:rPr lang="en-US" sz="1300" dirty="0">
                <a:solidFill>
                  <a:srgbClr val="1B3A4B"/>
                </a:solidFill>
                <a:latin typeface="Consolas"/>
                <a:cs typeface="Consolas"/>
              </a:rPr>
              <a:t>sum(is.na(raw$enroll_date))</a:t>
            </a:r>
          </a:p>
        </p:txBody>
      </p:sp>
      <p:sp>
        <p:nvSpPr>
          <p:cNvPr id="31" name="Output"/>
          <p:cNvSpPr/>
          <p:nvPr/>
        </p:nvSpPr>
        <p:spPr>
          <a:xfrm>
            <a:off x="457200" y="3440000"/>
            <a:ext cx="11277600" cy="500000"/>
          </a:xfrm>
          <a:prstGeom prst="roundRect">
            <a:avLst>
              <a:gd name="adj" fmla="val 6000"/>
            </a:avLst>
          </a:prstGeom>
          <a:solidFill>
            <a:srgbClr val="F2EFE6"/>
          </a:solidFill>
          <a:ln>
            <a:noFill/>
          </a:ln>
        </p:spPr>
        <p:txBody>
          <a:bodyPr wrap="square" lIns="137160" tIns="91440" rIns="137160" bIns="91440" rtlCol="0" anchor="t"/>
          <a:lstStyle/>
          <a:p>
            <a:pPr marL="0" indent="0" algn="l">
              <a:buNone/>
            </a:pPr>
            <a:r>
              <a:rPr lang="en-US" sz="1150" b="1" dirty="0">
                <a:solidFill>
                  <a:srgbClr val="595959"/>
                </a:solidFill>
                <a:latin typeface="Century Gothic"/>
                <a:cs typeface="Century Gothic"/>
              </a:rPr>
              <a:t>Console output</a:t>
            </a:r>
          </a:p>
          <a:p>
            <a:pPr marL="0" indent="0" algn="l">
              <a:lnSpc>
                <a:spcPct val="100000"/>
              </a:lnSpc>
              <a:buNone/>
            </a:pPr>
            <a:r>
              <a:rPr lang="en-US" sz="1250" dirty="0">
                <a:solidFill>
                  <a:srgbClr val="1A1A1A"/>
                </a:solidFill>
                <a:latin typeface="Consolas"/>
                <a:cs typeface="Consolas"/>
              </a:rPr>
              <a:t>[1] 0</a:t>
            </a:r>
          </a:p>
        </p:txBody>
      </p:sp>
      <p:sp>
        <p:nvSpPr>
          <p:cNvPr id="32" name="Note"/>
          <p:cNvSpPr/>
          <p:nvPr/>
        </p:nvSpPr>
        <p:spPr>
          <a:xfrm>
            <a:off x="457200" y="4080000"/>
            <a:ext cx="11277600" cy="470000"/>
          </a:xfrm>
          <a:prstGeom prst="roundRect">
            <a:avLst>
              <a:gd name="adj" fmla="val 6000"/>
            </a:avLst>
          </a:prstGeom>
          <a:solidFill>
            <a:srgbClr val="EAF1F7"/>
          </a:solidFill>
          <a:ln>
            <a:noFill/>
          </a:ln>
        </p:spPr>
        <p:txBody>
          <a:bodyPr wrap="square" lIns="137160" tIns="91440" rIns="137160" bIns="91440" rtlCol="0" anchor="t"/>
          <a:lstStyle/>
          <a:p>
            <a:pPr marL="0" indent="0" algn="l">
              <a:buNone/>
            </a:pPr>
            <a:r>
              <a:rPr lang="en-US" sz="1300" dirty="0">
                <a:solidFill>
                  <a:srgbClr val="1F5C7A"/>
                </a:solidFill>
                <a:latin typeface="Century Gothic"/>
                <a:cs typeface="Century Gothic"/>
              </a:rPr>
              <a:t>INTERPRETATION  -  orders lists the formats to try, in priority order.</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Century Gothic"/>
                <a:cs typeface="Century Gothic"/>
              </a:rPr>
              <a:t>Factors and Reference Levels</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Body"/>
          <p:cNvSpPr txBox="1"/>
          <p:nvPr/>
        </p:nvSpPr>
        <p:spPr>
          <a:xfrm>
            <a:off x="457200" y="1080000"/>
            <a:ext cx="11277600" cy="3150000"/>
          </a:xfrm>
          <a:prstGeom prst="rect">
            <a:avLst/>
          </a:prstGeom>
          <a:noFill/>
          <a:ln>
            <a:noFill/>
          </a:ln>
        </p:spPr>
        <p:txBody>
          <a:bodyPr wrap="square" lIns="91440" tIns="45720" rIns="91440" bIns="45720" rtlCol="0" anchor="t"/>
          <a:lstStyle/>
          <a:p>
            <a:pPr marL="0" indent="0" algn="l">
              <a:spcBef>
                <a:spcPts val="360"/>
              </a:spcBef>
              <a:buNone/>
            </a:pPr>
            <a:r>
              <a:rPr lang="en-US" sz="2050" b="1" dirty="0">
                <a:solidFill>
                  <a:srgbClr val="0D7377"/>
                </a:solidFill>
                <a:latin typeface="Century Gothic"/>
                <a:cs typeface="Century Gothic"/>
              </a:rPr>
              <a:t>Factors give categories structure</a:t>
            </a:r>
          </a:p>
          <a:p>
            <a:pPr marL="0" indent="0" algn="l">
              <a:lnSpc>
                <a:spcPct val="108000"/>
              </a:lnSpc>
              <a:spcBef>
                <a:spcPts val="440"/>
              </a:spcBef>
              <a:buNone/>
            </a:pPr>
            <a:r>
              <a:rPr lang="en-US" sz="1800" dirty="0">
                <a:solidFill>
                  <a:srgbClr val="000000"/>
                </a:solidFill>
                <a:latin typeface="Century Gothic"/>
                <a:cs typeface="Century Gothic"/>
              </a:rPr>
              <a:t>factor() stores categories with defined levels.</a:t>
            </a:r>
          </a:p>
          <a:p>
            <a:pPr marL="0" indent="0" algn="l">
              <a:lnSpc>
                <a:spcPct val="108000"/>
              </a:lnSpc>
              <a:spcBef>
                <a:spcPts val="440"/>
              </a:spcBef>
              <a:buNone/>
            </a:pPr>
            <a:r>
              <a:rPr lang="en-US" sz="1800" dirty="0">
                <a:solidFill>
                  <a:srgbClr val="000000"/>
                </a:solidFill>
                <a:latin typeface="Century Gothic"/>
                <a:cs typeface="Century Gothic"/>
              </a:rPr>
              <a:t>Ordered factors keep ordinal meaning (education, activity).</a:t>
            </a:r>
          </a:p>
          <a:p>
            <a:pPr marL="0" indent="0" algn="l">
              <a:lnSpc>
                <a:spcPct val="108000"/>
              </a:lnSpc>
              <a:spcBef>
                <a:spcPts val="440"/>
              </a:spcBef>
              <a:buNone/>
            </a:pPr>
            <a:r>
              <a:rPr lang="en-US" sz="1800" dirty="0">
                <a:solidFill>
                  <a:srgbClr val="000000"/>
                </a:solidFill>
                <a:latin typeface="Century Gothic"/>
                <a:cs typeface="Century Gothic"/>
              </a:rPr>
              <a:t>Levels control the order in tables and plots.</a:t>
            </a:r>
          </a:p>
          <a:p>
            <a:pPr>
              <a:buNone/>
            </a:pPr>
            <a:endParaRPr sz="1050"/>
          </a:p>
          <a:p>
            <a:pPr marL="0" indent="0" algn="l">
              <a:spcBef>
                <a:spcPts val="360"/>
              </a:spcBef>
              <a:buNone/>
            </a:pPr>
            <a:r>
              <a:rPr lang="en-US" sz="2050" b="1" dirty="0">
                <a:solidFill>
                  <a:srgbClr val="0D7377"/>
                </a:solidFill>
                <a:latin typeface="Century Gothic"/>
                <a:cs typeface="Century Gothic"/>
              </a:rPr>
              <a:t>Set the reference level deliberately</a:t>
            </a:r>
          </a:p>
          <a:p>
            <a:pPr marL="0" indent="0" algn="l">
              <a:lnSpc>
                <a:spcPct val="108000"/>
              </a:lnSpc>
              <a:spcBef>
                <a:spcPts val="440"/>
              </a:spcBef>
              <a:buNone/>
            </a:pPr>
            <a:r>
              <a:rPr lang="en-US" sz="1800" dirty="0">
                <a:solidFill>
                  <a:srgbClr val="000000"/>
                </a:solidFill>
                <a:latin typeface="Century Gothic"/>
                <a:cs typeface="Century Gothic"/>
              </a:rPr>
              <a:t>For binary outcomes, list 'No' first.</a:t>
            </a:r>
          </a:p>
          <a:p>
            <a:pPr marL="0" indent="0" algn="l">
              <a:lnSpc>
                <a:spcPct val="108000"/>
              </a:lnSpc>
              <a:spcBef>
                <a:spcPts val="440"/>
              </a:spcBef>
              <a:buNone/>
            </a:pPr>
            <a:r>
              <a:rPr lang="en-US" sz="1800" dirty="0">
                <a:solidFill>
                  <a:srgbClr val="000000"/>
                </a:solidFill>
                <a:latin typeface="Century Gothic"/>
                <a:cs typeface="Century Gothic"/>
              </a:rPr>
              <a:t>factor(treatment_uptake, levels = c("No","Yes"))</a:t>
            </a:r>
          </a:p>
          <a:p>
            <a:pPr marL="0" indent="0" algn="l">
              <a:lnSpc>
                <a:spcPct val="108000"/>
              </a:lnSpc>
              <a:spcBef>
                <a:spcPts val="440"/>
              </a:spcBef>
              <a:buNone/>
            </a:pPr>
            <a:r>
              <a:rPr lang="en-US" sz="1800" dirty="0">
                <a:solidFill>
                  <a:srgbClr val="000000"/>
                </a:solidFill>
                <a:latin typeface="Century Gothic"/>
                <a:cs typeface="Century Gothic"/>
              </a:rPr>
              <a:t>The first level is the comparison baseline in models.</a:t>
            </a:r>
          </a:p>
          <a:p>
            <a:pPr>
              <a:buNone/>
            </a:pPr>
            <a:endParaRPr sz="1050"/>
          </a:p>
        </p:txBody>
      </p:sp>
      <p:sp>
        <p:nvSpPr>
          <p:cNvPr id="40" name="Callout"/>
          <p:cNvSpPr/>
          <p:nvPr/>
        </p:nvSpPr>
        <p:spPr>
          <a:xfrm>
            <a:off x="457200" y="5070000"/>
            <a:ext cx="11277600" cy="810000"/>
          </a:xfrm>
          <a:prstGeom prst="roundRect">
            <a:avLst>
              <a:gd name="adj" fmla="val 6000"/>
            </a:avLst>
          </a:prstGeom>
          <a:solidFill>
            <a:srgbClr val="EAF1F7"/>
          </a:solidFill>
          <a:ln>
            <a:noFill/>
          </a:ln>
        </p:spPr>
        <p:txBody>
          <a:bodyPr wrap="square" lIns="137160" tIns="91440" rIns="137160" bIns="91440" rtlCol="0" anchor="t"/>
          <a:lstStyle/>
          <a:p>
            <a:pPr marL="0" indent="0" algn="l">
              <a:buNone/>
            </a:pPr>
            <a:r>
              <a:rPr lang="en-US" sz="1300" b="1" dirty="0">
                <a:solidFill>
                  <a:srgbClr val="1F5C7A"/>
                </a:solidFill>
                <a:latin typeface="Century Gothic"/>
                <a:cs typeface="Century Gothic"/>
              </a:rPr>
              <a:t>CLINICAL INTERPRETATION  -  Why 'No' first</a:t>
            </a:r>
          </a:p>
          <a:p>
            <a:pPr marL="0" indent="0" algn="l">
              <a:spcBef>
                <a:spcPts val="100"/>
              </a:spcBef>
              <a:buNone/>
            </a:pPr>
            <a:r>
              <a:rPr lang="en-US" sz="1300" dirty="0">
                <a:solidFill>
                  <a:srgbClr val="000000"/>
                </a:solidFill>
                <a:latin typeface="Century Gothic"/>
                <a:cs typeface="Century Gothic"/>
              </a:rPr>
              <a:t>Odds ratios then read as the odds of Yes versus No - the natural clinical direction.</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Century Gothic"/>
                <a:cs typeface="Century Gothic"/>
              </a:rPr>
              <a:t>Demo: Final Missing-Data Audit</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30" name="Code"/>
          <p:cNvSpPr/>
          <p:nvPr/>
        </p:nvSpPr>
        <p:spPr>
          <a:xfrm>
            <a:off x="457200" y="1080000"/>
            <a:ext cx="11277600" cy="810000"/>
          </a:xfrm>
          <a:prstGeom prst="roundRect">
            <a:avLst>
              <a:gd name="adj" fmla="val 6000"/>
            </a:avLst>
          </a:prstGeom>
          <a:solidFill>
            <a:srgbClr val="EDF1F2"/>
          </a:solidFill>
          <a:ln>
            <a:noFill/>
          </a:ln>
        </p:spPr>
        <p:txBody>
          <a:bodyPr wrap="square" lIns="137160" tIns="91440" rIns="137160" bIns="91440" rtlCol="0" anchor="t"/>
          <a:lstStyle/>
          <a:p>
            <a:pPr marL="0" indent="0" algn="l">
              <a:lnSpc>
                <a:spcPct val="100000"/>
              </a:lnSpc>
              <a:buNone/>
            </a:pPr>
            <a:r>
              <a:rPr lang="en-US" sz="1300" dirty="0">
                <a:solidFill>
                  <a:srgbClr val="1B3A4B"/>
                </a:solidFill>
                <a:latin typeface="Consolas"/>
                <a:cs typeface="Consolas"/>
              </a:rPr>
              <a:t>colSums(is.na(analysis_data)) |&gt;</a:t>
            </a:r>
          </a:p>
          <a:p>
            <a:pPr marL="0" indent="0" algn="l">
              <a:lnSpc>
                <a:spcPct val="100000"/>
              </a:lnSpc>
              <a:buNone/>
            </a:pPr>
            <a:r>
              <a:rPr lang="en-US" sz="1300" dirty="0">
                <a:solidFill>
                  <a:srgbClr val="1B3A4B"/>
                </a:solidFill>
                <a:latin typeface="Consolas"/>
                <a:cs typeface="Consolas"/>
              </a:rPr>
              <a:t>  sort(decreasing = TRUE) |&gt;</a:t>
            </a:r>
          </a:p>
          <a:p>
            <a:pPr marL="0" indent="0" algn="l">
              <a:lnSpc>
                <a:spcPct val="100000"/>
              </a:lnSpc>
              <a:buNone/>
            </a:pPr>
            <a:r>
              <a:rPr lang="en-US" sz="1300" dirty="0">
                <a:solidFill>
                  <a:srgbClr val="1B3A4B"/>
                </a:solidFill>
                <a:latin typeface="Consolas"/>
                <a:cs typeface="Consolas"/>
              </a:rPr>
              <a:t>  head(12)</a:t>
            </a:r>
          </a:p>
        </p:txBody>
      </p:sp>
      <p:sp>
        <p:nvSpPr>
          <p:cNvPr id="31" name="Output"/>
          <p:cNvSpPr/>
          <p:nvPr/>
        </p:nvSpPr>
        <p:spPr>
          <a:xfrm>
            <a:off x="457200" y="2040000"/>
            <a:ext cx="11277600" cy="1300000"/>
          </a:xfrm>
          <a:prstGeom prst="roundRect">
            <a:avLst>
              <a:gd name="adj" fmla="val 6000"/>
            </a:avLst>
          </a:prstGeom>
          <a:solidFill>
            <a:srgbClr val="F2EFE6"/>
          </a:solidFill>
          <a:ln>
            <a:noFill/>
          </a:ln>
        </p:spPr>
        <p:txBody>
          <a:bodyPr wrap="square" lIns="137160" tIns="91440" rIns="137160" bIns="91440" rtlCol="0" anchor="t"/>
          <a:lstStyle/>
          <a:p>
            <a:pPr marL="0" indent="0" algn="l">
              <a:buNone/>
            </a:pPr>
            <a:r>
              <a:rPr lang="en-US" sz="1150" b="1" dirty="0">
                <a:solidFill>
                  <a:srgbClr val="595959"/>
                </a:solidFill>
                <a:latin typeface="Century Gothic"/>
                <a:cs typeface="Century Gothic"/>
              </a:rPr>
              <a:t>Console output</a:t>
            </a:r>
          </a:p>
          <a:p>
            <a:pPr marL="0" indent="0" algn="l">
              <a:lnSpc>
                <a:spcPct val="100000"/>
              </a:lnSpc>
              <a:buNone/>
            </a:pPr>
            <a:r>
              <a:rPr lang="en-US" sz="1250" dirty="0">
                <a:solidFill>
                  <a:srgbClr val="1A1A1A"/>
                </a:solidFill>
                <a:latin typeface="Consolas"/>
                <a:cs typeface="Consolas"/>
              </a:rPr>
              <a:t>adherence        411</a:t>
            </a:r>
          </a:p>
          <a:p>
            <a:pPr marL="0" indent="0" algn="l">
              <a:lnSpc>
                <a:spcPct val="100000"/>
              </a:lnSpc>
              <a:buNone/>
            </a:pPr>
            <a:r>
              <a:rPr lang="en-US" sz="1250" dirty="0">
                <a:solidFill>
                  <a:srgbClr val="1A1A1A"/>
                </a:solidFill>
                <a:latin typeface="Consolas"/>
                <a:cs typeface="Consolas"/>
              </a:rPr>
              <a:t>bp_controlled    411</a:t>
            </a:r>
          </a:p>
          <a:p>
            <a:pPr marL="0" indent="0" algn="l">
              <a:lnSpc>
                <a:spcPct val="100000"/>
              </a:lnSpc>
              <a:buNone/>
            </a:pPr>
            <a:r>
              <a:rPr lang="en-US" sz="1250" dirty="0">
                <a:solidFill>
                  <a:srgbClr val="1A1A1A"/>
                </a:solidFill>
                <a:latin typeface="Consolas"/>
                <a:cs typeface="Consolas"/>
              </a:rPr>
              <a:t>bmi               18</a:t>
            </a:r>
          </a:p>
          <a:p>
            <a:pPr marL="0" indent="0" algn="l">
              <a:lnSpc>
                <a:spcPct val="100000"/>
              </a:lnSpc>
              <a:buNone/>
            </a:pPr>
            <a:r>
              <a:rPr lang="en-US" sz="1250" dirty="0">
                <a:solidFill>
                  <a:srgbClr val="1A1A1A"/>
                </a:solidFill>
                <a:latin typeface="Consolas"/>
                <a:cs typeface="Consolas"/>
              </a:rPr>
              <a:t>sbp_mmhg          12</a:t>
            </a:r>
          </a:p>
          <a:p>
            <a:pPr marL="0" indent="0" algn="l">
              <a:lnSpc>
                <a:spcPct val="100000"/>
              </a:lnSpc>
              <a:buNone/>
            </a:pPr>
            <a:r>
              <a:rPr lang="en-US" sz="1250" dirty="0">
                <a:solidFill>
                  <a:srgbClr val="1A1A1A"/>
                </a:solidFill>
                <a:latin typeface="Consolas"/>
                <a:cs typeface="Consolas"/>
              </a:rPr>
              <a:t>age                9</a:t>
            </a:r>
          </a:p>
        </p:txBody>
      </p:sp>
      <p:sp>
        <p:nvSpPr>
          <p:cNvPr id="32" name="Note"/>
          <p:cNvSpPr/>
          <p:nvPr/>
        </p:nvSpPr>
        <p:spPr>
          <a:xfrm>
            <a:off x="457200" y="3480000"/>
            <a:ext cx="11277600" cy="470000"/>
          </a:xfrm>
          <a:prstGeom prst="roundRect">
            <a:avLst>
              <a:gd name="adj" fmla="val 6000"/>
            </a:avLst>
          </a:prstGeom>
          <a:solidFill>
            <a:srgbClr val="EAF1F7"/>
          </a:solidFill>
          <a:ln>
            <a:noFill/>
          </a:ln>
        </p:spPr>
        <p:txBody>
          <a:bodyPr wrap="square" lIns="137160" tIns="91440" rIns="137160" bIns="91440" rtlCol="0" anchor="t"/>
          <a:lstStyle/>
          <a:p>
            <a:pPr marL="0" indent="0" algn="l">
              <a:buNone/>
            </a:pPr>
            <a:r>
              <a:rPr lang="en-US" sz="1300" dirty="0">
                <a:solidFill>
                  <a:srgbClr val="1F5C7A"/>
                </a:solidFill>
                <a:latin typeface="Century Gothic"/>
                <a:cs typeface="Century Gothic"/>
              </a:rPr>
              <a:t>INTERPRETATION  -  adherence and bp_controlled are NA by design for untreated patients.</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Century Gothic"/>
                <a:cs typeface="Century Gothic"/>
              </a:rPr>
              <a:t>Saving the Clean Data: the Contract</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Body"/>
          <p:cNvSpPr txBox="1"/>
          <p:nvPr/>
        </p:nvSpPr>
        <p:spPr>
          <a:xfrm>
            <a:off x="457200" y="1080000"/>
            <a:ext cx="11277600" cy="3150000"/>
          </a:xfrm>
          <a:prstGeom prst="rect">
            <a:avLst/>
          </a:prstGeom>
          <a:noFill/>
          <a:ln>
            <a:noFill/>
          </a:ln>
        </p:spPr>
        <p:txBody>
          <a:bodyPr wrap="square" lIns="91440" tIns="45720" rIns="91440" bIns="45720" rtlCol="0" anchor="t"/>
          <a:lstStyle/>
          <a:p>
            <a:pPr marL="0" indent="0" algn="l">
              <a:spcBef>
                <a:spcPts val="360"/>
              </a:spcBef>
              <a:buNone/>
            </a:pPr>
            <a:r>
              <a:rPr lang="en-US" sz="2050" b="1" dirty="0">
                <a:solidFill>
                  <a:srgbClr val="0D7377"/>
                </a:solidFill>
                <a:latin typeface="Century Gothic"/>
                <a:cs typeface="Century Gothic"/>
              </a:rPr>
              <a:t>Save once, reuse all week</a:t>
            </a:r>
          </a:p>
          <a:p>
            <a:pPr marL="0" indent="0" algn="l">
              <a:lnSpc>
                <a:spcPct val="108000"/>
              </a:lnSpc>
              <a:spcBef>
                <a:spcPts val="440"/>
              </a:spcBef>
              <a:buNone/>
            </a:pPr>
            <a:r>
              <a:rPr lang="en-US" sz="1800" dirty="0">
                <a:solidFill>
                  <a:srgbClr val="000000"/>
                </a:solidFill>
                <a:latin typeface="Century Gothic"/>
                <a:cs typeface="Century Gothic"/>
              </a:rPr>
              <a:t>saveRDS keeps factor types and levels intact.</a:t>
            </a:r>
          </a:p>
          <a:p>
            <a:pPr marL="0" indent="0" algn="l">
              <a:lnSpc>
                <a:spcPct val="108000"/>
              </a:lnSpc>
              <a:spcBef>
                <a:spcPts val="440"/>
              </a:spcBef>
              <a:buNone/>
            </a:pPr>
            <a:r>
              <a:rPr lang="en-US" sz="1800" dirty="0">
                <a:solidFill>
                  <a:srgbClr val="000000"/>
                </a:solidFill>
                <a:latin typeface="Century Gothic"/>
                <a:cs typeface="Century Gothic"/>
              </a:rPr>
              <a:t>write_csv gives a human-readable backup.</a:t>
            </a:r>
          </a:p>
          <a:p>
            <a:pPr marL="0" indent="0" algn="l">
              <a:lnSpc>
                <a:spcPct val="108000"/>
              </a:lnSpc>
              <a:spcBef>
                <a:spcPts val="440"/>
              </a:spcBef>
              <a:buNone/>
            </a:pPr>
            <a:r>
              <a:rPr lang="en-US" sz="1800" dirty="0">
                <a:solidFill>
                  <a:srgbClr val="000000"/>
                </a:solidFill>
                <a:latin typeface="Century Gothic"/>
                <a:cs typeface="Century Gothic"/>
              </a:rPr>
              <a:t>Days 3, 4 and 5 all start from this one file.</a:t>
            </a:r>
          </a:p>
          <a:p>
            <a:pPr>
              <a:buNone/>
            </a:pPr>
            <a:endParaRPr sz="1050"/>
          </a:p>
          <a:p>
            <a:pPr marL="0" indent="0" algn="l">
              <a:spcBef>
                <a:spcPts val="360"/>
              </a:spcBef>
              <a:buNone/>
            </a:pPr>
            <a:r>
              <a:rPr lang="en-US" sz="2050" b="1" dirty="0">
                <a:solidFill>
                  <a:srgbClr val="0D7377"/>
                </a:solidFill>
                <a:latin typeface="Century Gothic"/>
                <a:cs typeface="Century Gothic"/>
              </a:rPr>
              <a:t>The commands</a:t>
            </a:r>
          </a:p>
          <a:p>
            <a:pPr marL="0" indent="0" algn="l">
              <a:lnSpc>
                <a:spcPct val="108000"/>
              </a:lnSpc>
              <a:spcBef>
                <a:spcPts val="440"/>
              </a:spcBef>
              <a:buNone/>
            </a:pPr>
            <a:r>
              <a:rPr lang="en-US" sz="1800" dirty="0">
                <a:solidFill>
                  <a:srgbClr val="000000"/>
                </a:solidFill>
                <a:latin typeface="Century Gothic"/>
                <a:cs typeface="Century Gothic"/>
              </a:rPr>
              <a:t>saveRDS(analysis_data, "Data/analysis_data.rds")</a:t>
            </a:r>
          </a:p>
          <a:p>
            <a:pPr marL="0" indent="0" algn="l">
              <a:lnSpc>
                <a:spcPct val="108000"/>
              </a:lnSpc>
              <a:spcBef>
                <a:spcPts val="440"/>
              </a:spcBef>
              <a:buNone/>
            </a:pPr>
            <a:r>
              <a:rPr lang="en-US" sz="1800" dirty="0">
                <a:solidFill>
                  <a:srgbClr val="000000"/>
                </a:solidFill>
                <a:latin typeface="Century Gothic"/>
                <a:cs typeface="Century Gothic"/>
              </a:rPr>
              <a:t>write_csv(analysis_data, "Data/analysis_data.csv")</a:t>
            </a:r>
          </a:p>
          <a:p>
            <a:pPr>
              <a:buNone/>
            </a:pPr>
            <a:endParaRPr sz="1050"/>
          </a:p>
        </p:txBody>
      </p:sp>
      <p:sp>
        <p:nvSpPr>
          <p:cNvPr id="40" name="Callout"/>
          <p:cNvSpPr/>
          <p:nvPr/>
        </p:nvSpPr>
        <p:spPr>
          <a:xfrm>
            <a:off x="457200" y="5070000"/>
            <a:ext cx="11277600" cy="810000"/>
          </a:xfrm>
          <a:prstGeom prst="roundRect">
            <a:avLst>
              <a:gd name="adj" fmla="val 6000"/>
            </a:avLst>
          </a:prstGeom>
          <a:solidFill>
            <a:srgbClr val="E8F4F4"/>
          </a:solidFill>
          <a:ln>
            <a:noFill/>
          </a:ln>
        </p:spPr>
        <p:txBody>
          <a:bodyPr wrap="square" lIns="137160" tIns="91440" rIns="137160" bIns="91440" rtlCol="0" anchor="t"/>
          <a:lstStyle/>
          <a:p>
            <a:pPr marL="0" indent="0" algn="l">
              <a:buNone/>
            </a:pPr>
            <a:r>
              <a:rPr lang="en-US" sz="1300" b="1" dirty="0">
                <a:solidFill>
                  <a:srgbClr val="0D7377"/>
                </a:solidFill>
                <a:latin typeface="Century Gothic"/>
                <a:cs typeface="Century Gothic"/>
              </a:rPr>
              <a:t>TIP  -  Reload later</a:t>
            </a:r>
          </a:p>
          <a:p>
            <a:pPr marL="0" indent="0" algn="l">
              <a:spcBef>
                <a:spcPts val="100"/>
              </a:spcBef>
              <a:buNone/>
            </a:pPr>
            <a:r>
              <a:rPr lang="en-US" sz="1300" dirty="0">
                <a:solidFill>
                  <a:srgbClr val="000000"/>
                </a:solidFill>
                <a:latin typeface="Century Gothic"/>
                <a:cs typeface="Century Gothic"/>
              </a:rPr>
              <a:t>analysis_data &lt;- readRDS("Data/analysis_data.rds")</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Century Gothic"/>
                <a:cs typeface="Century Gothic"/>
              </a:rPr>
              <a:t>Common Mistakes and Debugging</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Body"/>
          <p:cNvSpPr txBox="1"/>
          <p:nvPr/>
        </p:nvSpPr>
        <p:spPr>
          <a:xfrm>
            <a:off x="457200" y="1080000"/>
            <a:ext cx="11277600" cy="3150000"/>
          </a:xfrm>
          <a:prstGeom prst="rect">
            <a:avLst/>
          </a:prstGeom>
          <a:noFill/>
          <a:ln>
            <a:noFill/>
          </a:ln>
        </p:spPr>
        <p:txBody>
          <a:bodyPr wrap="square" lIns="91440" tIns="45720" rIns="91440" bIns="45720" rtlCol="0" anchor="t"/>
          <a:lstStyle/>
          <a:p>
            <a:pPr marL="0" indent="0" algn="l">
              <a:spcBef>
                <a:spcPts val="360"/>
              </a:spcBef>
              <a:buNone/>
            </a:pPr>
            <a:r>
              <a:rPr lang="en-US" sz="2050" b="1" dirty="0">
                <a:solidFill>
                  <a:srgbClr val="0D7377"/>
                </a:solidFill>
                <a:latin typeface="Century Gothic"/>
                <a:cs typeface="Century Gothic"/>
              </a:rPr>
              <a:t>Watch for these</a:t>
            </a:r>
          </a:p>
          <a:p>
            <a:pPr marL="0" indent="0" algn="l">
              <a:lnSpc>
                <a:spcPct val="108000"/>
              </a:lnSpc>
              <a:spcBef>
                <a:spcPts val="440"/>
              </a:spcBef>
              <a:buNone/>
            </a:pPr>
            <a:r>
              <a:rPr lang="en-US" sz="1800" dirty="0">
                <a:solidFill>
                  <a:srgbClr val="000000"/>
                </a:solidFill>
                <a:latin typeface="Century Gothic"/>
                <a:cs typeface="Century Gothic"/>
              </a:rPr>
              <a:t>Forgetting na= so 999 enters as a real number.</a:t>
            </a:r>
          </a:p>
          <a:p>
            <a:pPr marL="0" indent="0" algn="l">
              <a:lnSpc>
                <a:spcPct val="108000"/>
              </a:lnSpc>
              <a:spcBef>
                <a:spcPts val="440"/>
              </a:spcBef>
              <a:buNone/>
            </a:pPr>
            <a:r>
              <a:rPr lang="en-US" sz="1800" dirty="0">
                <a:solidFill>
                  <a:srgbClr val="000000"/>
                </a:solidFill>
                <a:latin typeface="Century Gothic"/>
                <a:cs typeface="Century Gothic"/>
              </a:rPr>
              <a:t>Wrong factor level order flipping every odds ratio.</a:t>
            </a:r>
          </a:p>
          <a:p>
            <a:pPr marL="0" indent="0" algn="l">
              <a:lnSpc>
                <a:spcPct val="108000"/>
              </a:lnSpc>
              <a:spcBef>
                <a:spcPts val="440"/>
              </a:spcBef>
              <a:buNone/>
            </a:pPr>
            <a:r>
              <a:rPr lang="en-US" sz="1800" dirty="0">
                <a:solidFill>
                  <a:srgbClr val="000000"/>
                </a:solidFill>
                <a:latin typeface="Century Gothic"/>
                <a:cs typeface="Century Gothic"/>
              </a:rPr>
              <a:t>Letting NA fall through case_when to the wrong group.</a:t>
            </a:r>
          </a:p>
          <a:p>
            <a:pPr>
              <a:buNone/>
            </a:pPr>
            <a:endParaRPr sz="1050"/>
          </a:p>
          <a:p>
            <a:pPr>
              <a:buNone/>
            </a:pPr>
            <a:endParaRPr sz="1050"/>
          </a:p>
        </p:txBody>
      </p:sp>
      <p:sp>
        <p:nvSpPr>
          <p:cNvPr id="40" name="Callout"/>
          <p:cNvSpPr/>
          <p:nvPr/>
        </p:nvSpPr>
        <p:spPr>
          <a:xfrm>
            <a:off x="457200" y="4130000"/>
            <a:ext cx="11277600" cy="810000"/>
          </a:xfrm>
          <a:prstGeom prst="roundRect">
            <a:avLst>
              <a:gd name="adj" fmla="val 6000"/>
            </a:avLst>
          </a:prstGeom>
          <a:solidFill>
            <a:srgbClr val="FFF4E5"/>
          </a:solidFill>
          <a:ln>
            <a:noFill/>
          </a:ln>
        </p:spPr>
        <p:txBody>
          <a:bodyPr wrap="square" lIns="137160" tIns="91440" rIns="137160" bIns="91440" rtlCol="0" anchor="t"/>
          <a:lstStyle/>
          <a:p>
            <a:pPr marL="0" indent="0" algn="l">
              <a:buNone/>
            </a:pPr>
            <a:r>
              <a:rPr lang="en-US" sz="1300" b="1" dirty="0">
                <a:solidFill>
                  <a:srgbClr val="B5651D"/>
                </a:solidFill>
                <a:latin typeface="Century Gothic"/>
                <a:cs typeface="Century Gothic"/>
              </a:rPr>
              <a:t>COMMON MISTAKE  -  NA propagation</a:t>
            </a:r>
          </a:p>
          <a:p>
            <a:pPr marL="0" indent="0" algn="l">
              <a:spcBef>
                <a:spcPts val="100"/>
              </a:spcBef>
              <a:buNone/>
            </a:pPr>
            <a:r>
              <a:rPr lang="en-US" sz="1300" dirty="0">
                <a:solidFill>
                  <a:srgbClr val="000000"/>
                </a:solidFill>
                <a:latin typeface="Century Gothic"/>
                <a:cs typeface="Century Gothic"/>
              </a:rPr>
              <a:t>Any arithmetic with NA returns NA; check is.na before computing.</a:t>
            </a:r>
          </a:p>
        </p:txBody>
      </p:sp>
      <p:sp>
        <p:nvSpPr>
          <p:cNvPr id="41" name="Callout"/>
          <p:cNvSpPr/>
          <p:nvPr/>
        </p:nvSpPr>
        <p:spPr>
          <a:xfrm>
            <a:off x="457200" y="5070000"/>
            <a:ext cx="11277600" cy="810000"/>
          </a:xfrm>
          <a:prstGeom prst="roundRect">
            <a:avLst>
              <a:gd name="adj" fmla="val 6000"/>
            </a:avLst>
          </a:prstGeom>
          <a:solidFill>
            <a:srgbClr val="E8F4F4"/>
          </a:solidFill>
          <a:ln>
            <a:noFill/>
          </a:ln>
        </p:spPr>
        <p:txBody>
          <a:bodyPr wrap="square" lIns="137160" tIns="91440" rIns="137160" bIns="91440" rtlCol="0" anchor="t"/>
          <a:lstStyle/>
          <a:p>
            <a:pPr marL="0" indent="0" algn="l">
              <a:buNone/>
            </a:pPr>
            <a:r>
              <a:rPr lang="en-US" sz="1300" b="1" dirty="0">
                <a:solidFill>
                  <a:srgbClr val="0D7377"/>
                </a:solidFill>
                <a:latin typeface="Century Gothic"/>
                <a:cs typeface="Century Gothic"/>
              </a:rPr>
              <a:t>TIP  -  Debug habit</a:t>
            </a:r>
          </a:p>
          <a:p>
            <a:pPr marL="0" indent="0" algn="l">
              <a:spcBef>
                <a:spcPts val="100"/>
              </a:spcBef>
              <a:buNone/>
            </a:pPr>
            <a:r>
              <a:rPr lang="en-US" sz="1300" dirty="0">
                <a:solidFill>
                  <a:srgbClr val="000000"/>
                </a:solidFill>
                <a:latin typeface="Century Gothic"/>
                <a:cs typeface="Century Gothic"/>
              </a:rPr>
              <a:t>After each step run summary() or table(..., useNA = "ifany").</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Century Gothic"/>
                <a:cs typeface="Century Gothic"/>
              </a:rPr>
              <a:t>Day 2 Exercise: Clean the Simulated Dataset</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Body"/>
          <p:cNvSpPr txBox="1"/>
          <p:nvPr/>
        </p:nvSpPr>
        <p:spPr>
          <a:xfrm>
            <a:off x="457200" y="1080000"/>
            <a:ext cx="11277600" cy="4780000"/>
          </a:xfrm>
          <a:prstGeom prst="rect">
            <a:avLst/>
          </a:prstGeom>
          <a:noFill/>
          <a:ln>
            <a:noFill/>
          </a:ln>
        </p:spPr>
        <p:txBody>
          <a:bodyPr wrap="square" lIns="91440" tIns="45720" rIns="91440" bIns="45720" rtlCol="0" anchor="ctr"/>
          <a:lstStyle/>
          <a:p>
            <a:pPr marL="0" indent="0" algn="l">
              <a:lnSpc>
                <a:spcPct val="108000"/>
              </a:lnSpc>
              <a:buNone/>
            </a:pPr>
            <a:r>
              <a:rPr lang="en-US" sz="1900" i="1" dirty="0">
                <a:solidFill>
                  <a:srgbClr val="595959"/>
                </a:solidFill>
                <a:latin typeface="Century Gothic"/>
                <a:cs typeface="Century Gothic"/>
              </a:rPr>
              <a:t>Work in Practicals/day2_exercise.R and mirror today's pipeline.</a:t>
            </a:r>
          </a:p>
          <a:p>
            <a:pPr>
              <a:buNone/>
            </a:pPr>
            <a:endParaRPr sz="950"/>
          </a:p>
          <a:p>
            <a:pPr marL="274320" indent="-274320" algn="l">
              <a:lnSpc>
                <a:spcPct val="106000"/>
              </a:lnSpc>
              <a:spcBef>
                <a:spcPts val="560"/>
              </a:spcBef>
              <a:buFont typeface="Arial"/>
              <a:buChar char="•"/>
            </a:pPr>
            <a:r>
              <a:rPr lang="en-US" sz="1950" dirty="0">
                <a:solidFill>
                  <a:srgbClr val="000000"/>
                </a:solidFill>
                <a:latin typeface="Century Gothic"/>
                <a:cs typeface="Century Gothic"/>
              </a:rPr>
              <a:t>Import the raw CSV with the correct na= sentinels.</a:t>
            </a:r>
          </a:p>
          <a:p>
            <a:pPr marL="274320" indent="-274320" algn="l">
              <a:lnSpc>
                <a:spcPct val="106000"/>
              </a:lnSpc>
              <a:spcBef>
                <a:spcPts val="560"/>
              </a:spcBef>
              <a:buFont typeface="Arial"/>
              <a:buChar char="•"/>
            </a:pPr>
            <a:r>
              <a:rPr lang="en-US" sz="1950" dirty="0">
                <a:solidFill>
                  <a:srgbClr val="000000"/>
                </a:solidFill>
                <a:latin typeface="Century Gothic"/>
                <a:cs typeface="Century Gothic"/>
              </a:rPr>
              <a:t>Remove duplicate records with distinct(); confirm 1500 rows.</a:t>
            </a:r>
          </a:p>
          <a:p>
            <a:pPr marL="274320" indent="-274320" algn="l">
              <a:lnSpc>
                <a:spcPct val="106000"/>
              </a:lnSpc>
              <a:spcBef>
                <a:spcPts val="560"/>
              </a:spcBef>
              <a:buFont typeface="Arial"/>
              <a:buChar char="•"/>
            </a:pPr>
            <a:r>
              <a:rPr lang="en-US" sz="1950" dirty="0">
                <a:solidFill>
                  <a:srgbClr val="000000"/>
                </a:solidFill>
                <a:latin typeface="Century Gothic"/>
                <a:cs typeface="Century Gothic"/>
              </a:rPr>
              <a:t>Recode sex to Female/Male; standardise the Yes/No binaries.</a:t>
            </a:r>
          </a:p>
          <a:p>
            <a:pPr marL="274320" indent="-274320" algn="l">
              <a:lnSpc>
                <a:spcPct val="106000"/>
              </a:lnSpc>
              <a:spcBef>
                <a:spcPts val="560"/>
              </a:spcBef>
              <a:buFont typeface="Arial"/>
              <a:buChar char="•"/>
            </a:pPr>
            <a:r>
              <a:rPr lang="en-US" sz="1950" dirty="0">
                <a:solidFill>
                  <a:srgbClr val="000000"/>
                </a:solidFill>
                <a:latin typeface="Century Gothic"/>
                <a:cs typeface="Century Gothic"/>
              </a:rPr>
              <a:t>Apply plausible ranges; set impossible values to NA.</a:t>
            </a:r>
          </a:p>
          <a:p>
            <a:pPr marL="274320" indent="-274320" algn="l">
              <a:lnSpc>
                <a:spcPct val="106000"/>
              </a:lnSpc>
              <a:spcBef>
                <a:spcPts val="560"/>
              </a:spcBef>
              <a:buFont typeface="Arial"/>
              <a:buChar char="•"/>
            </a:pPr>
            <a:r>
              <a:rPr lang="en-US" sz="1950" dirty="0">
                <a:solidFill>
                  <a:srgbClr val="000000"/>
                </a:solidFill>
                <a:latin typeface="Century Gothic"/>
                <a:cs typeface="Century Gothic"/>
              </a:rPr>
              <a:t>Recompute BMI; derive bmi_cat and bp_category.</a:t>
            </a:r>
          </a:p>
          <a:p>
            <a:pPr marL="274320" indent="-274320" algn="l">
              <a:lnSpc>
                <a:spcPct val="106000"/>
              </a:lnSpc>
              <a:spcBef>
                <a:spcPts val="560"/>
              </a:spcBef>
              <a:buFont typeface="Arial"/>
              <a:buChar char="•"/>
            </a:pPr>
            <a:r>
              <a:rPr lang="en-US" sz="1950" dirty="0">
                <a:solidFill>
                  <a:srgbClr val="000000"/>
                </a:solidFill>
                <a:latin typeface="Century Gothic"/>
                <a:cs typeface="Century Gothic"/>
              </a:rPr>
              <a:t>Parse enroll_date; set factors and reference levels.</a:t>
            </a:r>
          </a:p>
          <a:p>
            <a:pPr marL="274320" indent="-274320" algn="l">
              <a:lnSpc>
                <a:spcPct val="106000"/>
              </a:lnSpc>
              <a:spcBef>
                <a:spcPts val="560"/>
              </a:spcBef>
              <a:buFont typeface="Arial"/>
              <a:buChar char="•"/>
            </a:pPr>
            <a:r>
              <a:rPr lang="en-US" sz="1950" dirty="0">
                <a:solidFill>
                  <a:srgbClr val="000000"/>
                </a:solidFill>
                <a:latin typeface="Century Gothic"/>
                <a:cs typeface="Century Gothic"/>
              </a:rPr>
              <a:t>Run the final missing-data audit and explain each NA.</a:t>
            </a:r>
          </a:p>
          <a:p>
            <a:pPr marL="274320" indent="-274320" algn="l">
              <a:lnSpc>
                <a:spcPct val="106000"/>
              </a:lnSpc>
              <a:spcBef>
                <a:spcPts val="560"/>
              </a:spcBef>
              <a:buFont typeface="Arial"/>
              <a:buChar char="•"/>
            </a:pPr>
            <a:r>
              <a:rPr lang="en-US" sz="1950" dirty="0">
                <a:solidFill>
                  <a:srgbClr val="000000"/>
                </a:solidFill>
                <a:latin typeface="Century Gothic"/>
                <a:cs typeface="Century Gothic"/>
              </a:rPr>
              <a:t>Save the result to Data/analysis_data.rds.</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Century Gothic"/>
                <a:cs typeface="Century Gothic"/>
              </a:rPr>
              <a:t>Recap and Bridge to Day 3</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Body"/>
          <p:cNvSpPr txBox="1"/>
          <p:nvPr/>
        </p:nvSpPr>
        <p:spPr>
          <a:xfrm>
            <a:off x="457200" y="1080000"/>
            <a:ext cx="11277600" cy="3150000"/>
          </a:xfrm>
          <a:prstGeom prst="rect">
            <a:avLst/>
          </a:prstGeom>
          <a:noFill/>
          <a:ln>
            <a:noFill/>
          </a:ln>
        </p:spPr>
        <p:txBody>
          <a:bodyPr wrap="square" lIns="91440" tIns="45720" rIns="91440" bIns="45720" rtlCol="0" anchor="t"/>
          <a:lstStyle/>
          <a:p>
            <a:pPr marL="0" indent="0" algn="l">
              <a:spcBef>
                <a:spcPts val="360"/>
              </a:spcBef>
              <a:buNone/>
            </a:pPr>
            <a:r>
              <a:rPr lang="en-US" sz="2050" b="1" dirty="0">
                <a:solidFill>
                  <a:srgbClr val="0D7377"/>
                </a:solidFill>
                <a:latin typeface="Century Gothic"/>
                <a:cs typeface="Century Gothic"/>
              </a:rPr>
              <a:t>What we achieved today</a:t>
            </a:r>
          </a:p>
          <a:p>
            <a:pPr marL="0" indent="0" algn="l">
              <a:lnSpc>
                <a:spcPct val="108000"/>
              </a:lnSpc>
              <a:spcBef>
                <a:spcPts val="440"/>
              </a:spcBef>
              <a:buNone/>
            </a:pPr>
            <a:r>
              <a:rPr lang="en-US" sz="1800" dirty="0">
                <a:solidFill>
                  <a:srgbClr val="000000"/>
                </a:solidFill>
                <a:latin typeface="Century Gothic"/>
                <a:cs typeface="Century Gothic"/>
              </a:rPr>
              <a:t>Imported, de-duplicated and standardised the raw data.</a:t>
            </a:r>
          </a:p>
          <a:p>
            <a:pPr marL="0" indent="0" algn="l">
              <a:lnSpc>
                <a:spcPct val="108000"/>
              </a:lnSpc>
              <a:spcBef>
                <a:spcPts val="440"/>
              </a:spcBef>
              <a:buNone/>
            </a:pPr>
            <a:r>
              <a:rPr lang="en-US" sz="1800" dirty="0">
                <a:solidFill>
                  <a:srgbClr val="000000"/>
                </a:solidFill>
                <a:latin typeface="Century Gothic"/>
                <a:cs typeface="Century Gothic"/>
              </a:rPr>
              <a:t>Validated values, derived variables, parsed dates.</a:t>
            </a:r>
          </a:p>
          <a:p>
            <a:pPr marL="0" indent="0" algn="l">
              <a:lnSpc>
                <a:spcPct val="108000"/>
              </a:lnSpc>
              <a:spcBef>
                <a:spcPts val="440"/>
              </a:spcBef>
              <a:buNone/>
            </a:pPr>
            <a:r>
              <a:rPr lang="en-US" sz="1800" dirty="0">
                <a:solidFill>
                  <a:srgbClr val="000000"/>
                </a:solidFill>
                <a:latin typeface="Century Gothic"/>
                <a:cs typeface="Century Gothic"/>
              </a:rPr>
              <a:t>Set factors and saved analysis_data.rds.</a:t>
            </a:r>
          </a:p>
          <a:p>
            <a:pPr>
              <a:buNone/>
            </a:pPr>
            <a:endParaRPr sz="1050"/>
          </a:p>
          <a:p>
            <a:pPr marL="0" indent="0" algn="l">
              <a:spcBef>
                <a:spcPts val="360"/>
              </a:spcBef>
              <a:buNone/>
            </a:pPr>
            <a:r>
              <a:rPr lang="en-US" sz="2050" b="1" dirty="0">
                <a:solidFill>
                  <a:srgbClr val="0D7377"/>
                </a:solidFill>
                <a:latin typeface="Century Gothic"/>
                <a:cs typeface="Century Gothic"/>
              </a:rPr>
              <a:t>Tomorrow: Day 3</a:t>
            </a:r>
          </a:p>
          <a:p>
            <a:pPr marL="0" indent="0" algn="l">
              <a:lnSpc>
                <a:spcPct val="108000"/>
              </a:lnSpc>
              <a:spcBef>
                <a:spcPts val="440"/>
              </a:spcBef>
              <a:buNone/>
            </a:pPr>
            <a:r>
              <a:rPr lang="en-US" sz="1800" dirty="0">
                <a:solidFill>
                  <a:srgbClr val="000000"/>
                </a:solidFill>
                <a:latin typeface="Century Gothic"/>
                <a:cs typeface="Century Gothic"/>
              </a:rPr>
              <a:t>Explore and describe the clean data.</a:t>
            </a:r>
          </a:p>
          <a:p>
            <a:pPr marL="0" indent="0" algn="l">
              <a:lnSpc>
                <a:spcPct val="108000"/>
              </a:lnSpc>
              <a:spcBef>
                <a:spcPts val="440"/>
              </a:spcBef>
              <a:buNone/>
            </a:pPr>
            <a:r>
              <a:rPr lang="en-US" sz="1800" dirty="0">
                <a:solidFill>
                  <a:srgbClr val="000000"/>
                </a:solidFill>
                <a:latin typeface="Century Gothic"/>
                <a:cs typeface="Century Gothic"/>
              </a:rPr>
              <a:t>Summary tables, distributions and first plots.</a:t>
            </a:r>
          </a:p>
          <a:p>
            <a:pPr marL="0" indent="0" algn="l">
              <a:lnSpc>
                <a:spcPct val="108000"/>
              </a:lnSpc>
              <a:spcBef>
                <a:spcPts val="440"/>
              </a:spcBef>
              <a:buNone/>
            </a:pPr>
            <a:r>
              <a:rPr lang="en-US" sz="1800" dirty="0">
                <a:solidFill>
                  <a:srgbClr val="000000"/>
                </a:solidFill>
                <a:latin typeface="Century Gothic"/>
                <a:cs typeface="Century Gothic"/>
              </a:rPr>
              <a:t>We start from analysis_data.rds - no re-cleaning.</a:t>
            </a:r>
          </a:p>
          <a:p>
            <a:pPr>
              <a:buNone/>
            </a:pPr>
            <a:endParaRPr sz="1050"/>
          </a:p>
        </p:txBody>
      </p:sp>
      <p:sp>
        <p:nvSpPr>
          <p:cNvPr id="40" name="Callout"/>
          <p:cNvSpPr/>
          <p:nvPr/>
        </p:nvSpPr>
        <p:spPr>
          <a:xfrm>
            <a:off x="457200" y="5070000"/>
            <a:ext cx="11277600" cy="810000"/>
          </a:xfrm>
          <a:prstGeom prst="roundRect">
            <a:avLst>
              <a:gd name="adj" fmla="val 6000"/>
            </a:avLst>
          </a:prstGeom>
          <a:solidFill>
            <a:srgbClr val="F0F0F0"/>
          </a:solidFill>
          <a:ln>
            <a:noFill/>
          </a:ln>
        </p:spPr>
        <p:txBody>
          <a:bodyPr wrap="square" lIns="137160" tIns="91440" rIns="137160" bIns="91440" rtlCol="0" anchor="t"/>
          <a:lstStyle/>
          <a:p>
            <a:pPr marL="0" indent="0" algn="l">
              <a:buNone/>
            </a:pPr>
            <a:r>
              <a:rPr lang="en-US" sz="1300" b="1" dirty="0">
                <a:solidFill>
                  <a:srgbClr val="404040"/>
                </a:solidFill>
                <a:latin typeface="Century Gothic"/>
                <a:cs typeface="Century Gothic"/>
              </a:rPr>
              <a:t>NOTE  -  Remember</a:t>
            </a:r>
          </a:p>
          <a:p>
            <a:pPr marL="0" indent="0" algn="l">
              <a:spcBef>
                <a:spcPts val="100"/>
              </a:spcBef>
              <a:buNone/>
            </a:pPr>
            <a:r>
              <a:rPr lang="en-US" sz="1300" dirty="0">
                <a:solidFill>
                  <a:srgbClr val="000000"/>
                </a:solidFill>
                <a:latin typeface="Century Gothic"/>
                <a:cs typeface="Century Gothic"/>
              </a:rPr>
              <a:t>Clean data clear impact - everything downstream rests on today.</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 name="DayTitle"/>
          <p:cNvSpPr txBox="1"/>
          <p:nvPr/>
        </p:nvSpPr>
        <p:spPr>
          <a:xfrm>
            <a:off x="457200" y="548640"/>
            <a:ext cx="11430000" cy="700000"/>
          </a:xfrm>
          <a:prstGeom prst="rect">
            <a:avLst/>
          </a:prstGeom>
          <a:noFill/>
          <a:ln>
            <a:noFill/>
          </a:ln>
        </p:spPr>
        <p:txBody>
          <a:bodyPr wrap="square" lIns="91440" tIns="45720" rIns="91440" bIns="45720" rtlCol="0" anchor="t"/>
          <a:lstStyle/>
          <a:p>
            <a:pPr marL="0" indent="0" algn="l">
              <a:buNone/>
            </a:pPr>
            <a:r>
              <a:rPr lang="en-US" sz="3200" b="1" dirty="0">
                <a:solidFill>
                  <a:srgbClr val="0D7377"/>
                </a:solidFill>
                <a:latin typeface="Century Gothic"/>
                <a:cs typeface="Century Gothic"/>
              </a:rPr>
              <a:t>Day 3: Descriptive Statistics, Tables &amp; Figures</a:t>
            </a:r>
          </a:p>
        </p:txBody>
      </p:sp>
      <p:sp>
        <p:nvSpPr>
          <p:cNvPr id="7" name="Rule"/>
          <p:cNvSpPr/>
          <p:nvPr/>
        </p:nvSpPr>
        <p:spPr>
          <a:xfrm>
            <a:off x="457200" y="1325880"/>
            <a:ext cx="11277600" cy="19050"/>
          </a:xfrm>
          <a:prstGeom prst="rect">
            <a:avLst/>
          </a:prstGeom>
          <a:solidFill>
            <a:srgbClr val="0D7377"/>
          </a:solidFill>
          <a:ln>
            <a:noFill/>
          </a:ln>
        </p:spPr>
        <p:txBody>
          <a:bodyPr/>
          <a:lstStyle/>
          <a:p>
            <a:endParaRPr/>
          </a:p>
        </p:txBody>
      </p:sp>
      <p:sp>
        <p:nvSpPr>
          <p:cNvPr id="8" name="Agenda"/>
          <p:cNvSpPr txBox="1"/>
          <p:nvPr/>
        </p:nvSpPr>
        <p:spPr>
          <a:xfrm>
            <a:off x="457200" y="1600000"/>
            <a:ext cx="11277600" cy="4400000"/>
          </a:xfrm>
          <a:prstGeom prst="rect">
            <a:avLst/>
          </a:prstGeom>
          <a:noFill/>
          <a:ln>
            <a:noFill/>
          </a:ln>
        </p:spPr>
        <p:txBody>
          <a:bodyPr wrap="square" lIns="91440" tIns="45720" rIns="91440" bIns="45720" rtlCol="0" anchor="t"/>
          <a:lstStyle/>
          <a:p>
            <a:pPr marL="0" indent="0" algn="l">
              <a:buNone/>
            </a:pPr>
            <a:r>
              <a:rPr lang="en-US" sz="2800" dirty="0">
                <a:solidFill>
                  <a:srgbClr val="0070C0"/>
                </a:solidFill>
                <a:latin typeface="Century Gothic"/>
                <a:cs typeface="Century Gothic"/>
              </a:rPr>
              <a:t>Plan</a:t>
            </a:r>
          </a:p>
          <a:p>
            <a:pPr>
              <a:buNone/>
            </a:pPr>
            <a:endParaRPr sz="800"/>
          </a:p>
          <a:p>
            <a:pPr marL="274320" indent="-274320" algn="l">
              <a:spcBef>
                <a:spcPts val="440"/>
              </a:spcBef>
              <a:buFont typeface="Arial"/>
              <a:buChar char="•"/>
            </a:pPr>
            <a:r>
              <a:rPr lang="en-US" sz="1900" dirty="0">
                <a:solidFill>
                  <a:srgbClr val="000000"/>
                </a:solidFill>
                <a:latin typeface="Century Gothic"/>
                <a:cs typeface="Century Gothic"/>
              </a:rPr>
              <a:t>Central tendency and spread</a:t>
            </a:r>
          </a:p>
          <a:p>
            <a:pPr marL="274320" indent="-274320" algn="l">
              <a:spcBef>
                <a:spcPts val="440"/>
              </a:spcBef>
              <a:buFont typeface="Arial"/>
              <a:buChar char="•"/>
            </a:pPr>
            <a:r>
              <a:rPr lang="en-US" sz="1900" dirty="0">
                <a:solidFill>
                  <a:srgbClr val="000000"/>
                </a:solidFill>
                <a:latin typeface="Century Gothic"/>
                <a:cs typeface="Century Gothic"/>
              </a:rPr>
              <a:t>Frequency and cross-tabulations</a:t>
            </a:r>
          </a:p>
          <a:p>
            <a:pPr marL="274320" indent="-274320" algn="l">
              <a:spcBef>
                <a:spcPts val="440"/>
              </a:spcBef>
              <a:buFont typeface="Arial"/>
              <a:buChar char="•"/>
            </a:pPr>
            <a:r>
              <a:rPr lang="en-US" sz="1900" dirty="0">
                <a:solidFill>
                  <a:srgbClr val="000000"/>
                </a:solidFill>
                <a:latin typeface="Century Gothic"/>
                <a:cs typeface="Century Gothic"/>
              </a:rPr>
              <a:t>Publication Table 1 with gtsummary</a:t>
            </a:r>
          </a:p>
          <a:p>
            <a:pPr marL="274320" indent="-274320" algn="l">
              <a:spcBef>
                <a:spcPts val="440"/>
              </a:spcBef>
              <a:buFont typeface="Arial"/>
              <a:buChar char="•"/>
            </a:pPr>
            <a:r>
              <a:rPr lang="en-US" sz="1900" dirty="0">
                <a:solidFill>
                  <a:srgbClr val="000000"/>
                </a:solidFill>
                <a:latin typeface="Century Gothic"/>
                <a:cs typeface="Century Gothic"/>
              </a:rPr>
              <a:t>Choosing and building figures</a:t>
            </a:r>
          </a:p>
          <a:p>
            <a:pPr marL="274320" indent="-274320" algn="l">
              <a:spcBef>
                <a:spcPts val="440"/>
              </a:spcBef>
              <a:buFont typeface="Arial"/>
              <a:buChar char="•"/>
            </a:pPr>
            <a:r>
              <a:rPr lang="en-US" sz="1900" dirty="0">
                <a:solidFill>
                  <a:srgbClr val="000000"/>
                </a:solidFill>
                <a:latin typeface="Century Gothic"/>
                <a:cs typeface="Century Gothic"/>
              </a:rPr>
              <a:t>Exporting reproducible outputs</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Century Gothic"/>
                <a:cs typeface="Century Gothic"/>
              </a:rPr>
              <a:t>What we will achieve today</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Body"/>
          <p:cNvSpPr txBox="1"/>
          <p:nvPr/>
        </p:nvSpPr>
        <p:spPr>
          <a:xfrm>
            <a:off x="457200" y="1080000"/>
            <a:ext cx="11277600" cy="4780000"/>
          </a:xfrm>
          <a:prstGeom prst="rect">
            <a:avLst/>
          </a:prstGeom>
          <a:noFill/>
          <a:ln>
            <a:noFill/>
          </a:ln>
        </p:spPr>
        <p:txBody>
          <a:bodyPr wrap="square" lIns="91440" tIns="45720" rIns="91440" bIns="45720" rtlCol="0" anchor="ctr"/>
          <a:lstStyle/>
          <a:p>
            <a:pPr marL="0" indent="0" algn="l">
              <a:lnSpc>
                <a:spcPct val="108000"/>
              </a:lnSpc>
              <a:buNone/>
            </a:pPr>
            <a:r>
              <a:rPr lang="en-US" sz="1900" i="1" dirty="0">
                <a:solidFill>
                  <a:srgbClr val="595959"/>
                </a:solidFill>
                <a:latin typeface="Century Gothic"/>
                <a:cs typeface="Century Gothic"/>
              </a:rPr>
              <a:t>By the end of this session you will be able to:</a:t>
            </a:r>
          </a:p>
          <a:p>
            <a:pPr>
              <a:buNone/>
            </a:pPr>
            <a:endParaRPr sz="950"/>
          </a:p>
          <a:p>
            <a:pPr marL="274320" indent="-274320" algn="l">
              <a:lnSpc>
                <a:spcPct val="106000"/>
              </a:lnSpc>
              <a:spcBef>
                <a:spcPts val="560"/>
              </a:spcBef>
              <a:buFont typeface="Arial"/>
              <a:buChar char="•"/>
            </a:pPr>
            <a:r>
              <a:rPr lang="en-US" sz="1950" dirty="0">
                <a:solidFill>
                  <a:srgbClr val="000000"/>
                </a:solidFill>
                <a:latin typeface="Century Gothic"/>
                <a:cs typeface="Century Gothic"/>
              </a:rPr>
              <a:t>Summarise a numeric variable with mean, median, SD and IQR</a:t>
            </a:r>
          </a:p>
          <a:p>
            <a:pPr marL="274320" indent="-274320" algn="l">
              <a:lnSpc>
                <a:spcPct val="106000"/>
              </a:lnSpc>
              <a:spcBef>
                <a:spcPts val="560"/>
              </a:spcBef>
              <a:buFont typeface="Arial"/>
              <a:buChar char="•"/>
            </a:pPr>
            <a:r>
              <a:rPr lang="en-US" sz="1950" dirty="0">
                <a:solidFill>
                  <a:srgbClr val="000000"/>
                </a:solidFill>
                <a:latin typeface="Century Gothic"/>
                <a:cs typeface="Century Gothic"/>
              </a:rPr>
              <a:t>Avoid the number-one beginner trap that returns NA</a:t>
            </a:r>
          </a:p>
          <a:p>
            <a:pPr marL="274320" indent="-274320" algn="l">
              <a:lnSpc>
                <a:spcPct val="106000"/>
              </a:lnSpc>
              <a:spcBef>
                <a:spcPts val="560"/>
              </a:spcBef>
              <a:buFont typeface="Arial"/>
              <a:buChar char="•"/>
            </a:pPr>
            <a:r>
              <a:rPr lang="en-US" sz="1950" dirty="0">
                <a:solidFill>
                  <a:srgbClr val="000000"/>
                </a:solidFill>
                <a:latin typeface="Century Gothic"/>
                <a:cs typeface="Century Gothic"/>
              </a:rPr>
              <a:t>Build frequency tables and cross-tabulations</a:t>
            </a:r>
          </a:p>
          <a:p>
            <a:pPr marL="274320" indent="-274320" algn="l">
              <a:lnSpc>
                <a:spcPct val="106000"/>
              </a:lnSpc>
              <a:spcBef>
                <a:spcPts val="560"/>
              </a:spcBef>
              <a:buFont typeface="Arial"/>
              <a:buChar char="•"/>
            </a:pPr>
            <a:r>
              <a:rPr lang="en-US" sz="1950" dirty="0">
                <a:solidFill>
                  <a:srgbClr val="000000"/>
                </a:solidFill>
                <a:latin typeface="Century Gothic"/>
                <a:cs typeface="Century Gothic"/>
              </a:rPr>
              <a:t>Read row versus column percentages correctly</a:t>
            </a:r>
          </a:p>
          <a:p>
            <a:pPr marL="274320" indent="-274320" algn="l">
              <a:lnSpc>
                <a:spcPct val="106000"/>
              </a:lnSpc>
              <a:spcBef>
                <a:spcPts val="560"/>
              </a:spcBef>
              <a:buFont typeface="Arial"/>
              <a:buChar char="•"/>
            </a:pPr>
            <a:r>
              <a:rPr lang="en-US" sz="1950" dirty="0">
                <a:solidFill>
                  <a:srgbClr val="000000"/>
                </a:solidFill>
                <a:latin typeface="Century Gothic"/>
                <a:cs typeface="Century Gothic"/>
              </a:rPr>
              <a:t>Produce a manuscript-ready Table 1</a:t>
            </a:r>
          </a:p>
          <a:p>
            <a:pPr marL="274320" indent="-274320" algn="l">
              <a:lnSpc>
                <a:spcPct val="106000"/>
              </a:lnSpc>
              <a:spcBef>
                <a:spcPts val="560"/>
              </a:spcBef>
              <a:buFont typeface="Arial"/>
              <a:buChar char="•"/>
            </a:pPr>
            <a:r>
              <a:rPr lang="en-US" sz="1950" dirty="0">
                <a:solidFill>
                  <a:srgbClr val="000000"/>
                </a:solidFill>
                <a:latin typeface="Century Gothic"/>
                <a:cs typeface="Century Gothic"/>
              </a:rPr>
              <a:t>Choose the right chart for each variable type</a:t>
            </a:r>
          </a:p>
          <a:p>
            <a:pPr marL="274320" indent="-274320" algn="l">
              <a:lnSpc>
                <a:spcPct val="106000"/>
              </a:lnSpc>
              <a:spcBef>
                <a:spcPts val="560"/>
              </a:spcBef>
              <a:buFont typeface="Arial"/>
              <a:buChar char="•"/>
            </a:pPr>
            <a:r>
              <a:rPr lang="en-US" sz="1950" dirty="0">
                <a:solidFill>
                  <a:srgbClr val="000000"/>
                </a:solidFill>
                <a:latin typeface="Century Gothic"/>
                <a:cs typeface="Century Gothic"/>
              </a:rPr>
              <a:t>Save figures at 300 dpi for publication</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Century Gothic"/>
                <a:cs typeface="Century Gothic"/>
              </a:rPr>
              <a:t>Bridge: reload the clean data</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Intro"/>
          <p:cNvSpPr txBox="1"/>
          <p:nvPr/>
        </p:nvSpPr>
        <p:spPr>
          <a:xfrm>
            <a:off x="457200" y="1080000"/>
            <a:ext cx="11277600" cy="520000"/>
          </a:xfrm>
          <a:prstGeom prst="rect">
            <a:avLst/>
          </a:prstGeom>
          <a:noFill/>
          <a:ln>
            <a:noFill/>
          </a:ln>
        </p:spPr>
        <p:txBody>
          <a:bodyPr wrap="square" lIns="91440" tIns="45720" rIns="91440" bIns="45720" rtlCol="0" anchor="t"/>
          <a:lstStyle/>
          <a:p>
            <a:pPr marL="0" indent="0" algn="l">
              <a:buNone/>
            </a:pPr>
            <a:r>
              <a:rPr lang="en-US" sz="1600" i="1" dirty="0">
                <a:solidFill>
                  <a:srgbClr val="595959"/>
                </a:solidFill>
                <a:latin typeface="Century Gothic"/>
                <a:cs typeface="Century Gothic"/>
              </a:rPr>
              <a:t>Always start from the saved clean file, never re-clean by hand.</a:t>
            </a:r>
          </a:p>
        </p:txBody>
      </p:sp>
      <p:sp>
        <p:nvSpPr>
          <p:cNvPr id="30" name="Code"/>
          <p:cNvSpPr/>
          <p:nvPr/>
        </p:nvSpPr>
        <p:spPr>
          <a:xfrm>
            <a:off x="457200" y="1640000"/>
            <a:ext cx="11277600" cy="1650000"/>
          </a:xfrm>
          <a:prstGeom prst="roundRect">
            <a:avLst>
              <a:gd name="adj" fmla="val 6000"/>
            </a:avLst>
          </a:prstGeom>
          <a:solidFill>
            <a:srgbClr val="EDF1F2"/>
          </a:solidFill>
          <a:ln>
            <a:noFill/>
          </a:ln>
        </p:spPr>
        <p:txBody>
          <a:bodyPr wrap="square" lIns="137160" tIns="91440" rIns="137160" bIns="91440" rtlCol="0" anchor="t"/>
          <a:lstStyle/>
          <a:p>
            <a:pPr marL="0" indent="0" algn="l">
              <a:lnSpc>
                <a:spcPct val="100000"/>
              </a:lnSpc>
              <a:buNone/>
            </a:pPr>
            <a:r>
              <a:rPr lang="en-US" sz="1300" dirty="0">
                <a:solidFill>
                  <a:srgbClr val="1B3A4B"/>
                </a:solidFill>
                <a:latin typeface="Consolas"/>
                <a:cs typeface="Consolas"/>
              </a:rPr>
              <a:t>library(tidyverse)</a:t>
            </a:r>
          </a:p>
          <a:p>
            <a:pPr marL="0" indent="0" algn="l">
              <a:lnSpc>
                <a:spcPct val="100000"/>
              </a:lnSpc>
              <a:buNone/>
            </a:pPr>
            <a:r>
              <a:rPr lang="en-US" sz="1300" dirty="0">
                <a:solidFill>
                  <a:srgbClr val="1B3A4B"/>
                </a:solidFill>
                <a:latin typeface="Consolas"/>
                <a:cs typeface="Consolas"/>
              </a:rPr>
              <a:t>library(gtsummary)</a:t>
            </a:r>
          </a:p>
          <a:p>
            <a:pPr marL="0" indent="0" algn="l">
              <a:lnSpc>
                <a:spcPct val="100000"/>
              </a:lnSpc>
              <a:buNone/>
            </a:pPr>
            <a:r>
              <a:rPr lang="en-US" sz="1300" dirty="0">
                <a:solidFill>
                  <a:srgbClr val="1B3A4B"/>
                </a:solidFill>
                <a:latin typeface="Consolas"/>
                <a:cs typeface="Consolas"/>
              </a:rPr>
              <a:t> </a:t>
            </a:r>
          </a:p>
          <a:p>
            <a:pPr marL="0" indent="0" algn="l">
              <a:lnSpc>
                <a:spcPct val="100000"/>
              </a:lnSpc>
              <a:buNone/>
            </a:pPr>
            <a:r>
              <a:rPr lang="en-US" sz="1300" dirty="0">
                <a:solidFill>
                  <a:srgbClr val="1B3A4B"/>
                </a:solidFill>
                <a:latin typeface="Consolas"/>
                <a:cs typeface="Consolas"/>
              </a:rPr>
              <a:t>analysis_data &lt;- readRDS("Data/analysis_data.rds")</a:t>
            </a:r>
          </a:p>
          <a:p>
            <a:pPr marL="0" indent="0" algn="l">
              <a:lnSpc>
                <a:spcPct val="100000"/>
              </a:lnSpc>
              <a:buNone/>
            </a:pPr>
            <a:r>
              <a:rPr lang="en-US" sz="1300" dirty="0">
                <a:solidFill>
                  <a:srgbClr val="1B3A4B"/>
                </a:solidFill>
                <a:latin typeface="Consolas"/>
                <a:cs typeface="Consolas"/>
              </a:rPr>
              <a:t> </a:t>
            </a:r>
          </a:p>
          <a:p>
            <a:pPr marL="0" indent="0" algn="l">
              <a:lnSpc>
                <a:spcPct val="100000"/>
              </a:lnSpc>
              <a:buNone/>
            </a:pPr>
            <a:r>
              <a:rPr lang="en-US" sz="1300" dirty="0">
                <a:solidFill>
                  <a:srgbClr val="1B3A4B"/>
                </a:solidFill>
                <a:latin typeface="Consolas"/>
                <a:cs typeface="Consolas"/>
              </a:rPr>
              <a:t>glimpse(analysis_data)</a:t>
            </a:r>
          </a:p>
          <a:p>
            <a:pPr marL="0" indent="0" algn="l">
              <a:lnSpc>
                <a:spcPct val="100000"/>
              </a:lnSpc>
              <a:buNone/>
            </a:pPr>
            <a:r>
              <a:rPr lang="en-US" sz="1300" dirty="0">
                <a:solidFill>
                  <a:srgbClr val="1B3A4B"/>
                </a:solidFill>
                <a:latin typeface="Consolas"/>
                <a:cs typeface="Consolas"/>
              </a:rPr>
              <a:t>nrow(analysis_data)</a:t>
            </a:r>
          </a:p>
        </p:txBody>
      </p:sp>
      <p:sp>
        <p:nvSpPr>
          <p:cNvPr id="31" name="Output"/>
          <p:cNvSpPr/>
          <p:nvPr/>
        </p:nvSpPr>
        <p:spPr>
          <a:xfrm>
            <a:off x="457200" y="3440000"/>
            <a:ext cx="11277600" cy="900000"/>
          </a:xfrm>
          <a:prstGeom prst="roundRect">
            <a:avLst>
              <a:gd name="adj" fmla="val 6000"/>
            </a:avLst>
          </a:prstGeom>
          <a:solidFill>
            <a:srgbClr val="F2EFE6"/>
          </a:solidFill>
          <a:ln>
            <a:noFill/>
          </a:ln>
        </p:spPr>
        <p:txBody>
          <a:bodyPr wrap="square" lIns="137160" tIns="91440" rIns="137160" bIns="91440" rtlCol="0" anchor="t"/>
          <a:lstStyle/>
          <a:p>
            <a:pPr marL="0" indent="0" algn="l">
              <a:buNone/>
            </a:pPr>
            <a:r>
              <a:rPr lang="en-US" sz="1150" b="1" dirty="0">
                <a:solidFill>
                  <a:srgbClr val="595959"/>
                </a:solidFill>
                <a:latin typeface="Century Gothic"/>
                <a:cs typeface="Century Gothic"/>
              </a:rPr>
              <a:t>Console output</a:t>
            </a:r>
          </a:p>
          <a:p>
            <a:pPr marL="0" indent="0" algn="l">
              <a:lnSpc>
                <a:spcPct val="100000"/>
              </a:lnSpc>
              <a:buNone/>
            </a:pPr>
            <a:r>
              <a:rPr lang="en-US" sz="1250" dirty="0">
                <a:solidFill>
                  <a:srgbClr val="1A1A1A"/>
                </a:solidFill>
                <a:latin typeface="Consolas"/>
                <a:cs typeface="Consolas"/>
              </a:rPr>
              <a:t>Rows: 1,500</a:t>
            </a:r>
          </a:p>
          <a:p>
            <a:pPr marL="0" indent="0" algn="l">
              <a:lnSpc>
                <a:spcPct val="100000"/>
              </a:lnSpc>
              <a:buNone/>
            </a:pPr>
            <a:r>
              <a:rPr lang="en-US" sz="1250" dirty="0">
                <a:solidFill>
                  <a:srgbClr val="1A1A1A"/>
                </a:solidFill>
                <a:latin typeface="Consolas"/>
                <a:cs typeface="Consolas"/>
              </a:rPr>
              <a:t>Columns: 36</a:t>
            </a:r>
          </a:p>
          <a:p>
            <a:pPr marL="0" indent="0" algn="l">
              <a:lnSpc>
                <a:spcPct val="100000"/>
              </a:lnSpc>
              <a:buNone/>
            </a:pPr>
            <a:r>
              <a:rPr lang="en-US" sz="1250" dirty="0">
                <a:solidFill>
                  <a:srgbClr val="1A1A1A"/>
                </a:solidFill>
                <a:latin typeface="Consolas"/>
                <a:cs typeface="Consolas"/>
              </a:rPr>
              <a:t>[1] 1500</a:t>
            </a:r>
          </a:p>
        </p:txBody>
      </p:sp>
      <p:sp>
        <p:nvSpPr>
          <p:cNvPr id="32" name="Note"/>
          <p:cNvSpPr/>
          <p:nvPr/>
        </p:nvSpPr>
        <p:spPr>
          <a:xfrm>
            <a:off x="457200" y="4480000"/>
            <a:ext cx="11277600" cy="470000"/>
          </a:xfrm>
          <a:prstGeom prst="roundRect">
            <a:avLst>
              <a:gd name="adj" fmla="val 6000"/>
            </a:avLst>
          </a:prstGeom>
          <a:solidFill>
            <a:srgbClr val="EAF1F7"/>
          </a:solidFill>
          <a:ln>
            <a:noFill/>
          </a:ln>
        </p:spPr>
        <p:txBody>
          <a:bodyPr wrap="square" lIns="137160" tIns="91440" rIns="137160" bIns="91440" rtlCol="0" anchor="t"/>
          <a:lstStyle/>
          <a:p>
            <a:pPr marL="0" indent="0" algn="l">
              <a:buNone/>
            </a:pPr>
            <a:r>
              <a:rPr lang="en-US" sz="1300" dirty="0">
                <a:solidFill>
                  <a:srgbClr val="1F5C7A"/>
                </a:solidFill>
                <a:latin typeface="Century Gothic"/>
                <a:cs typeface="Century Gothic"/>
              </a:rPr>
              <a:t>INTERPRETATION  -  Reloading the Day 2 output guarantees Days 3, 4 and 5 all use identical data.</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Century Gothic"/>
                <a:cs typeface="Century Gothic"/>
              </a:rPr>
              <a:t>Central tendency: mean vs median</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1" name="Col"/>
          <p:cNvSpPr txBox="1"/>
          <p:nvPr/>
        </p:nvSpPr>
        <p:spPr>
          <a:xfrm>
            <a:off x="457200" y="1150000"/>
            <a:ext cx="5478780" cy="5050000"/>
          </a:xfrm>
          <a:prstGeom prst="rect">
            <a:avLst/>
          </a:prstGeom>
          <a:noFill/>
          <a:ln>
            <a:noFill/>
          </a:ln>
        </p:spPr>
        <p:txBody>
          <a:bodyPr wrap="square" lIns="91440" tIns="45720" rIns="91440" bIns="45720" rtlCol="0" anchor="t"/>
          <a:lstStyle/>
          <a:p>
            <a:pPr marL="0" indent="0" algn="l">
              <a:buNone/>
            </a:pPr>
            <a:r>
              <a:rPr lang="en-US" sz="2050" b="1" dirty="0">
                <a:solidFill>
                  <a:srgbClr val="0D7377"/>
                </a:solidFill>
                <a:latin typeface="Century Gothic"/>
                <a:cs typeface="Century Gothic"/>
              </a:rPr>
              <a:t>Mean</a:t>
            </a:r>
          </a:p>
          <a:p>
            <a:pPr marL="274320" indent="-274320" algn="l">
              <a:lnSpc>
                <a:spcPct val="106000"/>
              </a:lnSpc>
              <a:spcBef>
                <a:spcPts val="520"/>
              </a:spcBef>
              <a:buFont typeface="Arial"/>
              <a:buChar char="•"/>
            </a:pPr>
            <a:r>
              <a:rPr lang="en-US" sz="1650" dirty="0">
                <a:solidFill>
                  <a:srgbClr val="000000"/>
                </a:solidFill>
                <a:latin typeface="Century Gothic"/>
                <a:cs typeface="Century Gothic"/>
              </a:rPr>
              <a:t>The arithmetic average</a:t>
            </a:r>
          </a:p>
          <a:p>
            <a:pPr marL="274320" indent="-274320" algn="l">
              <a:lnSpc>
                <a:spcPct val="106000"/>
              </a:lnSpc>
              <a:spcBef>
                <a:spcPts val="520"/>
              </a:spcBef>
              <a:buFont typeface="Arial"/>
              <a:buChar char="•"/>
            </a:pPr>
            <a:r>
              <a:rPr lang="en-US" sz="1650" dirty="0">
                <a:solidFill>
                  <a:srgbClr val="000000"/>
                </a:solidFill>
                <a:latin typeface="Century Gothic"/>
                <a:cs typeface="Century Gothic"/>
              </a:rPr>
              <a:t>Uses every value</a:t>
            </a:r>
          </a:p>
          <a:p>
            <a:pPr marL="274320" indent="-274320" algn="l">
              <a:lnSpc>
                <a:spcPct val="106000"/>
              </a:lnSpc>
              <a:spcBef>
                <a:spcPts val="520"/>
              </a:spcBef>
              <a:buFont typeface="Arial"/>
              <a:buChar char="•"/>
            </a:pPr>
            <a:r>
              <a:rPr lang="en-US" sz="1650" dirty="0">
                <a:solidFill>
                  <a:srgbClr val="000000"/>
                </a:solidFill>
                <a:latin typeface="Century Gothic"/>
                <a:cs typeface="Century Gothic"/>
              </a:rPr>
              <a:t>Pulled by extreme values</a:t>
            </a:r>
          </a:p>
          <a:p>
            <a:pPr marL="274320" indent="-274320" algn="l">
              <a:lnSpc>
                <a:spcPct val="106000"/>
              </a:lnSpc>
              <a:spcBef>
                <a:spcPts val="520"/>
              </a:spcBef>
              <a:buFont typeface="Arial"/>
              <a:buChar char="•"/>
            </a:pPr>
            <a:r>
              <a:rPr lang="en-US" sz="1650" dirty="0">
                <a:solidFill>
                  <a:srgbClr val="000000"/>
                </a:solidFill>
                <a:latin typeface="Century Gothic"/>
                <a:cs typeface="Century Gothic"/>
              </a:rPr>
              <a:t>Best for symmetric data</a:t>
            </a:r>
          </a:p>
        </p:txBody>
      </p:sp>
      <p:sp>
        <p:nvSpPr>
          <p:cNvPr id="22" name="Col"/>
          <p:cNvSpPr txBox="1"/>
          <p:nvPr/>
        </p:nvSpPr>
        <p:spPr>
          <a:xfrm>
            <a:off x="6256020" y="1150000"/>
            <a:ext cx="5478780" cy="5050000"/>
          </a:xfrm>
          <a:prstGeom prst="rect">
            <a:avLst/>
          </a:prstGeom>
          <a:noFill/>
          <a:ln>
            <a:noFill/>
          </a:ln>
        </p:spPr>
        <p:txBody>
          <a:bodyPr wrap="square" lIns="91440" tIns="45720" rIns="91440" bIns="45720" rtlCol="0" anchor="t"/>
          <a:lstStyle/>
          <a:p>
            <a:pPr marL="0" indent="0" algn="l">
              <a:buNone/>
            </a:pPr>
            <a:r>
              <a:rPr lang="en-US" sz="2050" b="1" dirty="0">
                <a:solidFill>
                  <a:srgbClr val="0D7377"/>
                </a:solidFill>
                <a:latin typeface="Century Gothic"/>
                <a:cs typeface="Century Gothic"/>
              </a:rPr>
              <a:t>Median</a:t>
            </a:r>
          </a:p>
          <a:p>
            <a:pPr marL="274320" indent="-274320" algn="l">
              <a:lnSpc>
                <a:spcPct val="106000"/>
              </a:lnSpc>
              <a:spcBef>
                <a:spcPts val="520"/>
              </a:spcBef>
              <a:buFont typeface="Arial"/>
              <a:buChar char="•"/>
            </a:pPr>
            <a:r>
              <a:rPr lang="en-US" sz="1650" dirty="0">
                <a:solidFill>
                  <a:srgbClr val="000000"/>
                </a:solidFill>
                <a:latin typeface="Century Gothic"/>
                <a:cs typeface="Century Gothic"/>
              </a:rPr>
              <a:t>The middle value</a:t>
            </a:r>
          </a:p>
          <a:p>
            <a:pPr marL="274320" indent="-274320" algn="l">
              <a:lnSpc>
                <a:spcPct val="106000"/>
              </a:lnSpc>
              <a:spcBef>
                <a:spcPts val="520"/>
              </a:spcBef>
              <a:buFont typeface="Arial"/>
              <a:buChar char="•"/>
            </a:pPr>
            <a:r>
              <a:rPr lang="en-US" sz="1650" dirty="0">
                <a:solidFill>
                  <a:srgbClr val="000000"/>
                </a:solidFill>
                <a:latin typeface="Century Gothic"/>
                <a:cs typeface="Century Gothic"/>
              </a:rPr>
              <a:t>Half above, half below</a:t>
            </a:r>
          </a:p>
          <a:p>
            <a:pPr marL="274320" indent="-274320" algn="l">
              <a:lnSpc>
                <a:spcPct val="106000"/>
              </a:lnSpc>
              <a:spcBef>
                <a:spcPts val="520"/>
              </a:spcBef>
              <a:buFont typeface="Arial"/>
              <a:buChar char="•"/>
            </a:pPr>
            <a:r>
              <a:rPr lang="en-US" sz="1650" dirty="0">
                <a:solidFill>
                  <a:srgbClr val="000000"/>
                </a:solidFill>
                <a:latin typeface="Century Gothic"/>
                <a:cs typeface="Century Gothic"/>
              </a:rPr>
              <a:t>Robust to outliers</a:t>
            </a:r>
          </a:p>
          <a:p>
            <a:pPr marL="274320" indent="-274320" algn="l">
              <a:lnSpc>
                <a:spcPct val="106000"/>
              </a:lnSpc>
              <a:spcBef>
                <a:spcPts val="520"/>
              </a:spcBef>
              <a:buFont typeface="Arial"/>
              <a:buChar char="•"/>
            </a:pPr>
            <a:r>
              <a:rPr lang="en-US" sz="1650" dirty="0">
                <a:solidFill>
                  <a:srgbClr val="000000"/>
                </a:solidFill>
                <a:latin typeface="Century Gothic"/>
                <a:cs typeface="Century Gothic"/>
              </a:rPr>
              <a:t>Best for skewed data</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Century Gothic"/>
                <a:cs typeface="Century Gothic"/>
              </a:rPr>
              <a:t>When the median is the honest summary</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Body"/>
          <p:cNvSpPr txBox="1"/>
          <p:nvPr/>
        </p:nvSpPr>
        <p:spPr>
          <a:xfrm>
            <a:off x="457200" y="1080000"/>
            <a:ext cx="11277600" cy="3150000"/>
          </a:xfrm>
          <a:prstGeom prst="rect">
            <a:avLst/>
          </a:prstGeom>
          <a:noFill/>
          <a:ln>
            <a:noFill/>
          </a:ln>
        </p:spPr>
        <p:txBody>
          <a:bodyPr wrap="square" lIns="91440" tIns="45720" rIns="91440" bIns="45720" rtlCol="0" anchor="t"/>
          <a:lstStyle/>
          <a:p>
            <a:pPr marL="0" indent="0" algn="l">
              <a:spcBef>
                <a:spcPts val="360"/>
              </a:spcBef>
              <a:buNone/>
            </a:pPr>
            <a:r>
              <a:rPr lang="en-US" sz="2050" b="1" dirty="0">
                <a:solidFill>
                  <a:srgbClr val="0D7377"/>
                </a:solidFill>
                <a:latin typeface="Century Gothic"/>
                <a:cs typeface="Century Gothic"/>
              </a:rPr>
              <a:t>Rule of thumb</a:t>
            </a:r>
          </a:p>
          <a:p>
            <a:pPr marL="0" indent="0" algn="l">
              <a:lnSpc>
                <a:spcPct val="108000"/>
              </a:lnSpc>
              <a:spcBef>
                <a:spcPts val="440"/>
              </a:spcBef>
              <a:buNone/>
            </a:pPr>
            <a:r>
              <a:rPr lang="en-US" sz="1800" dirty="0">
                <a:solidFill>
                  <a:srgbClr val="000000"/>
                </a:solidFill>
                <a:latin typeface="Century Gothic"/>
                <a:cs typeface="Century Gothic"/>
              </a:rPr>
              <a:t>Mean close to median means roughly symmetric: report mean (SD)</a:t>
            </a:r>
          </a:p>
          <a:p>
            <a:pPr marL="0" indent="0" algn="l">
              <a:lnSpc>
                <a:spcPct val="108000"/>
              </a:lnSpc>
              <a:spcBef>
                <a:spcPts val="440"/>
              </a:spcBef>
              <a:buNone/>
            </a:pPr>
            <a:r>
              <a:rPr lang="en-US" sz="1800" dirty="0">
                <a:solidFill>
                  <a:srgbClr val="000000"/>
                </a:solidFill>
                <a:latin typeface="Century Gothic"/>
                <a:cs typeface="Century Gothic"/>
              </a:rPr>
              <a:t>Mean well above median means right-skewed: report median (IQR)</a:t>
            </a:r>
          </a:p>
          <a:p>
            <a:pPr>
              <a:buNone/>
            </a:pPr>
            <a:endParaRPr sz="1050"/>
          </a:p>
          <a:p>
            <a:pPr marL="0" indent="0" algn="l">
              <a:spcBef>
                <a:spcPts val="360"/>
              </a:spcBef>
              <a:buNone/>
            </a:pPr>
            <a:r>
              <a:rPr lang="en-US" sz="2050" b="1" dirty="0">
                <a:solidFill>
                  <a:srgbClr val="0D7377"/>
                </a:solidFill>
                <a:latin typeface="Century Gothic"/>
                <a:cs typeface="Century Gothic"/>
              </a:rPr>
              <a:t>Typical right-skewed clinical variables</a:t>
            </a:r>
          </a:p>
          <a:p>
            <a:pPr marL="0" indent="0" algn="l">
              <a:lnSpc>
                <a:spcPct val="108000"/>
              </a:lnSpc>
              <a:spcBef>
                <a:spcPts val="440"/>
              </a:spcBef>
              <a:buNone/>
            </a:pPr>
            <a:r>
              <a:rPr lang="en-US" sz="1800" dirty="0">
                <a:solidFill>
                  <a:srgbClr val="000000"/>
                </a:solidFill>
                <a:latin typeface="Century Gothic"/>
                <a:cs typeface="Century Gothic"/>
              </a:rPr>
              <a:t>Distance to facility, fasting glucose, triglycerides</a:t>
            </a:r>
          </a:p>
          <a:p>
            <a:pPr marL="0" indent="0" algn="l">
              <a:lnSpc>
                <a:spcPct val="108000"/>
              </a:lnSpc>
              <a:spcBef>
                <a:spcPts val="440"/>
              </a:spcBef>
              <a:buNone/>
            </a:pPr>
            <a:r>
              <a:rPr lang="en-US" sz="1800" dirty="0">
                <a:solidFill>
                  <a:srgbClr val="000000"/>
                </a:solidFill>
                <a:latin typeface="Century Gothic"/>
                <a:cs typeface="Century Gothic"/>
              </a:rPr>
              <a:t>Length of stay, cost, biomarker concentrations</a:t>
            </a:r>
          </a:p>
          <a:p>
            <a:pPr>
              <a:buNone/>
            </a:pPr>
            <a:endParaRPr sz="1050"/>
          </a:p>
        </p:txBody>
      </p:sp>
      <p:sp>
        <p:nvSpPr>
          <p:cNvPr id="40" name="Callout"/>
          <p:cNvSpPr/>
          <p:nvPr/>
        </p:nvSpPr>
        <p:spPr>
          <a:xfrm>
            <a:off x="457200" y="4835000"/>
            <a:ext cx="11277600" cy="1045000"/>
          </a:xfrm>
          <a:prstGeom prst="roundRect">
            <a:avLst>
              <a:gd name="adj" fmla="val 6000"/>
            </a:avLst>
          </a:prstGeom>
          <a:solidFill>
            <a:srgbClr val="EAF1F7"/>
          </a:solidFill>
          <a:ln>
            <a:noFill/>
          </a:ln>
        </p:spPr>
        <p:txBody>
          <a:bodyPr wrap="square" lIns="137160" tIns="91440" rIns="137160" bIns="91440" rtlCol="0" anchor="t"/>
          <a:lstStyle/>
          <a:p>
            <a:pPr marL="0" indent="0" algn="l">
              <a:buNone/>
            </a:pPr>
            <a:r>
              <a:rPr lang="en-US" sz="1300" b="1" dirty="0">
                <a:solidFill>
                  <a:srgbClr val="1F5C7A"/>
                </a:solidFill>
                <a:latin typeface="Century Gothic"/>
                <a:cs typeface="Century Gothic"/>
              </a:rPr>
              <a:t>CLINICAL INTERPRETATION  -  Why it matters</a:t>
            </a:r>
          </a:p>
          <a:p>
            <a:pPr marL="0" indent="0" algn="l">
              <a:spcBef>
                <a:spcPts val="100"/>
              </a:spcBef>
              <a:buNone/>
            </a:pPr>
            <a:r>
              <a:rPr lang="en-US" sz="1300" dirty="0">
                <a:solidFill>
                  <a:srgbClr val="000000"/>
                </a:solidFill>
                <a:latin typeface="Century Gothic"/>
                <a:cs typeface="Century Gothic"/>
              </a:rPr>
              <a:t>For BP and BMI the mean often sits above the median.</a:t>
            </a:r>
          </a:p>
          <a:p>
            <a:pPr marL="0" indent="0" algn="l">
              <a:spcBef>
                <a:spcPts val="100"/>
              </a:spcBef>
              <a:buNone/>
            </a:pPr>
            <a:r>
              <a:rPr lang="en-US" sz="1300" dirty="0">
                <a:solidFill>
                  <a:srgbClr val="000000"/>
                </a:solidFill>
                <a:latin typeface="Century Gothic"/>
                <a:cs typeface="Century Gothic"/>
              </a:rPr>
              <a:t>A few high values inflate the mean, so median (IQR) is safer.</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Century Gothic"/>
                <a:cs typeface="Century Gothic"/>
              </a:rPr>
              <a:t>Measures of spread</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Body"/>
          <p:cNvSpPr txBox="1"/>
          <p:nvPr/>
        </p:nvSpPr>
        <p:spPr>
          <a:xfrm>
            <a:off x="457200" y="1080000"/>
            <a:ext cx="11277600" cy="3150000"/>
          </a:xfrm>
          <a:prstGeom prst="rect">
            <a:avLst/>
          </a:prstGeom>
          <a:noFill/>
          <a:ln>
            <a:noFill/>
          </a:ln>
        </p:spPr>
        <p:txBody>
          <a:bodyPr wrap="square" lIns="91440" tIns="45720" rIns="91440" bIns="45720" rtlCol="0" anchor="t"/>
          <a:lstStyle/>
          <a:p>
            <a:pPr marL="0" indent="0" algn="l">
              <a:spcBef>
                <a:spcPts val="360"/>
              </a:spcBef>
              <a:buNone/>
            </a:pPr>
            <a:r>
              <a:rPr lang="en-US" sz="2050" b="1" dirty="0">
                <a:solidFill>
                  <a:srgbClr val="0D7377"/>
                </a:solidFill>
                <a:latin typeface="Century Gothic"/>
                <a:cs typeface="Century Gothic"/>
              </a:rPr>
              <a:t>How scattered are the values?</a:t>
            </a:r>
          </a:p>
          <a:p>
            <a:pPr marL="0" indent="0" algn="l">
              <a:lnSpc>
                <a:spcPct val="108000"/>
              </a:lnSpc>
              <a:spcBef>
                <a:spcPts val="440"/>
              </a:spcBef>
              <a:buNone/>
            </a:pPr>
            <a:r>
              <a:rPr lang="en-US" sz="1800" dirty="0">
                <a:solidFill>
                  <a:srgbClr val="000000"/>
                </a:solidFill>
                <a:latin typeface="Century Gothic"/>
                <a:cs typeface="Century Gothic"/>
              </a:rPr>
              <a:t>Standard deviation (SD): typical distance from the mean</a:t>
            </a:r>
          </a:p>
          <a:p>
            <a:pPr marL="0" indent="0" algn="l">
              <a:lnSpc>
                <a:spcPct val="108000"/>
              </a:lnSpc>
              <a:spcBef>
                <a:spcPts val="440"/>
              </a:spcBef>
              <a:buNone/>
            </a:pPr>
            <a:r>
              <a:rPr lang="en-US" sz="1800" dirty="0">
                <a:solidFill>
                  <a:srgbClr val="000000"/>
                </a:solidFill>
                <a:latin typeface="Century Gothic"/>
                <a:cs typeface="Century Gothic"/>
              </a:rPr>
              <a:t>IQR: the range of the middle 50 percent (Q3 minus Q1)</a:t>
            </a:r>
          </a:p>
          <a:p>
            <a:pPr marL="0" indent="0" algn="l">
              <a:lnSpc>
                <a:spcPct val="108000"/>
              </a:lnSpc>
              <a:spcBef>
                <a:spcPts val="440"/>
              </a:spcBef>
              <a:buNone/>
            </a:pPr>
            <a:r>
              <a:rPr lang="en-US" sz="1800" dirty="0">
                <a:solidFill>
                  <a:srgbClr val="000000"/>
                </a:solidFill>
                <a:latin typeface="Century Gothic"/>
                <a:cs typeface="Century Gothic"/>
              </a:rPr>
              <a:t>Range: minimum to maximum, sensitive to outliers</a:t>
            </a:r>
          </a:p>
          <a:p>
            <a:pPr marL="0" indent="0" algn="l">
              <a:lnSpc>
                <a:spcPct val="108000"/>
              </a:lnSpc>
              <a:spcBef>
                <a:spcPts val="440"/>
              </a:spcBef>
              <a:buNone/>
            </a:pPr>
            <a:r>
              <a:rPr lang="en-US" sz="1800" dirty="0">
                <a:solidFill>
                  <a:srgbClr val="000000"/>
                </a:solidFill>
                <a:latin typeface="Century Gothic"/>
                <a:cs typeface="Century Gothic"/>
              </a:rPr>
              <a:t>Quantiles: cut points such as the five-number summary</a:t>
            </a:r>
          </a:p>
          <a:p>
            <a:pPr>
              <a:buNone/>
            </a:pPr>
            <a:endParaRPr sz="1050"/>
          </a:p>
        </p:txBody>
      </p:sp>
      <p:sp>
        <p:nvSpPr>
          <p:cNvPr id="40" name="Callout"/>
          <p:cNvSpPr/>
          <p:nvPr/>
        </p:nvSpPr>
        <p:spPr>
          <a:xfrm>
            <a:off x="457200" y="5070000"/>
            <a:ext cx="11277600" cy="810000"/>
          </a:xfrm>
          <a:prstGeom prst="roundRect">
            <a:avLst>
              <a:gd name="adj" fmla="val 6000"/>
            </a:avLst>
          </a:prstGeom>
          <a:solidFill>
            <a:srgbClr val="E8F4F4"/>
          </a:solidFill>
          <a:ln>
            <a:noFill/>
          </a:ln>
        </p:spPr>
        <p:txBody>
          <a:bodyPr wrap="square" lIns="137160" tIns="91440" rIns="137160" bIns="91440" rtlCol="0" anchor="t"/>
          <a:lstStyle/>
          <a:p>
            <a:pPr marL="0" indent="0" algn="l">
              <a:buNone/>
            </a:pPr>
            <a:r>
              <a:rPr lang="en-US" sz="1300" b="1" dirty="0">
                <a:solidFill>
                  <a:srgbClr val="0D7377"/>
                </a:solidFill>
                <a:latin typeface="Century Gothic"/>
                <a:cs typeface="Century Gothic"/>
              </a:rPr>
              <a:t>TIP  -  Pair the spread with the centre</a:t>
            </a:r>
          </a:p>
          <a:p>
            <a:pPr marL="0" indent="0" algn="l">
              <a:spcBef>
                <a:spcPts val="100"/>
              </a:spcBef>
              <a:buNone/>
            </a:pPr>
            <a:r>
              <a:rPr lang="en-US" sz="1300" dirty="0">
                <a:solidFill>
                  <a:srgbClr val="000000"/>
                </a:solidFill>
                <a:latin typeface="Century Gothic"/>
                <a:cs typeface="Century Gothic"/>
              </a:rPr>
              <a:t>Report SD with the mean; report IQR with the median.</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Century Gothic"/>
                <a:cs typeface="Century Gothic"/>
              </a:rPr>
              <a:t>The number-one beginner trap: na.rm</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Body"/>
          <p:cNvSpPr txBox="1"/>
          <p:nvPr/>
        </p:nvSpPr>
        <p:spPr>
          <a:xfrm>
            <a:off x="457200" y="1080000"/>
            <a:ext cx="11277600" cy="3150000"/>
          </a:xfrm>
          <a:prstGeom prst="rect">
            <a:avLst/>
          </a:prstGeom>
          <a:noFill/>
          <a:ln>
            <a:noFill/>
          </a:ln>
        </p:spPr>
        <p:txBody>
          <a:bodyPr wrap="square" lIns="91440" tIns="45720" rIns="91440" bIns="45720" rtlCol="0" anchor="t"/>
          <a:lstStyle/>
          <a:p>
            <a:pPr marL="0" indent="0" algn="l">
              <a:spcBef>
                <a:spcPts val="360"/>
              </a:spcBef>
              <a:buNone/>
            </a:pPr>
            <a:r>
              <a:rPr lang="en-US" sz="2050" b="1" dirty="0">
                <a:solidFill>
                  <a:srgbClr val="0D7377"/>
                </a:solidFill>
                <a:latin typeface="Century Gothic"/>
                <a:cs typeface="Century Gothic"/>
              </a:rPr>
              <a:t>What happens</a:t>
            </a:r>
          </a:p>
          <a:p>
            <a:pPr marL="0" indent="0" algn="l">
              <a:lnSpc>
                <a:spcPct val="108000"/>
              </a:lnSpc>
              <a:spcBef>
                <a:spcPts val="440"/>
              </a:spcBef>
              <a:buNone/>
            </a:pPr>
            <a:r>
              <a:rPr lang="en-US" sz="1800" dirty="0">
                <a:solidFill>
                  <a:srgbClr val="000000"/>
                </a:solidFill>
                <a:latin typeface="Century Gothic"/>
                <a:cs typeface="Century Gothic"/>
              </a:rPr>
              <a:t>If a column has ANY missing value, mean() and sd() return NA.</a:t>
            </a:r>
          </a:p>
          <a:p>
            <a:pPr marL="0" indent="0" algn="l">
              <a:lnSpc>
                <a:spcPct val="108000"/>
              </a:lnSpc>
              <a:spcBef>
                <a:spcPts val="440"/>
              </a:spcBef>
              <a:buNone/>
            </a:pPr>
            <a:r>
              <a:rPr lang="en-US" sz="1800" dirty="0">
                <a:solidFill>
                  <a:srgbClr val="000000"/>
                </a:solidFill>
                <a:latin typeface="Century Gothic"/>
                <a:cs typeface="Century Gothic"/>
              </a:rPr>
              <a:t>R refuses to guess; it tells you the answer is unknown.</a:t>
            </a:r>
          </a:p>
          <a:p>
            <a:pPr>
              <a:buNone/>
            </a:pPr>
            <a:endParaRPr sz="1050"/>
          </a:p>
          <a:p>
            <a:pPr marL="0" indent="0" algn="l">
              <a:spcBef>
                <a:spcPts val="360"/>
              </a:spcBef>
              <a:buNone/>
            </a:pPr>
            <a:r>
              <a:rPr lang="en-US" sz="2050" b="1" dirty="0">
                <a:solidFill>
                  <a:srgbClr val="0D7377"/>
                </a:solidFill>
                <a:latin typeface="Century Gothic"/>
                <a:cs typeface="Century Gothic"/>
              </a:rPr>
              <a:t>The fix</a:t>
            </a:r>
          </a:p>
          <a:p>
            <a:pPr marL="0" indent="0" algn="l">
              <a:lnSpc>
                <a:spcPct val="108000"/>
              </a:lnSpc>
              <a:spcBef>
                <a:spcPts val="440"/>
              </a:spcBef>
              <a:buNone/>
            </a:pPr>
            <a:r>
              <a:rPr lang="en-US" sz="1800" dirty="0">
                <a:solidFill>
                  <a:srgbClr val="000000"/>
                </a:solidFill>
                <a:latin typeface="Century Gothic"/>
                <a:cs typeface="Century Gothic"/>
              </a:rPr>
              <a:t>Add na.rm = TRUE to ignore the missing values.</a:t>
            </a:r>
          </a:p>
          <a:p>
            <a:pPr marL="0" indent="0" algn="l">
              <a:lnSpc>
                <a:spcPct val="108000"/>
              </a:lnSpc>
              <a:spcBef>
                <a:spcPts val="440"/>
              </a:spcBef>
              <a:buNone/>
            </a:pPr>
            <a:r>
              <a:rPr lang="en-US" sz="1800" dirty="0">
                <a:solidFill>
                  <a:srgbClr val="000000"/>
                </a:solidFill>
                <a:latin typeface="Century Gothic"/>
                <a:cs typeface="Century Gothic"/>
              </a:rPr>
              <a:t>mean(x, na.rm = TRUE) instead of mean(x).</a:t>
            </a:r>
          </a:p>
          <a:p>
            <a:pPr>
              <a:buNone/>
            </a:pPr>
            <a:endParaRPr sz="1050"/>
          </a:p>
        </p:txBody>
      </p:sp>
      <p:sp>
        <p:nvSpPr>
          <p:cNvPr id="40" name="Callout"/>
          <p:cNvSpPr/>
          <p:nvPr/>
        </p:nvSpPr>
        <p:spPr>
          <a:xfrm>
            <a:off x="457200" y="4835000"/>
            <a:ext cx="11277600" cy="1045000"/>
          </a:xfrm>
          <a:prstGeom prst="roundRect">
            <a:avLst>
              <a:gd name="adj" fmla="val 6000"/>
            </a:avLst>
          </a:prstGeom>
          <a:solidFill>
            <a:srgbClr val="FFF4E5"/>
          </a:solidFill>
          <a:ln>
            <a:noFill/>
          </a:ln>
        </p:spPr>
        <p:txBody>
          <a:bodyPr wrap="square" lIns="137160" tIns="91440" rIns="137160" bIns="91440" rtlCol="0" anchor="t"/>
          <a:lstStyle/>
          <a:p>
            <a:pPr marL="0" indent="0" algn="l">
              <a:buNone/>
            </a:pPr>
            <a:r>
              <a:rPr lang="en-US" sz="1300" b="1" dirty="0">
                <a:solidFill>
                  <a:srgbClr val="B5651D"/>
                </a:solidFill>
                <a:latin typeface="Century Gothic"/>
                <a:cs typeface="Century Gothic"/>
              </a:rPr>
              <a:t>COMMON MISTAKE  -  Most common cause of a surprise NA</a:t>
            </a:r>
          </a:p>
          <a:p>
            <a:pPr marL="0" indent="0" algn="l">
              <a:spcBef>
                <a:spcPts val="100"/>
              </a:spcBef>
              <a:buNone/>
            </a:pPr>
            <a:r>
              <a:rPr lang="en-US" sz="1300" dirty="0">
                <a:solidFill>
                  <a:srgbClr val="000000"/>
                </a:solidFill>
                <a:latin typeface="Century Gothic"/>
                <a:cs typeface="Century Gothic"/>
              </a:rPr>
              <a:t>A summary returns NA -&gt; a hidden missing value is present.</a:t>
            </a:r>
          </a:p>
          <a:p>
            <a:pPr marL="0" indent="0" algn="l">
              <a:spcBef>
                <a:spcPts val="100"/>
              </a:spcBef>
              <a:buNone/>
            </a:pPr>
            <a:r>
              <a:rPr lang="en-US" sz="1300" dirty="0">
                <a:solidFill>
                  <a:srgbClr val="000000"/>
                </a:solidFill>
                <a:latin typeface="Century Gothic"/>
                <a:cs typeface="Century Gothic"/>
              </a:rPr>
              <a:t>First thing to check: did you set na.rm = TRUE?</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Century Gothic"/>
                <a:cs typeface="Century Gothic"/>
              </a:rPr>
              <a:t>Demo: central tendency and spread</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Intro"/>
          <p:cNvSpPr txBox="1"/>
          <p:nvPr/>
        </p:nvSpPr>
        <p:spPr>
          <a:xfrm>
            <a:off x="457200" y="1080000"/>
            <a:ext cx="11277600" cy="520000"/>
          </a:xfrm>
          <a:prstGeom prst="rect">
            <a:avLst/>
          </a:prstGeom>
          <a:noFill/>
          <a:ln>
            <a:noFill/>
          </a:ln>
        </p:spPr>
        <p:txBody>
          <a:bodyPr wrap="square" lIns="91440" tIns="45720" rIns="91440" bIns="45720" rtlCol="0" anchor="t"/>
          <a:lstStyle/>
          <a:p>
            <a:pPr marL="0" indent="0" algn="l">
              <a:buNone/>
            </a:pPr>
            <a:r>
              <a:rPr lang="en-US" sz="1600" i="1" dirty="0">
                <a:solidFill>
                  <a:srgbClr val="595959"/>
                </a:solidFill>
                <a:latin typeface="Century Gothic"/>
                <a:cs typeface="Century Gothic"/>
              </a:rPr>
              <a:t>Show the trap first, then the fix, on systolic blood pressure.</a:t>
            </a:r>
          </a:p>
        </p:txBody>
      </p:sp>
      <p:sp>
        <p:nvSpPr>
          <p:cNvPr id="30" name="Code"/>
          <p:cNvSpPr/>
          <p:nvPr/>
        </p:nvSpPr>
        <p:spPr>
          <a:xfrm>
            <a:off x="457200" y="1640000"/>
            <a:ext cx="11277600" cy="1860000"/>
          </a:xfrm>
          <a:prstGeom prst="roundRect">
            <a:avLst>
              <a:gd name="adj" fmla="val 6000"/>
            </a:avLst>
          </a:prstGeom>
          <a:solidFill>
            <a:srgbClr val="EDF1F2"/>
          </a:solidFill>
          <a:ln>
            <a:noFill/>
          </a:ln>
        </p:spPr>
        <p:txBody>
          <a:bodyPr wrap="square" lIns="137160" tIns="91440" rIns="137160" bIns="91440" rtlCol="0" anchor="t"/>
          <a:lstStyle/>
          <a:p>
            <a:pPr marL="0" indent="0" algn="l">
              <a:lnSpc>
                <a:spcPct val="100000"/>
              </a:lnSpc>
              <a:buNone/>
            </a:pPr>
            <a:r>
              <a:rPr lang="en-US" sz="1300" dirty="0">
                <a:solidFill>
                  <a:srgbClr val="1B3A4B"/>
                </a:solidFill>
                <a:latin typeface="Consolas"/>
                <a:cs typeface="Consolas"/>
              </a:rPr>
              <a:t>mean(analysis_data$sbp_mmhg)</a:t>
            </a:r>
          </a:p>
          <a:p>
            <a:pPr marL="0" indent="0" algn="l">
              <a:lnSpc>
                <a:spcPct val="100000"/>
              </a:lnSpc>
              <a:buNone/>
            </a:pPr>
            <a:r>
              <a:rPr lang="en-US" sz="1300" dirty="0">
                <a:solidFill>
                  <a:srgbClr val="1B3A4B"/>
                </a:solidFill>
                <a:latin typeface="Consolas"/>
                <a:cs typeface="Consolas"/>
              </a:rPr>
              <a:t>mean(analysis_data$sbp_mmhg, na.rm = TRUE)</a:t>
            </a:r>
          </a:p>
          <a:p>
            <a:pPr marL="0" indent="0" algn="l">
              <a:lnSpc>
                <a:spcPct val="100000"/>
              </a:lnSpc>
              <a:buNone/>
            </a:pPr>
            <a:r>
              <a:rPr lang="en-US" sz="1300" dirty="0">
                <a:solidFill>
                  <a:srgbClr val="1B3A4B"/>
                </a:solidFill>
                <a:latin typeface="Consolas"/>
                <a:cs typeface="Consolas"/>
              </a:rPr>
              <a:t> </a:t>
            </a:r>
          </a:p>
          <a:p>
            <a:pPr marL="0" indent="0" algn="l">
              <a:lnSpc>
                <a:spcPct val="100000"/>
              </a:lnSpc>
              <a:buNone/>
            </a:pPr>
            <a:r>
              <a:rPr lang="en-US" sz="1300" dirty="0">
                <a:solidFill>
                  <a:srgbClr val="1B3A4B"/>
                </a:solidFill>
                <a:latin typeface="Consolas"/>
                <a:cs typeface="Consolas"/>
              </a:rPr>
              <a:t>median(analysis_data$age, na.rm = TRUE)</a:t>
            </a:r>
          </a:p>
          <a:p>
            <a:pPr marL="0" indent="0" algn="l">
              <a:lnSpc>
                <a:spcPct val="100000"/>
              </a:lnSpc>
              <a:buNone/>
            </a:pPr>
            <a:r>
              <a:rPr lang="en-US" sz="1300" dirty="0">
                <a:solidFill>
                  <a:srgbClr val="1B3A4B"/>
                </a:solidFill>
                <a:latin typeface="Consolas"/>
                <a:cs typeface="Consolas"/>
              </a:rPr>
              <a:t>sd(analysis_data$age, na.rm = TRUE)</a:t>
            </a:r>
          </a:p>
          <a:p>
            <a:pPr marL="0" indent="0" algn="l">
              <a:lnSpc>
                <a:spcPct val="100000"/>
              </a:lnSpc>
              <a:buNone/>
            </a:pPr>
            <a:r>
              <a:rPr lang="en-US" sz="1300" dirty="0">
                <a:solidFill>
                  <a:srgbClr val="1B3A4B"/>
                </a:solidFill>
                <a:latin typeface="Consolas"/>
                <a:cs typeface="Consolas"/>
              </a:rPr>
              <a:t>IQR(analysis_data$age, na.rm = TRUE)</a:t>
            </a:r>
          </a:p>
          <a:p>
            <a:pPr marL="0" indent="0" algn="l">
              <a:lnSpc>
                <a:spcPct val="100000"/>
              </a:lnSpc>
              <a:buNone/>
            </a:pPr>
            <a:r>
              <a:rPr lang="en-US" sz="1300" dirty="0">
                <a:solidFill>
                  <a:srgbClr val="1B3A4B"/>
                </a:solidFill>
                <a:latin typeface="Consolas"/>
                <a:cs typeface="Consolas"/>
              </a:rPr>
              <a:t>quantile(analysis_data$age,</a:t>
            </a:r>
          </a:p>
          <a:p>
            <a:pPr marL="0" indent="0" algn="l">
              <a:lnSpc>
                <a:spcPct val="100000"/>
              </a:lnSpc>
              <a:buNone/>
            </a:pPr>
            <a:r>
              <a:rPr lang="en-US" sz="1300" dirty="0">
                <a:solidFill>
                  <a:srgbClr val="1B3A4B"/>
                </a:solidFill>
                <a:latin typeface="Consolas"/>
                <a:cs typeface="Consolas"/>
              </a:rPr>
              <a:t>         probs = c(0, .25, .5, .75, 1), na.rm = TRUE)</a:t>
            </a:r>
          </a:p>
        </p:txBody>
      </p:sp>
      <p:sp>
        <p:nvSpPr>
          <p:cNvPr id="31" name="Output"/>
          <p:cNvSpPr/>
          <p:nvPr/>
        </p:nvSpPr>
        <p:spPr>
          <a:xfrm>
            <a:off x="457200" y="3650000"/>
            <a:ext cx="11277600" cy="1700000"/>
          </a:xfrm>
          <a:prstGeom prst="roundRect">
            <a:avLst>
              <a:gd name="adj" fmla="val 6000"/>
            </a:avLst>
          </a:prstGeom>
          <a:solidFill>
            <a:srgbClr val="F2EFE6"/>
          </a:solidFill>
          <a:ln>
            <a:noFill/>
          </a:ln>
        </p:spPr>
        <p:txBody>
          <a:bodyPr wrap="square" lIns="137160" tIns="91440" rIns="137160" bIns="91440" rtlCol="0" anchor="t"/>
          <a:lstStyle/>
          <a:p>
            <a:pPr marL="0" indent="0" algn="l">
              <a:buNone/>
            </a:pPr>
            <a:r>
              <a:rPr lang="en-US" sz="1150" b="1" dirty="0">
                <a:solidFill>
                  <a:srgbClr val="595959"/>
                </a:solidFill>
                <a:latin typeface="Century Gothic"/>
                <a:cs typeface="Century Gothic"/>
              </a:rPr>
              <a:t>Console output</a:t>
            </a:r>
          </a:p>
          <a:p>
            <a:pPr marL="0" indent="0" algn="l">
              <a:lnSpc>
                <a:spcPct val="100000"/>
              </a:lnSpc>
              <a:buNone/>
            </a:pPr>
            <a:r>
              <a:rPr lang="en-US" sz="1250" dirty="0">
                <a:solidFill>
                  <a:srgbClr val="1A1A1A"/>
                </a:solidFill>
                <a:latin typeface="Consolas"/>
                <a:cs typeface="Consolas"/>
              </a:rPr>
              <a:t>[1] NA</a:t>
            </a:r>
          </a:p>
          <a:p>
            <a:pPr marL="0" indent="0" algn="l">
              <a:lnSpc>
                <a:spcPct val="100000"/>
              </a:lnSpc>
              <a:buNone/>
            </a:pPr>
            <a:r>
              <a:rPr lang="en-US" sz="1250" dirty="0">
                <a:solidFill>
                  <a:srgbClr val="1A1A1A"/>
                </a:solidFill>
                <a:latin typeface="Consolas"/>
                <a:cs typeface="Consolas"/>
              </a:rPr>
              <a:t>[1] 138.6</a:t>
            </a:r>
          </a:p>
          <a:p>
            <a:pPr marL="0" indent="0" algn="l">
              <a:lnSpc>
                <a:spcPct val="100000"/>
              </a:lnSpc>
              <a:buNone/>
            </a:pPr>
            <a:r>
              <a:rPr lang="en-US" sz="1250" dirty="0">
                <a:solidFill>
                  <a:srgbClr val="1A1A1A"/>
                </a:solidFill>
                <a:latin typeface="Consolas"/>
                <a:cs typeface="Consolas"/>
              </a:rPr>
              <a:t>[1] 52</a:t>
            </a:r>
          </a:p>
          <a:p>
            <a:pPr marL="0" indent="0" algn="l">
              <a:lnSpc>
                <a:spcPct val="100000"/>
              </a:lnSpc>
              <a:buNone/>
            </a:pPr>
            <a:r>
              <a:rPr lang="en-US" sz="1250" dirty="0">
                <a:solidFill>
                  <a:srgbClr val="1A1A1A"/>
                </a:solidFill>
                <a:latin typeface="Consolas"/>
                <a:cs typeface="Consolas"/>
              </a:rPr>
              <a:t>[1] 14.8</a:t>
            </a:r>
          </a:p>
          <a:p>
            <a:pPr marL="0" indent="0" algn="l">
              <a:lnSpc>
                <a:spcPct val="100000"/>
              </a:lnSpc>
              <a:buNone/>
            </a:pPr>
            <a:r>
              <a:rPr lang="en-US" sz="1250" dirty="0">
                <a:solidFill>
                  <a:srgbClr val="1A1A1A"/>
                </a:solidFill>
                <a:latin typeface="Consolas"/>
                <a:cs typeface="Consolas"/>
              </a:rPr>
              <a:t>[1] 23</a:t>
            </a:r>
          </a:p>
          <a:p>
            <a:pPr marL="0" indent="0" algn="l">
              <a:lnSpc>
                <a:spcPct val="100000"/>
              </a:lnSpc>
              <a:buNone/>
            </a:pPr>
            <a:r>
              <a:rPr lang="en-US" sz="1250" dirty="0">
                <a:solidFill>
                  <a:srgbClr val="1A1A1A"/>
                </a:solidFill>
                <a:latin typeface="Consolas"/>
                <a:cs typeface="Consolas"/>
              </a:rPr>
              <a:t>  0%  25%  50%  75% 100%</a:t>
            </a:r>
          </a:p>
          <a:p>
            <a:pPr marL="0" indent="0" algn="l">
              <a:lnSpc>
                <a:spcPct val="100000"/>
              </a:lnSpc>
              <a:buNone/>
            </a:pPr>
            <a:r>
              <a:rPr lang="en-US" sz="1250" dirty="0">
                <a:solidFill>
                  <a:srgbClr val="1A1A1A"/>
                </a:solidFill>
                <a:latin typeface="Consolas"/>
                <a:cs typeface="Consolas"/>
              </a:rPr>
              <a:t>  18   42   52   65   89</a:t>
            </a:r>
          </a:p>
        </p:txBody>
      </p:sp>
      <p:sp>
        <p:nvSpPr>
          <p:cNvPr id="32" name="Note"/>
          <p:cNvSpPr/>
          <p:nvPr/>
        </p:nvSpPr>
        <p:spPr>
          <a:xfrm>
            <a:off x="457200" y="5490000"/>
            <a:ext cx="11277600" cy="470000"/>
          </a:xfrm>
          <a:prstGeom prst="roundRect">
            <a:avLst>
              <a:gd name="adj" fmla="val 6000"/>
            </a:avLst>
          </a:prstGeom>
          <a:solidFill>
            <a:srgbClr val="EAF1F7"/>
          </a:solidFill>
          <a:ln>
            <a:noFill/>
          </a:ln>
        </p:spPr>
        <p:txBody>
          <a:bodyPr wrap="square" lIns="137160" tIns="91440" rIns="137160" bIns="91440" rtlCol="0" anchor="t"/>
          <a:lstStyle/>
          <a:p>
            <a:pPr marL="0" indent="0" algn="l">
              <a:buNone/>
            </a:pPr>
            <a:r>
              <a:rPr lang="en-US" sz="1300" dirty="0">
                <a:solidFill>
                  <a:srgbClr val="1F5C7A"/>
                </a:solidFill>
                <a:latin typeface="Century Gothic"/>
                <a:cs typeface="Century Gothic"/>
              </a:rPr>
              <a:t>INTERPRETATION  -  The first line is NA on purpose; na.rm = TRUE produces the real mean.</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Century Gothic"/>
                <a:cs typeface="Century Gothic"/>
              </a:rPr>
              <a:t>Demo: summarise many variables at once</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Intro"/>
          <p:cNvSpPr txBox="1"/>
          <p:nvPr/>
        </p:nvSpPr>
        <p:spPr>
          <a:xfrm>
            <a:off x="457200" y="1080000"/>
            <a:ext cx="11277600" cy="520000"/>
          </a:xfrm>
          <a:prstGeom prst="rect">
            <a:avLst/>
          </a:prstGeom>
          <a:noFill/>
          <a:ln>
            <a:noFill/>
          </a:ln>
        </p:spPr>
        <p:txBody>
          <a:bodyPr wrap="square" lIns="91440" tIns="45720" rIns="91440" bIns="45720" rtlCol="0" anchor="t"/>
          <a:lstStyle/>
          <a:p>
            <a:pPr marL="0" indent="0" algn="l">
              <a:buNone/>
            </a:pPr>
            <a:r>
              <a:rPr lang="en-US" sz="1600" i="1" dirty="0">
                <a:solidFill>
                  <a:srgbClr val="595959"/>
                </a:solidFill>
                <a:latin typeface="Century Gothic"/>
                <a:cs typeface="Century Gothic"/>
              </a:rPr>
              <a:t>summary() for a fast look, then a tidy grouped table with across().</a:t>
            </a:r>
          </a:p>
        </p:txBody>
      </p:sp>
      <p:sp>
        <p:nvSpPr>
          <p:cNvPr id="30" name="Code"/>
          <p:cNvSpPr/>
          <p:nvPr/>
        </p:nvSpPr>
        <p:spPr>
          <a:xfrm>
            <a:off x="457200" y="1640000"/>
            <a:ext cx="11277600" cy="1860000"/>
          </a:xfrm>
          <a:prstGeom prst="roundRect">
            <a:avLst>
              <a:gd name="adj" fmla="val 6000"/>
            </a:avLst>
          </a:prstGeom>
          <a:solidFill>
            <a:srgbClr val="EDF1F2"/>
          </a:solidFill>
          <a:ln>
            <a:noFill/>
          </a:ln>
        </p:spPr>
        <p:txBody>
          <a:bodyPr wrap="square" lIns="137160" tIns="91440" rIns="137160" bIns="91440" rtlCol="0" anchor="t"/>
          <a:lstStyle/>
          <a:p>
            <a:pPr marL="0" indent="0" algn="l">
              <a:lnSpc>
                <a:spcPct val="100000"/>
              </a:lnSpc>
              <a:buNone/>
            </a:pPr>
            <a:r>
              <a:rPr lang="en-US" sz="1300" dirty="0">
                <a:solidFill>
                  <a:srgbClr val="1B3A4B"/>
                </a:solidFill>
                <a:latin typeface="Consolas"/>
                <a:cs typeface="Consolas"/>
              </a:rPr>
              <a:t>analysis_data |&gt;</a:t>
            </a:r>
          </a:p>
          <a:p>
            <a:pPr marL="0" indent="0" algn="l">
              <a:lnSpc>
                <a:spcPct val="100000"/>
              </a:lnSpc>
              <a:buNone/>
            </a:pPr>
            <a:r>
              <a:rPr lang="en-US" sz="1300" dirty="0">
                <a:solidFill>
                  <a:srgbClr val="1B3A4B"/>
                </a:solidFill>
                <a:latin typeface="Consolas"/>
                <a:cs typeface="Consolas"/>
              </a:rPr>
              <a:t>  group_by(treatment_uptake) |&gt;</a:t>
            </a:r>
          </a:p>
          <a:p>
            <a:pPr marL="0" indent="0" algn="l">
              <a:lnSpc>
                <a:spcPct val="100000"/>
              </a:lnSpc>
              <a:buNone/>
            </a:pPr>
            <a:r>
              <a:rPr lang="en-US" sz="1300" dirty="0">
                <a:solidFill>
                  <a:srgbClr val="1B3A4B"/>
                </a:solidFill>
                <a:latin typeface="Consolas"/>
                <a:cs typeface="Consolas"/>
              </a:rPr>
              <a:t>  summarise(n = n(),</a:t>
            </a:r>
          </a:p>
          <a:p>
            <a:pPr marL="0" indent="0" algn="l">
              <a:lnSpc>
                <a:spcPct val="100000"/>
              </a:lnSpc>
              <a:buNone/>
            </a:pPr>
            <a:r>
              <a:rPr lang="en-US" sz="1300" dirty="0">
                <a:solidFill>
                  <a:srgbClr val="1B3A4B"/>
                </a:solidFill>
                <a:latin typeface="Consolas"/>
                <a:cs typeface="Consolas"/>
              </a:rPr>
              <a:t>    across(c(age, bmi, sbp_mmhg, dbp_mmhg),</a:t>
            </a:r>
          </a:p>
          <a:p>
            <a:pPr marL="0" indent="0" algn="l">
              <a:lnSpc>
                <a:spcPct val="100000"/>
              </a:lnSpc>
              <a:buNone/>
            </a:pPr>
            <a:r>
              <a:rPr lang="en-US" sz="1300" dirty="0">
                <a:solidFill>
                  <a:srgbClr val="1B3A4B"/>
                </a:solidFill>
                <a:latin typeface="Consolas"/>
                <a:cs typeface="Consolas"/>
              </a:rPr>
              <a:t>      list(mean = ~mean(.x, na.rm = TRUE),</a:t>
            </a:r>
          </a:p>
          <a:p>
            <a:pPr marL="0" indent="0" algn="l">
              <a:lnSpc>
                <a:spcPct val="100000"/>
              </a:lnSpc>
              <a:buNone/>
            </a:pPr>
            <a:r>
              <a:rPr lang="en-US" sz="1300" dirty="0">
                <a:solidFill>
                  <a:srgbClr val="1B3A4B"/>
                </a:solidFill>
                <a:latin typeface="Consolas"/>
                <a:cs typeface="Consolas"/>
              </a:rPr>
              <a:t>           sd   = ~sd(.x,   na.rm = TRUE)),</a:t>
            </a:r>
          </a:p>
          <a:p>
            <a:pPr marL="0" indent="0" algn="l">
              <a:lnSpc>
                <a:spcPct val="100000"/>
              </a:lnSpc>
              <a:buNone/>
            </a:pPr>
            <a:r>
              <a:rPr lang="en-US" sz="1300" dirty="0">
                <a:solidFill>
                  <a:srgbClr val="1B3A4B"/>
                </a:solidFill>
                <a:latin typeface="Consolas"/>
                <a:cs typeface="Consolas"/>
              </a:rPr>
              <a:t>      .names = "{.col}_{.fn}"),</a:t>
            </a:r>
          </a:p>
          <a:p>
            <a:pPr marL="0" indent="0" algn="l">
              <a:lnSpc>
                <a:spcPct val="100000"/>
              </a:lnSpc>
              <a:buNone/>
            </a:pPr>
            <a:r>
              <a:rPr lang="en-US" sz="1300" dirty="0">
                <a:solidFill>
                  <a:srgbClr val="1B3A4B"/>
                </a:solidFill>
                <a:latin typeface="Consolas"/>
                <a:cs typeface="Consolas"/>
              </a:rPr>
              <a:t>    .groups = "drop")</a:t>
            </a:r>
          </a:p>
        </p:txBody>
      </p:sp>
      <p:sp>
        <p:nvSpPr>
          <p:cNvPr id="31" name="Output"/>
          <p:cNvSpPr/>
          <p:nvPr/>
        </p:nvSpPr>
        <p:spPr>
          <a:xfrm>
            <a:off x="457200" y="3650000"/>
            <a:ext cx="11277600" cy="900000"/>
          </a:xfrm>
          <a:prstGeom prst="roundRect">
            <a:avLst>
              <a:gd name="adj" fmla="val 6000"/>
            </a:avLst>
          </a:prstGeom>
          <a:solidFill>
            <a:srgbClr val="F2EFE6"/>
          </a:solidFill>
          <a:ln>
            <a:noFill/>
          </a:ln>
        </p:spPr>
        <p:txBody>
          <a:bodyPr wrap="square" lIns="137160" tIns="91440" rIns="137160" bIns="91440" rtlCol="0" anchor="t"/>
          <a:lstStyle/>
          <a:p>
            <a:pPr marL="0" indent="0" algn="l">
              <a:buNone/>
            </a:pPr>
            <a:r>
              <a:rPr lang="en-US" sz="1150" b="1" dirty="0">
                <a:solidFill>
                  <a:srgbClr val="595959"/>
                </a:solidFill>
                <a:latin typeface="Century Gothic"/>
                <a:cs typeface="Century Gothic"/>
              </a:rPr>
              <a:t>Console output</a:t>
            </a:r>
          </a:p>
          <a:p>
            <a:pPr marL="0" indent="0" algn="l">
              <a:lnSpc>
                <a:spcPct val="100000"/>
              </a:lnSpc>
              <a:buNone/>
            </a:pPr>
            <a:r>
              <a:rPr lang="en-US" sz="1250" dirty="0">
                <a:solidFill>
                  <a:srgbClr val="1A1A1A"/>
                </a:solidFill>
                <a:latin typeface="Consolas"/>
                <a:cs typeface="Consolas"/>
              </a:rPr>
              <a:t>treatment_uptake     n age_mean age_sd sbp_mmhg_mean</a:t>
            </a:r>
          </a:p>
          <a:p>
            <a:pPr marL="0" indent="0" algn="l">
              <a:lnSpc>
                <a:spcPct val="100000"/>
              </a:lnSpc>
              <a:buNone/>
            </a:pPr>
            <a:r>
              <a:rPr lang="en-US" sz="1250" dirty="0">
                <a:solidFill>
                  <a:srgbClr val="1A1A1A"/>
                </a:solidFill>
                <a:latin typeface="Consolas"/>
                <a:cs typeface="Consolas"/>
              </a:rPr>
              <a:t> No                 ...     50.1   14.6         136.2</a:t>
            </a:r>
          </a:p>
          <a:p>
            <a:pPr marL="0" indent="0" algn="l">
              <a:lnSpc>
                <a:spcPct val="100000"/>
              </a:lnSpc>
              <a:buNone/>
            </a:pPr>
            <a:r>
              <a:rPr lang="en-US" sz="1250" dirty="0">
                <a:solidFill>
                  <a:srgbClr val="1A1A1A"/>
                </a:solidFill>
                <a:latin typeface="Consolas"/>
                <a:cs typeface="Consolas"/>
              </a:rPr>
              <a:t> Yes                ...     54.7   14.1         141.8</a:t>
            </a:r>
          </a:p>
        </p:txBody>
      </p:sp>
      <p:sp>
        <p:nvSpPr>
          <p:cNvPr id="32" name="Note"/>
          <p:cNvSpPr/>
          <p:nvPr/>
        </p:nvSpPr>
        <p:spPr>
          <a:xfrm>
            <a:off x="457200" y="4690000"/>
            <a:ext cx="11277600" cy="470000"/>
          </a:xfrm>
          <a:prstGeom prst="roundRect">
            <a:avLst>
              <a:gd name="adj" fmla="val 6000"/>
            </a:avLst>
          </a:prstGeom>
          <a:solidFill>
            <a:srgbClr val="EAF1F7"/>
          </a:solidFill>
          <a:ln>
            <a:noFill/>
          </a:ln>
        </p:spPr>
        <p:txBody>
          <a:bodyPr wrap="square" lIns="137160" tIns="91440" rIns="137160" bIns="91440" rtlCol="0" anchor="t"/>
          <a:lstStyle/>
          <a:p>
            <a:pPr marL="0" indent="0" algn="l">
              <a:buNone/>
            </a:pPr>
            <a:r>
              <a:rPr lang="en-US" sz="1300" dirty="0">
                <a:solidFill>
                  <a:srgbClr val="1F5C7A"/>
                </a:solidFill>
                <a:latin typeface="Century Gothic"/>
                <a:cs typeface="Century Gothic"/>
              </a:rPr>
              <a:t>INTERPRETATION  -  across() applies the same functions to many columns: no copy-paste, no typos.</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Century Gothic"/>
                <a:cs typeface="Century Gothic"/>
              </a:rPr>
              <a:t>Frequency tables for categorical variables</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Body"/>
          <p:cNvSpPr txBox="1"/>
          <p:nvPr/>
        </p:nvSpPr>
        <p:spPr>
          <a:xfrm>
            <a:off x="457200" y="1080000"/>
            <a:ext cx="11277600" cy="3150000"/>
          </a:xfrm>
          <a:prstGeom prst="rect">
            <a:avLst/>
          </a:prstGeom>
          <a:noFill/>
          <a:ln>
            <a:noFill/>
          </a:ln>
        </p:spPr>
        <p:txBody>
          <a:bodyPr wrap="square" lIns="91440" tIns="45720" rIns="91440" bIns="45720" rtlCol="0" anchor="t"/>
          <a:lstStyle/>
          <a:p>
            <a:pPr marL="0" indent="0" algn="l">
              <a:spcBef>
                <a:spcPts val="360"/>
              </a:spcBef>
              <a:buNone/>
            </a:pPr>
            <a:r>
              <a:rPr lang="en-US" sz="2050" b="1" dirty="0">
                <a:solidFill>
                  <a:srgbClr val="0D7377"/>
                </a:solidFill>
                <a:latin typeface="Century Gothic"/>
                <a:cs typeface="Century Gothic"/>
              </a:rPr>
              <a:t>Three tools, know all three</a:t>
            </a:r>
          </a:p>
          <a:p>
            <a:pPr marL="0" indent="0" algn="l">
              <a:lnSpc>
                <a:spcPct val="108000"/>
              </a:lnSpc>
              <a:spcBef>
                <a:spcPts val="440"/>
              </a:spcBef>
              <a:buNone/>
            </a:pPr>
            <a:r>
              <a:rPr lang="en-US" sz="1800" dirty="0">
                <a:solidFill>
                  <a:srgbClr val="000000"/>
                </a:solidFill>
                <a:latin typeface="Century Gothic"/>
                <a:cs typeface="Century Gothic"/>
              </a:rPr>
              <a:t>table() gives raw counts</a:t>
            </a:r>
          </a:p>
          <a:p>
            <a:pPr marL="0" indent="0" algn="l">
              <a:lnSpc>
                <a:spcPct val="108000"/>
              </a:lnSpc>
              <a:spcBef>
                <a:spcPts val="440"/>
              </a:spcBef>
              <a:buNone/>
            </a:pPr>
            <a:r>
              <a:rPr lang="en-US" sz="1800" dirty="0">
                <a:solidFill>
                  <a:srgbClr val="000000"/>
                </a:solidFill>
                <a:latin typeface="Century Gothic"/>
                <a:cs typeface="Century Gothic"/>
              </a:rPr>
              <a:t>prop.table() converts counts to proportions</a:t>
            </a:r>
          </a:p>
          <a:p>
            <a:pPr marL="0" indent="0" algn="l">
              <a:lnSpc>
                <a:spcPct val="108000"/>
              </a:lnSpc>
              <a:spcBef>
                <a:spcPts val="440"/>
              </a:spcBef>
              <a:buNone/>
            </a:pPr>
            <a:r>
              <a:rPr lang="en-US" sz="1800" dirty="0">
                <a:solidFill>
                  <a:srgbClr val="000000"/>
                </a:solidFill>
                <a:latin typeface="Century Gothic"/>
                <a:cs typeface="Century Gothic"/>
              </a:rPr>
              <a:t>count() returns a tidy data frame you can pipe onward</a:t>
            </a:r>
          </a:p>
          <a:p>
            <a:pPr>
              <a:buNone/>
            </a:pPr>
            <a:endParaRPr sz="1050"/>
          </a:p>
        </p:txBody>
      </p:sp>
      <p:sp>
        <p:nvSpPr>
          <p:cNvPr id="40" name="Callout"/>
          <p:cNvSpPr/>
          <p:nvPr/>
        </p:nvSpPr>
        <p:spPr>
          <a:xfrm>
            <a:off x="457200" y="4835000"/>
            <a:ext cx="11277600" cy="1045000"/>
          </a:xfrm>
          <a:prstGeom prst="roundRect">
            <a:avLst>
              <a:gd name="adj" fmla="val 6000"/>
            </a:avLst>
          </a:prstGeom>
          <a:solidFill>
            <a:srgbClr val="FBE9E7"/>
          </a:solidFill>
          <a:ln>
            <a:noFill/>
          </a:ln>
        </p:spPr>
        <p:txBody>
          <a:bodyPr wrap="square" lIns="137160" tIns="91440" rIns="137160" bIns="91440" rtlCol="0" anchor="t"/>
          <a:lstStyle/>
          <a:p>
            <a:pPr marL="0" indent="0" algn="l">
              <a:buNone/>
            </a:pPr>
            <a:r>
              <a:rPr lang="en-US" sz="1300" b="1" dirty="0">
                <a:solidFill>
                  <a:srgbClr val="B23B2E"/>
                </a:solidFill>
                <a:latin typeface="Century Gothic"/>
                <a:cs typeface="Century Gothic"/>
              </a:rPr>
              <a:t>WARNING  -  table() hides missing values</a:t>
            </a:r>
          </a:p>
          <a:p>
            <a:pPr marL="0" indent="0" algn="l">
              <a:spcBef>
                <a:spcPts val="100"/>
              </a:spcBef>
              <a:buNone/>
            </a:pPr>
            <a:r>
              <a:rPr lang="en-US" sz="1300" dirty="0">
                <a:solidFill>
                  <a:srgbClr val="000000"/>
                </a:solidFill>
                <a:latin typeface="Century Gothic"/>
                <a:cs typeface="Century Gothic"/>
              </a:rPr>
              <a:t>By default table() silently drops NAs, so percentages can mislead.</a:t>
            </a:r>
          </a:p>
          <a:p>
            <a:pPr marL="0" indent="0" algn="l">
              <a:spcBef>
                <a:spcPts val="100"/>
              </a:spcBef>
              <a:buNone/>
            </a:pPr>
            <a:r>
              <a:rPr lang="en-US" sz="1300" dirty="0">
                <a:solidFill>
                  <a:srgbClr val="000000"/>
                </a:solidFill>
                <a:latin typeface="Century Gothic"/>
                <a:cs typeface="Century Gothic"/>
              </a:rPr>
              <a:t>Use table(x, useNA = "ifany") to make missing values visible.</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Century Gothic"/>
                <a:cs typeface="Century Gothic"/>
              </a:rPr>
              <a:t>Demo: frequency tables</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Intro"/>
          <p:cNvSpPr txBox="1"/>
          <p:nvPr/>
        </p:nvSpPr>
        <p:spPr>
          <a:xfrm>
            <a:off x="457200" y="1080000"/>
            <a:ext cx="11277600" cy="520000"/>
          </a:xfrm>
          <a:prstGeom prst="rect">
            <a:avLst/>
          </a:prstGeom>
          <a:noFill/>
          <a:ln>
            <a:noFill/>
          </a:ln>
        </p:spPr>
        <p:txBody>
          <a:bodyPr wrap="square" lIns="91440" tIns="45720" rIns="91440" bIns="45720" rtlCol="0" anchor="t"/>
          <a:lstStyle/>
          <a:p>
            <a:pPr marL="0" indent="0" algn="l">
              <a:buNone/>
            </a:pPr>
            <a:r>
              <a:rPr lang="en-US" sz="1600" i="1" dirty="0">
                <a:solidFill>
                  <a:srgbClr val="595959"/>
                </a:solidFill>
                <a:latin typeface="Century Gothic"/>
                <a:cs typeface="Century Gothic"/>
              </a:rPr>
              <a:t>Counts, percentages, and the tidy equivalent.</a:t>
            </a:r>
          </a:p>
        </p:txBody>
      </p:sp>
      <p:sp>
        <p:nvSpPr>
          <p:cNvPr id="30" name="Code"/>
          <p:cNvSpPr/>
          <p:nvPr/>
        </p:nvSpPr>
        <p:spPr>
          <a:xfrm>
            <a:off x="457200" y="1640000"/>
            <a:ext cx="11277600" cy="1860000"/>
          </a:xfrm>
          <a:prstGeom prst="roundRect">
            <a:avLst>
              <a:gd name="adj" fmla="val 6000"/>
            </a:avLst>
          </a:prstGeom>
          <a:solidFill>
            <a:srgbClr val="EDF1F2"/>
          </a:solidFill>
          <a:ln>
            <a:noFill/>
          </a:ln>
        </p:spPr>
        <p:txBody>
          <a:bodyPr wrap="square" lIns="137160" tIns="91440" rIns="137160" bIns="91440" rtlCol="0" anchor="t"/>
          <a:lstStyle/>
          <a:p>
            <a:pPr marL="0" indent="0" algn="l">
              <a:lnSpc>
                <a:spcPct val="100000"/>
              </a:lnSpc>
              <a:buNone/>
            </a:pPr>
            <a:r>
              <a:rPr lang="en-US" sz="1300" dirty="0">
                <a:solidFill>
                  <a:srgbClr val="1B3A4B"/>
                </a:solidFill>
                <a:latin typeface="Consolas"/>
                <a:cs typeface="Consolas"/>
              </a:rPr>
              <a:t>table(analysis_data$sex)</a:t>
            </a:r>
          </a:p>
          <a:p>
            <a:pPr marL="0" indent="0" algn="l">
              <a:lnSpc>
                <a:spcPct val="100000"/>
              </a:lnSpc>
              <a:buNone/>
            </a:pPr>
            <a:r>
              <a:rPr lang="en-US" sz="1300" dirty="0">
                <a:solidFill>
                  <a:srgbClr val="1B3A4B"/>
                </a:solidFill>
                <a:latin typeface="Consolas"/>
                <a:cs typeface="Consolas"/>
              </a:rPr>
              <a:t>round(100 * prop.table(table(analysis_data$sex)), 1)</a:t>
            </a:r>
          </a:p>
          <a:p>
            <a:pPr marL="0" indent="0" algn="l">
              <a:lnSpc>
                <a:spcPct val="100000"/>
              </a:lnSpc>
              <a:buNone/>
            </a:pPr>
            <a:r>
              <a:rPr lang="en-US" sz="1300" dirty="0">
                <a:solidFill>
                  <a:srgbClr val="1B3A4B"/>
                </a:solidFill>
                <a:latin typeface="Consolas"/>
                <a:cs typeface="Consolas"/>
              </a:rPr>
              <a:t> </a:t>
            </a:r>
          </a:p>
          <a:p>
            <a:pPr marL="0" indent="0" algn="l">
              <a:lnSpc>
                <a:spcPct val="100000"/>
              </a:lnSpc>
              <a:buNone/>
            </a:pPr>
            <a:r>
              <a:rPr lang="en-US" sz="1300" dirty="0">
                <a:solidFill>
                  <a:srgbClr val="1B3A4B"/>
                </a:solidFill>
                <a:latin typeface="Consolas"/>
                <a:cs typeface="Consolas"/>
              </a:rPr>
              <a:t>table(analysis_data$education, useNA = "ifany")</a:t>
            </a:r>
          </a:p>
          <a:p>
            <a:pPr marL="0" indent="0" algn="l">
              <a:lnSpc>
                <a:spcPct val="100000"/>
              </a:lnSpc>
              <a:buNone/>
            </a:pPr>
            <a:r>
              <a:rPr lang="en-US" sz="1300" dirty="0">
                <a:solidFill>
                  <a:srgbClr val="1B3A4B"/>
                </a:solidFill>
                <a:latin typeface="Consolas"/>
                <a:cs typeface="Consolas"/>
              </a:rPr>
              <a:t> </a:t>
            </a:r>
          </a:p>
          <a:p>
            <a:pPr marL="0" indent="0" algn="l">
              <a:lnSpc>
                <a:spcPct val="100000"/>
              </a:lnSpc>
              <a:buNone/>
            </a:pPr>
            <a:r>
              <a:rPr lang="en-US" sz="1300" dirty="0">
                <a:solidFill>
                  <a:srgbClr val="1B3A4B"/>
                </a:solidFill>
                <a:latin typeface="Consolas"/>
                <a:cs typeface="Consolas"/>
              </a:rPr>
              <a:t>analysis_data |&gt;</a:t>
            </a:r>
          </a:p>
          <a:p>
            <a:pPr marL="0" indent="0" algn="l">
              <a:lnSpc>
                <a:spcPct val="100000"/>
              </a:lnSpc>
              <a:buNone/>
            </a:pPr>
            <a:r>
              <a:rPr lang="en-US" sz="1300" dirty="0">
                <a:solidFill>
                  <a:srgbClr val="1B3A4B"/>
                </a:solidFill>
                <a:latin typeface="Consolas"/>
                <a:cs typeface="Consolas"/>
              </a:rPr>
              <a:t>  count(bp_category) |&gt;</a:t>
            </a:r>
          </a:p>
          <a:p>
            <a:pPr marL="0" indent="0" algn="l">
              <a:lnSpc>
                <a:spcPct val="100000"/>
              </a:lnSpc>
              <a:buNone/>
            </a:pPr>
            <a:r>
              <a:rPr lang="en-US" sz="1300" dirty="0">
                <a:solidFill>
                  <a:srgbClr val="1B3A4B"/>
                </a:solidFill>
                <a:latin typeface="Consolas"/>
                <a:cs typeface="Consolas"/>
              </a:rPr>
              <a:t>  mutate(percent = round(100 * n / sum(n), 1))</a:t>
            </a:r>
          </a:p>
        </p:txBody>
      </p:sp>
      <p:sp>
        <p:nvSpPr>
          <p:cNvPr id="31" name="Output"/>
          <p:cNvSpPr/>
          <p:nvPr/>
        </p:nvSpPr>
        <p:spPr>
          <a:xfrm>
            <a:off x="457200" y="3650000"/>
            <a:ext cx="11277600" cy="1700000"/>
          </a:xfrm>
          <a:prstGeom prst="roundRect">
            <a:avLst>
              <a:gd name="adj" fmla="val 6000"/>
            </a:avLst>
          </a:prstGeom>
          <a:solidFill>
            <a:srgbClr val="F2EFE6"/>
          </a:solidFill>
          <a:ln>
            <a:noFill/>
          </a:ln>
        </p:spPr>
        <p:txBody>
          <a:bodyPr wrap="square" lIns="137160" tIns="91440" rIns="137160" bIns="91440" rtlCol="0" anchor="t"/>
          <a:lstStyle/>
          <a:p>
            <a:pPr marL="0" indent="0" algn="l">
              <a:buNone/>
            </a:pPr>
            <a:r>
              <a:rPr lang="en-US" sz="1150" b="1" dirty="0">
                <a:solidFill>
                  <a:srgbClr val="595959"/>
                </a:solidFill>
                <a:latin typeface="Century Gothic"/>
                <a:cs typeface="Century Gothic"/>
              </a:rPr>
              <a:t>Console output</a:t>
            </a:r>
          </a:p>
          <a:p>
            <a:pPr marL="0" indent="0" algn="l">
              <a:lnSpc>
                <a:spcPct val="100000"/>
              </a:lnSpc>
              <a:buNone/>
            </a:pPr>
            <a:r>
              <a:rPr lang="en-US" sz="1250" dirty="0">
                <a:solidFill>
                  <a:srgbClr val="1A1A1A"/>
                </a:solidFill>
                <a:latin typeface="Consolas"/>
                <a:cs typeface="Consolas"/>
              </a:rPr>
              <a:t>Female   Male</a:t>
            </a:r>
          </a:p>
          <a:p>
            <a:pPr marL="0" indent="0" algn="l">
              <a:lnSpc>
                <a:spcPct val="100000"/>
              </a:lnSpc>
              <a:buNone/>
            </a:pPr>
            <a:r>
              <a:rPr lang="en-US" sz="1250" dirty="0">
                <a:solidFill>
                  <a:srgbClr val="1A1A1A"/>
                </a:solidFill>
                <a:latin typeface="Consolas"/>
                <a:cs typeface="Consolas"/>
              </a:rPr>
              <a:t>   810    690</a:t>
            </a:r>
          </a:p>
          <a:p>
            <a:pPr marL="0" indent="0" algn="l">
              <a:lnSpc>
                <a:spcPct val="100000"/>
              </a:lnSpc>
              <a:buNone/>
            </a:pPr>
            <a:r>
              <a:rPr lang="en-US" sz="1250" dirty="0">
                <a:solidFill>
                  <a:srgbClr val="1A1A1A"/>
                </a:solidFill>
                <a:latin typeface="Consolas"/>
                <a:cs typeface="Consolas"/>
              </a:rPr>
              <a:t> </a:t>
            </a:r>
          </a:p>
          <a:p>
            <a:pPr marL="0" indent="0" algn="l">
              <a:lnSpc>
                <a:spcPct val="100000"/>
              </a:lnSpc>
              <a:buNone/>
            </a:pPr>
            <a:r>
              <a:rPr lang="en-US" sz="1250" dirty="0">
                <a:solidFill>
                  <a:srgbClr val="1A1A1A"/>
                </a:solidFill>
                <a:latin typeface="Consolas"/>
                <a:cs typeface="Consolas"/>
              </a:rPr>
              <a:t>Female   Male</a:t>
            </a:r>
          </a:p>
          <a:p>
            <a:pPr marL="0" indent="0" algn="l">
              <a:lnSpc>
                <a:spcPct val="100000"/>
              </a:lnSpc>
              <a:buNone/>
            </a:pPr>
            <a:r>
              <a:rPr lang="en-US" sz="1250" dirty="0">
                <a:solidFill>
                  <a:srgbClr val="1A1A1A"/>
                </a:solidFill>
                <a:latin typeface="Consolas"/>
                <a:cs typeface="Consolas"/>
              </a:rPr>
              <a:t>  54.0   46.0</a:t>
            </a:r>
          </a:p>
          <a:p>
            <a:pPr marL="0" indent="0" algn="l">
              <a:lnSpc>
                <a:spcPct val="100000"/>
              </a:lnSpc>
              <a:buNone/>
            </a:pPr>
            <a:r>
              <a:rPr lang="en-US" sz="1250" dirty="0">
                <a:solidFill>
                  <a:srgbClr val="1A1A1A"/>
                </a:solidFill>
                <a:latin typeface="Consolas"/>
                <a:cs typeface="Consolas"/>
              </a:rPr>
              <a:t> </a:t>
            </a:r>
          </a:p>
          <a:p>
            <a:pPr marL="0" indent="0" algn="l">
              <a:lnSpc>
                <a:spcPct val="100000"/>
              </a:lnSpc>
              <a:buNone/>
            </a:pPr>
            <a:r>
              <a:rPr lang="en-US" sz="1250" dirty="0">
                <a:solidFill>
                  <a:srgbClr val="1A1A1A"/>
                </a:solidFill>
                <a:latin typeface="Consolas"/>
                <a:cs typeface="Consolas"/>
              </a:rPr>
              <a:t># bp_category percentages printed as a tidy tibble</a:t>
            </a:r>
          </a:p>
        </p:txBody>
      </p:sp>
      <p:sp>
        <p:nvSpPr>
          <p:cNvPr id="32" name="Note"/>
          <p:cNvSpPr/>
          <p:nvPr/>
        </p:nvSpPr>
        <p:spPr>
          <a:xfrm>
            <a:off x="457200" y="5490000"/>
            <a:ext cx="11277600" cy="470000"/>
          </a:xfrm>
          <a:prstGeom prst="roundRect">
            <a:avLst>
              <a:gd name="adj" fmla="val 6000"/>
            </a:avLst>
          </a:prstGeom>
          <a:solidFill>
            <a:srgbClr val="EAF1F7"/>
          </a:solidFill>
          <a:ln>
            <a:noFill/>
          </a:ln>
        </p:spPr>
        <p:txBody>
          <a:bodyPr wrap="square" lIns="137160" tIns="91440" rIns="137160" bIns="91440" rtlCol="0" anchor="t"/>
          <a:lstStyle/>
          <a:p>
            <a:pPr marL="0" indent="0" algn="l">
              <a:buNone/>
            </a:pPr>
            <a:r>
              <a:rPr lang="en-US" sz="1300" dirty="0">
                <a:solidFill>
                  <a:srgbClr val="1F5C7A"/>
                </a:solidFill>
                <a:latin typeface="Century Gothic"/>
                <a:cs typeface="Century Gothic"/>
              </a:rPr>
              <a:t>INTERPRETATION  -  count() plus mutate() gives a tidy table ready for a report or a plot.</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Century Gothic"/>
                <a:cs typeface="Century Gothic"/>
              </a:rPr>
              <a:t>Cross-tabulations: outcome versus predictor</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Body"/>
          <p:cNvSpPr txBox="1"/>
          <p:nvPr/>
        </p:nvSpPr>
        <p:spPr>
          <a:xfrm>
            <a:off x="457200" y="1080000"/>
            <a:ext cx="11277600" cy="3150000"/>
          </a:xfrm>
          <a:prstGeom prst="rect">
            <a:avLst/>
          </a:prstGeom>
          <a:noFill/>
          <a:ln>
            <a:noFill/>
          </a:ln>
        </p:spPr>
        <p:txBody>
          <a:bodyPr wrap="square" lIns="91440" tIns="45720" rIns="91440" bIns="45720" rtlCol="0" anchor="t"/>
          <a:lstStyle/>
          <a:p>
            <a:pPr marL="0" indent="0" algn="l">
              <a:spcBef>
                <a:spcPts val="360"/>
              </a:spcBef>
              <a:buNone/>
            </a:pPr>
            <a:r>
              <a:rPr lang="en-US" sz="2050" b="1" dirty="0">
                <a:solidFill>
                  <a:srgbClr val="0D7377"/>
                </a:solidFill>
                <a:latin typeface="Century Gothic"/>
                <a:cs typeface="Century Gothic"/>
              </a:rPr>
              <a:t>A two-way table</a:t>
            </a:r>
          </a:p>
          <a:p>
            <a:pPr marL="0" indent="0" algn="l">
              <a:lnSpc>
                <a:spcPct val="108000"/>
              </a:lnSpc>
              <a:spcBef>
                <a:spcPts val="440"/>
              </a:spcBef>
              <a:buNone/>
            </a:pPr>
            <a:r>
              <a:rPr lang="en-US" sz="1800" dirty="0">
                <a:solidFill>
                  <a:srgbClr val="000000"/>
                </a:solidFill>
                <a:latin typeface="Century Gothic"/>
                <a:cs typeface="Century Gothic"/>
              </a:rPr>
              <a:t>table(treatment_uptake, diabetes) counts every combination</a:t>
            </a:r>
          </a:p>
          <a:p>
            <a:pPr marL="0" indent="0" algn="l">
              <a:lnSpc>
                <a:spcPct val="108000"/>
              </a:lnSpc>
              <a:spcBef>
                <a:spcPts val="440"/>
              </a:spcBef>
              <a:buNone/>
            </a:pPr>
            <a:r>
              <a:rPr lang="en-US" sz="1800" dirty="0">
                <a:solidFill>
                  <a:srgbClr val="000000"/>
                </a:solidFill>
                <a:latin typeface="Century Gothic"/>
                <a:cs typeface="Century Gothic"/>
              </a:rPr>
              <a:t>Rows are treatment uptake, columns are diabetes status</a:t>
            </a:r>
          </a:p>
          <a:p>
            <a:pPr>
              <a:buNone/>
            </a:pPr>
            <a:endParaRPr sz="1050"/>
          </a:p>
          <a:p>
            <a:pPr marL="0" indent="0" algn="l">
              <a:spcBef>
                <a:spcPts val="360"/>
              </a:spcBef>
              <a:buNone/>
            </a:pPr>
            <a:r>
              <a:rPr lang="en-US" sz="2050" b="1" dirty="0">
                <a:solidFill>
                  <a:srgbClr val="0D7377"/>
                </a:solidFill>
                <a:latin typeface="Century Gothic"/>
                <a:cs typeface="Century Gothic"/>
              </a:rPr>
              <a:t>The margin argument chooses the percentage</a:t>
            </a:r>
          </a:p>
          <a:p>
            <a:pPr marL="0" indent="0" algn="l">
              <a:lnSpc>
                <a:spcPct val="108000"/>
              </a:lnSpc>
              <a:spcBef>
                <a:spcPts val="440"/>
              </a:spcBef>
              <a:buNone/>
            </a:pPr>
            <a:r>
              <a:rPr lang="en-US" sz="1800" dirty="0">
                <a:solidFill>
                  <a:srgbClr val="000000"/>
                </a:solidFill>
                <a:latin typeface="Century Gothic"/>
                <a:cs typeface="Century Gothic"/>
              </a:rPr>
              <a:t>margin = 1 gives ROW percentages (each row sums to 100)</a:t>
            </a:r>
          </a:p>
          <a:p>
            <a:pPr marL="0" indent="0" algn="l">
              <a:lnSpc>
                <a:spcPct val="108000"/>
              </a:lnSpc>
              <a:spcBef>
                <a:spcPts val="440"/>
              </a:spcBef>
              <a:buNone/>
            </a:pPr>
            <a:r>
              <a:rPr lang="en-US" sz="1800" dirty="0">
                <a:solidFill>
                  <a:srgbClr val="000000"/>
                </a:solidFill>
                <a:latin typeface="Century Gothic"/>
                <a:cs typeface="Century Gothic"/>
              </a:rPr>
              <a:t>margin = 2 gives COLUMN percentages (each column sums to 100)</a:t>
            </a:r>
          </a:p>
          <a:p>
            <a:pPr marL="0" indent="0" algn="l">
              <a:lnSpc>
                <a:spcPct val="108000"/>
              </a:lnSpc>
              <a:spcBef>
                <a:spcPts val="440"/>
              </a:spcBef>
              <a:buNone/>
            </a:pPr>
            <a:r>
              <a:rPr lang="en-US" sz="1800" dirty="0">
                <a:solidFill>
                  <a:srgbClr val="000000"/>
                </a:solidFill>
                <a:latin typeface="Century Gothic"/>
                <a:cs typeface="Century Gothic"/>
              </a:rPr>
              <a:t>no margin gives percentage of the grand total</a:t>
            </a:r>
          </a:p>
          <a:p>
            <a:pPr>
              <a:buNone/>
            </a:pPr>
            <a:endParaRPr sz="1050"/>
          </a:p>
        </p:txBody>
      </p:sp>
      <p:sp>
        <p:nvSpPr>
          <p:cNvPr id="40" name="Callout"/>
          <p:cNvSpPr/>
          <p:nvPr/>
        </p:nvSpPr>
        <p:spPr>
          <a:xfrm>
            <a:off x="457200" y="4835000"/>
            <a:ext cx="11277600" cy="1045000"/>
          </a:xfrm>
          <a:prstGeom prst="roundRect">
            <a:avLst>
              <a:gd name="adj" fmla="val 6000"/>
            </a:avLst>
          </a:prstGeom>
          <a:solidFill>
            <a:srgbClr val="EAF1F7"/>
          </a:solidFill>
          <a:ln>
            <a:noFill/>
          </a:ln>
        </p:spPr>
        <p:txBody>
          <a:bodyPr wrap="square" lIns="137160" tIns="91440" rIns="137160" bIns="91440" rtlCol="0" anchor="t"/>
          <a:lstStyle/>
          <a:p>
            <a:pPr marL="0" indent="0" algn="l">
              <a:buNone/>
            </a:pPr>
            <a:r>
              <a:rPr lang="en-US" sz="1300" b="1" dirty="0">
                <a:solidFill>
                  <a:srgbClr val="1F5C7A"/>
                </a:solidFill>
                <a:latin typeface="Century Gothic"/>
                <a:cs typeface="Century Gothic"/>
              </a:rPr>
              <a:t>CLINICAL INTERPRETATION  -  Match the percentage to the question</a:t>
            </a:r>
          </a:p>
          <a:p>
            <a:pPr marL="0" indent="0" algn="l">
              <a:spcBef>
                <a:spcPts val="100"/>
              </a:spcBef>
              <a:buNone/>
            </a:pPr>
            <a:r>
              <a:rPr lang="en-US" sz="1300" dirty="0">
                <a:solidFill>
                  <a:srgbClr val="000000"/>
                </a:solidFill>
                <a:latin typeface="Century Gothic"/>
                <a:cs typeface="Century Gothic"/>
              </a:rPr>
              <a:t>Share of diabetics on treatment -&gt; column percent.</a:t>
            </a:r>
          </a:p>
          <a:p>
            <a:pPr marL="0" indent="0" algn="l">
              <a:spcBef>
                <a:spcPts val="100"/>
              </a:spcBef>
              <a:buNone/>
            </a:pPr>
            <a:r>
              <a:rPr lang="en-US" sz="1300" dirty="0">
                <a:solidFill>
                  <a:srgbClr val="000000"/>
                </a:solidFill>
                <a:latin typeface="Century Gothic"/>
                <a:cs typeface="Century Gothic"/>
              </a:rPr>
              <a:t>Share of treated who are diabetic -&gt; row percent.</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Century Gothic"/>
                <a:cs typeface="Century Gothic"/>
              </a:rPr>
              <a:t>Demo: cross-tabulation with percentages</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Intro"/>
          <p:cNvSpPr txBox="1"/>
          <p:nvPr/>
        </p:nvSpPr>
        <p:spPr>
          <a:xfrm>
            <a:off x="457200" y="1080000"/>
            <a:ext cx="11277600" cy="520000"/>
          </a:xfrm>
          <a:prstGeom prst="rect">
            <a:avLst/>
          </a:prstGeom>
          <a:noFill/>
          <a:ln>
            <a:noFill/>
          </a:ln>
        </p:spPr>
        <p:txBody>
          <a:bodyPr wrap="square" lIns="91440" tIns="45720" rIns="91440" bIns="45720" rtlCol="0" anchor="t"/>
          <a:lstStyle/>
          <a:p>
            <a:pPr marL="0" indent="0" algn="l">
              <a:buNone/>
            </a:pPr>
            <a:r>
              <a:rPr lang="en-US" sz="1600" i="1" dirty="0">
                <a:solidFill>
                  <a:srgbClr val="595959"/>
                </a:solidFill>
                <a:latin typeface="Century Gothic"/>
                <a:cs typeface="Century Gothic"/>
              </a:rPr>
              <a:t>The same counts, two ways, with interpretation.</a:t>
            </a:r>
          </a:p>
        </p:txBody>
      </p:sp>
      <p:sp>
        <p:nvSpPr>
          <p:cNvPr id="30" name="Code"/>
          <p:cNvSpPr/>
          <p:nvPr/>
        </p:nvSpPr>
        <p:spPr>
          <a:xfrm>
            <a:off x="457200" y="1640000"/>
            <a:ext cx="11277600" cy="1440000"/>
          </a:xfrm>
          <a:prstGeom prst="roundRect">
            <a:avLst>
              <a:gd name="adj" fmla="val 6000"/>
            </a:avLst>
          </a:prstGeom>
          <a:solidFill>
            <a:srgbClr val="EDF1F2"/>
          </a:solidFill>
          <a:ln>
            <a:noFill/>
          </a:ln>
        </p:spPr>
        <p:txBody>
          <a:bodyPr wrap="square" lIns="137160" tIns="91440" rIns="137160" bIns="91440" rtlCol="0" anchor="t"/>
          <a:lstStyle/>
          <a:p>
            <a:pPr marL="0" indent="0" algn="l">
              <a:lnSpc>
                <a:spcPct val="100000"/>
              </a:lnSpc>
              <a:buNone/>
            </a:pPr>
            <a:r>
              <a:rPr lang="en-US" sz="1300" dirty="0">
                <a:solidFill>
                  <a:srgbClr val="1B3A4B"/>
                </a:solidFill>
                <a:latin typeface="Consolas"/>
                <a:cs typeface="Consolas"/>
              </a:rPr>
              <a:t>xtab &lt;- table(analysis_data$treatment_uptake,</a:t>
            </a:r>
          </a:p>
          <a:p>
            <a:pPr marL="0" indent="0" algn="l">
              <a:lnSpc>
                <a:spcPct val="100000"/>
              </a:lnSpc>
              <a:buNone/>
            </a:pPr>
            <a:r>
              <a:rPr lang="en-US" sz="1300" dirty="0">
                <a:solidFill>
                  <a:srgbClr val="1B3A4B"/>
                </a:solidFill>
                <a:latin typeface="Consolas"/>
                <a:cs typeface="Consolas"/>
              </a:rPr>
              <a:t>              analysis_data$diabetes)</a:t>
            </a:r>
          </a:p>
          <a:p>
            <a:pPr marL="0" indent="0" algn="l">
              <a:lnSpc>
                <a:spcPct val="100000"/>
              </a:lnSpc>
              <a:buNone/>
            </a:pPr>
            <a:r>
              <a:rPr lang="en-US" sz="1300" dirty="0">
                <a:solidFill>
                  <a:srgbClr val="1B3A4B"/>
                </a:solidFill>
                <a:latin typeface="Consolas"/>
                <a:cs typeface="Consolas"/>
              </a:rPr>
              <a:t>xtab</a:t>
            </a:r>
          </a:p>
          <a:p>
            <a:pPr marL="0" indent="0" algn="l">
              <a:lnSpc>
                <a:spcPct val="100000"/>
              </a:lnSpc>
              <a:buNone/>
            </a:pPr>
            <a:r>
              <a:rPr lang="en-US" sz="1300" dirty="0">
                <a:solidFill>
                  <a:srgbClr val="1B3A4B"/>
                </a:solidFill>
                <a:latin typeface="Consolas"/>
                <a:cs typeface="Consolas"/>
              </a:rPr>
              <a:t> </a:t>
            </a:r>
          </a:p>
          <a:p>
            <a:pPr marL="0" indent="0" algn="l">
              <a:lnSpc>
                <a:spcPct val="100000"/>
              </a:lnSpc>
              <a:buNone/>
            </a:pPr>
            <a:r>
              <a:rPr lang="en-US" sz="1300" dirty="0">
                <a:solidFill>
                  <a:srgbClr val="1B3A4B"/>
                </a:solidFill>
                <a:latin typeface="Consolas"/>
                <a:cs typeface="Consolas"/>
              </a:rPr>
              <a:t>round(100 * prop.table(xtab, margin = 1), 1)</a:t>
            </a:r>
          </a:p>
          <a:p>
            <a:pPr marL="0" indent="0" algn="l">
              <a:lnSpc>
                <a:spcPct val="100000"/>
              </a:lnSpc>
              <a:buNone/>
            </a:pPr>
            <a:r>
              <a:rPr lang="en-US" sz="1300" dirty="0">
                <a:solidFill>
                  <a:srgbClr val="1B3A4B"/>
                </a:solidFill>
                <a:latin typeface="Consolas"/>
                <a:cs typeface="Consolas"/>
              </a:rPr>
              <a:t>round(100 * prop.table(xtab, margin = 2), 1)</a:t>
            </a:r>
          </a:p>
        </p:txBody>
      </p:sp>
      <p:sp>
        <p:nvSpPr>
          <p:cNvPr id="31" name="Output"/>
          <p:cNvSpPr/>
          <p:nvPr/>
        </p:nvSpPr>
        <p:spPr>
          <a:xfrm>
            <a:off x="457200" y="3230000"/>
            <a:ext cx="11277600" cy="1500000"/>
          </a:xfrm>
          <a:prstGeom prst="roundRect">
            <a:avLst>
              <a:gd name="adj" fmla="val 6000"/>
            </a:avLst>
          </a:prstGeom>
          <a:solidFill>
            <a:srgbClr val="F2EFE6"/>
          </a:solidFill>
          <a:ln>
            <a:noFill/>
          </a:ln>
        </p:spPr>
        <p:txBody>
          <a:bodyPr wrap="square" lIns="137160" tIns="91440" rIns="137160" bIns="91440" rtlCol="0" anchor="t"/>
          <a:lstStyle/>
          <a:p>
            <a:pPr marL="0" indent="0" algn="l">
              <a:buNone/>
            </a:pPr>
            <a:r>
              <a:rPr lang="en-US" sz="1150" b="1" dirty="0">
                <a:solidFill>
                  <a:srgbClr val="595959"/>
                </a:solidFill>
                <a:latin typeface="Century Gothic"/>
                <a:cs typeface="Century Gothic"/>
              </a:rPr>
              <a:t>Console output</a:t>
            </a:r>
          </a:p>
          <a:p>
            <a:pPr marL="0" indent="0" algn="l">
              <a:lnSpc>
                <a:spcPct val="100000"/>
              </a:lnSpc>
              <a:buNone/>
            </a:pPr>
            <a:r>
              <a:rPr lang="en-US" sz="1250" dirty="0">
                <a:solidFill>
                  <a:srgbClr val="1A1A1A"/>
                </a:solidFill>
                <a:latin typeface="Consolas"/>
                <a:cs typeface="Consolas"/>
              </a:rPr>
              <a:t>       No  Yes</a:t>
            </a:r>
          </a:p>
          <a:p>
            <a:pPr marL="0" indent="0" algn="l">
              <a:lnSpc>
                <a:spcPct val="100000"/>
              </a:lnSpc>
              <a:buNone/>
            </a:pPr>
            <a:r>
              <a:rPr lang="en-US" sz="1250" dirty="0">
                <a:solidFill>
                  <a:srgbClr val="1A1A1A"/>
                </a:solidFill>
                <a:latin typeface="Consolas"/>
                <a:cs typeface="Consolas"/>
              </a:rPr>
              <a:t>  No  610  120</a:t>
            </a:r>
          </a:p>
          <a:p>
            <a:pPr marL="0" indent="0" algn="l">
              <a:lnSpc>
                <a:spcPct val="100000"/>
              </a:lnSpc>
              <a:buNone/>
            </a:pPr>
            <a:r>
              <a:rPr lang="en-US" sz="1250" dirty="0">
                <a:solidFill>
                  <a:srgbClr val="1A1A1A"/>
                </a:solidFill>
                <a:latin typeface="Consolas"/>
                <a:cs typeface="Consolas"/>
              </a:rPr>
              <a:t>  Yes 430  340</a:t>
            </a:r>
          </a:p>
          <a:p>
            <a:pPr marL="0" indent="0" algn="l">
              <a:lnSpc>
                <a:spcPct val="100000"/>
              </a:lnSpc>
              <a:buNone/>
            </a:pPr>
            <a:r>
              <a:rPr lang="en-US" sz="1250" dirty="0">
                <a:solidFill>
                  <a:srgbClr val="1A1A1A"/>
                </a:solidFill>
                <a:latin typeface="Consolas"/>
                <a:cs typeface="Consolas"/>
              </a:rPr>
              <a:t> </a:t>
            </a:r>
          </a:p>
          <a:p>
            <a:pPr marL="0" indent="0" algn="l">
              <a:lnSpc>
                <a:spcPct val="100000"/>
              </a:lnSpc>
              <a:buNone/>
            </a:pPr>
            <a:r>
              <a:rPr lang="en-US" sz="1250" dirty="0">
                <a:solidFill>
                  <a:srgbClr val="1A1A1A"/>
                </a:solidFill>
                <a:latin typeface="Consolas"/>
                <a:cs typeface="Consolas"/>
              </a:rPr>
              <a:t># margin=1 row %: of treated, share diabetic</a:t>
            </a:r>
          </a:p>
          <a:p>
            <a:pPr marL="0" indent="0" algn="l">
              <a:lnSpc>
                <a:spcPct val="100000"/>
              </a:lnSpc>
              <a:buNone/>
            </a:pPr>
            <a:r>
              <a:rPr lang="en-US" sz="1250" dirty="0">
                <a:solidFill>
                  <a:srgbClr val="1A1A1A"/>
                </a:solidFill>
                <a:latin typeface="Consolas"/>
                <a:cs typeface="Consolas"/>
              </a:rPr>
              <a:t># margin=2 col %: of diabetics, share treated</a:t>
            </a:r>
          </a:p>
        </p:txBody>
      </p:sp>
      <p:sp>
        <p:nvSpPr>
          <p:cNvPr id="32" name="Note"/>
          <p:cNvSpPr/>
          <p:nvPr/>
        </p:nvSpPr>
        <p:spPr>
          <a:xfrm>
            <a:off x="457200" y="4870000"/>
            <a:ext cx="11277600" cy="470000"/>
          </a:xfrm>
          <a:prstGeom prst="roundRect">
            <a:avLst>
              <a:gd name="adj" fmla="val 6000"/>
            </a:avLst>
          </a:prstGeom>
          <a:solidFill>
            <a:srgbClr val="EAF1F7"/>
          </a:solidFill>
          <a:ln>
            <a:noFill/>
          </a:ln>
        </p:spPr>
        <p:txBody>
          <a:bodyPr wrap="square" lIns="137160" tIns="91440" rIns="137160" bIns="91440" rtlCol="0" anchor="t"/>
          <a:lstStyle/>
          <a:p>
            <a:pPr marL="0" indent="0" algn="l">
              <a:buNone/>
            </a:pPr>
            <a:r>
              <a:rPr lang="en-US" sz="1300" dirty="0">
                <a:solidFill>
                  <a:srgbClr val="1F5C7A"/>
                </a:solidFill>
                <a:latin typeface="Century Gothic"/>
                <a:cs typeface="Century Gothic"/>
              </a:rPr>
              <a:t>INTERPRETATION  -  Same table, two stories: pick the margin that answers your question.</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Century Gothic"/>
                <a:cs typeface="Century Gothic"/>
              </a:rPr>
              <a:t>What is a Table 1?</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Body"/>
          <p:cNvSpPr txBox="1"/>
          <p:nvPr/>
        </p:nvSpPr>
        <p:spPr>
          <a:xfrm>
            <a:off x="457200" y="1080000"/>
            <a:ext cx="11277600" cy="3150000"/>
          </a:xfrm>
          <a:prstGeom prst="rect">
            <a:avLst/>
          </a:prstGeom>
          <a:noFill/>
          <a:ln>
            <a:noFill/>
          </a:ln>
        </p:spPr>
        <p:txBody>
          <a:bodyPr wrap="square" lIns="91440" tIns="45720" rIns="91440" bIns="45720" rtlCol="0" anchor="t"/>
          <a:lstStyle/>
          <a:p>
            <a:pPr marL="0" indent="0" algn="l">
              <a:spcBef>
                <a:spcPts val="360"/>
              </a:spcBef>
              <a:buNone/>
            </a:pPr>
            <a:r>
              <a:rPr lang="en-US" sz="2050" b="1" dirty="0">
                <a:solidFill>
                  <a:srgbClr val="0D7377"/>
                </a:solidFill>
                <a:latin typeface="Century Gothic"/>
                <a:cs typeface="Century Gothic"/>
              </a:rPr>
              <a:t>The opening table of almost every clinical paper</a:t>
            </a:r>
          </a:p>
          <a:p>
            <a:pPr marL="0" indent="0" algn="l">
              <a:lnSpc>
                <a:spcPct val="108000"/>
              </a:lnSpc>
              <a:spcBef>
                <a:spcPts val="440"/>
              </a:spcBef>
              <a:buNone/>
            </a:pPr>
            <a:r>
              <a:rPr lang="en-US" sz="1800" dirty="0">
                <a:solidFill>
                  <a:srgbClr val="000000"/>
                </a:solidFill>
                <a:latin typeface="Century Gothic"/>
                <a:cs typeface="Century Gothic"/>
              </a:rPr>
              <a:t>Baseline characteristics of the study sample</a:t>
            </a:r>
          </a:p>
          <a:p>
            <a:pPr marL="0" indent="0" algn="l">
              <a:lnSpc>
                <a:spcPct val="108000"/>
              </a:lnSpc>
              <a:spcBef>
                <a:spcPts val="440"/>
              </a:spcBef>
              <a:buNone/>
            </a:pPr>
            <a:r>
              <a:rPr lang="en-US" sz="1800" dirty="0">
                <a:solidFill>
                  <a:srgbClr val="000000"/>
                </a:solidFill>
                <a:latin typeface="Century Gothic"/>
                <a:cs typeface="Century Gothic"/>
              </a:rPr>
              <a:t>Usually split into columns by the main exposure or outcome</a:t>
            </a:r>
          </a:p>
          <a:p>
            <a:pPr marL="0" indent="0" algn="l">
              <a:lnSpc>
                <a:spcPct val="108000"/>
              </a:lnSpc>
              <a:spcBef>
                <a:spcPts val="440"/>
              </a:spcBef>
              <a:buNone/>
            </a:pPr>
            <a:r>
              <a:rPr lang="en-US" sz="1800" dirty="0">
                <a:solidFill>
                  <a:srgbClr val="000000"/>
                </a:solidFill>
                <a:latin typeface="Century Gothic"/>
                <a:cs typeface="Century Gothic"/>
              </a:rPr>
              <a:t>Numerics shown as mean (SD) or median (IQR)</a:t>
            </a:r>
          </a:p>
          <a:p>
            <a:pPr marL="0" indent="0" algn="l">
              <a:lnSpc>
                <a:spcPct val="108000"/>
              </a:lnSpc>
              <a:spcBef>
                <a:spcPts val="440"/>
              </a:spcBef>
              <a:buNone/>
            </a:pPr>
            <a:r>
              <a:rPr lang="en-US" sz="1800" dirty="0">
                <a:solidFill>
                  <a:srgbClr val="000000"/>
                </a:solidFill>
                <a:latin typeface="Century Gothic"/>
                <a:cs typeface="Century Gothic"/>
              </a:rPr>
              <a:t>Categoricals shown as n (percent)</a:t>
            </a:r>
          </a:p>
          <a:p>
            <a:pPr>
              <a:buNone/>
            </a:pPr>
            <a:endParaRPr sz="1050"/>
          </a:p>
        </p:txBody>
      </p:sp>
      <p:sp>
        <p:nvSpPr>
          <p:cNvPr id="40" name="Callout"/>
          <p:cNvSpPr/>
          <p:nvPr/>
        </p:nvSpPr>
        <p:spPr>
          <a:xfrm>
            <a:off x="457200" y="4835000"/>
            <a:ext cx="11277600" cy="1045000"/>
          </a:xfrm>
          <a:prstGeom prst="roundRect">
            <a:avLst>
              <a:gd name="adj" fmla="val 6000"/>
            </a:avLst>
          </a:prstGeom>
          <a:solidFill>
            <a:srgbClr val="F0F0F0"/>
          </a:solidFill>
          <a:ln>
            <a:noFill/>
          </a:ln>
        </p:spPr>
        <p:txBody>
          <a:bodyPr wrap="square" lIns="137160" tIns="91440" rIns="137160" bIns="91440" rtlCol="0" anchor="t"/>
          <a:lstStyle/>
          <a:p>
            <a:pPr marL="0" indent="0" algn="l">
              <a:buNone/>
            </a:pPr>
            <a:r>
              <a:rPr lang="en-US" sz="1300" b="1" dirty="0">
                <a:solidFill>
                  <a:srgbClr val="404040"/>
                </a:solidFill>
                <a:latin typeface="Century Gothic"/>
                <a:cs typeface="Century Gothic"/>
              </a:rPr>
              <a:t>NOTE  -  Why reviewers expect it</a:t>
            </a:r>
          </a:p>
          <a:p>
            <a:pPr marL="0" indent="0" algn="l">
              <a:spcBef>
                <a:spcPts val="100"/>
              </a:spcBef>
              <a:buNone/>
            </a:pPr>
            <a:r>
              <a:rPr lang="en-US" sz="1300" dirty="0">
                <a:solidFill>
                  <a:srgbClr val="000000"/>
                </a:solidFill>
                <a:latin typeface="Century Gothic"/>
                <a:cs typeface="Century Gothic"/>
              </a:rPr>
              <a:t>It lets the reader judge who the study describes.</a:t>
            </a:r>
          </a:p>
          <a:p>
            <a:pPr marL="0" indent="0" algn="l">
              <a:spcBef>
                <a:spcPts val="100"/>
              </a:spcBef>
              <a:buNone/>
            </a:pPr>
            <a:r>
              <a:rPr lang="en-US" sz="1300" dirty="0">
                <a:solidFill>
                  <a:srgbClr val="000000"/>
                </a:solidFill>
                <a:latin typeface="Century Gothic"/>
                <a:cs typeface="Century Gothic"/>
              </a:rPr>
              <a:t>It shows whether the comparison groups are balanced.</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Century Gothic"/>
                <a:cs typeface="Century Gothic"/>
              </a:rPr>
              <a:t>Demo: build Table 1 with gtsummary</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Intro"/>
          <p:cNvSpPr txBox="1"/>
          <p:nvPr/>
        </p:nvSpPr>
        <p:spPr>
          <a:xfrm>
            <a:off x="457200" y="1080000"/>
            <a:ext cx="11277600" cy="520000"/>
          </a:xfrm>
          <a:prstGeom prst="rect">
            <a:avLst/>
          </a:prstGeom>
          <a:noFill/>
          <a:ln>
            <a:noFill/>
          </a:ln>
        </p:spPr>
        <p:txBody>
          <a:bodyPr wrap="square" lIns="91440" tIns="45720" rIns="91440" bIns="45720" rtlCol="0" anchor="t"/>
          <a:lstStyle/>
          <a:p>
            <a:pPr marL="0" indent="0" algn="l">
              <a:buNone/>
            </a:pPr>
            <a:r>
              <a:rPr lang="en-US" sz="1600" i="1" dirty="0">
                <a:solidFill>
                  <a:srgbClr val="595959"/>
                </a:solidFill>
                <a:latin typeface="Century Gothic"/>
                <a:cs typeface="Century Gothic"/>
              </a:rPr>
              <a:t>tbl_summary chooses sensible summaries automatically.</a:t>
            </a:r>
          </a:p>
        </p:txBody>
      </p:sp>
      <p:sp>
        <p:nvSpPr>
          <p:cNvPr id="30" name="Code"/>
          <p:cNvSpPr/>
          <p:nvPr/>
        </p:nvSpPr>
        <p:spPr>
          <a:xfrm>
            <a:off x="457200" y="1640000"/>
            <a:ext cx="11277600" cy="2070000"/>
          </a:xfrm>
          <a:prstGeom prst="roundRect">
            <a:avLst>
              <a:gd name="adj" fmla="val 6000"/>
            </a:avLst>
          </a:prstGeom>
          <a:solidFill>
            <a:srgbClr val="EDF1F2"/>
          </a:solidFill>
          <a:ln>
            <a:noFill/>
          </a:ln>
        </p:spPr>
        <p:txBody>
          <a:bodyPr wrap="square" lIns="137160" tIns="91440" rIns="137160" bIns="91440" rtlCol="0" anchor="t"/>
          <a:lstStyle/>
          <a:p>
            <a:pPr marL="0" indent="0" algn="l">
              <a:lnSpc>
                <a:spcPct val="100000"/>
              </a:lnSpc>
              <a:buNone/>
            </a:pPr>
            <a:r>
              <a:rPr lang="en-US" sz="1300" dirty="0">
                <a:solidFill>
                  <a:srgbClr val="1B3A4B"/>
                </a:solidFill>
                <a:latin typeface="Consolas"/>
                <a:cs typeface="Consolas"/>
              </a:rPr>
              <a:t>analysis_data |&gt;</a:t>
            </a:r>
          </a:p>
          <a:p>
            <a:pPr marL="0" indent="0" algn="l">
              <a:lnSpc>
                <a:spcPct val="100000"/>
              </a:lnSpc>
              <a:buNone/>
            </a:pPr>
            <a:r>
              <a:rPr lang="en-US" sz="1300" dirty="0">
                <a:solidFill>
                  <a:srgbClr val="1B3A4B"/>
                </a:solidFill>
                <a:latin typeface="Consolas"/>
                <a:cs typeface="Consolas"/>
              </a:rPr>
              <a:t>  select(age, sex, residence, education, bmi,</a:t>
            </a:r>
          </a:p>
          <a:p>
            <a:pPr marL="0" indent="0" algn="l">
              <a:lnSpc>
                <a:spcPct val="100000"/>
              </a:lnSpc>
              <a:buNone/>
            </a:pPr>
            <a:r>
              <a:rPr lang="en-US" sz="1300" dirty="0">
                <a:solidFill>
                  <a:srgbClr val="1B3A4B"/>
                </a:solidFill>
                <a:latin typeface="Consolas"/>
                <a:cs typeface="Consolas"/>
              </a:rPr>
              <a:t>         diabetes, sbp_mmhg, bp_category,</a:t>
            </a:r>
          </a:p>
          <a:p>
            <a:pPr marL="0" indent="0" algn="l">
              <a:lnSpc>
                <a:spcPct val="100000"/>
              </a:lnSpc>
              <a:buNone/>
            </a:pPr>
            <a:r>
              <a:rPr lang="en-US" sz="1300" dirty="0">
                <a:solidFill>
                  <a:srgbClr val="1B3A4B"/>
                </a:solidFill>
                <a:latin typeface="Consolas"/>
                <a:cs typeface="Consolas"/>
              </a:rPr>
              <a:t>         treatment_uptake) |&gt;</a:t>
            </a:r>
          </a:p>
          <a:p>
            <a:pPr marL="0" indent="0" algn="l">
              <a:lnSpc>
                <a:spcPct val="100000"/>
              </a:lnSpc>
              <a:buNone/>
            </a:pPr>
            <a:r>
              <a:rPr lang="en-US" sz="1300" dirty="0">
                <a:solidFill>
                  <a:srgbClr val="1B3A4B"/>
                </a:solidFill>
                <a:latin typeface="Consolas"/>
                <a:cs typeface="Consolas"/>
              </a:rPr>
              <a:t>  tbl_summary(by = treatment_uptake,</a:t>
            </a:r>
          </a:p>
          <a:p>
            <a:pPr marL="0" indent="0" algn="l">
              <a:lnSpc>
                <a:spcPct val="100000"/>
              </a:lnSpc>
              <a:buNone/>
            </a:pPr>
            <a:r>
              <a:rPr lang="en-US" sz="1300" dirty="0">
                <a:solidFill>
                  <a:srgbClr val="1B3A4B"/>
                </a:solidFill>
                <a:latin typeface="Consolas"/>
                <a:cs typeface="Consolas"/>
              </a:rPr>
              <a:t>              missing_text = "(Missing)") |&gt;</a:t>
            </a:r>
          </a:p>
          <a:p>
            <a:pPr marL="0" indent="0" algn="l">
              <a:lnSpc>
                <a:spcPct val="100000"/>
              </a:lnSpc>
              <a:buNone/>
            </a:pPr>
            <a:r>
              <a:rPr lang="en-US" sz="1300" dirty="0">
                <a:solidFill>
                  <a:srgbClr val="1B3A4B"/>
                </a:solidFill>
                <a:latin typeface="Consolas"/>
                <a:cs typeface="Consolas"/>
              </a:rPr>
              <a:t>  add_p() |&gt;</a:t>
            </a:r>
          </a:p>
          <a:p>
            <a:pPr marL="0" indent="0" algn="l">
              <a:lnSpc>
                <a:spcPct val="100000"/>
              </a:lnSpc>
              <a:buNone/>
            </a:pPr>
            <a:r>
              <a:rPr lang="en-US" sz="1300" dirty="0">
                <a:solidFill>
                  <a:srgbClr val="1B3A4B"/>
                </a:solidFill>
                <a:latin typeface="Consolas"/>
                <a:cs typeface="Consolas"/>
              </a:rPr>
              <a:t>  add_overall() |&gt;</a:t>
            </a:r>
          </a:p>
          <a:p>
            <a:pPr marL="0" indent="0" algn="l">
              <a:lnSpc>
                <a:spcPct val="100000"/>
              </a:lnSpc>
              <a:buNone/>
            </a:pPr>
            <a:r>
              <a:rPr lang="en-US" sz="1300" dirty="0">
                <a:solidFill>
                  <a:srgbClr val="1B3A4B"/>
                </a:solidFill>
                <a:latin typeface="Consolas"/>
                <a:cs typeface="Consolas"/>
              </a:rPr>
              <a:t>  bold_labels()</a:t>
            </a:r>
          </a:p>
        </p:txBody>
      </p:sp>
      <p:sp>
        <p:nvSpPr>
          <p:cNvPr id="31" name="Output"/>
          <p:cNvSpPr/>
          <p:nvPr/>
        </p:nvSpPr>
        <p:spPr>
          <a:xfrm>
            <a:off x="457200" y="3860000"/>
            <a:ext cx="11277600" cy="1100000"/>
          </a:xfrm>
          <a:prstGeom prst="roundRect">
            <a:avLst>
              <a:gd name="adj" fmla="val 6000"/>
            </a:avLst>
          </a:prstGeom>
          <a:solidFill>
            <a:srgbClr val="F2EFE6"/>
          </a:solidFill>
          <a:ln>
            <a:noFill/>
          </a:ln>
        </p:spPr>
        <p:txBody>
          <a:bodyPr wrap="square" lIns="137160" tIns="91440" rIns="137160" bIns="91440" rtlCol="0" anchor="t"/>
          <a:lstStyle/>
          <a:p>
            <a:pPr marL="0" indent="0" algn="l">
              <a:buNone/>
            </a:pPr>
            <a:r>
              <a:rPr lang="en-US" sz="1150" b="1" dirty="0">
                <a:solidFill>
                  <a:srgbClr val="595959"/>
                </a:solidFill>
                <a:latin typeface="Century Gothic"/>
                <a:cs typeface="Century Gothic"/>
              </a:rPr>
              <a:t>Console output</a:t>
            </a:r>
          </a:p>
          <a:p>
            <a:pPr marL="0" indent="0" algn="l">
              <a:lnSpc>
                <a:spcPct val="100000"/>
              </a:lnSpc>
              <a:buNone/>
            </a:pPr>
            <a:r>
              <a:rPr lang="en-US" sz="1250" dirty="0">
                <a:solidFill>
                  <a:srgbClr val="1A1A1A"/>
                </a:solidFill>
                <a:latin typeface="Consolas"/>
                <a:cs typeface="Consolas"/>
              </a:rPr>
              <a:t>Characteristic   Overall   No   Yes   p-value</a:t>
            </a:r>
          </a:p>
          <a:p>
            <a:pPr marL="0" indent="0" algn="l">
              <a:lnSpc>
                <a:spcPct val="100000"/>
              </a:lnSpc>
              <a:buNone/>
            </a:pPr>
            <a:r>
              <a:rPr lang="en-US" sz="1250" dirty="0">
                <a:solidFill>
                  <a:srgbClr val="1A1A1A"/>
                </a:solidFill>
                <a:latin typeface="Consolas"/>
                <a:cs typeface="Consolas"/>
              </a:rPr>
              <a:t>Age (years)      52 ...    ...  ...   &lt;0.001</a:t>
            </a:r>
          </a:p>
          <a:p>
            <a:pPr marL="0" indent="0" algn="l">
              <a:lnSpc>
                <a:spcPct val="100000"/>
              </a:lnSpc>
              <a:buNone/>
            </a:pPr>
            <a:r>
              <a:rPr lang="en-US" sz="1250" dirty="0">
                <a:solidFill>
                  <a:srgbClr val="1A1A1A"/>
                </a:solidFill>
                <a:latin typeface="Consolas"/>
                <a:cs typeface="Consolas"/>
              </a:rPr>
              <a:t>Diabetes, n (%)  ...       ...  ...    0.002</a:t>
            </a:r>
          </a:p>
          <a:p>
            <a:pPr marL="0" indent="0" algn="l">
              <a:lnSpc>
                <a:spcPct val="100000"/>
              </a:lnSpc>
              <a:buNone/>
            </a:pPr>
            <a:r>
              <a:rPr lang="en-US" sz="1250" dirty="0">
                <a:solidFill>
                  <a:srgbClr val="1A1A1A"/>
                </a:solidFill>
                <a:latin typeface="Consolas"/>
                <a:cs typeface="Consolas"/>
              </a:rPr>
              <a:t>... one row per selected variable ...</a:t>
            </a:r>
          </a:p>
        </p:txBody>
      </p:sp>
      <p:sp>
        <p:nvSpPr>
          <p:cNvPr id="32" name="Note"/>
          <p:cNvSpPr/>
          <p:nvPr/>
        </p:nvSpPr>
        <p:spPr>
          <a:xfrm>
            <a:off x="457200" y="5100000"/>
            <a:ext cx="11277600" cy="470000"/>
          </a:xfrm>
          <a:prstGeom prst="roundRect">
            <a:avLst>
              <a:gd name="adj" fmla="val 6000"/>
            </a:avLst>
          </a:prstGeom>
          <a:solidFill>
            <a:srgbClr val="EAF1F7"/>
          </a:solidFill>
          <a:ln>
            <a:noFill/>
          </a:ln>
        </p:spPr>
        <p:txBody>
          <a:bodyPr wrap="square" lIns="137160" tIns="91440" rIns="137160" bIns="91440" rtlCol="0" anchor="t"/>
          <a:lstStyle/>
          <a:p>
            <a:pPr marL="0" indent="0" algn="l">
              <a:buNone/>
            </a:pPr>
            <a:r>
              <a:rPr lang="en-US" sz="1300" dirty="0">
                <a:solidFill>
                  <a:srgbClr val="1F5C7A"/>
                </a:solidFill>
                <a:latin typeface="Century Gothic"/>
                <a:cs typeface="Century Gothic"/>
              </a:rPr>
              <a:t>INTERPRETATION  -  add_p() adds p-values; add_overall() adds a total column.</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Century Gothic"/>
                <a:cs typeface="Century Gothic"/>
              </a:rPr>
              <a:t>Choosing the right chart</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Body"/>
          <p:cNvSpPr txBox="1"/>
          <p:nvPr/>
        </p:nvSpPr>
        <p:spPr>
          <a:xfrm>
            <a:off x="457200" y="1080000"/>
            <a:ext cx="11277600" cy="3150000"/>
          </a:xfrm>
          <a:prstGeom prst="rect">
            <a:avLst/>
          </a:prstGeom>
          <a:noFill/>
          <a:ln>
            <a:noFill/>
          </a:ln>
        </p:spPr>
        <p:txBody>
          <a:bodyPr wrap="square" lIns="91440" tIns="45720" rIns="91440" bIns="45720" rtlCol="0" anchor="t"/>
          <a:lstStyle/>
          <a:p>
            <a:pPr marL="0" indent="0" algn="l">
              <a:spcBef>
                <a:spcPts val="360"/>
              </a:spcBef>
              <a:buNone/>
            </a:pPr>
            <a:r>
              <a:rPr lang="en-US" sz="2050" b="1" dirty="0">
                <a:solidFill>
                  <a:srgbClr val="0D7377"/>
                </a:solidFill>
                <a:latin typeface="Century Gothic"/>
                <a:cs typeface="Century Gothic"/>
              </a:rPr>
              <a:t>Let the variable type decide the chart</a:t>
            </a:r>
          </a:p>
          <a:p>
            <a:pPr marL="0" indent="0" algn="l">
              <a:lnSpc>
                <a:spcPct val="108000"/>
              </a:lnSpc>
              <a:spcBef>
                <a:spcPts val="440"/>
              </a:spcBef>
              <a:buNone/>
            </a:pPr>
            <a:r>
              <a:rPr lang="en-US" sz="1800" dirty="0">
                <a:solidFill>
                  <a:srgbClr val="000000"/>
                </a:solidFill>
                <a:latin typeface="Century Gothic"/>
                <a:cs typeface="Century Gothic"/>
              </a:rPr>
              <a:t>One continuous variable -&gt; histogram (shape and skew)</a:t>
            </a:r>
          </a:p>
          <a:p>
            <a:pPr marL="0" indent="0" algn="l">
              <a:lnSpc>
                <a:spcPct val="108000"/>
              </a:lnSpc>
              <a:spcBef>
                <a:spcPts val="440"/>
              </a:spcBef>
              <a:buNone/>
            </a:pPr>
            <a:r>
              <a:rPr lang="en-US" sz="1800" dirty="0">
                <a:solidFill>
                  <a:srgbClr val="000000"/>
                </a:solidFill>
                <a:latin typeface="Century Gothic"/>
                <a:cs typeface="Century Gothic"/>
              </a:rPr>
              <a:t>Continuous by a group -&gt; boxplot (compare distributions)</a:t>
            </a:r>
          </a:p>
          <a:p>
            <a:pPr marL="0" indent="0" algn="l">
              <a:lnSpc>
                <a:spcPct val="108000"/>
              </a:lnSpc>
              <a:spcBef>
                <a:spcPts val="440"/>
              </a:spcBef>
              <a:buNone/>
            </a:pPr>
            <a:r>
              <a:rPr lang="en-US" sz="1800" dirty="0">
                <a:solidFill>
                  <a:srgbClr val="000000"/>
                </a:solidFill>
                <a:latin typeface="Century Gothic"/>
                <a:cs typeface="Century Gothic"/>
              </a:rPr>
              <a:t>One categorical variable -&gt; bar chart (counts)</a:t>
            </a:r>
          </a:p>
          <a:p>
            <a:pPr marL="0" indent="0" algn="l">
              <a:lnSpc>
                <a:spcPct val="108000"/>
              </a:lnSpc>
              <a:spcBef>
                <a:spcPts val="440"/>
              </a:spcBef>
              <a:buNone/>
            </a:pPr>
            <a:r>
              <a:rPr lang="en-US" sz="1800" dirty="0">
                <a:solidFill>
                  <a:srgbClr val="000000"/>
                </a:solidFill>
                <a:latin typeface="Century Gothic"/>
                <a:cs typeface="Century Gothic"/>
              </a:rPr>
              <a:t>Two continuous variables -&gt; scatterplot (relationship)</a:t>
            </a:r>
          </a:p>
          <a:p>
            <a:pPr>
              <a:buNone/>
            </a:pPr>
            <a:endParaRPr sz="1050"/>
          </a:p>
        </p:txBody>
      </p:sp>
      <p:sp>
        <p:nvSpPr>
          <p:cNvPr id="40" name="Callout"/>
          <p:cNvSpPr/>
          <p:nvPr/>
        </p:nvSpPr>
        <p:spPr>
          <a:xfrm>
            <a:off x="457200" y="4835000"/>
            <a:ext cx="11277600" cy="1045000"/>
          </a:xfrm>
          <a:prstGeom prst="roundRect">
            <a:avLst>
              <a:gd name="adj" fmla="val 6000"/>
            </a:avLst>
          </a:prstGeom>
          <a:solidFill>
            <a:srgbClr val="E8F4F4"/>
          </a:solidFill>
          <a:ln>
            <a:noFill/>
          </a:ln>
        </p:spPr>
        <p:txBody>
          <a:bodyPr wrap="square" lIns="137160" tIns="91440" rIns="137160" bIns="91440" rtlCol="0" anchor="t"/>
          <a:lstStyle/>
          <a:p>
            <a:pPr marL="0" indent="0" algn="l">
              <a:buNone/>
            </a:pPr>
            <a:r>
              <a:rPr lang="en-US" sz="1300" b="1" dirty="0">
                <a:solidFill>
                  <a:srgbClr val="0D7377"/>
                </a:solidFill>
                <a:latin typeface="Century Gothic"/>
                <a:cs typeface="Century Gothic"/>
              </a:rPr>
              <a:t>TIP  -  Every figure needs</a:t>
            </a:r>
          </a:p>
          <a:p>
            <a:pPr marL="0" indent="0" algn="l">
              <a:spcBef>
                <a:spcPts val="100"/>
              </a:spcBef>
              <a:buNone/>
            </a:pPr>
            <a:r>
              <a:rPr lang="en-US" sz="1300" dirty="0">
                <a:solidFill>
                  <a:srgbClr val="000000"/>
                </a:solidFill>
                <a:latin typeface="Century Gothic"/>
                <a:cs typeface="Century Gothic"/>
              </a:rPr>
              <a:t>A clear title and axis labels WITH units.</a:t>
            </a:r>
          </a:p>
          <a:p>
            <a:pPr marL="0" indent="0" algn="l">
              <a:spcBef>
                <a:spcPts val="100"/>
              </a:spcBef>
              <a:buNone/>
            </a:pPr>
            <a:r>
              <a:rPr lang="en-US" sz="1300" dirty="0">
                <a:solidFill>
                  <a:srgbClr val="000000"/>
                </a:solidFill>
                <a:latin typeface="Century Gothic"/>
                <a:cs typeface="Century Gothic"/>
              </a:rPr>
              <a:t>A clean theme; we use theme_minimal with a teal accent.</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Century Gothic"/>
                <a:cs typeface="Century Gothic"/>
              </a:rPr>
              <a:t>Histogram: age distribution</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Notes"/>
          <p:cNvSpPr txBox="1"/>
          <p:nvPr/>
        </p:nvSpPr>
        <p:spPr>
          <a:xfrm>
            <a:off x="457200" y="1150000"/>
            <a:ext cx="3600000" cy="5000000"/>
          </a:xfrm>
          <a:prstGeom prst="rect">
            <a:avLst/>
          </a:prstGeom>
          <a:noFill/>
          <a:ln>
            <a:noFill/>
          </a:ln>
        </p:spPr>
        <p:txBody>
          <a:bodyPr wrap="square" lIns="91440" tIns="45720" rIns="91440" bIns="45720" rtlCol="0" anchor="t"/>
          <a:lstStyle/>
          <a:p>
            <a:pPr marL="0" indent="0" algn="l">
              <a:buNone/>
            </a:pPr>
            <a:r>
              <a:rPr lang="en-US" sz="1700" b="1" dirty="0">
                <a:solidFill>
                  <a:srgbClr val="0D7377"/>
                </a:solidFill>
                <a:latin typeface="Century Gothic"/>
                <a:cs typeface="Century Gothic"/>
              </a:rPr>
              <a:t>How to read it</a:t>
            </a:r>
          </a:p>
          <a:p>
            <a:pPr marL="274320" indent="-274320" algn="l">
              <a:spcBef>
                <a:spcPts val="440"/>
              </a:spcBef>
              <a:buFont typeface="Arial"/>
              <a:buChar char="•"/>
            </a:pPr>
            <a:r>
              <a:rPr lang="en-US" sz="1450" dirty="0">
                <a:solidFill>
                  <a:srgbClr val="000000"/>
                </a:solidFill>
                <a:latin typeface="Century Gothic"/>
                <a:cs typeface="Century Gothic"/>
              </a:rPr>
              <a:t>Each bar counts patients in a 5-year band</a:t>
            </a:r>
          </a:p>
          <a:p>
            <a:pPr marL="274320" indent="-274320" algn="l">
              <a:spcBef>
                <a:spcPts val="440"/>
              </a:spcBef>
              <a:buFont typeface="Arial"/>
              <a:buChar char="•"/>
            </a:pPr>
            <a:r>
              <a:rPr lang="en-US" sz="1450" dirty="0">
                <a:solidFill>
                  <a:srgbClr val="000000"/>
                </a:solidFill>
                <a:latin typeface="Century Gothic"/>
                <a:cs typeface="Century Gothic"/>
              </a:rPr>
              <a:t>The peak shows the most common age range</a:t>
            </a:r>
          </a:p>
          <a:p>
            <a:pPr marL="274320" indent="-274320" algn="l">
              <a:spcBef>
                <a:spcPts val="440"/>
              </a:spcBef>
              <a:buFont typeface="Arial"/>
              <a:buChar char="•"/>
            </a:pPr>
            <a:r>
              <a:rPr lang="en-US" sz="1450" dirty="0">
                <a:solidFill>
                  <a:srgbClr val="000000"/>
                </a:solidFill>
                <a:latin typeface="Century Gothic"/>
                <a:cs typeface="Century Gothic"/>
              </a:rPr>
              <a:t>A roughly symmetric shape supports mean (SD)</a:t>
            </a:r>
          </a:p>
          <a:p>
            <a:pPr marL="274320" indent="-274320" algn="l">
              <a:spcBef>
                <a:spcPts val="440"/>
              </a:spcBef>
              <a:buFont typeface="Arial"/>
              <a:buChar char="•"/>
            </a:pPr>
            <a:r>
              <a:rPr lang="en-US" sz="1450" dirty="0">
                <a:solidFill>
                  <a:srgbClr val="000000"/>
                </a:solidFill>
                <a:latin typeface="Century Gothic"/>
                <a:cs typeface="Century Gothic"/>
              </a:rPr>
              <a:t>Look for a long tail that would signal skew</a:t>
            </a:r>
          </a:p>
        </p:txBody>
      </p:sp>
      <p:pic>
        <p:nvPicPr>
          <p:cNvPr id="25" name="Figure"/>
          <p:cNvPicPr>
            <a:picLocks noChangeAspect="1"/>
          </p:cNvPicPr>
          <p:nvPr/>
        </p:nvPicPr>
        <p:blipFill>
          <a:blip r:embed="rId4"/>
          <a:stretch>
            <a:fillRect/>
          </a:stretch>
        </p:blipFill>
        <p:spPr>
          <a:xfrm>
            <a:off x="4307200" y="1150000"/>
            <a:ext cx="6466666" cy="4850000"/>
          </a:xfrm>
          <a:prstGeom prst="rect">
            <a:avLst/>
          </a:prstGeom>
        </p:spPr>
      </p:pic>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Century Gothic"/>
                <a:cs typeface="Century Gothic"/>
              </a:rPr>
              <a:t>Histogram: systolic blood pressure</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Notes"/>
          <p:cNvSpPr txBox="1"/>
          <p:nvPr/>
        </p:nvSpPr>
        <p:spPr>
          <a:xfrm>
            <a:off x="457200" y="1150000"/>
            <a:ext cx="3600000" cy="5000000"/>
          </a:xfrm>
          <a:prstGeom prst="rect">
            <a:avLst/>
          </a:prstGeom>
          <a:noFill/>
          <a:ln>
            <a:noFill/>
          </a:ln>
        </p:spPr>
        <p:txBody>
          <a:bodyPr wrap="square" lIns="91440" tIns="45720" rIns="91440" bIns="45720" rtlCol="0" anchor="t"/>
          <a:lstStyle/>
          <a:p>
            <a:pPr marL="0" indent="0" algn="l">
              <a:buNone/>
            </a:pPr>
            <a:r>
              <a:rPr lang="en-US" sz="1700" b="1" dirty="0">
                <a:solidFill>
                  <a:srgbClr val="0D7377"/>
                </a:solidFill>
                <a:latin typeface="Century Gothic"/>
                <a:cs typeface="Century Gothic"/>
              </a:rPr>
              <a:t>How to read it</a:t>
            </a:r>
          </a:p>
          <a:p>
            <a:pPr marL="274320" indent="-274320" algn="l">
              <a:spcBef>
                <a:spcPts val="440"/>
              </a:spcBef>
              <a:buFont typeface="Arial"/>
              <a:buChar char="•"/>
            </a:pPr>
            <a:r>
              <a:rPr lang="en-US" sz="1450" dirty="0">
                <a:solidFill>
                  <a:srgbClr val="000000"/>
                </a:solidFill>
                <a:latin typeface="Century Gothic"/>
                <a:cs typeface="Century Gothic"/>
              </a:rPr>
              <a:t>The overlaid curve is a smoothed density</a:t>
            </a:r>
          </a:p>
          <a:p>
            <a:pPr marL="274320" indent="-274320" algn="l">
              <a:spcBef>
                <a:spcPts val="440"/>
              </a:spcBef>
              <a:buFont typeface="Arial"/>
              <a:buChar char="•"/>
            </a:pPr>
            <a:r>
              <a:rPr lang="en-US" sz="1450" dirty="0">
                <a:solidFill>
                  <a:srgbClr val="000000"/>
                </a:solidFill>
                <a:latin typeface="Century Gothic"/>
                <a:cs typeface="Century Gothic"/>
              </a:rPr>
              <a:t>A tail to the right indicates right-skew</a:t>
            </a:r>
          </a:p>
          <a:p>
            <a:pPr marL="274320" indent="-274320" algn="l">
              <a:spcBef>
                <a:spcPts val="440"/>
              </a:spcBef>
              <a:buFont typeface="Arial"/>
              <a:buChar char="•"/>
            </a:pPr>
            <a:r>
              <a:rPr lang="en-US" sz="1450" dirty="0">
                <a:solidFill>
                  <a:srgbClr val="000000"/>
                </a:solidFill>
                <a:latin typeface="Century Gothic"/>
                <a:cs typeface="Century Gothic"/>
              </a:rPr>
              <a:t>When skewed, prefer median (IQR) over mean (SD)</a:t>
            </a:r>
          </a:p>
          <a:p>
            <a:pPr marL="274320" indent="-274320" algn="l">
              <a:spcBef>
                <a:spcPts val="440"/>
              </a:spcBef>
              <a:buFont typeface="Arial"/>
              <a:buChar char="•"/>
            </a:pPr>
            <a:r>
              <a:rPr lang="en-US" sz="1450" dirty="0">
                <a:solidFill>
                  <a:srgbClr val="000000"/>
                </a:solidFill>
                <a:latin typeface="Century Gothic"/>
                <a:cs typeface="Century Gothic"/>
              </a:rPr>
              <a:t>The bulk sits in the hypertensive range</a:t>
            </a:r>
          </a:p>
        </p:txBody>
      </p:sp>
      <p:pic>
        <p:nvPicPr>
          <p:cNvPr id="25" name="Figure"/>
          <p:cNvPicPr>
            <a:picLocks noChangeAspect="1"/>
          </p:cNvPicPr>
          <p:nvPr/>
        </p:nvPicPr>
        <p:blipFill>
          <a:blip r:embed="rId4"/>
          <a:stretch>
            <a:fillRect/>
          </a:stretch>
        </p:blipFill>
        <p:spPr>
          <a:xfrm>
            <a:off x="4307200" y="1150000"/>
            <a:ext cx="6466666" cy="4850000"/>
          </a:xfrm>
          <a:prstGeom prst="rect">
            <a:avLst/>
          </a:prstGeom>
        </p:spPr>
      </p:pic>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Century Gothic"/>
                <a:cs typeface="Century Gothic"/>
              </a:rPr>
              <a:t>Bar chart: educational attainment</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Notes"/>
          <p:cNvSpPr txBox="1"/>
          <p:nvPr/>
        </p:nvSpPr>
        <p:spPr>
          <a:xfrm>
            <a:off x="457200" y="1150000"/>
            <a:ext cx="3600000" cy="5000000"/>
          </a:xfrm>
          <a:prstGeom prst="rect">
            <a:avLst/>
          </a:prstGeom>
          <a:noFill/>
          <a:ln>
            <a:noFill/>
          </a:ln>
        </p:spPr>
        <p:txBody>
          <a:bodyPr wrap="square" lIns="91440" tIns="45720" rIns="91440" bIns="45720" rtlCol="0" anchor="t"/>
          <a:lstStyle/>
          <a:p>
            <a:pPr marL="0" indent="0" algn="l">
              <a:buNone/>
            </a:pPr>
            <a:r>
              <a:rPr lang="en-US" sz="1700" b="1" dirty="0">
                <a:solidFill>
                  <a:srgbClr val="0D7377"/>
                </a:solidFill>
                <a:latin typeface="Century Gothic"/>
                <a:cs typeface="Century Gothic"/>
              </a:rPr>
              <a:t>How to read it</a:t>
            </a:r>
          </a:p>
          <a:p>
            <a:pPr marL="274320" indent="-274320" algn="l">
              <a:spcBef>
                <a:spcPts val="440"/>
              </a:spcBef>
              <a:buFont typeface="Arial"/>
              <a:buChar char="•"/>
            </a:pPr>
            <a:r>
              <a:rPr lang="en-US" sz="1450" dirty="0">
                <a:solidFill>
                  <a:srgbClr val="000000"/>
                </a:solidFill>
                <a:latin typeface="Century Gothic"/>
                <a:cs typeface="Century Gothic"/>
              </a:rPr>
              <a:t>Bar height is the number of patients per level</a:t>
            </a:r>
          </a:p>
          <a:p>
            <a:pPr marL="274320" indent="-274320" algn="l">
              <a:spcBef>
                <a:spcPts val="440"/>
              </a:spcBef>
              <a:buFont typeface="Arial"/>
              <a:buChar char="•"/>
            </a:pPr>
            <a:r>
              <a:rPr lang="en-US" sz="1450" dirty="0">
                <a:solidFill>
                  <a:srgbClr val="000000"/>
                </a:solidFill>
                <a:latin typeface="Century Gothic"/>
                <a:cs typeface="Century Gothic"/>
              </a:rPr>
              <a:t>geom_bar counts categories for you</a:t>
            </a:r>
          </a:p>
          <a:p>
            <a:pPr marL="274320" indent="-274320" algn="l">
              <a:spcBef>
                <a:spcPts val="440"/>
              </a:spcBef>
              <a:buFont typeface="Arial"/>
              <a:buChar char="•"/>
            </a:pPr>
            <a:r>
              <a:rPr lang="en-US" sz="1450" dirty="0">
                <a:solidFill>
                  <a:srgbClr val="000000"/>
                </a:solidFill>
                <a:latin typeface="Century Gothic"/>
                <a:cs typeface="Century Gothic"/>
              </a:rPr>
              <a:t>Compare bar heights, not areas</a:t>
            </a:r>
          </a:p>
          <a:p>
            <a:pPr marL="274320" indent="-274320" algn="l">
              <a:spcBef>
                <a:spcPts val="440"/>
              </a:spcBef>
              <a:buFont typeface="Arial"/>
              <a:buChar char="•"/>
            </a:pPr>
            <a:r>
              <a:rPr lang="en-US" sz="1450" dirty="0">
                <a:solidFill>
                  <a:srgbClr val="000000"/>
                </a:solidFill>
                <a:latin typeface="Century Gothic"/>
                <a:cs typeface="Century Gothic"/>
              </a:rPr>
              <a:t>A baseline at zero keeps comparisons honest</a:t>
            </a:r>
          </a:p>
        </p:txBody>
      </p:sp>
      <p:pic>
        <p:nvPicPr>
          <p:cNvPr id="25" name="Figure"/>
          <p:cNvPicPr>
            <a:picLocks noChangeAspect="1"/>
          </p:cNvPicPr>
          <p:nvPr/>
        </p:nvPicPr>
        <p:blipFill>
          <a:blip r:embed="rId4"/>
          <a:stretch>
            <a:fillRect/>
          </a:stretch>
        </p:blipFill>
        <p:spPr>
          <a:xfrm>
            <a:off x="4307200" y="1150000"/>
            <a:ext cx="6466666" cy="4850000"/>
          </a:xfrm>
          <a:prstGeom prst="rect">
            <a:avLst/>
          </a:prstGeom>
        </p:spPr>
      </p:pic>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Century Gothic"/>
                <a:cs typeface="Century Gothic"/>
              </a:rPr>
              <a:t>Boxplot: SBP by treatment uptake</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Notes"/>
          <p:cNvSpPr txBox="1"/>
          <p:nvPr/>
        </p:nvSpPr>
        <p:spPr>
          <a:xfrm>
            <a:off x="457200" y="1150000"/>
            <a:ext cx="3600000" cy="5000000"/>
          </a:xfrm>
          <a:prstGeom prst="rect">
            <a:avLst/>
          </a:prstGeom>
          <a:noFill/>
          <a:ln>
            <a:noFill/>
          </a:ln>
        </p:spPr>
        <p:txBody>
          <a:bodyPr wrap="square" lIns="91440" tIns="45720" rIns="91440" bIns="45720" rtlCol="0" anchor="t"/>
          <a:lstStyle/>
          <a:p>
            <a:pPr marL="0" indent="0" algn="l">
              <a:buNone/>
            </a:pPr>
            <a:r>
              <a:rPr lang="en-US" sz="1700" b="1" dirty="0">
                <a:solidFill>
                  <a:srgbClr val="0D7377"/>
                </a:solidFill>
                <a:latin typeface="Century Gothic"/>
                <a:cs typeface="Century Gothic"/>
              </a:rPr>
              <a:t>How to read it</a:t>
            </a:r>
          </a:p>
          <a:p>
            <a:pPr marL="274320" indent="-274320" algn="l">
              <a:spcBef>
                <a:spcPts val="440"/>
              </a:spcBef>
              <a:buFont typeface="Arial"/>
              <a:buChar char="•"/>
            </a:pPr>
            <a:r>
              <a:rPr lang="en-US" sz="1450" dirty="0">
                <a:solidFill>
                  <a:srgbClr val="000000"/>
                </a:solidFill>
                <a:latin typeface="Century Gothic"/>
                <a:cs typeface="Century Gothic"/>
              </a:rPr>
              <a:t>The box spans the IQR; the line is the median</a:t>
            </a:r>
          </a:p>
          <a:p>
            <a:pPr marL="274320" indent="-274320" algn="l">
              <a:spcBef>
                <a:spcPts val="440"/>
              </a:spcBef>
              <a:buFont typeface="Arial"/>
              <a:buChar char="•"/>
            </a:pPr>
            <a:r>
              <a:rPr lang="en-US" sz="1450" dirty="0">
                <a:solidFill>
                  <a:srgbClr val="000000"/>
                </a:solidFill>
                <a:latin typeface="Century Gothic"/>
                <a:cs typeface="Century Gothic"/>
              </a:rPr>
              <a:t>Whiskers reach most of the data; dots are outliers</a:t>
            </a:r>
          </a:p>
          <a:p>
            <a:pPr marL="274320" indent="-274320" algn="l">
              <a:spcBef>
                <a:spcPts val="440"/>
              </a:spcBef>
              <a:buFont typeface="Arial"/>
              <a:buChar char="•"/>
            </a:pPr>
            <a:r>
              <a:rPr lang="en-US" sz="1450" dirty="0">
                <a:solidFill>
                  <a:srgbClr val="000000"/>
                </a:solidFill>
                <a:latin typeface="Century Gothic"/>
                <a:cs typeface="Century Gothic"/>
              </a:rPr>
              <a:t>Compare the two medians side by side</a:t>
            </a:r>
          </a:p>
          <a:p>
            <a:pPr marL="274320" indent="-274320" algn="l">
              <a:spcBef>
                <a:spcPts val="440"/>
              </a:spcBef>
              <a:buFont typeface="Arial"/>
              <a:buChar char="•"/>
            </a:pPr>
            <a:r>
              <a:rPr lang="en-US" sz="1450" dirty="0">
                <a:solidFill>
                  <a:srgbClr val="000000"/>
                </a:solidFill>
                <a:latin typeface="Century Gothic"/>
                <a:cs typeface="Century Gothic"/>
              </a:rPr>
              <a:t>Higher SBP among treated hints at sicker patients</a:t>
            </a:r>
          </a:p>
        </p:txBody>
      </p:sp>
      <p:pic>
        <p:nvPicPr>
          <p:cNvPr id="25" name="Figure"/>
          <p:cNvPicPr>
            <a:picLocks noChangeAspect="1"/>
          </p:cNvPicPr>
          <p:nvPr/>
        </p:nvPicPr>
        <p:blipFill>
          <a:blip r:embed="rId4"/>
          <a:stretch>
            <a:fillRect/>
          </a:stretch>
        </p:blipFill>
        <p:spPr>
          <a:xfrm>
            <a:off x="4307200" y="1150000"/>
            <a:ext cx="6466666" cy="4850000"/>
          </a:xfrm>
          <a:prstGeom prst="rect">
            <a:avLst/>
          </a:prstGeom>
        </p:spPr>
      </p:pic>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Century Gothic"/>
                <a:cs typeface="Century Gothic"/>
              </a:rPr>
              <a:t>Boxplot: BMI by blood-pressure category</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Notes"/>
          <p:cNvSpPr txBox="1"/>
          <p:nvPr/>
        </p:nvSpPr>
        <p:spPr>
          <a:xfrm>
            <a:off x="457200" y="1150000"/>
            <a:ext cx="3600000" cy="5000000"/>
          </a:xfrm>
          <a:prstGeom prst="rect">
            <a:avLst/>
          </a:prstGeom>
          <a:noFill/>
          <a:ln>
            <a:noFill/>
          </a:ln>
        </p:spPr>
        <p:txBody>
          <a:bodyPr wrap="square" lIns="91440" tIns="45720" rIns="91440" bIns="45720" rtlCol="0" anchor="t"/>
          <a:lstStyle/>
          <a:p>
            <a:pPr marL="0" indent="0" algn="l">
              <a:buNone/>
            </a:pPr>
            <a:r>
              <a:rPr lang="en-US" sz="1700" b="1" dirty="0">
                <a:solidFill>
                  <a:srgbClr val="0D7377"/>
                </a:solidFill>
                <a:latin typeface="Century Gothic"/>
                <a:cs typeface="Century Gothic"/>
              </a:rPr>
              <a:t>How to read it</a:t>
            </a:r>
          </a:p>
          <a:p>
            <a:pPr marL="274320" indent="-274320" algn="l">
              <a:spcBef>
                <a:spcPts val="440"/>
              </a:spcBef>
              <a:buFont typeface="Arial"/>
              <a:buChar char="•"/>
            </a:pPr>
            <a:r>
              <a:rPr lang="en-US" sz="1450" dirty="0">
                <a:solidFill>
                  <a:srgbClr val="000000"/>
                </a:solidFill>
                <a:latin typeface="Century Gothic"/>
                <a:cs typeface="Century Gothic"/>
              </a:rPr>
              <a:t>One box per blood-pressure category</a:t>
            </a:r>
          </a:p>
          <a:p>
            <a:pPr marL="274320" indent="-274320" algn="l">
              <a:spcBef>
                <a:spcPts val="440"/>
              </a:spcBef>
              <a:buFont typeface="Arial"/>
              <a:buChar char="•"/>
            </a:pPr>
            <a:r>
              <a:rPr lang="en-US" sz="1450" dirty="0">
                <a:solidFill>
                  <a:srgbClr val="000000"/>
                </a:solidFill>
                <a:latin typeface="Century Gothic"/>
                <a:cs typeface="Century Gothic"/>
              </a:rPr>
              <a:t>A rising median across categories suggests a gradient</a:t>
            </a:r>
          </a:p>
          <a:p>
            <a:pPr marL="274320" indent="-274320" algn="l">
              <a:spcBef>
                <a:spcPts val="440"/>
              </a:spcBef>
              <a:buFont typeface="Arial"/>
              <a:buChar char="•"/>
            </a:pPr>
            <a:r>
              <a:rPr lang="en-US" sz="1450" dirty="0">
                <a:solidFill>
                  <a:srgbClr val="000000"/>
                </a:solidFill>
                <a:latin typeface="Century Gothic"/>
                <a:cs typeface="Century Gothic"/>
              </a:rPr>
              <a:t>Box width here reflects styling, not group size</a:t>
            </a:r>
          </a:p>
          <a:p>
            <a:pPr marL="274320" indent="-274320" algn="l">
              <a:spcBef>
                <a:spcPts val="440"/>
              </a:spcBef>
              <a:buFont typeface="Arial"/>
              <a:buChar char="•"/>
            </a:pPr>
            <a:r>
              <a:rPr lang="en-US" sz="1450" dirty="0">
                <a:solidFill>
                  <a:srgbClr val="000000"/>
                </a:solidFill>
                <a:latin typeface="Century Gothic"/>
                <a:cs typeface="Century Gothic"/>
              </a:rPr>
              <a:t>Outliers flag unusually high or low BMI</a:t>
            </a:r>
          </a:p>
        </p:txBody>
      </p:sp>
      <p:pic>
        <p:nvPicPr>
          <p:cNvPr id="25" name="Figure"/>
          <p:cNvPicPr>
            <a:picLocks noChangeAspect="1"/>
          </p:cNvPicPr>
          <p:nvPr/>
        </p:nvPicPr>
        <p:blipFill>
          <a:blip r:embed="rId4"/>
          <a:stretch>
            <a:fillRect/>
          </a:stretch>
        </p:blipFill>
        <p:spPr>
          <a:xfrm>
            <a:off x="4307200" y="1150000"/>
            <a:ext cx="6466666" cy="4850000"/>
          </a:xfrm>
          <a:prstGeom prst="rect">
            <a:avLst/>
          </a:prstGeom>
        </p:spPr>
      </p:pic>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Century Gothic"/>
                <a:cs typeface="Century Gothic"/>
              </a:rPr>
              <a:t>Scatterplot: SBP versus BMI</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Notes"/>
          <p:cNvSpPr txBox="1"/>
          <p:nvPr/>
        </p:nvSpPr>
        <p:spPr>
          <a:xfrm>
            <a:off x="457200" y="1150000"/>
            <a:ext cx="3600000" cy="5000000"/>
          </a:xfrm>
          <a:prstGeom prst="rect">
            <a:avLst/>
          </a:prstGeom>
          <a:noFill/>
          <a:ln>
            <a:noFill/>
          </a:ln>
        </p:spPr>
        <p:txBody>
          <a:bodyPr wrap="square" lIns="91440" tIns="45720" rIns="91440" bIns="45720" rtlCol="0" anchor="t"/>
          <a:lstStyle/>
          <a:p>
            <a:pPr marL="0" indent="0" algn="l">
              <a:buNone/>
            </a:pPr>
            <a:r>
              <a:rPr lang="en-US" sz="1700" b="1" dirty="0">
                <a:solidFill>
                  <a:srgbClr val="0D7377"/>
                </a:solidFill>
                <a:latin typeface="Century Gothic"/>
                <a:cs typeface="Century Gothic"/>
              </a:rPr>
              <a:t>How to read it</a:t>
            </a:r>
          </a:p>
          <a:p>
            <a:pPr marL="274320" indent="-274320" algn="l">
              <a:spcBef>
                <a:spcPts val="440"/>
              </a:spcBef>
              <a:buFont typeface="Arial"/>
              <a:buChar char="•"/>
            </a:pPr>
            <a:r>
              <a:rPr lang="en-US" sz="1450" dirty="0">
                <a:solidFill>
                  <a:srgbClr val="000000"/>
                </a:solidFill>
                <a:latin typeface="Century Gothic"/>
                <a:cs typeface="Century Gothic"/>
              </a:rPr>
              <a:t>Each point is one patient</a:t>
            </a:r>
          </a:p>
          <a:p>
            <a:pPr marL="274320" indent="-274320" algn="l">
              <a:spcBef>
                <a:spcPts val="440"/>
              </a:spcBef>
              <a:buFont typeface="Arial"/>
              <a:buChar char="•"/>
            </a:pPr>
            <a:r>
              <a:rPr lang="en-US" sz="1450" dirty="0">
                <a:solidFill>
                  <a:srgbClr val="000000"/>
                </a:solidFill>
                <a:latin typeface="Century Gothic"/>
                <a:cs typeface="Century Gothic"/>
              </a:rPr>
              <a:t>The line is a fitted linear trend</a:t>
            </a:r>
          </a:p>
          <a:p>
            <a:pPr marL="274320" indent="-274320" algn="l">
              <a:spcBef>
                <a:spcPts val="440"/>
              </a:spcBef>
              <a:buFont typeface="Arial"/>
              <a:buChar char="•"/>
            </a:pPr>
            <a:r>
              <a:rPr lang="en-US" sz="1450" dirty="0">
                <a:solidFill>
                  <a:srgbClr val="000000"/>
                </a:solidFill>
                <a:latin typeface="Century Gothic"/>
                <a:cs typeface="Century Gothic"/>
              </a:rPr>
              <a:t>An upward slope means higher BMI tracks higher SBP</a:t>
            </a:r>
          </a:p>
          <a:p>
            <a:pPr marL="274320" indent="-274320" algn="l">
              <a:spcBef>
                <a:spcPts val="440"/>
              </a:spcBef>
              <a:buFont typeface="Arial"/>
              <a:buChar char="•"/>
            </a:pPr>
            <a:r>
              <a:rPr lang="en-US" sz="1450" dirty="0">
                <a:solidFill>
                  <a:srgbClr val="000000"/>
                </a:solidFill>
                <a:latin typeface="Century Gothic"/>
                <a:cs typeface="Century Gothic"/>
              </a:rPr>
              <a:t>Scatter around the line shows it is not deterministic</a:t>
            </a:r>
          </a:p>
        </p:txBody>
      </p:sp>
      <p:pic>
        <p:nvPicPr>
          <p:cNvPr id="25" name="Figure"/>
          <p:cNvPicPr>
            <a:picLocks noChangeAspect="1"/>
          </p:cNvPicPr>
          <p:nvPr/>
        </p:nvPicPr>
        <p:blipFill>
          <a:blip r:embed="rId4"/>
          <a:stretch>
            <a:fillRect/>
          </a:stretch>
        </p:blipFill>
        <p:spPr>
          <a:xfrm>
            <a:off x="4307200" y="1150000"/>
            <a:ext cx="6466666" cy="4850000"/>
          </a:xfrm>
          <a:prstGeom prst="rect">
            <a:avLst/>
          </a:prstGeom>
        </p:spPr>
      </p:pic>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Century Gothic"/>
                <a:cs typeface="Century Gothic"/>
              </a:rPr>
              <a:t>Demo: build and save a figure</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Intro"/>
          <p:cNvSpPr txBox="1"/>
          <p:nvPr/>
        </p:nvSpPr>
        <p:spPr>
          <a:xfrm>
            <a:off x="457200" y="1080000"/>
            <a:ext cx="11277600" cy="520000"/>
          </a:xfrm>
          <a:prstGeom prst="rect">
            <a:avLst/>
          </a:prstGeom>
          <a:noFill/>
          <a:ln>
            <a:noFill/>
          </a:ln>
        </p:spPr>
        <p:txBody>
          <a:bodyPr wrap="square" lIns="91440" tIns="45720" rIns="91440" bIns="45720" rtlCol="0" anchor="t"/>
          <a:lstStyle/>
          <a:p>
            <a:pPr marL="0" indent="0" algn="l">
              <a:buNone/>
            </a:pPr>
            <a:r>
              <a:rPr lang="en-US" sz="1600" i="1" dirty="0">
                <a:solidFill>
                  <a:srgbClr val="595959"/>
                </a:solidFill>
                <a:latin typeface="Century Gothic"/>
                <a:cs typeface="Century Gothic"/>
              </a:rPr>
              <a:t>One ggplot, then save it at publication quality.</a:t>
            </a:r>
          </a:p>
        </p:txBody>
      </p:sp>
      <p:sp>
        <p:nvSpPr>
          <p:cNvPr id="30" name="Code"/>
          <p:cNvSpPr/>
          <p:nvPr/>
        </p:nvSpPr>
        <p:spPr>
          <a:xfrm>
            <a:off x="457200" y="1640000"/>
            <a:ext cx="11277600" cy="2070000"/>
          </a:xfrm>
          <a:prstGeom prst="roundRect">
            <a:avLst>
              <a:gd name="adj" fmla="val 6000"/>
            </a:avLst>
          </a:prstGeom>
          <a:solidFill>
            <a:srgbClr val="EDF1F2"/>
          </a:solidFill>
          <a:ln>
            <a:noFill/>
          </a:ln>
        </p:spPr>
        <p:txBody>
          <a:bodyPr wrap="square" lIns="137160" tIns="91440" rIns="137160" bIns="91440" rtlCol="0" anchor="t"/>
          <a:lstStyle/>
          <a:p>
            <a:pPr marL="0" indent="0" algn="l">
              <a:lnSpc>
                <a:spcPct val="100000"/>
              </a:lnSpc>
              <a:buNone/>
            </a:pPr>
            <a:r>
              <a:rPr lang="en-US" sz="1300" dirty="0">
                <a:solidFill>
                  <a:srgbClr val="1B3A4B"/>
                </a:solidFill>
                <a:latin typeface="Consolas"/>
                <a:cs typeface="Consolas"/>
              </a:rPr>
              <a:t>p_age &lt;- ggplot(analysis_data, aes(x = age)) +</a:t>
            </a:r>
          </a:p>
          <a:p>
            <a:pPr marL="0" indent="0" algn="l">
              <a:lnSpc>
                <a:spcPct val="100000"/>
              </a:lnSpc>
              <a:buNone/>
            </a:pPr>
            <a:r>
              <a:rPr lang="en-US" sz="1300" dirty="0">
                <a:solidFill>
                  <a:srgbClr val="1B3A4B"/>
                </a:solidFill>
                <a:latin typeface="Consolas"/>
                <a:cs typeface="Consolas"/>
              </a:rPr>
              <a:t>  geom_histogram(binwidth = 5, fill = "#0D7377",</a:t>
            </a:r>
          </a:p>
          <a:p>
            <a:pPr marL="0" indent="0" algn="l">
              <a:lnSpc>
                <a:spcPct val="100000"/>
              </a:lnSpc>
              <a:buNone/>
            </a:pPr>
            <a:r>
              <a:rPr lang="en-US" sz="1300" dirty="0">
                <a:solidFill>
                  <a:srgbClr val="1B3A4B"/>
                </a:solidFill>
                <a:latin typeface="Consolas"/>
                <a:cs typeface="Consolas"/>
              </a:rPr>
              <a:t>                 colour = "white") +</a:t>
            </a:r>
          </a:p>
          <a:p>
            <a:pPr marL="0" indent="0" algn="l">
              <a:lnSpc>
                <a:spcPct val="100000"/>
              </a:lnSpc>
              <a:buNone/>
            </a:pPr>
            <a:r>
              <a:rPr lang="en-US" sz="1300" dirty="0">
                <a:solidFill>
                  <a:srgbClr val="1B3A4B"/>
                </a:solidFill>
                <a:latin typeface="Consolas"/>
                <a:cs typeface="Consolas"/>
              </a:rPr>
              <a:t>  labs(title = "Age distribution",</a:t>
            </a:r>
          </a:p>
          <a:p>
            <a:pPr marL="0" indent="0" algn="l">
              <a:lnSpc>
                <a:spcPct val="100000"/>
              </a:lnSpc>
              <a:buNone/>
            </a:pPr>
            <a:r>
              <a:rPr lang="en-US" sz="1300" dirty="0">
                <a:solidFill>
                  <a:srgbClr val="1B3A4B"/>
                </a:solidFill>
                <a:latin typeface="Consolas"/>
                <a:cs typeface="Consolas"/>
              </a:rPr>
              <a:t>       x = "Age (years)", y = "Number of patients") +</a:t>
            </a:r>
          </a:p>
          <a:p>
            <a:pPr marL="0" indent="0" algn="l">
              <a:lnSpc>
                <a:spcPct val="100000"/>
              </a:lnSpc>
              <a:buNone/>
            </a:pPr>
            <a:r>
              <a:rPr lang="en-US" sz="1300" dirty="0">
                <a:solidFill>
                  <a:srgbClr val="1B3A4B"/>
                </a:solidFill>
                <a:latin typeface="Consolas"/>
                <a:cs typeface="Consolas"/>
              </a:rPr>
              <a:t>  theme_minimal(base_size = 13)</a:t>
            </a:r>
          </a:p>
          <a:p>
            <a:pPr marL="0" indent="0" algn="l">
              <a:lnSpc>
                <a:spcPct val="100000"/>
              </a:lnSpc>
              <a:buNone/>
            </a:pPr>
            <a:r>
              <a:rPr lang="en-US" sz="1300" dirty="0">
                <a:solidFill>
                  <a:srgbClr val="1B3A4B"/>
                </a:solidFill>
                <a:latin typeface="Consolas"/>
                <a:cs typeface="Consolas"/>
              </a:rPr>
              <a:t> </a:t>
            </a:r>
          </a:p>
          <a:p>
            <a:pPr marL="0" indent="0" algn="l">
              <a:lnSpc>
                <a:spcPct val="100000"/>
              </a:lnSpc>
              <a:buNone/>
            </a:pPr>
            <a:r>
              <a:rPr lang="en-US" sz="1300" dirty="0">
                <a:solidFill>
                  <a:srgbClr val="1B3A4B"/>
                </a:solidFill>
                <a:latin typeface="Consolas"/>
                <a:cs typeface="Consolas"/>
              </a:rPr>
              <a:t>ggsave("Resources/day3_hist_age.png", plot = p_age,</a:t>
            </a:r>
          </a:p>
          <a:p>
            <a:pPr marL="0" indent="0" algn="l">
              <a:lnSpc>
                <a:spcPct val="100000"/>
              </a:lnSpc>
              <a:buNone/>
            </a:pPr>
            <a:r>
              <a:rPr lang="en-US" sz="1300" dirty="0">
                <a:solidFill>
                  <a:srgbClr val="1B3A4B"/>
                </a:solidFill>
                <a:latin typeface="Consolas"/>
                <a:cs typeface="Consolas"/>
              </a:rPr>
              <a:t>       width = 7, height = 5, dpi = 300)</a:t>
            </a:r>
          </a:p>
        </p:txBody>
      </p:sp>
      <p:sp>
        <p:nvSpPr>
          <p:cNvPr id="32" name="Note"/>
          <p:cNvSpPr/>
          <p:nvPr/>
        </p:nvSpPr>
        <p:spPr>
          <a:xfrm>
            <a:off x="457200" y="3860000"/>
            <a:ext cx="11277600" cy="470000"/>
          </a:xfrm>
          <a:prstGeom prst="roundRect">
            <a:avLst>
              <a:gd name="adj" fmla="val 6000"/>
            </a:avLst>
          </a:prstGeom>
          <a:solidFill>
            <a:srgbClr val="EAF1F7"/>
          </a:solidFill>
          <a:ln>
            <a:noFill/>
          </a:ln>
        </p:spPr>
        <p:txBody>
          <a:bodyPr wrap="square" lIns="137160" tIns="91440" rIns="137160" bIns="91440" rtlCol="0" anchor="t"/>
          <a:lstStyle/>
          <a:p>
            <a:pPr marL="0" indent="0" algn="l">
              <a:buNone/>
            </a:pPr>
            <a:r>
              <a:rPr lang="en-US" sz="1300" dirty="0">
                <a:solidFill>
                  <a:srgbClr val="1F5C7A"/>
                </a:solidFill>
                <a:latin typeface="Century Gothic"/>
                <a:cs typeface="Century Gothic"/>
              </a:rPr>
              <a:t>INTERPRETATION  -  dpi = 300 is the standard journals expect for raster figures.</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Century Gothic"/>
                <a:cs typeface="Century Gothic"/>
              </a:rPr>
              <a:t>Exporting reproducible outputs</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Body"/>
          <p:cNvSpPr txBox="1"/>
          <p:nvPr/>
        </p:nvSpPr>
        <p:spPr>
          <a:xfrm>
            <a:off x="457200" y="1080000"/>
            <a:ext cx="11277600" cy="3150000"/>
          </a:xfrm>
          <a:prstGeom prst="rect">
            <a:avLst/>
          </a:prstGeom>
          <a:noFill/>
          <a:ln>
            <a:noFill/>
          </a:ln>
        </p:spPr>
        <p:txBody>
          <a:bodyPr wrap="square" lIns="91440" tIns="45720" rIns="91440" bIns="45720" rtlCol="0" anchor="t"/>
          <a:lstStyle/>
          <a:p>
            <a:pPr marL="0" indent="0" algn="l">
              <a:spcBef>
                <a:spcPts val="360"/>
              </a:spcBef>
              <a:buNone/>
            </a:pPr>
            <a:r>
              <a:rPr lang="en-US" sz="2050" b="1" dirty="0">
                <a:solidFill>
                  <a:srgbClr val="0D7377"/>
                </a:solidFill>
                <a:latin typeface="Century Gothic"/>
                <a:cs typeface="Century Gothic"/>
              </a:rPr>
              <a:t>Share results outside R</a:t>
            </a:r>
          </a:p>
          <a:p>
            <a:pPr marL="0" indent="0" algn="l">
              <a:lnSpc>
                <a:spcPct val="108000"/>
              </a:lnSpc>
              <a:spcBef>
                <a:spcPts val="440"/>
              </a:spcBef>
              <a:buNone/>
            </a:pPr>
            <a:r>
              <a:rPr lang="en-US" sz="1800" dirty="0">
                <a:solidFill>
                  <a:srgbClr val="000000"/>
                </a:solidFill>
                <a:latin typeface="Century Gothic"/>
                <a:cs typeface="Century Gothic"/>
              </a:rPr>
              <a:t>write_csv() sends a summary table to co-authors who do not use R</a:t>
            </a:r>
          </a:p>
          <a:p>
            <a:pPr marL="0" indent="0" algn="l">
              <a:lnSpc>
                <a:spcPct val="108000"/>
              </a:lnSpc>
              <a:spcBef>
                <a:spcPts val="440"/>
              </a:spcBef>
              <a:buNone/>
            </a:pPr>
            <a:r>
              <a:rPr lang="en-US" sz="1800" dirty="0">
                <a:solidFill>
                  <a:srgbClr val="000000"/>
                </a:solidFill>
                <a:latin typeface="Century Gothic"/>
                <a:cs typeface="Century Gothic"/>
              </a:rPr>
              <a:t>ggsave(..., dpi = 300) writes a publication-ready figure</a:t>
            </a:r>
          </a:p>
          <a:p>
            <a:pPr marL="0" indent="0" algn="l">
              <a:lnSpc>
                <a:spcPct val="108000"/>
              </a:lnSpc>
              <a:spcBef>
                <a:spcPts val="440"/>
              </a:spcBef>
              <a:buNone/>
            </a:pPr>
            <a:r>
              <a:rPr lang="en-US" sz="1800" dirty="0">
                <a:solidFill>
                  <a:srgbClr val="000000"/>
                </a:solidFill>
                <a:latin typeface="Century Gothic"/>
                <a:cs typeface="Century Gothic"/>
              </a:rPr>
              <a:t>gtsummary exports to Word via as_flex_table and save_as_docx</a:t>
            </a:r>
          </a:p>
          <a:p>
            <a:pPr>
              <a:buNone/>
            </a:pPr>
            <a:endParaRPr sz="1050"/>
          </a:p>
        </p:txBody>
      </p:sp>
      <p:sp>
        <p:nvSpPr>
          <p:cNvPr id="40" name="Callout"/>
          <p:cNvSpPr/>
          <p:nvPr/>
        </p:nvSpPr>
        <p:spPr>
          <a:xfrm>
            <a:off x="457200" y="4835000"/>
            <a:ext cx="11277600" cy="1045000"/>
          </a:xfrm>
          <a:prstGeom prst="roundRect">
            <a:avLst>
              <a:gd name="adj" fmla="val 6000"/>
            </a:avLst>
          </a:prstGeom>
          <a:solidFill>
            <a:srgbClr val="E8F4F4"/>
          </a:solidFill>
          <a:ln>
            <a:noFill/>
          </a:ln>
        </p:spPr>
        <p:txBody>
          <a:bodyPr wrap="square" lIns="137160" tIns="91440" rIns="137160" bIns="91440" rtlCol="0" anchor="t"/>
          <a:lstStyle/>
          <a:p>
            <a:pPr marL="0" indent="0" algn="l">
              <a:buNone/>
            </a:pPr>
            <a:r>
              <a:rPr lang="en-US" sz="1300" b="1" dirty="0">
                <a:solidFill>
                  <a:srgbClr val="0D7377"/>
                </a:solidFill>
                <a:latin typeface="Century Gothic"/>
                <a:cs typeface="Century Gothic"/>
              </a:rPr>
              <a:t>TIP  -  Reproducible by design</a:t>
            </a:r>
          </a:p>
          <a:p>
            <a:pPr marL="0" indent="0" algn="l">
              <a:spcBef>
                <a:spcPts val="100"/>
              </a:spcBef>
              <a:buNone/>
            </a:pPr>
            <a:r>
              <a:rPr lang="en-US" sz="1300" dirty="0">
                <a:solidFill>
                  <a:srgbClr val="000000"/>
                </a:solidFill>
                <a:latin typeface="Century Gothic"/>
                <a:cs typeface="Century Gothic"/>
              </a:rPr>
              <a:t>Save outputs to a folder, not by copy-paste.</a:t>
            </a:r>
          </a:p>
          <a:p>
            <a:pPr marL="0" indent="0" algn="l">
              <a:spcBef>
                <a:spcPts val="100"/>
              </a:spcBef>
              <a:buNone/>
            </a:pPr>
            <a:r>
              <a:rPr lang="en-US" sz="1300" dirty="0">
                <a:solidFill>
                  <a:srgbClr val="000000"/>
                </a:solidFill>
                <a:latin typeface="Century Gothic"/>
                <a:cs typeface="Century Gothic"/>
              </a:rPr>
              <a:t>Rerunning the script regenerates every table and figure.</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Century Gothic"/>
                <a:cs typeface="Century Gothic"/>
              </a:rPr>
              <a:t>Day 3 Exercise: produce Table 1 for a manuscript</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Body"/>
          <p:cNvSpPr txBox="1"/>
          <p:nvPr/>
        </p:nvSpPr>
        <p:spPr>
          <a:xfrm>
            <a:off x="457200" y="1080000"/>
            <a:ext cx="11277600" cy="3150000"/>
          </a:xfrm>
          <a:prstGeom prst="rect">
            <a:avLst/>
          </a:prstGeom>
          <a:noFill/>
          <a:ln>
            <a:noFill/>
          </a:ln>
        </p:spPr>
        <p:txBody>
          <a:bodyPr wrap="square" lIns="91440" tIns="45720" rIns="91440" bIns="45720" rtlCol="0" anchor="t"/>
          <a:lstStyle/>
          <a:p>
            <a:pPr marL="0" indent="0" algn="l">
              <a:spcBef>
                <a:spcPts val="360"/>
              </a:spcBef>
              <a:buNone/>
            </a:pPr>
            <a:r>
              <a:rPr lang="en-US" sz="2050" b="1" dirty="0">
                <a:solidFill>
                  <a:srgbClr val="0D7377"/>
                </a:solidFill>
                <a:latin typeface="Century Gothic"/>
                <a:cs typeface="Century Gothic"/>
              </a:rPr>
              <a:t>Your tasks</a:t>
            </a:r>
          </a:p>
          <a:p>
            <a:pPr marL="0" indent="0" algn="l">
              <a:lnSpc>
                <a:spcPct val="108000"/>
              </a:lnSpc>
              <a:spcBef>
                <a:spcPts val="440"/>
              </a:spcBef>
              <a:buNone/>
            </a:pPr>
            <a:r>
              <a:rPr lang="en-US" sz="1800" dirty="0">
                <a:solidFill>
                  <a:srgbClr val="000000"/>
                </a:solidFill>
                <a:latin typeface="Century Gothic"/>
                <a:cs typeface="Century Gothic"/>
              </a:rPr>
              <a:t>1. readRDS the clean analysis data</a:t>
            </a:r>
          </a:p>
          <a:p>
            <a:pPr marL="0" indent="0" algn="l">
              <a:lnSpc>
                <a:spcPct val="108000"/>
              </a:lnSpc>
              <a:spcBef>
                <a:spcPts val="440"/>
              </a:spcBef>
              <a:buNone/>
            </a:pPr>
            <a:r>
              <a:rPr lang="en-US" sz="1800" dirty="0">
                <a:solidFill>
                  <a:srgbClr val="000000"/>
                </a:solidFill>
                <a:latin typeface="Century Gothic"/>
                <a:cs typeface="Century Gothic"/>
              </a:rPr>
              <a:t>2. Build a Table 1 with tbl_summary(by = treatment_uptake)</a:t>
            </a:r>
          </a:p>
          <a:p>
            <a:pPr marL="0" indent="0" algn="l">
              <a:lnSpc>
                <a:spcPct val="108000"/>
              </a:lnSpc>
              <a:spcBef>
                <a:spcPts val="440"/>
              </a:spcBef>
              <a:buNone/>
            </a:pPr>
            <a:r>
              <a:rPr lang="en-US" sz="1800" dirty="0">
                <a:solidFill>
                  <a:srgbClr val="000000"/>
                </a:solidFill>
                <a:latin typeface="Century Gothic"/>
                <a:cs typeface="Century Gothic"/>
              </a:rPr>
              <a:t>3. Add p-values and an overall column</a:t>
            </a:r>
          </a:p>
          <a:p>
            <a:pPr marL="0" indent="0" algn="l">
              <a:lnSpc>
                <a:spcPct val="108000"/>
              </a:lnSpc>
              <a:spcBef>
                <a:spcPts val="440"/>
              </a:spcBef>
              <a:buNone/>
            </a:pPr>
            <a:r>
              <a:rPr lang="en-US" sz="1800" dirty="0">
                <a:solidFill>
                  <a:srgbClr val="000000"/>
                </a:solidFill>
                <a:latin typeface="Century Gothic"/>
                <a:cs typeface="Century Gothic"/>
              </a:rPr>
              <a:t>4. Create a histogram and a boxplot, then ggsave both at 300 dpi</a:t>
            </a:r>
          </a:p>
          <a:p>
            <a:pPr>
              <a:buNone/>
            </a:pPr>
            <a:endParaRPr sz="1050"/>
          </a:p>
          <a:p>
            <a:pPr marL="0" indent="0" algn="l">
              <a:spcBef>
                <a:spcPts val="360"/>
              </a:spcBef>
              <a:buNone/>
            </a:pPr>
            <a:r>
              <a:rPr lang="en-US" sz="2050" b="1" dirty="0">
                <a:solidFill>
                  <a:srgbClr val="0D7377"/>
                </a:solidFill>
                <a:latin typeface="Century Gothic"/>
                <a:cs typeface="Century Gothic"/>
              </a:rPr>
              <a:t>Expected output</a:t>
            </a:r>
          </a:p>
          <a:p>
            <a:pPr marL="0" indent="0" algn="l">
              <a:lnSpc>
                <a:spcPct val="108000"/>
              </a:lnSpc>
              <a:spcBef>
                <a:spcPts val="440"/>
              </a:spcBef>
              <a:buNone/>
            </a:pPr>
            <a:r>
              <a:rPr lang="en-US" sz="1800" dirty="0">
                <a:solidFill>
                  <a:srgbClr val="000000"/>
                </a:solidFill>
                <a:latin typeface="Century Gothic"/>
                <a:cs typeface="Century Gothic"/>
              </a:rPr>
              <a:t>A baseline characteristics table split by treatment uptake</a:t>
            </a:r>
          </a:p>
          <a:p>
            <a:pPr marL="0" indent="0" algn="l">
              <a:lnSpc>
                <a:spcPct val="108000"/>
              </a:lnSpc>
              <a:spcBef>
                <a:spcPts val="440"/>
              </a:spcBef>
              <a:buNone/>
            </a:pPr>
            <a:r>
              <a:rPr lang="en-US" sz="1800" dirty="0">
                <a:solidFill>
                  <a:srgbClr val="000000"/>
                </a:solidFill>
                <a:latin typeface="Century Gothic"/>
                <a:cs typeface="Century Gothic"/>
              </a:rPr>
              <a:t>Two saved PNG figures in the Resources folder</a:t>
            </a:r>
          </a:p>
          <a:p>
            <a:pPr>
              <a:buNone/>
            </a:pPr>
            <a:endParaRPr sz="1050"/>
          </a:p>
        </p:txBody>
      </p:sp>
      <p:sp>
        <p:nvSpPr>
          <p:cNvPr id="40" name="Callout"/>
          <p:cNvSpPr/>
          <p:nvPr/>
        </p:nvSpPr>
        <p:spPr>
          <a:xfrm>
            <a:off x="457200" y="5070000"/>
            <a:ext cx="11277600" cy="810000"/>
          </a:xfrm>
          <a:prstGeom prst="roundRect">
            <a:avLst>
              <a:gd name="adj" fmla="val 6000"/>
            </a:avLst>
          </a:prstGeom>
          <a:solidFill>
            <a:srgbClr val="E8F4F4"/>
          </a:solidFill>
          <a:ln>
            <a:noFill/>
          </a:ln>
        </p:spPr>
        <p:txBody>
          <a:bodyPr wrap="square" lIns="137160" tIns="91440" rIns="137160" bIns="91440" rtlCol="0" anchor="t"/>
          <a:lstStyle/>
          <a:p>
            <a:pPr marL="0" indent="0" algn="l">
              <a:buNone/>
            </a:pPr>
            <a:r>
              <a:rPr lang="en-US" sz="1300" b="1" dirty="0">
                <a:solidFill>
                  <a:srgbClr val="0D7377"/>
                </a:solidFill>
                <a:latin typeface="Century Gothic"/>
                <a:cs typeface="Century Gothic"/>
              </a:rPr>
              <a:t>TIP  -  If you get stuck</a:t>
            </a:r>
          </a:p>
          <a:p>
            <a:pPr marL="0" indent="0" algn="l">
              <a:spcBef>
                <a:spcPts val="100"/>
              </a:spcBef>
              <a:buNone/>
            </a:pPr>
            <a:r>
              <a:rPr lang="en-US" sz="1300" dirty="0">
                <a:solidFill>
                  <a:srgbClr val="000000"/>
                </a:solidFill>
                <a:latin typeface="Century Gothic"/>
                <a:cs typeface="Century Gothic"/>
              </a:rPr>
              <a:t>Reuse the demo code; change only the variable names.</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Century Gothic"/>
                <a:cs typeface="Century Gothic"/>
              </a:rPr>
              <a:t>Recap and bridge to Day 4</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Body"/>
          <p:cNvSpPr txBox="1"/>
          <p:nvPr/>
        </p:nvSpPr>
        <p:spPr>
          <a:xfrm>
            <a:off x="457200" y="1080000"/>
            <a:ext cx="11277600" cy="4780000"/>
          </a:xfrm>
          <a:prstGeom prst="rect">
            <a:avLst/>
          </a:prstGeom>
          <a:noFill/>
          <a:ln>
            <a:noFill/>
          </a:ln>
        </p:spPr>
        <p:txBody>
          <a:bodyPr wrap="square" lIns="91440" tIns="45720" rIns="91440" bIns="45720" rtlCol="0" anchor="ctr"/>
          <a:lstStyle/>
          <a:p>
            <a:pPr marL="0" indent="0" algn="l">
              <a:lnSpc>
                <a:spcPct val="108000"/>
              </a:lnSpc>
              <a:buNone/>
            </a:pPr>
            <a:r>
              <a:rPr lang="en-US" sz="1900" i="1" dirty="0">
                <a:solidFill>
                  <a:srgbClr val="595959"/>
                </a:solidFill>
                <a:latin typeface="Century Gothic"/>
                <a:cs typeface="Century Gothic"/>
              </a:rPr>
              <a:t>What we locked in today, and where we go next:</a:t>
            </a:r>
          </a:p>
          <a:p>
            <a:pPr>
              <a:buNone/>
            </a:pPr>
            <a:endParaRPr sz="950"/>
          </a:p>
          <a:p>
            <a:pPr marL="274320" indent="-274320" algn="l">
              <a:lnSpc>
                <a:spcPct val="106000"/>
              </a:lnSpc>
              <a:spcBef>
                <a:spcPts val="560"/>
              </a:spcBef>
              <a:buFont typeface="Arial"/>
              <a:buChar char="•"/>
            </a:pPr>
            <a:r>
              <a:rPr lang="en-US" sz="1950" dirty="0">
                <a:solidFill>
                  <a:srgbClr val="000000"/>
                </a:solidFill>
                <a:latin typeface="Century Gothic"/>
                <a:cs typeface="Century Gothic"/>
              </a:rPr>
              <a:t>Always use na.rm = TRUE; it is the number-one trap</a:t>
            </a:r>
          </a:p>
          <a:p>
            <a:pPr marL="274320" indent="-274320" algn="l">
              <a:lnSpc>
                <a:spcPct val="106000"/>
              </a:lnSpc>
              <a:spcBef>
                <a:spcPts val="560"/>
              </a:spcBef>
              <a:buFont typeface="Arial"/>
              <a:buChar char="•"/>
            </a:pPr>
            <a:r>
              <a:rPr lang="en-US" sz="1950" dirty="0">
                <a:solidFill>
                  <a:srgbClr val="000000"/>
                </a:solidFill>
                <a:latin typeface="Century Gothic"/>
                <a:cs typeface="Century Gothic"/>
              </a:rPr>
              <a:t>Choose median (IQR) for skewed clinical variables</a:t>
            </a:r>
          </a:p>
          <a:p>
            <a:pPr marL="274320" indent="-274320" algn="l">
              <a:lnSpc>
                <a:spcPct val="106000"/>
              </a:lnSpc>
              <a:spcBef>
                <a:spcPts val="560"/>
              </a:spcBef>
              <a:buFont typeface="Arial"/>
              <a:buChar char="•"/>
            </a:pPr>
            <a:r>
              <a:rPr lang="en-US" sz="1950" dirty="0">
                <a:solidFill>
                  <a:srgbClr val="000000"/>
                </a:solidFill>
                <a:latin typeface="Century Gothic"/>
                <a:cs typeface="Century Gothic"/>
              </a:rPr>
              <a:t>Pick the prop.table margin that matches your question</a:t>
            </a:r>
          </a:p>
          <a:p>
            <a:pPr marL="274320" indent="-274320" algn="l">
              <a:lnSpc>
                <a:spcPct val="106000"/>
              </a:lnSpc>
              <a:spcBef>
                <a:spcPts val="560"/>
              </a:spcBef>
              <a:buFont typeface="Arial"/>
              <a:buChar char="•"/>
            </a:pPr>
            <a:r>
              <a:rPr lang="en-US" sz="1950" dirty="0">
                <a:solidFill>
                  <a:srgbClr val="000000"/>
                </a:solidFill>
                <a:latin typeface="Century Gothic"/>
                <a:cs typeface="Century Gothic"/>
              </a:rPr>
              <a:t>gtsummary turns raw data into a Table 1 in a few lines</a:t>
            </a:r>
          </a:p>
          <a:p>
            <a:pPr marL="274320" indent="-274320" algn="l">
              <a:lnSpc>
                <a:spcPct val="106000"/>
              </a:lnSpc>
              <a:spcBef>
                <a:spcPts val="560"/>
              </a:spcBef>
              <a:buFont typeface="Arial"/>
              <a:buChar char="•"/>
            </a:pPr>
            <a:r>
              <a:rPr lang="en-US" sz="1950" dirty="0">
                <a:solidFill>
                  <a:srgbClr val="000000"/>
                </a:solidFill>
                <a:latin typeface="Century Gothic"/>
                <a:cs typeface="Century Gothic"/>
              </a:rPr>
              <a:t>Match the chart to the variable type, and save at 300 dpi</a:t>
            </a:r>
          </a:p>
          <a:p>
            <a:pPr marL="274320" indent="-274320" algn="l">
              <a:lnSpc>
                <a:spcPct val="106000"/>
              </a:lnSpc>
              <a:spcBef>
                <a:spcPts val="560"/>
              </a:spcBef>
              <a:buFont typeface="Arial"/>
              <a:buChar char="•"/>
            </a:pPr>
            <a:r>
              <a:rPr lang="en-US" sz="1950" dirty="0">
                <a:solidFill>
                  <a:srgbClr val="000000"/>
                </a:solidFill>
                <a:latin typeface="Century Gothic"/>
                <a:cs typeface="Century Gothic"/>
              </a:rPr>
              <a:t>Day 4: from describing to testing, regression and odds ratios</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 name="DayTitle"/>
          <p:cNvSpPr txBox="1"/>
          <p:nvPr/>
        </p:nvSpPr>
        <p:spPr>
          <a:xfrm>
            <a:off x="457200" y="548640"/>
            <a:ext cx="11430000" cy="700000"/>
          </a:xfrm>
          <a:prstGeom prst="rect">
            <a:avLst/>
          </a:prstGeom>
          <a:noFill/>
          <a:ln>
            <a:noFill/>
          </a:ln>
        </p:spPr>
        <p:txBody>
          <a:bodyPr wrap="square" lIns="91440" tIns="45720" rIns="91440" bIns="45720" rtlCol="0" anchor="t"/>
          <a:lstStyle/>
          <a:p>
            <a:pPr marL="0" indent="0" algn="l">
              <a:buNone/>
            </a:pPr>
            <a:r>
              <a:rPr lang="en-US" sz="3200" b="1" dirty="0">
                <a:solidFill>
                  <a:srgbClr val="0D7377"/>
                </a:solidFill>
                <a:latin typeface="Century Gothic"/>
                <a:cs typeface="Century Gothic"/>
              </a:rPr>
              <a:t>Day 4: Common Medical Statistical Tests</a:t>
            </a:r>
          </a:p>
        </p:txBody>
      </p:sp>
      <p:sp>
        <p:nvSpPr>
          <p:cNvPr id="7" name="Rule"/>
          <p:cNvSpPr/>
          <p:nvPr/>
        </p:nvSpPr>
        <p:spPr>
          <a:xfrm>
            <a:off x="457200" y="1325880"/>
            <a:ext cx="11277600" cy="19050"/>
          </a:xfrm>
          <a:prstGeom prst="rect">
            <a:avLst/>
          </a:prstGeom>
          <a:solidFill>
            <a:srgbClr val="0D7377"/>
          </a:solidFill>
          <a:ln>
            <a:noFill/>
          </a:ln>
        </p:spPr>
        <p:txBody>
          <a:bodyPr/>
          <a:lstStyle/>
          <a:p>
            <a:endParaRPr/>
          </a:p>
        </p:txBody>
      </p:sp>
      <p:sp>
        <p:nvSpPr>
          <p:cNvPr id="8" name="Agenda"/>
          <p:cNvSpPr txBox="1"/>
          <p:nvPr/>
        </p:nvSpPr>
        <p:spPr>
          <a:xfrm>
            <a:off x="457200" y="1600000"/>
            <a:ext cx="11277600" cy="4400000"/>
          </a:xfrm>
          <a:prstGeom prst="rect">
            <a:avLst/>
          </a:prstGeom>
          <a:noFill/>
          <a:ln>
            <a:noFill/>
          </a:ln>
        </p:spPr>
        <p:txBody>
          <a:bodyPr wrap="square" lIns="91440" tIns="45720" rIns="91440" bIns="45720" rtlCol="0" anchor="t"/>
          <a:lstStyle/>
          <a:p>
            <a:pPr marL="0" indent="0" algn="l">
              <a:buNone/>
            </a:pPr>
            <a:r>
              <a:rPr lang="en-US" sz="2800" dirty="0">
                <a:solidFill>
                  <a:srgbClr val="0070C0"/>
                </a:solidFill>
                <a:latin typeface="Century Gothic"/>
                <a:cs typeface="Century Gothic"/>
              </a:rPr>
              <a:t>Plan</a:t>
            </a:r>
          </a:p>
          <a:p>
            <a:pPr>
              <a:buNone/>
            </a:pPr>
            <a:endParaRPr sz="800"/>
          </a:p>
          <a:p>
            <a:pPr marL="274320" indent="-274320" algn="l">
              <a:spcBef>
                <a:spcPts val="440"/>
              </a:spcBef>
              <a:buFont typeface="Arial"/>
              <a:buChar char="•"/>
            </a:pPr>
            <a:r>
              <a:rPr lang="en-US" sz="1900" dirty="0">
                <a:solidFill>
                  <a:srgbClr val="000000"/>
                </a:solidFill>
                <a:latin typeface="Century Gothic"/>
                <a:cs typeface="Century Gothic"/>
              </a:rPr>
              <a:t>Hypothesis testing basics</a:t>
            </a:r>
          </a:p>
          <a:p>
            <a:pPr marL="274320" indent="-274320" algn="l">
              <a:spcBef>
                <a:spcPts val="440"/>
              </a:spcBef>
              <a:buFont typeface="Arial"/>
              <a:buChar char="•"/>
            </a:pPr>
            <a:r>
              <a:rPr lang="en-US" sz="1900" dirty="0">
                <a:solidFill>
                  <a:srgbClr val="000000"/>
                </a:solidFill>
                <a:latin typeface="Century Gothic"/>
                <a:cs typeface="Century Gothic"/>
              </a:rPr>
              <a:t>Comparing two groups: t-test and Wilcoxon</a:t>
            </a:r>
          </a:p>
          <a:p>
            <a:pPr marL="274320" indent="-274320" algn="l">
              <a:spcBef>
                <a:spcPts val="440"/>
              </a:spcBef>
              <a:buFont typeface="Arial"/>
              <a:buChar char="•"/>
            </a:pPr>
            <a:r>
              <a:rPr lang="en-US" sz="1900" dirty="0">
                <a:solidFill>
                  <a:srgbClr val="000000"/>
                </a:solidFill>
                <a:latin typeface="Century Gothic"/>
                <a:cs typeface="Century Gothic"/>
              </a:rPr>
              <a:t>More than two groups: ANOVA</a:t>
            </a:r>
          </a:p>
          <a:p>
            <a:pPr marL="274320" indent="-274320" algn="l">
              <a:spcBef>
                <a:spcPts val="440"/>
              </a:spcBef>
              <a:buFont typeface="Arial"/>
              <a:buChar char="•"/>
            </a:pPr>
            <a:r>
              <a:rPr lang="en-US" sz="1900" dirty="0">
                <a:solidFill>
                  <a:srgbClr val="000000"/>
                </a:solidFill>
                <a:latin typeface="Century Gothic"/>
                <a:cs typeface="Century Gothic"/>
              </a:rPr>
              <a:t>Categorical association: chi-square and Fisher</a:t>
            </a:r>
          </a:p>
          <a:p>
            <a:pPr marL="274320" indent="-274320" algn="l">
              <a:spcBef>
                <a:spcPts val="440"/>
              </a:spcBef>
              <a:buFont typeface="Arial"/>
              <a:buChar char="•"/>
            </a:pPr>
            <a:r>
              <a:rPr lang="en-US" sz="1900" dirty="0">
                <a:solidFill>
                  <a:srgbClr val="000000"/>
                </a:solidFill>
                <a:latin typeface="Century Gothic"/>
                <a:cs typeface="Century Gothic"/>
              </a:rPr>
              <a:t>Correlation and choosing the right test</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Century Gothic"/>
                <a:cs typeface="Century Gothic"/>
              </a:rPr>
              <a:t>What We Will Cover Today</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Body"/>
          <p:cNvSpPr txBox="1"/>
          <p:nvPr/>
        </p:nvSpPr>
        <p:spPr>
          <a:xfrm>
            <a:off x="457200" y="1080000"/>
            <a:ext cx="11277600" cy="4780000"/>
          </a:xfrm>
          <a:prstGeom prst="rect">
            <a:avLst/>
          </a:prstGeom>
          <a:noFill/>
          <a:ln>
            <a:noFill/>
          </a:ln>
        </p:spPr>
        <p:txBody>
          <a:bodyPr wrap="square" lIns="91440" tIns="45720" rIns="91440" bIns="45720" rtlCol="0" anchor="ctr"/>
          <a:lstStyle/>
          <a:p>
            <a:pPr marL="0" indent="0" algn="l">
              <a:lnSpc>
                <a:spcPct val="108000"/>
              </a:lnSpc>
              <a:buNone/>
            </a:pPr>
            <a:r>
              <a:rPr lang="en-US" sz="1900" i="1" dirty="0">
                <a:solidFill>
                  <a:srgbClr val="595959"/>
                </a:solidFill>
                <a:latin typeface="Century Gothic"/>
                <a:cs typeface="Century Gothic"/>
              </a:rPr>
              <a:t>Choosing and running the common tests used in clinical research.</a:t>
            </a:r>
          </a:p>
          <a:p>
            <a:pPr>
              <a:buNone/>
            </a:pPr>
            <a:endParaRPr sz="950"/>
          </a:p>
          <a:p>
            <a:pPr marL="274320" indent="-274320" algn="l">
              <a:lnSpc>
                <a:spcPct val="106000"/>
              </a:lnSpc>
              <a:spcBef>
                <a:spcPts val="560"/>
              </a:spcBef>
              <a:buFont typeface="Arial"/>
              <a:buChar char="•"/>
            </a:pPr>
            <a:r>
              <a:rPr lang="en-US" sz="1950" dirty="0">
                <a:solidFill>
                  <a:srgbClr val="000000"/>
                </a:solidFill>
                <a:latin typeface="Century Gothic"/>
                <a:cs typeface="Century Gothic"/>
              </a:rPr>
              <a:t>Hypothesis testing: null, alternative, p-values and significance</a:t>
            </a:r>
          </a:p>
          <a:p>
            <a:pPr marL="274320" indent="-274320" algn="l">
              <a:lnSpc>
                <a:spcPct val="106000"/>
              </a:lnSpc>
              <a:spcBef>
                <a:spcPts val="560"/>
              </a:spcBef>
              <a:buFont typeface="Arial"/>
              <a:buChar char="•"/>
            </a:pPr>
            <a:r>
              <a:rPr lang="en-US" sz="1950" dirty="0">
                <a:solidFill>
                  <a:srgbClr val="000000"/>
                </a:solidFill>
                <a:latin typeface="Century Gothic"/>
                <a:cs typeface="Century Gothic"/>
              </a:rPr>
              <a:t>Checking normality before choosing a test</a:t>
            </a:r>
          </a:p>
          <a:p>
            <a:pPr marL="274320" indent="-274320" algn="l">
              <a:lnSpc>
                <a:spcPct val="106000"/>
              </a:lnSpc>
              <a:spcBef>
                <a:spcPts val="560"/>
              </a:spcBef>
              <a:buFont typeface="Arial"/>
              <a:buChar char="•"/>
            </a:pPr>
            <a:r>
              <a:rPr lang="en-US" sz="1950" dirty="0">
                <a:solidFill>
                  <a:srgbClr val="000000"/>
                </a:solidFill>
                <a:latin typeface="Century Gothic"/>
                <a:cs typeface="Century Gothic"/>
              </a:rPr>
              <a:t>Comparing two groups: t-test and Wilcoxon</a:t>
            </a:r>
          </a:p>
          <a:p>
            <a:pPr marL="274320" indent="-274320" algn="l">
              <a:lnSpc>
                <a:spcPct val="106000"/>
              </a:lnSpc>
              <a:spcBef>
                <a:spcPts val="560"/>
              </a:spcBef>
              <a:buFont typeface="Arial"/>
              <a:buChar char="•"/>
            </a:pPr>
            <a:r>
              <a:rPr lang="en-US" sz="1950" dirty="0">
                <a:solidFill>
                  <a:srgbClr val="000000"/>
                </a:solidFill>
                <a:latin typeface="Century Gothic"/>
                <a:cs typeface="Century Gothic"/>
              </a:rPr>
              <a:t>Comparing more than two groups: ANOVA and Tukey</a:t>
            </a:r>
          </a:p>
          <a:p>
            <a:pPr marL="274320" indent="-274320" algn="l">
              <a:lnSpc>
                <a:spcPct val="106000"/>
              </a:lnSpc>
              <a:spcBef>
                <a:spcPts val="560"/>
              </a:spcBef>
              <a:buFont typeface="Arial"/>
              <a:buChar char="•"/>
            </a:pPr>
            <a:r>
              <a:rPr lang="en-US" sz="1950" dirty="0">
                <a:solidFill>
                  <a:srgbClr val="000000"/>
                </a:solidFill>
                <a:latin typeface="Century Gothic"/>
                <a:cs typeface="Century Gothic"/>
              </a:rPr>
              <a:t>Categorical association: chi-square and Fisher's exact</a:t>
            </a:r>
          </a:p>
          <a:p>
            <a:pPr marL="274320" indent="-274320" algn="l">
              <a:lnSpc>
                <a:spcPct val="106000"/>
              </a:lnSpc>
              <a:spcBef>
                <a:spcPts val="560"/>
              </a:spcBef>
              <a:buFont typeface="Arial"/>
              <a:buChar char="•"/>
            </a:pPr>
            <a:r>
              <a:rPr lang="en-US" sz="1950" dirty="0">
                <a:solidFill>
                  <a:srgbClr val="000000"/>
                </a:solidFill>
                <a:latin typeface="Century Gothic"/>
                <a:cs typeface="Century Gothic"/>
              </a:rPr>
              <a:t>Correlation: Pearson and Spearman</a:t>
            </a:r>
          </a:p>
          <a:p>
            <a:pPr marL="274320" indent="-274320" algn="l">
              <a:lnSpc>
                <a:spcPct val="106000"/>
              </a:lnSpc>
              <a:spcBef>
                <a:spcPts val="560"/>
              </a:spcBef>
              <a:buFont typeface="Arial"/>
              <a:buChar char="•"/>
            </a:pPr>
            <a:r>
              <a:rPr lang="en-US" sz="1950" dirty="0">
                <a:solidFill>
                  <a:srgbClr val="000000"/>
                </a:solidFill>
                <a:latin typeface="Century Gothic"/>
                <a:cs typeface="Century Gothic"/>
              </a:rPr>
              <a:t>A decision framework: matching the question to the test</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Century Gothic"/>
                <a:cs typeface="Century Gothic"/>
              </a:rPr>
              <a:t>The Analytic Question</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Body"/>
          <p:cNvSpPr txBox="1"/>
          <p:nvPr/>
        </p:nvSpPr>
        <p:spPr>
          <a:xfrm>
            <a:off x="457200" y="1080000"/>
            <a:ext cx="11277600" cy="3150000"/>
          </a:xfrm>
          <a:prstGeom prst="rect">
            <a:avLst/>
          </a:prstGeom>
          <a:noFill/>
          <a:ln>
            <a:noFill/>
          </a:ln>
        </p:spPr>
        <p:txBody>
          <a:bodyPr wrap="square" lIns="91440" tIns="45720" rIns="91440" bIns="45720" rtlCol="0" anchor="t"/>
          <a:lstStyle/>
          <a:p>
            <a:pPr marL="0" indent="0" algn="l">
              <a:spcBef>
                <a:spcPts val="360"/>
              </a:spcBef>
              <a:buNone/>
            </a:pPr>
            <a:r>
              <a:rPr lang="en-US" sz="2050" b="1" dirty="0">
                <a:solidFill>
                  <a:srgbClr val="0D7377"/>
                </a:solidFill>
                <a:latin typeface="Century Gothic"/>
                <a:cs typeface="Century Gothic"/>
              </a:rPr>
              <a:t>Our research question</a:t>
            </a:r>
          </a:p>
          <a:p>
            <a:pPr marL="0" indent="0" algn="l">
              <a:lnSpc>
                <a:spcPct val="108000"/>
              </a:lnSpc>
              <a:spcBef>
                <a:spcPts val="440"/>
              </a:spcBef>
              <a:buNone/>
            </a:pPr>
            <a:r>
              <a:rPr lang="en-US" sz="1800" dirty="0">
                <a:solidFill>
                  <a:srgbClr val="000000"/>
                </a:solidFill>
                <a:latin typeface="Century Gothic"/>
                <a:cs typeface="Century Gothic"/>
              </a:rPr>
              <a:t>Do patients on treatment differ from those not on treatment?</a:t>
            </a:r>
          </a:p>
          <a:p>
            <a:pPr marL="0" indent="0" algn="l">
              <a:lnSpc>
                <a:spcPct val="108000"/>
              </a:lnSpc>
              <a:spcBef>
                <a:spcPts val="440"/>
              </a:spcBef>
              <a:buNone/>
            </a:pPr>
            <a:r>
              <a:rPr lang="en-US" sz="1800" dirty="0">
                <a:solidFill>
                  <a:srgbClr val="000000"/>
                </a:solidFill>
                <a:latin typeface="Century Gothic"/>
                <a:cs typeface="Century Gothic"/>
              </a:rPr>
              <a:t>Which characteristics (age, sex, comorbidity) differ between the two groups?</a:t>
            </a:r>
          </a:p>
          <a:p>
            <a:pPr>
              <a:buNone/>
            </a:pPr>
            <a:endParaRPr sz="1050"/>
          </a:p>
          <a:p>
            <a:pPr marL="0" indent="0" algn="l">
              <a:spcBef>
                <a:spcPts val="360"/>
              </a:spcBef>
              <a:buNone/>
            </a:pPr>
            <a:r>
              <a:rPr lang="en-US" sz="2050" b="1" dirty="0">
                <a:solidFill>
                  <a:srgbClr val="0D7377"/>
                </a:solidFill>
                <a:latin typeface="Century Gothic"/>
                <a:cs typeface="Century Gothic"/>
              </a:rPr>
              <a:t>Define the analytic population FIRST</a:t>
            </a:r>
          </a:p>
          <a:p>
            <a:pPr marL="0" indent="0" algn="l">
              <a:lnSpc>
                <a:spcPct val="108000"/>
              </a:lnSpc>
              <a:spcBef>
                <a:spcPts val="440"/>
              </a:spcBef>
              <a:buNone/>
            </a:pPr>
            <a:r>
              <a:rPr lang="en-US" sz="1800" dirty="0">
                <a:solidFill>
                  <a:srgbClr val="000000"/>
                </a:solidFill>
                <a:latin typeface="Century Gothic"/>
                <a:cs typeface="Century Gothic"/>
              </a:rPr>
              <a:t>Uptake only makes sense for those already diagnosed.</a:t>
            </a:r>
          </a:p>
          <a:p>
            <a:pPr marL="0" indent="0" algn="l">
              <a:lnSpc>
                <a:spcPct val="108000"/>
              </a:lnSpc>
              <a:spcBef>
                <a:spcPts val="440"/>
              </a:spcBef>
              <a:buNone/>
            </a:pPr>
            <a:r>
              <a:rPr lang="en-US" sz="1800" dirty="0">
                <a:solidFill>
                  <a:srgbClr val="000000"/>
                </a:solidFill>
                <a:latin typeface="Century Gothic"/>
                <a:cs typeface="Century Gothic"/>
              </a:rPr>
              <a:t>We restrict to htn_diagnosed == "Yes" (about 1,089 patients).</a:t>
            </a:r>
          </a:p>
          <a:p>
            <a:pPr marL="0" indent="0" algn="l">
              <a:lnSpc>
                <a:spcPct val="108000"/>
              </a:lnSpc>
              <a:spcBef>
                <a:spcPts val="440"/>
              </a:spcBef>
              <a:buNone/>
            </a:pPr>
            <a:r>
              <a:rPr lang="en-US" sz="1800" dirty="0">
                <a:solidFill>
                  <a:srgbClr val="000000"/>
                </a:solidFill>
                <a:latin typeface="Century Gothic"/>
                <a:cs typeface="Century Gothic"/>
              </a:rPr>
              <a:t>Roughly 47% of diagnosed patients had taken up treatment.</a:t>
            </a:r>
          </a:p>
          <a:p>
            <a:pPr>
              <a:buNone/>
            </a:pPr>
            <a:endParaRPr sz="1050"/>
          </a:p>
        </p:txBody>
      </p:sp>
      <p:sp>
        <p:nvSpPr>
          <p:cNvPr id="40" name="Callout"/>
          <p:cNvSpPr/>
          <p:nvPr/>
        </p:nvSpPr>
        <p:spPr>
          <a:xfrm>
            <a:off x="457200" y="5070000"/>
            <a:ext cx="11277600" cy="810000"/>
          </a:xfrm>
          <a:prstGeom prst="roundRect">
            <a:avLst>
              <a:gd name="adj" fmla="val 6000"/>
            </a:avLst>
          </a:prstGeom>
          <a:solidFill>
            <a:srgbClr val="FFF4E5"/>
          </a:solidFill>
          <a:ln>
            <a:noFill/>
          </a:ln>
        </p:spPr>
        <p:txBody>
          <a:bodyPr wrap="square" lIns="137160" tIns="91440" rIns="137160" bIns="91440" rtlCol="0" anchor="t"/>
          <a:lstStyle/>
          <a:p>
            <a:pPr marL="0" indent="0" algn="l">
              <a:buNone/>
            </a:pPr>
            <a:r>
              <a:rPr lang="en-US" sz="1300" b="1" dirty="0">
                <a:solidFill>
                  <a:srgbClr val="B5651D"/>
                </a:solidFill>
                <a:latin typeface="Century Gothic"/>
                <a:cs typeface="Century Gothic"/>
              </a:rPr>
              <a:t>COMMON MISTAKE  -  Do not analyse all 1,500</a:t>
            </a:r>
          </a:p>
          <a:p>
            <a:pPr marL="0" indent="0" algn="l">
              <a:spcBef>
                <a:spcPts val="100"/>
              </a:spcBef>
              <a:buNone/>
            </a:pPr>
            <a:r>
              <a:rPr lang="en-US" sz="1300" dirty="0">
                <a:solidFill>
                  <a:srgbClr val="000000"/>
                </a:solidFill>
                <a:latin typeface="Century Gothic"/>
                <a:cs typeface="Century Gothic"/>
              </a:rPr>
              <a:t>Including undiagnosed people, whose outcome is undefined, biases every result.</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Century Gothic"/>
                <a:cs typeface="Century Gothic"/>
              </a:rPr>
              <a:t>Hypothesis Testing in Plain Language</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Body"/>
          <p:cNvSpPr txBox="1"/>
          <p:nvPr/>
        </p:nvSpPr>
        <p:spPr>
          <a:xfrm>
            <a:off x="457200" y="1080000"/>
            <a:ext cx="11277600" cy="3150000"/>
          </a:xfrm>
          <a:prstGeom prst="rect">
            <a:avLst/>
          </a:prstGeom>
          <a:noFill/>
          <a:ln>
            <a:noFill/>
          </a:ln>
        </p:spPr>
        <p:txBody>
          <a:bodyPr wrap="square" lIns="91440" tIns="45720" rIns="91440" bIns="45720" rtlCol="0" anchor="t"/>
          <a:lstStyle/>
          <a:p>
            <a:pPr marL="0" indent="0" algn="l">
              <a:spcBef>
                <a:spcPts val="360"/>
              </a:spcBef>
              <a:buNone/>
            </a:pPr>
            <a:r>
              <a:rPr lang="en-US" sz="2050" b="1" dirty="0">
                <a:solidFill>
                  <a:srgbClr val="0D7377"/>
                </a:solidFill>
                <a:latin typeface="Century Gothic"/>
                <a:cs typeface="Century Gothic"/>
              </a:rPr>
              <a:t>The two hypotheses</a:t>
            </a:r>
          </a:p>
          <a:p>
            <a:pPr marL="0" indent="0" algn="l">
              <a:lnSpc>
                <a:spcPct val="108000"/>
              </a:lnSpc>
              <a:spcBef>
                <a:spcPts val="440"/>
              </a:spcBef>
              <a:buNone/>
            </a:pPr>
            <a:r>
              <a:rPr lang="en-US" sz="1800" dirty="0">
                <a:solidFill>
                  <a:srgbClr val="000000"/>
                </a:solidFill>
                <a:latin typeface="Century Gothic"/>
                <a:cs typeface="Century Gothic"/>
              </a:rPr>
              <a:t>Null (H0): there is NO difference / NO association.</a:t>
            </a:r>
          </a:p>
          <a:p>
            <a:pPr marL="0" indent="0" algn="l">
              <a:lnSpc>
                <a:spcPct val="108000"/>
              </a:lnSpc>
              <a:spcBef>
                <a:spcPts val="440"/>
              </a:spcBef>
              <a:buNone/>
            </a:pPr>
            <a:r>
              <a:rPr lang="en-US" sz="1800" dirty="0">
                <a:solidFill>
                  <a:srgbClr val="000000"/>
                </a:solidFill>
                <a:latin typeface="Century Gothic"/>
                <a:cs typeface="Century Gothic"/>
              </a:rPr>
              <a:t>Alternative (H1): there IS a difference / association.</a:t>
            </a:r>
          </a:p>
          <a:p>
            <a:pPr>
              <a:buNone/>
            </a:pPr>
            <a:endParaRPr sz="1050"/>
          </a:p>
          <a:p>
            <a:pPr marL="0" indent="0" algn="l">
              <a:spcBef>
                <a:spcPts val="360"/>
              </a:spcBef>
              <a:buNone/>
            </a:pPr>
            <a:r>
              <a:rPr lang="en-US" sz="2050" b="1" dirty="0">
                <a:solidFill>
                  <a:srgbClr val="0D7377"/>
                </a:solidFill>
                <a:latin typeface="Century Gothic"/>
                <a:cs typeface="Century Gothic"/>
              </a:rPr>
              <a:t>What a p-value actually is</a:t>
            </a:r>
          </a:p>
          <a:p>
            <a:pPr marL="0" indent="0" algn="l">
              <a:lnSpc>
                <a:spcPct val="108000"/>
              </a:lnSpc>
              <a:spcBef>
                <a:spcPts val="440"/>
              </a:spcBef>
              <a:buNone/>
            </a:pPr>
            <a:r>
              <a:rPr lang="en-US" sz="1800" dirty="0">
                <a:solidFill>
                  <a:srgbClr val="000000"/>
                </a:solidFill>
                <a:latin typeface="Century Gothic"/>
                <a:cs typeface="Century Gothic"/>
              </a:rPr>
              <a:t>The probability of data this extreme IF the null were true.</a:t>
            </a:r>
          </a:p>
          <a:p>
            <a:pPr marL="0" indent="0" algn="l">
              <a:lnSpc>
                <a:spcPct val="108000"/>
              </a:lnSpc>
              <a:spcBef>
                <a:spcPts val="440"/>
              </a:spcBef>
              <a:buNone/>
            </a:pPr>
            <a:r>
              <a:rPr lang="en-US" sz="1800" dirty="0">
                <a:solidFill>
                  <a:srgbClr val="000000"/>
                </a:solidFill>
                <a:latin typeface="Century Gothic"/>
                <a:cs typeface="Century Gothic"/>
              </a:rPr>
              <a:t>Small p (&lt; 0.05) is evidence AGAINST the null.</a:t>
            </a:r>
          </a:p>
          <a:p>
            <a:pPr marL="0" indent="0" algn="l">
              <a:lnSpc>
                <a:spcPct val="108000"/>
              </a:lnSpc>
              <a:spcBef>
                <a:spcPts val="440"/>
              </a:spcBef>
              <a:buNone/>
            </a:pPr>
            <a:r>
              <a:rPr lang="en-US" sz="1800" dirty="0">
                <a:solidFill>
                  <a:srgbClr val="000000"/>
                </a:solidFill>
                <a:latin typeface="Century Gothic"/>
                <a:cs typeface="Century Gothic"/>
              </a:rPr>
              <a:t>It is NOT the probability that the null is true.</a:t>
            </a:r>
          </a:p>
          <a:p>
            <a:pPr>
              <a:buNone/>
            </a:pPr>
            <a:endParaRPr sz="1050"/>
          </a:p>
        </p:txBody>
      </p:sp>
      <p:sp>
        <p:nvSpPr>
          <p:cNvPr id="40" name="Callout"/>
          <p:cNvSpPr/>
          <p:nvPr/>
        </p:nvSpPr>
        <p:spPr>
          <a:xfrm>
            <a:off x="457200" y="5070000"/>
            <a:ext cx="11277600" cy="810000"/>
          </a:xfrm>
          <a:prstGeom prst="roundRect">
            <a:avLst>
              <a:gd name="adj" fmla="val 6000"/>
            </a:avLst>
          </a:prstGeom>
          <a:solidFill>
            <a:srgbClr val="EAF1F7"/>
          </a:solidFill>
          <a:ln>
            <a:noFill/>
          </a:ln>
        </p:spPr>
        <p:txBody>
          <a:bodyPr wrap="square" lIns="137160" tIns="91440" rIns="137160" bIns="91440" rtlCol="0" anchor="t"/>
          <a:lstStyle/>
          <a:p>
            <a:pPr marL="0" indent="0" algn="l">
              <a:buNone/>
            </a:pPr>
            <a:r>
              <a:rPr lang="en-US" sz="1300" b="1" dirty="0">
                <a:solidFill>
                  <a:srgbClr val="1F5C7A"/>
                </a:solidFill>
                <a:latin typeface="Century Gothic"/>
                <a:cs typeface="Century Gothic"/>
              </a:rPr>
              <a:t>CLINICAL INTERPRETATION  -  Significance level</a:t>
            </a:r>
          </a:p>
          <a:p>
            <a:pPr marL="0" indent="0" algn="l">
              <a:spcBef>
                <a:spcPts val="100"/>
              </a:spcBef>
              <a:buNone/>
            </a:pPr>
            <a:r>
              <a:rPr lang="en-US" sz="1300" dirty="0">
                <a:solidFill>
                  <a:srgbClr val="000000"/>
                </a:solidFill>
                <a:latin typeface="Century Gothic"/>
                <a:cs typeface="Century Gothic"/>
              </a:rPr>
              <a:t>We pre-set alpha = 0.05 as the threshold for calling a result significant.</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Century Gothic"/>
                <a:cs typeface="Century Gothic"/>
              </a:rPr>
              <a:t>p &lt; 0.05 Is Not the Whole Story</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Body"/>
          <p:cNvSpPr txBox="1"/>
          <p:nvPr/>
        </p:nvSpPr>
        <p:spPr>
          <a:xfrm>
            <a:off x="457200" y="1080000"/>
            <a:ext cx="11277600" cy="3150000"/>
          </a:xfrm>
          <a:prstGeom prst="rect">
            <a:avLst/>
          </a:prstGeom>
          <a:noFill/>
          <a:ln>
            <a:noFill/>
          </a:ln>
        </p:spPr>
        <p:txBody>
          <a:bodyPr wrap="square" lIns="91440" tIns="45720" rIns="91440" bIns="45720" rtlCol="0" anchor="t"/>
          <a:lstStyle/>
          <a:p>
            <a:pPr marL="0" indent="0" algn="l">
              <a:spcBef>
                <a:spcPts val="360"/>
              </a:spcBef>
              <a:buNone/>
            </a:pPr>
            <a:r>
              <a:rPr lang="en-US" sz="2050" b="1" dirty="0">
                <a:solidFill>
                  <a:srgbClr val="0D7377"/>
                </a:solidFill>
                <a:latin typeface="Century Gothic"/>
                <a:cs typeface="Century Gothic"/>
              </a:rPr>
              <a:t>Statistical vs clinical significance</a:t>
            </a:r>
          </a:p>
          <a:p>
            <a:pPr marL="0" indent="0" algn="l">
              <a:lnSpc>
                <a:spcPct val="108000"/>
              </a:lnSpc>
              <a:spcBef>
                <a:spcPts val="440"/>
              </a:spcBef>
              <a:buNone/>
            </a:pPr>
            <a:r>
              <a:rPr lang="en-US" sz="1800" dirty="0">
                <a:solidFill>
                  <a:srgbClr val="000000"/>
                </a:solidFill>
                <a:latin typeface="Century Gothic"/>
                <a:cs typeface="Century Gothic"/>
              </a:rPr>
              <a:t>A tiny, meaningless difference can be 'significant' in a large sample.</a:t>
            </a:r>
          </a:p>
          <a:p>
            <a:pPr marL="0" indent="0" algn="l">
              <a:lnSpc>
                <a:spcPct val="108000"/>
              </a:lnSpc>
              <a:spcBef>
                <a:spcPts val="440"/>
              </a:spcBef>
              <a:buNone/>
            </a:pPr>
            <a:r>
              <a:rPr lang="en-US" sz="1800" dirty="0">
                <a:solidFill>
                  <a:srgbClr val="000000"/>
                </a:solidFill>
                <a:latin typeface="Century Gothic"/>
                <a:cs typeface="Century Gothic"/>
              </a:rPr>
              <a:t>A large, important difference can be 'non-significant' if the sample is small.</a:t>
            </a:r>
          </a:p>
          <a:p>
            <a:pPr marL="0" indent="0" algn="l">
              <a:lnSpc>
                <a:spcPct val="108000"/>
              </a:lnSpc>
              <a:spcBef>
                <a:spcPts val="440"/>
              </a:spcBef>
              <a:buNone/>
            </a:pPr>
            <a:r>
              <a:rPr lang="en-US" sz="1800" dirty="0">
                <a:solidFill>
                  <a:srgbClr val="000000"/>
                </a:solidFill>
                <a:latin typeface="Century Gothic"/>
                <a:cs typeface="Century Gothic"/>
              </a:rPr>
              <a:t>Always report the effect size and its confidence interval, not just p.</a:t>
            </a:r>
          </a:p>
          <a:p>
            <a:pPr>
              <a:buNone/>
            </a:pPr>
            <a:endParaRPr sz="1050"/>
          </a:p>
        </p:txBody>
      </p:sp>
      <p:sp>
        <p:nvSpPr>
          <p:cNvPr id="40" name="Callout"/>
          <p:cNvSpPr/>
          <p:nvPr/>
        </p:nvSpPr>
        <p:spPr>
          <a:xfrm>
            <a:off x="457200" y="4835000"/>
            <a:ext cx="11277600" cy="1045000"/>
          </a:xfrm>
          <a:prstGeom prst="roundRect">
            <a:avLst>
              <a:gd name="adj" fmla="val 6000"/>
            </a:avLst>
          </a:prstGeom>
          <a:solidFill>
            <a:srgbClr val="FBE9E7"/>
          </a:solidFill>
          <a:ln>
            <a:noFill/>
          </a:ln>
        </p:spPr>
        <p:txBody>
          <a:bodyPr wrap="square" lIns="137160" tIns="91440" rIns="137160" bIns="91440" rtlCol="0" anchor="t"/>
          <a:lstStyle/>
          <a:p>
            <a:pPr marL="0" indent="0" algn="l">
              <a:buNone/>
            </a:pPr>
            <a:r>
              <a:rPr lang="en-US" sz="1300" b="1" dirty="0">
                <a:solidFill>
                  <a:srgbClr val="B23B2E"/>
                </a:solidFill>
                <a:latin typeface="Century Gothic"/>
                <a:cs typeface="Century Gothic"/>
              </a:rPr>
              <a:t>WARNING  -  Beware p-value worship</a:t>
            </a:r>
          </a:p>
          <a:p>
            <a:pPr marL="0" indent="0" algn="l">
              <a:spcBef>
                <a:spcPts val="100"/>
              </a:spcBef>
              <a:buNone/>
            </a:pPr>
            <a:r>
              <a:rPr lang="en-US" sz="1300" dirty="0">
                <a:solidFill>
                  <a:srgbClr val="000000"/>
                </a:solidFill>
                <a:latin typeface="Century Gothic"/>
                <a:cs typeface="Century Gothic"/>
              </a:rPr>
              <a:t>Do not chase p &lt; 0.05 or treat 0.049 and 0.051 as opposites.</a:t>
            </a:r>
          </a:p>
          <a:p>
            <a:pPr marL="0" indent="0" algn="l">
              <a:spcBef>
                <a:spcPts val="100"/>
              </a:spcBef>
              <a:buNone/>
            </a:pPr>
            <a:r>
              <a:rPr lang="en-US" sz="1300" dirty="0">
                <a:solidFill>
                  <a:srgbClr val="000000"/>
                </a:solidFill>
                <a:latin typeface="Century Gothic"/>
                <a:cs typeface="Century Gothic"/>
              </a:rPr>
              <a:t>A confidence interval tells you the size AND the uncertainty.</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Century Gothic"/>
                <a:cs typeface="Century Gothic"/>
              </a:rPr>
              <a:t>Is the Variable Normal? Look, Then Test</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1" name="Col"/>
          <p:cNvSpPr txBox="1"/>
          <p:nvPr/>
        </p:nvSpPr>
        <p:spPr>
          <a:xfrm>
            <a:off x="457200" y="1150000"/>
            <a:ext cx="5478780" cy="5050000"/>
          </a:xfrm>
          <a:prstGeom prst="rect">
            <a:avLst/>
          </a:prstGeom>
          <a:noFill/>
          <a:ln>
            <a:noFill/>
          </a:ln>
        </p:spPr>
        <p:txBody>
          <a:bodyPr wrap="square" lIns="91440" tIns="45720" rIns="91440" bIns="45720" rtlCol="0" anchor="t"/>
          <a:lstStyle/>
          <a:p>
            <a:pPr marL="0" indent="0" algn="l">
              <a:buNone/>
            </a:pPr>
            <a:r>
              <a:rPr lang="en-US" sz="2050" b="1" dirty="0">
                <a:solidFill>
                  <a:srgbClr val="0D7377"/>
                </a:solidFill>
                <a:latin typeface="Century Gothic"/>
                <a:cs typeface="Century Gothic"/>
              </a:rPr>
              <a:t>Look first (always)</a:t>
            </a:r>
          </a:p>
          <a:p>
            <a:pPr marL="274320" indent="-274320" algn="l">
              <a:lnSpc>
                <a:spcPct val="106000"/>
              </a:lnSpc>
              <a:spcBef>
                <a:spcPts val="520"/>
              </a:spcBef>
              <a:buFont typeface="Arial"/>
              <a:buChar char="•"/>
            </a:pPr>
            <a:r>
              <a:rPr lang="en-US" sz="1650" dirty="0">
                <a:solidFill>
                  <a:srgbClr val="000000"/>
                </a:solidFill>
                <a:latin typeface="Century Gothic"/>
                <a:cs typeface="Century Gothic"/>
              </a:rPr>
              <a:t>Histogram shows the shape of the distribution.</a:t>
            </a:r>
          </a:p>
          <a:p>
            <a:pPr marL="274320" indent="-274320" algn="l">
              <a:lnSpc>
                <a:spcPct val="106000"/>
              </a:lnSpc>
              <a:spcBef>
                <a:spcPts val="520"/>
              </a:spcBef>
              <a:buFont typeface="Arial"/>
              <a:buChar char="•"/>
            </a:pPr>
            <a:r>
              <a:rPr lang="en-US" sz="1650" dirty="0">
                <a:solidFill>
                  <a:srgbClr val="000000"/>
                </a:solidFill>
                <a:latin typeface="Century Gothic"/>
                <a:cs typeface="Century Gothic"/>
              </a:rPr>
              <a:t>Q-Q plot: points on the line means roughly normal.</a:t>
            </a:r>
          </a:p>
          <a:p>
            <a:pPr marL="274320" indent="-274320" algn="l">
              <a:lnSpc>
                <a:spcPct val="106000"/>
              </a:lnSpc>
              <a:spcBef>
                <a:spcPts val="520"/>
              </a:spcBef>
              <a:buFont typeface="Arial"/>
              <a:buChar char="•"/>
            </a:pPr>
            <a:r>
              <a:rPr lang="en-US" sz="1650" dirty="0">
                <a:solidFill>
                  <a:srgbClr val="000000"/>
                </a:solidFill>
                <a:latin typeface="Century Gothic"/>
                <a:cs typeface="Century Gothic"/>
              </a:rPr>
              <a:t>Points curving away at the ends mean skew or heavy tails.</a:t>
            </a:r>
          </a:p>
        </p:txBody>
      </p:sp>
      <p:sp>
        <p:nvSpPr>
          <p:cNvPr id="22" name="Col"/>
          <p:cNvSpPr txBox="1"/>
          <p:nvPr/>
        </p:nvSpPr>
        <p:spPr>
          <a:xfrm>
            <a:off x="6256020" y="1150000"/>
            <a:ext cx="5478780" cy="5050000"/>
          </a:xfrm>
          <a:prstGeom prst="rect">
            <a:avLst/>
          </a:prstGeom>
          <a:noFill/>
          <a:ln>
            <a:noFill/>
          </a:ln>
        </p:spPr>
        <p:txBody>
          <a:bodyPr wrap="square" lIns="91440" tIns="45720" rIns="91440" bIns="45720" rtlCol="0" anchor="t"/>
          <a:lstStyle/>
          <a:p>
            <a:pPr marL="0" indent="0" algn="l">
              <a:buNone/>
            </a:pPr>
            <a:r>
              <a:rPr lang="en-US" sz="2050" b="1" dirty="0">
                <a:solidFill>
                  <a:srgbClr val="0D7377"/>
                </a:solidFill>
                <a:latin typeface="Century Gothic"/>
                <a:cs typeface="Century Gothic"/>
              </a:rPr>
              <a:t>Then test</a:t>
            </a:r>
          </a:p>
          <a:p>
            <a:pPr marL="274320" indent="-274320" algn="l">
              <a:lnSpc>
                <a:spcPct val="106000"/>
              </a:lnSpc>
              <a:spcBef>
                <a:spcPts val="520"/>
              </a:spcBef>
              <a:buFont typeface="Arial"/>
              <a:buChar char="•"/>
            </a:pPr>
            <a:r>
              <a:rPr lang="en-US" sz="1650" dirty="0">
                <a:solidFill>
                  <a:srgbClr val="000000"/>
                </a:solidFill>
                <a:latin typeface="Century Gothic"/>
                <a:cs typeface="Century Gothic"/>
              </a:rPr>
              <a:t>Shapiro-Wilk test: H0 is that data ARE normal.</a:t>
            </a:r>
          </a:p>
          <a:p>
            <a:pPr marL="274320" indent="-274320" algn="l">
              <a:lnSpc>
                <a:spcPct val="106000"/>
              </a:lnSpc>
              <a:spcBef>
                <a:spcPts val="520"/>
              </a:spcBef>
              <a:buFont typeface="Arial"/>
              <a:buChar char="•"/>
            </a:pPr>
            <a:r>
              <a:rPr lang="en-US" sz="1650" dirty="0">
                <a:solidFill>
                  <a:srgbClr val="000000"/>
                </a:solidFill>
                <a:latin typeface="Century Gothic"/>
                <a:cs typeface="Century Gothic"/>
              </a:rPr>
              <a:t>Small p (&lt; 0.05) means we reject normality.</a:t>
            </a:r>
          </a:p>
          <a:p>
            <a:pPr marL="274320" indent="-274320" algn="l">
              <a:lnSpc>
                <a:spcPct val="106000"/>
              </a:lnSpc>
              <a:spcBef>
                <a:spcPts val="520"/>
              </a:spcBef>
              <a:buFont typeface="Arial"/>
              <a:buChar char="•"/>
            </a:pPr>
            <a:r>
              <a:rPr lang="en-US" sz="1650" dirty="0">
                <a:solidFill>
                  <a:srgbClr val="000000"/>
                </a:solidFill>
                <a:latin typeface="Century Gothic"/>
                <a:cs typeface="Century Gothic"/>
              </a:rPr>
              <a:t>Symmetric and bell-shaped means a parametric test is fine.</a:t>
            </a:r>
          </a:p>
          <a:p>
            <a:pPr marL="274320" indent="-274320" algn="l">
              <a:lnSpc>
                <a:spcPct val="106000"/>
              </a:lnSpc>
              <a:spcBef>
                <a:spcPts val="520"/>
              </a:spcBef>
              <a:buFont typeface="Arial"/>
              <a:buChar char="•"/>
            </a:pPr>
            <a:r>
              <a:rPr lang="en-US" sz="1650" dirty="0">
                <a:solidFill>
                  <a:srgbClr val="000000"/>
                </a:solidFill>
                <a:latin typeface="Century Gothic"/>
                <a:cs typeface="Century Gothic"/>
              </a:rPr>
              <a:t>Clearly skewed means use the non-parametric test.</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Century Gothic"/>
                <a:cs typeface="Century Gothic"/>
              </a:rPr>
              <a:t>Shapiro-Wilk: Use With Care in Big Samples</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Body"/>
          <p:cNvSpPr txBox="1"/>
          <p:nvPr/>
        </p:nvSpPr>
        <p:spPr>
          <a:xfrm>
            <a:off x="457200" y="1080000"/>
            <a:ext cx="11277600" cy="3150000"/>
          </a:xfrm>
          <a:prstGeom prst="rect">
            <a:avLst/>
          </a:prstGeom>
          <a:noFill/>
          <a:ln>
            <a:noFill/>
          </a:ln>
        </p:spPr>
        <p:txBody>
          <a:bodyPr wrap="square" lIns="91440" tIns="45720" rIns="91440" bIns="45720" rtlCol="0" anchor="t"/>
          <a:lstStyle/>
          <a:p>
            <a:pPr marL="0" indent="0" algn="l">
              <a:spcBef>
                <a:spcPts val="360"/>
              </a:spcBef>
              <a:buNone/>
            </a:pPr>
            <a:r>
              <a:rPr lang="en-US" sz="2050" b="1" dirty="0">
                <a:solidFill>
                  <a:srgbClr val="0D7377"/>
                </a:solidFill>
                <a:latin typeface="Century Gothic"/>
                <a:cs typeface="Century Gothic"/>
              </a:rPr>
              <a:t>Why the test misleads here</a:t>
            </a:r>
          </a:p>
          <a:p>
            <a:pPr marL="0" indent="0" algn="l">
              <a:lnSpc>
                <a:spcPct val="108000"/>
              </a:lnSpc>
              <a:spcBef>
                <a:spcPts val="440"/>
              </a:spcBef>
              <a:buNone/>
            </a:pPr>
            <a:r>
              <a:rPr lang="en-US" sz="1800" dirty="0">
                <a:solidFill>
                  <a:srgbClr val="000000"/>
                </a:solidFill>
                <a:latin typeface="Century Gothic"/>
                <a:cs typeface="Century Gothic"/>
              </a:rPr>
              <a:t>Shapiro-Wilk gets more powerful as the sample grows.</a:t>
            </a:r>
          </a:p>
          <a:p>
            <a:pPr marL="0" indent="0" algn="l">
              <a:lnSpc>
                <a:spcPct val="108000"/>
              </a:lnSpc>
              <a:spcBef>
                <a:spcPts val="440"/>
              </a:spcBef>
              <a:buNone/>
            </a:pPr>
            <a:r>
              <a:rPr lang="en-US" sz="1800" dirty="0">
                <a:solidFill>
                  <a:srgbClr val="000000"/>
                </a:solidFill>
                <a:latin typeface="Century Gothic"/>
                <a:cs typeface="Century Gothic"/>
              </a:rPr>
              <a:t>In ~1,089 rows it detects tiny, clinically irrelevant departures.</a:t>
            </a:r>
          </a:p>
          <a:p>
            <a:pPr marL="0" indent="0" algn="l">
              <a:lnSpc>
                <a:spcPct val="108000"/>
              </a:lnSpc>
              <a:spcBef>
                <a:spcPts val="440"/>
              </a:spcBef>
              <a:buNone/>
            </a:pPr>
            <a:r>
              <a:rPr lang="en-US" sz="1800" dirty="0">
                <a:solidFill>
                  <a:srgbClr val="000000"/>
                </a:solidFill>
                <a:latin typeface="Century Gothic"/>
                <a:cs typeface="Century Gothic"/>
              </a:rPr>
              <a:t>It will almost always return p &lt; 0.05 - even for usable data.</a:t>
            </a:r>
          </a:p>
          <a:p>
            <a:pPr>
              <a:buNone/>
            </a:pPr>
            <a:endParaRPr sz="1050"/>
          </a:p>
        </p:txBody>
      </p:sp>
      <p:sp>
        <p:nvSpPr>
          <p:cNvPr id="40" name="Callout"/>
          <p:cNvSpPr/>
          <p:nvPr/>
        </p:nvSpPr>
        <p:spPr>
          <a:xfrm>
            <a:off x="457200" y="4835000"/>
            <a:ext cx="11277600" cy="1045000"/>
          </a:xfrm>
          <a:prstGeom prst="roundRect">
            <a:avLst>
              <a:gd name="adj" fmla="val 6000"/>
            </a:avLst>
          </a:prstGeom>
          <a:solidFill>
            <a:srgbClr val="E8F4F4"/>
          </a:solidFill>
          <a:ln>
            <a:noFill/>
          </a:ln>
        </p:spPr>
        <p:txBody>
          <a:bodyPr wrap="square" lIns="137160" tIns="91440" rIns="137160" bIns="91440" rtlCol="0" anchor="t"/>
          <a:lstStyle/>
          <a:p>
            <a:pPr marL="0" indent="0" algn="l">
              <a:buNone/>
            </a:pPr>
            <a:r>
              <a:rPr lang="en-US" sz="1300" b="1" dirty="0">
                <a:solidFill>
                  <a:srgbClr val="0D7377"/>
                </a:solidFill>
                <a:latin typeface="Century Gothic"/>
                <a:cs typeface="Century Gothic"/>
              </a:rPr>
              <a:t>TIP  -  Rule of thumb for this course</a:t>
            </a:r>
          </a:p>
          <a:p>
            <a:pPr marL="0" indent="0" algn="l">
              <a:spcBef>
                <a:spcPts val="100"/>
              </a:spcBef>
              <a:buNone/>
            </a:pPr>
            <a:r>
              <a:rPr lang="en-US" sz="1300" dirty="0">
                <a:solidFill>
                  <a:srgbClr val="000000"/>
                </a:solidFill>
                <a:latin typeface="Century Gothic"/>
                <a:cs typeface="Century Gothic"/>
              </a:rPr>
              <a:t>Big sample + symmetric histogram + straight Q-Q means parametric is fine.</a:t>
            </a:r>
          </a:p>
          <a:p>
            <a:pPr marL="0" indent="0" algn="l">
              <a:spcBef>
                <a:spcPts val="100"/>
              </a:spcBef>
              <a:buNone/>
            </a:pPr>
            <a:r>
              <a:rPr lang="en-US" sz="1300" dirty="0">
                <a:solidFill>
                  <a:srgbClr val="000000"/>
                </a:solidFill>
                <a:latin typeface="Century Gothic"/>
                <a:cs typeface="Century Gothic"/>
              </a:rPr>
              <a:t>Let the plots, not the Shapiro p-value, drive the decision.</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Century Gothic"/>
                <a:cs typeface="Century Gothic"/>
              </a:rPr>
              <a:t>Comparing Two Groups: a Continuous Outcome</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1" name="Col"/>
          <p:cNvSpPr txBox="1"/>
          <p:nvPr/>
        </p:nvSpPr>
        <p:spPr>
          <a:xfrm>
            <a:off x="457200" y="1150000"/>
            <a:ext cx="5478780" cy="5050000"/>
          </a:xfrm>
          <a:prstGeom prst="rect">
            <a:avLst/>
          </a:prstGeom>
          <a:noFill/>
          <a:ln>
            <a:noFill/>
          </a:ln>
        </p:spPr>
        <p:txBody>
          <a:bodyPr wrap="square" lIns="91440" tIns="45720" rIns="91440" bIns="45720" rtlCol="0" anchor="t"/>
          <a:lstStyle/>
          <a:p>
            <a:pPr marL="0" indent="0" algn="l">
              <a:buNone/>
            </a:pPr>
            <a:r>
              <a:rPr lang="en-US" sz="2050" b="1" dirty="0">
                <a:solidFill>
                  <a:srgbClr val="0D7377"/>
                </a:solidFill>
                <a:latin typeface="Century Gothic"/>
                <a:cs typeface="Century Gothic"/>
              </a:rPr>
              <a:t>t-test (parametric)</a:t>
            </a:r>
          </a:p>
          <a:p>
            <a:pPr marL="274320" indent="-274320" algn="l">
              <a:lnSpc>
                <a:spcPct val="106000"/>
              </a:lnSpc>
              <a:spcBef>
                <a:spcPts val="520"/>
              </a:spcBef>
              <a:buFont typeface="Arial"/>
              <a:buChar char="•"/>
            </a:pPr>
            <a:r>
              <a:rPr lang="en-US" sz="1650" dirty="0">
                <a:solidFill>
                  <a:srgbClr val="000000"/>
                </a:solidFill>
                <a:latin typeface="Century Gothic"/>
                <a:cs typeface="Century Gothic"/>
              </a:rPr>
              <a:t>Compares MEANS of two groups.</a:t>
            </a:r>
          </a:p>
          <a:p>
            <a:pPr marL="274320" indent="-274320" algn="l">
              <a:lnSpc>
                <a:spcPct val="106000"/>
              </a:lnSpc>
              <a:spcBef>
                <a:spcPts val="520"/>
              </a:spcBef>
              <a:buFont typeface="Arial"/>
              <a:buChar char="•"/>
            </a:pPr>
            <a:r>
              <a:rPr lang="en-US" sz="1650" dirty="0">
                <a:solidFill>
                  <a:srgbClr val="000000"/>
                </a:solidFill>
                <a:latin typeface="Century Gothic"/>
                <a:cs typeface="Century Gothic"/>
              </a:rPr>
              <a:t>Welch t-test is the safe default (unequal variances).</a:t>
            </a:r>
          </a:p>
          <a:p>
            <a:pPr marL="274320" indent="-274320" algn="l">
              <a:lnSpc>
                <a:spcPct val="106000"/>
              </a:lnSpc>
              <a:spcBef>
                <a:spcPts val="520"/>
              </a:spcBef>
              <a:buFont typeface="Arial"/>
              <a:buChar char="•"/>
            </a:pPr>
            <a:r>
              <a:rPr lang="en-US" sz="1650" dirty="0">
                <a:solidFill>
                  <a:srgbClr val="000000"/>
                </a:solidFill>
                <a:latin typeface="Century Gothic"/>
                <a:cs typeface="Century Gothic"/>
              </a:rPr>
              <a:t>Use when data are roughly symmetric.</a:t>
            </a:r>
          </a:p>
          <a:p>
            <a:pPr marL="274320" indent="-274320" algn="l">
              <a:lnSpc>
                <a:spcPct val="106000"/>
              </a:lnSpc>
              <a:spcBef>
                <a:spcPts val="520"/>
              </a:spcBef>
              <a:buFont typeface="Arial"/>
              <a:buChar char="•"/>
            </a:pPr>
            <a:r>
              <a:rPr lang="en-US" sz="1650" dirty="0">
                <a:solidFill>
                  <a:srgbClr val="000000"/>
                </a:solidFill>
                <a:latin typeface="Century Gothic"/>
                <a:cs typeface="Century Gothic"/>
              </a:rPr>
              <a:t>Formula: age ~ treatment_uptake.</a:t>
            </a:r>
          </a:p>
        </p:txBody>
      </p:sp>
      <p:sp>
        <p:nvSpPr>
          <p:cNvPr id="22" name="Col"/>
          <p:cNvSpPr txBox="1"/>
          <p:nvPr/>
        </p:nvSpPr>
        <p:spPr>
          <a:xfrm>
            <a:off x="6256020" y="1150000"/>
            <a:ext cx="5478780" cy="5050000"/>
          </a:xfrm>
          <a:prstGeom prst="rect">
            <a:avLst/>
          </a:prstGeom>
          <a:noFill/>
          <a:ln>
            <a:noFill/>
          </a:ln>
        </p:spPr>
        <p:txBody>
          <a:bodyPr wrap="square" lIns="91440" tIns="45720" rIns="91440" bIns="45720" rtlCol="0" anchor="t"/>
          <a:lstStyle/>
          <a:p>
            <a:pPr marL="0" indent="0" algn="l">
              <a:buNone/>
            </a:pPr>
            <a:r>
              <a:rPr lang="en-US" sz="2050" b="1" dirty="0">
                <a:solidFill>
                  <a:srgbClr val="0D7377"/>
                </a:solidFill>
                <a:latin typeface="Century Gothic"/>
                <a:cs typeface="Century Gothic"/>
              </a:rPr>
              <a:t>Wilcoxon (non-parametric)</a:t>
            </a:r>
          </a:p>
          <a:p>
            <a:pPr marL="274320" indent="-274320" algn="l">
              <a:lnSpc>
                <a:spcPct val="106000"/>
              </a:lnSpc>
              <a:spcBef>
                <a:spcPts val="520"/>
              </a:spcBef>
              <a:buFont typeface="Arial"/>
              <a:buChar char="•"/>
            </a:pPr>
            <a:r>
              <a:rPr lang="en-US" sz="1650" dirty="0">
                <a:solidFill>
                  <a:srgbClr val="000000"/>
                </a:solidFill>
                <a:latin typeface="Century Gothic"/>
                <a:cs typeface="Century Gothic"/>
              </a:rPr>
              <a:t>Compares RANKS, not means.</a:t>
            </a:r>
          </a:p>
          <a:p>
            <a:pPr marL="274320" indent="-274320" algn="l">
              <a:lnSpc>
                <a:spcPct val="106000"/>
              </a:lnSpc>
              <a:spcBef>
                <a:spcPts val="520"/>
              </a:spcBef>
              <a:buFont typeface="Arial"/>
              <a:buChar char="•"/>
            </a:pPr>
            <a:r>
              <a:rPr lang="en-US" sz="1650" dirty="0">
                <a:solidFill>
                  <a:srgbClr val="000000"/>
                </a:solidFill>
                <a:latin typeface="Century Gothic"/>
                <a:cs typeface="Century Gothic"/>
              </a:rPr>
              <a:t>Robust to outliers and skew.</a:t>
            </a:r>
          </a:p>
          <a:p>
            <a:pPr marL="274320" indent="-274320" algn="l">
              <a:lnSpc>
                <a:spcPct val="106000"/>
              </a:lnSpc>
              <a:spcBef>
                <a:spcPts val="520"/>
              </a:spcBef>
              <a:buFont typeface="Arial"/>
              <a:buChar char="•"/>
            </a:pPr>
            <a:r>
              <a:rPr lang="en-US" sz="1650" dirty="0">
                <a:solidFill>
                  <a:srgbClr val="000000"/>
                </a:solidFill>
                <a:latin typeface="Century Gothic"/>
                <a:cs typeface="Century Gothic"/>
              </a:rPr>
              <a:t>Use when data are clearly non-normal.</a:t>
            </a:r>
          </a:p>
          <a:p>
            <a:pPr marL="274320" indent="-274320" algn="l">
              <a:lnSpc>
                <a:spcPct val="106000"/>
              </a:lnSpc>
              <a:spcBef>
                <a:spcPts val="520"/>
              </a:spcBef>
              <a:buFont typeface="Arial"/>
              <a:buChar char="•"/>
            </a:pPr>
            <a:r>
              <a:rPr lang="en-US" sz="1650" dirty="0">
                <a:solidFill>
                  <a:srgbClr val="000000"/>
                </a:solidFill>
                <a:latin typeface="Century Gothic"/>
                <a:cs typeface="Century Gothic"/>
              </a:rPr>
              <a:t>Report medians instead of means.</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Century Gothic"/>
                <a:cs typeface="Century Gothic"/>
              </a:rPr>
              <a:t>Demo: t-test of Age by Treatment Uptake</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Intro"/>
          <p:cNvSpPr txBox="1"/>
          <p:nvPr/>
        </p:nvSpPr>
        <p:spPr>
          <a:xfrm>
            <a:off x="457200" y="1080000"/>
            <a:ext cx="11277600" cy="520000"/>
          </a:xfrm>
          <a:prstGeom prst="rect">
            <a:avLst/>
          </a:prstGeom>
          <a:noFill/>
          <a:ln>
            <a:noFill/>
          </a:ln>
        </p:spPr>
        <p:txBody>
          <a:bodyPr wrap="square" lIns="91440" tIns="45720" rIns="91440" bIns="45720" rtlCol="0" anchor="t"/>
          <a:lstStyle/>
          <a:p>
            <a:pPr marL="0" indent="0" algn="l">
              <a:buNone/>
            </a:pPr>
            <a:r>
              <a:rPr lang="en-US" sz="1600" i="1" dirty="0">
                <a:solidFill>
                  <a:srgbClr val="595959"/>
                </a:solidFill>
                <a:latin typeface="Century Gothic"/>
                <a:cs typeface="Century Gothic"/>
              </a:rPr>
              <a:t>Is mean age different between those who took up treatment and those who did not?</a:t>
            </a:r>
          </a:p>
        </p:txBody>
      </p:sp>
      <p:sp>
        <p:nvSpPr>
          <p:cNvPr id="30" name="Code"/>
          <p:cNvSpPr/>
          <p:nvPr/>
        </p:nvSpPr>
        <p:spPr>
          <a:xfrm>
            <a:off x="457200" y="1640000"/>
            <a:ext cx="11277600" cy="390000"/>
          </a:xfrm>
          <a:prstGeom prst="roundRect">
            <a:avLst>
              <a:gd name="adj" fmla="val 6000"/>
            </a:avLst>
          </a:prstGeom>
          <a:solidFill>
            <a:srgbClr val="EDF1F2"/>
          </a:solidFill>
          <a:ln>
            <a:noFill/>
          </a:ln>
        </p:spPr>
        <p:txBody>
          <a:bodyPr wrap="square" lIns="137160" tIns="91440" rIns="137160" bIns="91440" rtlCol="0" anchor="t"/>
          <a:lstStyle/>
          <a:p>
            <a:pPr marL="0" indent="0" algn="l">
              <a:lnSpc>
                <a:spcPct val="100000"/>
              </a:lnSpc>
              <a:buNone/>
            </a:pPr>
            <a:r>
              <a:rPr lang="en-US" sz="1300" dirty="0">
                <a:solidFill>
                  <a:srgbClr val="1B3A4B"/>
                </a:solidFill>
                <a:latin typeface="Consolas"/>
                <a:cs typeface="Consolas"/>
              </a:rPr>
              <a:t>t.test(age ~ treatment_uptake, data = dx)</a:t>
            </a:r>
          </a:p>
        </p:txBody>
      </p:sp>
      <p:sp>
        <p:nvSpPr>
          <p:cNvPr id="31" name="Output"/>
          <p:cNvSpPr/>
          <p:nvPr/>
        </p:nvSpPr>
        <p:spPr>
          <a:xfrm>
            <a:off x="457200" y="2180000"/>
            <a:ext cx="11277600" cy="1300000"/>
          </a:xfrm>
          <a:prstGeom prst="roundRect">
            <a:avLst>
              <a:gd name="adj" fmla="val 6000"/>
            </a:avLst>
          </a:prstGeom>
          <a:solidFill>
            <a:srgbClr val="F2EFE6"/>
          </a:solidFill>
          <a:ln>
            <a:noFill/>
          </a:ln>
        </p:spPr>
        <p:txBody>
          <a:bodyPr wrap="square" lIns="137160" tIns="91440" rIns="137160" bIns="91440" rtlCol="0" anchor="t"/>
          <a:lstStyle/>
          <a:p>
            <a:pPr marL="0" indent="0" algn="l">
              <a:buNone/>
            </a:pPr>
            <a:r>
              <a:rPr lang="en-US" sz="1150" b="1" dirty="0">
                <a:solidFill>
                  <a:srgbClr val="595959"/>
                </a:solidFill>
                <a:latin typeface="Century Gothic"/>
                <a:cs typeface="Century Gothic"/>
              </a:rPr>
              <a:t>Console output</a:t>
            </a:r>
          </a:p>
          <a:p>
            <a:pPr marL="0" indent="0" algn="l">
              <a:lnSpc>
                <a:spcPct val="100000"/>
              </a:lnSpc>
              <a:buNone/>
            </a:pPr>
            <a:r>
              <a:rPr lang="en-US" sz="1250" dirty="0">
                <a:solidFill>
                  <a:srgbClr val="1A1A1A"/>
                </a:solidFill>
                <a:latin typeface="Consolas"/>
                <a:cs typeface="Consolas"/>
              </a:rPr>
              <a:t>Welch Two Sample t-test</a:t>
            </a:r>
          </a:p>
          <a:p>
            <a:pPr marL="0" indent="0" algn="l">
              <a:lnSpc>
                <a:spcPct val="100000"/>
              </a:lnSpc>
              <a:buNone/>
            </a:pPr>
            <a:r>
              <a:rPr lang="en-US" sz="1250" dirty="0">
                <a:solidFill>
                  <a:srgbClr val="1A1A1A"/>
                </a:solidFill>
                <a:latin typeface="Consolas"/>
                <a:cs typeface="Consolas"/>
              </a:rPr>
              <a:t>t = -8.9, df = 1011, p-value &lt; 2.2e-16</a:t>
            </a:r>
          </a:p>
          <a:p>
            <a:pPr marL="0" indent="0" algn="l">
              <a:lnSpc>
                <a:spcPct val="100000"/>
              </a:lnSpc>
              <a:buNone/>
            </a:pPr>
            <a:r>
              <a:rPr lang="en-US" sz="1250" dirty="0">
                <a:solidFill>
                  <a:srgbClr val="1A1A1A"/>
                </a:solidFill>
                <a:latin typeface="Consolas"/>
                <a:cs typeface="Consolas"/>
              </a:rPr>
              <a:t>95 percent CI: -6.4 to -4.1</a:t>
            </a:r>
          </a:p>
          <a:p>
            <a:pPr marL="0" indent="0" algn="l">
              <a:lnSpc>
                <a:spcPct val="100000"/>
              </a:lnSpc>
              <a:buNone/>
            </a:pPr>
            <a:r>
              <a:rPr lang="en-US" sz="1250" dirty="0">
                <a:solidFill>
                  <a:srgbClr val="1A1A1A"/>
                </a:solidFill>
                <a:latin typeface="Consolas"/>
                <a:cs typeface="Consolas"/>
              </a:rPr>
              <a:t>mean in No  mean in Yes</a:t>
            </a:r>
          </a:p>
          <a:p>
            <a:pPr marL="0" indent="0" algn="l">
              <a:lnSpc>
                <a:spcPct val="100000"/>
              </a:lnSpc>
              <a:buNone/>
            </a:pPr>
            <a:r>
              <a:rPr lang="en-US" sz="1250" dirty="0">
                <a:solidFill>
                  <a:srgbClr val="1A1A1A"/>
                </a:solidFill>
                <a:latin typeface="Consolas"/>
                <a:cs typeface="Consolas"/>
              </a:rPr>
              <a:t>   50.1        55.3</a:t>
            </a:r>
          </a:p>
        </p:txBody>
      </p:sp>
      <p:sp>
        <p:nvSpPr>
          <p:cNvPr id="32" name="Note"/>
          <p:cNvSpPr/>
          <p:nvPr/>
        </p:nvSpPr>
        <p:spPr>
          <a:xfrm>
            <a:off x="457200" y="3620000"/>
            <a:ext cx="11277600" cy="470000"/>
          </a:xfrm>
          <a:prstGeom prst="roundRect">
            <a:avLst>
              <a:gd name="adj" fmla="val 6000"/>
            </a:avLst>
          </a:prstGeom>
          <a:solidFill>
            <a:srgbClr val="EAF1F7"/>
          </a:solidFill>
          <a:ln>
            <a:noFill/>
          </a:ln>
        </p:spPr>
        <p:txBody>
          <a:bodyPr wrap="square" lIns="137160" tIns="91440" rIns="137160" bIns="91440" rtlCol="0" anchor="t"/>
          <a:lstStyle/>
          <a:p>
            <a:pPr marL="0" indent="0" algn="l">
              <a:buNone/>
            </a:pPr>
            <a:r>
              <a:rPr lang="en-US" sz="1300" dirty="0">
                <a:solidFill>
                  <a:srgbClr val="1F5C7A"/>
                </a:solidFill>
                <a:latin typeface="Century Gothic"/>
                <a:cs typeface="Century Gothic"/>
              </a:rPr>
              <a:t>INTERPRETATION  -  Patients on treatment are about 5 years older on average; the CI excludes 0, so p &lt; 0.05.</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Century Gothic"/>
                <a:cs typeface="Century Gothic"/>
              </a:rPr>
              <a:t>When Data Are Not Normal: Non-parametric Tests</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Body"/>
          <p:cNvSpPr txBox="1"/>
          <p:nvPr/>
        </p:nvSpPr>
        <p:spPr>
          <a:xfrm>
            <a:off x="457200" y="1080000"/>
            <a:ext cx="11277600" cy="3150000"/>
          </a:xfrm>
          <a:prstGeom prst="rect">
            <a:avLst/>
          </a:prstGeom>
          <a:noFill/>
          <a:ln>
            <a:noFill/>
          </a:ln>
        </p:spPr>
        <p:txBody>
          <a:bodyPr wrap="square" lIns="91440" tIns="45720" rIns="91440" bIns="45720" rtlCol="0" anchor="t"/>
          <a:lstStyle/>
          <a:p>
            <a:pPr marL="0" indent="0" algn="l">
              <a:spcBef>
                <a:spcPts val="360"/>
              </a:spcBef>
              <a:buNone/>
            </a:pPr>
            <a:r>
              <a:rPr lang="en-US" sz="2050" b="1" dirty="0">
                <a:solidFill>
                  <a:srgbClr val="0D7377"/>
                </a:solidFill>
                <a:latin typeface="Century Gothic"/>
                <a:cs typeface="Century Gothic"/>
              </a:rPr>
              <a:t>The rank-based alternatives</a:t>
            </a:r>
          </a:p>
          <a:p>
            <a:pPr marL="0" indent="0" algn="l">
              <a:lnSpc>
                <a:spcPct val="108000"/>
              </a:lnSpc>
              <a:spcBef>
                <a:spcPts val="440"/>
              </a:spcBef>
              <a:buNone/>
            </a:pPr>
            <a:r>
              <a:rPr lang="en-US" sz="1800" dirty="0">
                <a:solidFill>
                  <a:srgbClr val="000000"/>
                </a:solidFill>
                <a:latin typeface="Century Gothic"/>
                <a:cs typeface="Century Gothic"/>
              </a:rPr>
              <a:t>Wilcoxon rank-sum (Mann-Whitney): compares two groups without assuming normality.</a:t>
            </a:r>
          </a:p>
          <a:p>
            <a:pPr marL="0" indent="0" algn="l">
              <a:lnSpc>
                <a:spcPct val="108000"/>
              </a:lnSpc>
              <a:spcBef>
                <a:spcPts val="440"/>
              </a:spcBef>
              <a:buNone/>
            </a:pPr>
            <a:r>
              <a:rPr lang="en-US" sz="1800" dirty="0">
                <a:solidFill>
                  <a:srgbClr val="000000"/>
                </a:solidFill>
                <a:latin typeface="Century Gothic"/>
                <a:cs typeface="Century Gothic"/>
              </a:rPr>
              <a:t>Fisher's exact test: for a 2x2 table when expected counts are small (&lt; 5).</a:t>
            </a:r>
          </a:p>
          <a:p>
            <a:pPr marL="0" indent="0" algn="l">
              <a:lnSpc>
                <a:spcPct val="108000"/>
              </a:lnSpc>
              <a:spcBef>
                <a:spcPts val="440"/>
              </a:spcBef>
              <a:buNone/>
            </a:pPr>
            <a:r>
              <a:rPr lang="en-US" sz="1800" dirty="0">
                <a:solidFill>
                  <a:srgbClr val="000000"/>
                </a:solidFill>
                <a:latin typeface="Century Gothic"/>
                <a:cs typeface="Century Gothic"/>
              </a:rPr>
              <a:t>They use ranks and exact counts instead of means and the normal curve.</a:t>
            </a:r>
          </a:p>
          <a:p>
            <a:pPr>
              <a:buNone/>
            </a:pPr>
            <a:endParaRPr sz="1050"/>
          </a:p>
          <a:p>
            <a:pPr marL="0" indent="0" algn="l">
              <a:spcBef>
                <a:spcPts val="360"/>
              </a:spcBef>
              <a:buNone/>
            </a:pPr>
            <a:r>
              <a:rPr lang="en-US" sz="2050" b="1" dirty="0">
                <a:solidFill>
                  <a:srgbClr val="0D7377"/>
                </a:solidFill>
                <a:latin typeface="Century Gothic"/>
                <a:cs typeface="Century Gothic"/>
              </a:rPr>
              <a:t>How to run them</a:t>
            </a:r>
          </a:p>
          <a:p>
            <a:pPr marL="0" indent="0" algn="l">
              <a:lnSpc>
                <a:spcPct val="108000"/>
              </a:lnSpc>
              <a:spcBef>
                <a:spcPts val="440"/>
              </a:spcBef>
              <a:buNone/>
            </a:pPr>
            <a:r>
              <a:rPr lang="en-US" sz="1800" dirty="0">
                <a:solidFill>
                  <a:srgbClr val="000000"/>
                </a:solidFill>
                <a:latin typeface="Century Gothic"/>
                <a:cs typeface="Century Gothic"/>
              </a:rPr>
              <a:t>wilcox.test(sbp_mmhg ~ treatment_uptake, data = dx)</a:t>
            </a:r>
          </a:p>
          <a:p>
            <a:pPr marL="0" indent="0" algn="l">
              <a:lnSpc>
                <a:spcPct val="108000"/>
              </a:lnSpc>
              <a:spcBef>
                <a:spcPts val="440"/>
              </a:spcBef>
              <a:buNone/>
            </a:pPr>
            <a:r>
              <a:rPr lang="en-US" sz="1800" dirty="0">
                <a:solidFill>
                  <a:srgbClr val="000000"/>
                </a:solidFill>
                <a:latin typeface="Century Gothic"/>
                <a:cs typeface="Century Gothic"/>
              </a:rPr>
              <a:t>fisher.test(table(dx$treatment_uptake, dx$diabetes))</a:t>
            </a:r>
          </a:p>
          <a:p>
            <a:pPr>
              <a:buNone/>
            </a:pPr>
            <a:endParaRPr sz="1050"/>
          </a:p>
        </p:txBody>
      </p:sp>
      <p:sp>
        <p:nvSpPr>
          <p:cNvPr id="40" name="Callout"/>
          <p:cNvSpPr/>
          <p:nvPr/>
        </p:nvSpPr>
        <p:spPr>
          <a:xfrm>
            <a:off x="457200" y="5070000"/>
            <a:ext cx="11277600" cy="810000"/>
          </a:xfrm>
          <a:prstGeom prst="roundRect">
            <a:avLst>
              <a:gd name="adj" fmla="val 6000"/>
            </a:avLst>
          </a:prstGeom>
          <a:solidFill>
            <a:srgbClr val="E8F4F4"/>
          </a:solidFill>
          <a:ln>
            <a:noFill/>
          </a:ln>
        </p:spPr>
        <p:txBody>
          <a:bodyPr wrap="square" lIns="137160" tIns="91440" rIns="137160" bIns="91440" rtlCol="0" anchor="t"/>
          <a:lstStyle/>
          <a:p>
            <a:pPr marL="0" indent="0" algn="l">
              <a:buNone/>
            </a:pPr>
            <a:r>
              <a:rPr lang="en-US" sz="1300" b="1" dirty="0">
                <a:solidFill>
                  <a:srgbClr val="0D7377"/>
                </a:solidFill>
                <a:latin typeface="Century Gothic"/>
                <a:cs typeface="Century Gothic"/>
              </a:rPr>
              <a:t>TIP  -  Rule of thumb</a:t>
            </a:r>
          </a:p>
          <a:p>
            <a:pPr marL="0" indent="0" algn="l">
              <a:spcBef>
                <a:spcPts val="100"/>
              </a:spcBef>
              <a:buNone/>
            </a:pPr>
            <a:r>
              <a:rPr lang="en-US" sz="1300" dirty="0">
                <a:solidFill>
                  <a:srgbClr val="000000"/>
                </a:solidFill>
                <a:latin typeface="Century Gothic"/>
                <a:cs typeface="Century Gothic"/>
              </a:rPr>
              <a:t>Skewed or small data -&gt; use the non-parametric test; it is the safe choice when in doubt.</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Century Gothic"/>
                <a:cs typeface="Century Gothic"/>
              </a:rPr>
              <a:t>Comparing More Than Two Groups: ANOVA</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Body"/>
          <p:cNvSpPr txBox="1"/>
          <p:nvPr/>
        </p:nvSpPr>
        <p:spPr>
          <a:xfrm>
            <a:off x="457200" y="1080000"/>
            <a:ext cx="11277600" cy="3150000"/>
          </a:xfrm>
          <a:prstGeom prst="rect">
            <a:avLst/>
          </a:prstGeom>
          <a:noFill/>
          <a:ln>
            <a:noFill/>
          </a:ln>
        </p:spPr>
        <p:txBody>
          <a:bodyPr wrap="square" lIns="91440" tIns="45720" rIns="91440" bIns="45720" rtlCol="0" anchor="t"/>
          <a:lstStyle/>
          <a:p>
            <a:pPr marL="0" indent="0" algn="l">
              <a:spcBef>
                <a:spcPts val="360"/>
              </a:spcBef>
              <a:buNone/>
            </a:pPr>
            <a:r>
              <a:rPr lang="en-US" sz="2050" b="1" dirty="0">
                <a:solidFill>
                  <a:srgbClr val="0D7377"/>
                </a:solidFill>
                <a:latin typeface="Century Gothic"/>
                <a:cs typeface="Century Gothic"/>
              </a:rPr>
              <a:t>Why not many t-tests?</a:t>
            </a:r>
          </a:p>
          <a:p>
            <a:pPr marL="0" indent="0" algn="l">
              <a:lnSpc>
                <a:spcPct val="108000"/>
              </a:lnSpc>
              <a:spcBef>
                <a:spcPts val="440"/>
              </a:spcBef>
              <a:buNone/>
            </a:pPr>
            <a:r>
              <a:rPr lang="en-US" sz="1800" dirty="0">
                <a:solidFill>
                  <a:srgbClr val="000000"/>
                </a:solidFill>
                <a:latin typeface="Century Gothic"/>
                <a:cs typeface="Century Gothic"/>
              </a:rPr>
              <a:t>Each pairwise t-test carries its own 5% false-positive risk.</a:t>
            </a:r>
          </a:p>
          <a:p>
            <a:pPr marL="0" indent="0" algn="l">
              <a:lnSpc>
                <a:spcPct val="108000"/>
              </a:lnSpc>
              <a:spcBef>
                <a:spcPts val="440"/>
              </a:spcBef>
              <a:buNone/>
            </a:pPr>
            <a:r>
              <a:rPr lang="en-US" sz="1800" dirty="0">
                <a:solidFill>
                  <a:srgbClr val="000000"/>
                </a:solidFill>
                <a:latin typeface="Century Gothic"/>
                <a:cs typeface="Century Gothic"/>
              </a:rPr>
              <a:t>Doing several inflates the overall error rate.</a:t>
            </a:r>
          </a:p>
          <a:p>
            <a:pPr marL="0" indent="0" algn="l">
              <a:lnSpc>
                <a:spcPct val="108000"/>
              </a:lnSpc>
              <a:spcBef>
                <a:spcPts val="440"/>
              </a:spcBef>
              <a:buNone/>
            </a:pPr>
            <a:r>
              <a:rPr lang="en-US" sz="1800" dirty="0">
                <a:solidFill>
                  <a:srgbClr val="000000"/>
                </a:solidFill>
                <a:latin typeface="Century Gothic"/>
                <a:cs typeface="Century Gothic"/>
              </a:rPr>
              <a:t>ANOVA tests all groups at once with one honest p-value.</a:t>
            </a:r>
          </a:p>
          <a:p>
            <a:pPr>
              <a:buNone/>
            </a:pPr>
            <a:endParaRPr sz="1050"/>
          </a:p>
          <a:p>
            <a:pPr marL="0" indent="0" algn="l">
              <a:spcBef>
                <a:spcPts val="360"/>
              </a:spcBef>
              <a:buNone/>
            </a:pPr>
            <a:r>
              <a:rPr lang="en-US" sz="2050" b="1" dirty="0">
                <a:solidFill>
                  <a:srgbClr val="0D7377"/>
                </a:solidFill>
                <a:latin typeface="Century Gothic"/>
                <a:cs typeface="Century Gothic"/>
              </a:rPr>
              <a:t>After a significant ANOVA</a:t>
            </a:r>
          </a:p>
          <a:p>
            <a:pPr marL="0" indent="0" algn="l">
              <a:lnSpc>
                <a:spcPct val="108000"/>
              </a:lnSpc>
              <a:spcBef>
                <a:spcPts val="440"/>
              </a:spcBef>
              <a:buNone/>
            </a:pPr>
            <a:r>
              <a:rPr lang="en-US" sz="1800" dirty="0">
                <a:solidFill>
                  <a:srgbClr val="000000"/>
                </a:solidFill>
                <a:latin typeface="Century Gothic"/>
                <a:cs typeface="Century Gothic"/>
              </a:rPr>
              <a:t>A small p tells you SOME groups differ, not which ones.</a:t>
            </a:r>
          </a:p>
          <a:p>
            <a:pPr marL="0" indent="0" algn="l">
              <a:lnSpc>
                <a:spcPct val="108000"/>
              </a:lnSpc>
              <a:spcBef>
                <a:spcPts val="440"/>
              </a:spcBef>
              <a:buNone/>
            </a:pPr>
            <a:r>
              <a:rPr lang="en-US" sz="1800" dirty="0">
                <a:solidFill>
                  <a:srgbClr val="000000"/>
                </a:solidFill>
                <a:latin typeface="Century Gothic"/>
                <a:cs typeface="Century Gothic"/>
              </a:rPr>
              <a:t>TukeyHSD compares every pair and corrects for multiplicity.</a:t>
            </a:r>
          </a:p>
          <a:p>
            <a:pPr marL="0" indent="0" algn="l">
              <a:lnSpc>
                <a:spcPct val="108000"/>
              </a:lnSpc>
              <a:spcBef>
                <a:spcPts val="440"/>
              </a:spcBef>
              <a:buNone/>
            </a:pPr>
            <a:r>
              <a:rPr lang="en-US" sz="1800" dirty="0">
                <a:solidFill>
                  <a:srgbClr val="000000"/>
                </a:solidFill>
                <a:latin typeface="Century Gothic"/>
                <a:cs typeface="Century Gothic"/>
              </a:rPr>
              <a:t>Example: does age differ across education levels?</a:t>
            </a:r>
          </a:p>
          <a:p>
            <a:pPr>
              <a:buNone/>
            </a:pPr>
            <a:endParaRPr sz="1050"/>
          </a:p>
        </p:txBody>
      </p:sp>
      <p:sp>
        <p:nvSpPr>
          <p:cNvPr id="40" name="Callout"/>
          <p:cNvSpPr/>
          <p:nvPr/>
        </p:nvSpPr>
        <p:spPr>
          <a:xfrm>
            <a:off x="457200" y="5070000"/>
            <a:ext cx="11277600" cy="810000"/>
          </a:xfrm>
          <a:prstGeom prst="roundRect">
            <a:avLst>
              <a:gd name="adj" fmla="val 6000"/>
            </a:avLst>
          </a:prstGeom>
          <a:solidFill>
            <a:srgbClr val="F0F0F0"/>
          </a:solidFill>
          <a:ln>
            <a:noFill/>
          </a:ln>
        </p:spPr>
        <p:txBody>
          <a:bodyPr wrap="square" lIns="137160" tIns="91440" rIns="137160" bIns="91440" rtlCol="0" anchor="t"/>
          <a:lstStyle/>
          <a:p>
            <a:pPr marL="0" indent="0" algn="l">
              <a:buNone/>
            </a:pPr>
            <a:r>
              <a:rPr lang="en-US" sz="1300" b="1" dirty="0">
                <a:solidFill>
                  <a:srgbClr val="404040"/>
                </a:solidFill>
                <a:latin typeface="Century Gothic"/>
                <a:cs typeface="Century Gothic"/>
              </a:rPr>
              <a:t>NOTE  -  If assumptions fail</a:t>
            </a:r>
          </a:p>
          <a:p>
            <a:pPr marL="0" indent="0" algn="l">
              <a:spcBef>
                <a:spcPts val="100"/>
              </a:spcBef>
              <a:buNone/>
            </a:pPr>
            <a:r>
              <a:rPr lang="en-US" sz="1300" dirty="0">
                <a:solidFill>
                  <a:srgbClr val="000000"/>
                </a:solidFill>
                <a:latin typeface="Century Gothic"/>
                <a:cs typeface="Century Gothic"/>
              </a:rPr>
              <a:t>Use the non-parametric kruskal.test() instead of aov().</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Century Gothic"/>
                <a:cs typeface="Century Gothic"/>
              </a:rPr>
              <a:t>Association Between Two Categories</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Body"/>
          <p:cNvSpPr txBox="1"/>
          <p:nvPr/>
        </p:nvSpPr>
        <p:spPr>
          <a:xfrm>
            <a:off x="457200" y="1080000"/>
            <a:ext cx="11277600" cy="3150000"/>
          </a:xfrm>
          <a:prstGeom prst="rect">
            <a:avLst/>
          </a:prstGeom>
          <a:noFill/>
          <a:ln>
            <a:noFill/>
          </a:ln>
        </p:spPr>
        <p:txBody>
          <a:bodyPr wrap="square" lIns="91440" tIns="45720" rIns="91440" bIns="45720" rtlCol="0" anchor="t"/>
          <a:lstStyle/>
          <a:p>
            <a:pPr marL="0" indent="0" algn="l">
              <a:spcBef>
                <a:spcPts val="360"/>
              </a:spcBef>
              <a:buNone/>
            </a:pPr>
            <a:r>
              <a:rPr lang="en-US" sz="2050" b="1" dirty="0">
                <a:solidFill>
                  <a:srgbClr val="0D7377"/>
                </a:solidFill>
                <a:latin typeface="Century Gothic"/>
                <a:cs typeface="Century Gothic"/>
              </a:rPr>
              <a:t>Chi-square test of independence</a:t>
            </a:r>
          </a:p>
          <a:p>
            <a:pPr marL="0" indent="0" algn="l">
              <a:lnSpc>
                <a:spcPct val="108000"/>
              </a:lnSpc>
              <a:spcBef>
                <a:spcPts val="440"/>
              </a:spcBef>
              <a:buNone/>
            </a:pPr>
            <a:r>
              <a:rPr lang="en-US" sz="1800" dirty="0">
                <a:solidFill>
                  <a:srgbClr val="000000"/>
                </a:solidFill>
                <a:latin typeface="Century Gothic"/>
                <a:cs typeface="Century Gothic"/>
              </a:rPr>
              <a:t>Question: is treatment uptake associated with diabetes?</a:t>
            </a:r>
          </a:p>
          <a:p>
            <a:pPr marL="0" indent="0" algn="l">
              <a:lnSpc>
                <a:spcPct val="108000"/>
              </a:lnSpc>
              <a:spcBef>
                <a:spcPts val="440"/>
              </a:spcBef>
              <a:buNone/>
            </a:pPr>
            <a:r>
              <a:rPr lang="en-US" sz="1800" dirty="0">
                <a:solidFill>
                  <a:srgbClr val="000000"/>
                </a:solidFill>
                <a:latin typeface="Century Gothic"/>
                <a:cs typeface="Century Gothic"/>
              </a:rPr>
              <a:t>Build a contingency table, then test it.</a:t>
            </a:r>
          </a:p>
          <a:p>
            <a:pPr marL="0" indent="0" algn="l">
              <a:lnSpc>
                <a:spcPct val="108000"/>
              </a:lnSpc>
              <a:spcBef>
                <a:spcPts val="440"/>
              </a:spcBef>
              <a:buNone/>
            </a:pPr>
            <a:r>
              <a:rPr lang="en-US" sz="1800" dirty="0">
                <a:solidFill>
                  <a:srgbClr val="000000"/>
                </a:solidFill>
                <a:latin typeface="Century Gothic"/>
                <a:cs typeface="Century Gothic"/>
              </a:rPr>
              <a:t>H0: the two variables are independent (no association).</a:t>
            </a:r>
          </a:p>
          <a:p>
            <a:pPr>
              <a:buNone/>
            </a:pPr>
            <a:endParaRPr sz="1050"/>
          </a:p>
          <a:p>
            <a:pPr marL="0" indent="0" algn="l">
              <a:spcBef>
                <a:spcPts val="360"/>
              </a:spcBef>
              <a:buNone/>
            </a:pPr>
            <a:r>
              <a:rPr lang="en-US" sz="2050" b="1" dirty="0">
                <a:solidFill>
                  <a:srgbClr val="0D7377"/>
                </a:solidFill>
                <a:latin typeface="Century Gothic"/>
                <a:cs typeface="Century Gothic"/>
              </a:rPr>
              <a:t>When expected counts are small</a:t>
            </a:r>
          </a:p>
          <a:p>
            <a:pPr marL="0" indent="0" algn="l">
              <a:lnSpc>
                <a:spcPct val="108000"/>
              </a:lnSpc>
              <a:spcBef>
                <a:spcPts val="440"/>
              </a:spcBef>
              <a:buNone/>
            </a:pPr>
            <a:r>
              <a:rPr lang="en-US" sz="1800" dirty="0">
                <a:solidFill>
                  <a:srgbClr val="000000"/>
                </a:solidFill>
                <a:latin typeface="Century Gothic"/>
                <a:cs typeface="Century Gothic"/>
              </a:rPr>
              <a:t>Chi-square needs all expected cell counts &gt;= 5.</a:t>
            </a:r>
          </a:p>
          <a:p>
            <a:pPr marL="0" indent="0" algn="l">
              <a:lnSpc>
                <a:spcPct val="108000"/>
              </a:lnSpc>
              <a:spcBef>
                <a:spcPts val="440"/>
              </a:spcBef>
              <a:buNone/>
            </a:pPr>
            <a:r>
              <a:rPr lang="en-US" sz="1800" dirty="0">
                <a:solidFill>
                  <a:srgbClr val="000000"/>
                </a:solidFill>
                <a:latin typeface="Century Gothic"/>
                <a:cs typeface="Century Gothic"/>
              </a:rPr>
              <a:t>Check with chisq.test(tab)$expected.</a:t>
            </a:r>
          </a:p>
          <a:p>
            <a:pPr marL="0" indent="0" algn="l">
              <a:lnSpc>
                <a:spcPct val="108000"/>
              </a:lnSpc>
              <a:spcBef>
                <a:spcPts val="440"/>
              </a:spcBef>
              <a:buNone/>
            </a:pPr>
            <a:r>
              <a:rPr lang="en-US" sz="1800" dirty="0">
                <a:solidFill>
                  <a:srgbClr val="000000"/>
                </a:solidFill>
                <a:latin typeface="Century Gothic"/>
                <a:cs typeface="Century Gothic"/>
              </a:rPr>
              <a:t>If any are too small, use Fisher's exact test instead.</a:t>
            </a:r>
          </a:p>
          <a:p>
            <a:pPr>
              <a:buNone/>
            </a:pPr>
            <a:endParaRPr sz="1050"/>
          </a:p>
        </p:txBody>
      </p:sp>
      <p:sp>
        <p:nvSpPr>
          <p:cNvPr id="40" name="Callout"/>
          <p:cNvSpPr/>
          <p:nvPr/>
        </p:nvSpPr>
        <p:spPr>
          <a:xfrm>
            <a:off x="457200" y="5070000"/>
            <a:ext cx="11277600" cy="810000"/>
          </a:xfrm>
          <a:prstGeom prst="roundRect">
            <a:avLst>
              <a:gd name="adj" fmla="val 6000"/>
            </a:avLst>
          </a:prstGeom>
          <a:solidFill>
            <a:srgbClr val="EAF1F7"/>
          </a:solidFill>
          <a:ln>
            <a:noFill/>
          </a:ln>
        </p:spPr>
        <p:txBody>
          <a:bodyPr wrap="square" lIns="137160" tIns="91440" rIns="137160" bIns="91440" rtlCol="0" anchor="t"/>
          <a:lstStyle/>
          <a:p>
            <a:pPr marL="0" indent="0" algn="l">
              <a:buNone/>
            </a:pPr>
            <a:r>
              <a:rPr lang="en-US" sz="1300" b="1" dirty="0">
                <a:solidFill>
                  <a:srgbClr val="1F5C7A"/>
                </a:solidFill>
                <a:latin typeface="Century Gothic"/>
                <a:cs typeface="Century Gothic"/>
              </a:rPr>
              <a:t>CLINICAL INTERPRETATION  -  The table gives direction</a:t>
            </a:r>
          </a:p>
          <a:p>
            <a:pPr marL="0" indent="0" algn="l">
              <a:spcBef>
                <a:spcPts val="100"/>
              </a:spcBef>
              <a:buNone/>
            </a:pPr>
            <a:r>
              <a:rPr lang="en-US" sz="1300" dirty="0">
                <a:solidFill>
                  <a:srgbClr val="000000"/>
                </a:solidFill>
                <a:latin typeface="Century Gothic"/>
                <a:cs typeface="Century Gothic"/>
              </a:rPr>
              <a:t>The test gives a p-value; the table shows WHO had higher uptake.</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Century Gothic"/>
                <a:cs typeface="Century Gothic"/>
              </a:rPr>
              <a:t>Correlation: Do Two Numbers Move Together?</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1" name="Col"/>
          <p:cNvSpPr txBox="1"/>
          <p:nvPr/>
        </p:nvSpPr>
        <p:spPr>
          <a:xfrm>
            <a:off x="457200" y="1150000"/>
            <a:ext cx="5478780" cy="5050000"/>
          </a:xfrm>
          <a:prstGeom prst="rect">
            <a:avLst/>
          </a:prstGeom>
          <a:noFill/>
          <a:ln>
            <a:noFill/>
          </a:ln>
        </p:spPr>
        <p:txBody>
          <a:bodyPr wrap="square" lIns="91440" tIns="45720" rIns="91440" bIns="45720" rtlCol="0" anchor="t"/>
          <a:lstStyle/>
          <a:p>
            <a:pPr marL="0" indent="0" algn="l">
              <a:buNone/>
            </a:pPr>
            <a:r>
              <a:rPr lang="en-US" sz="2050" b="1" dirty="0">
                <a:solidFill>
                  <a:srgbClr val="0D7377"/>
                </a:solidFill>
                <a:latin typeface="Century Gothic"/>
                <a:cs typeface="Century Gothic"/>
              </a:rPr>
              <a:t>Pearson</a:t>
            </a:r>
          </a:p>
          <a:p>
            <a:pPr marL="274320" indent="-274320" algn="l">
              <a:lnSpc>
                <a:spcPct val="106000"/>
              </a:lnSpc>
              <a:spcBef>
                <a:spcPts val="520"/>
              </a:spcBef>
              <a:buFont typeface="Arial"/>
              <a:buChar char="•"/>
            </a:pPr>
            <a:r>
              <a:rPr lang="en-US" sz="1650" dirty="0">
                <a:solidFill>
                  <a:srgbClr val="000000"/>
                </a:solidFill>
                <a:latin typeface="Century Gothic"/>
                <a:cs typeface="Century Gothic"/>
              </a:rPr>
              <a:t>Measures LINEAR association.</a:t>
            </a:r>
          </a:p>
          <a:p>
            <a:pPr marL="274320" indent="-274320" algn="l">
              <a:lnSpc>
                <a:spcPct val="106000"/>
              </a:lnSpc>
              <a:spcBef>
                <a:spcPts val="520"/>
              </a:spcBef>
              <a:buFont typeface="Arial"/>
              <a:buChar char="•"/>
            </a:pPr>
            <a:r>
              <a:rPr lang="en-US" sz="1650" dirty="0">
                <a:solidFill>
                  <a:srgbClr val="000000"/>
                </a:solidFill>
                <a:latin typeface="Century Gothic"/>
                <a:cs typeface="Century Gothic"/>
              </a:rPr>
              <a:t>Assumes roughly normal data.</a:t>
            </a:r>
          </a:p>
          <a:p>
            <a:pPr marL="274320" indent="-274320" algn="l">
              <a:lnSpc>
                <a:spcPct val="106000"/>
              </a:lnSpc>
              <a:spcBef>
                <a:spcPts val="520"/>
              </a:spcBef>
              <a:buFont typeface="Arial"/>
              <a:buChar char="•"/>
            </a:pPr>
            <a:r>
              <a:rPr lang="en-US" sz="1650" dirty="0">
                <a:solidFill>
                  <a:srgbClr val="000000"/>
                </a:solidFill>
                <a:latin typeface="Century Gothic"/>
                <a:cs typeface="Century Gothic"/>
              </a:rPr>
              <a:t>Sensitive to outliers.</a:t>
            </a:r>
          </a:p>
          <a:p>
            <a:pPr marL="274320" indent="-274320" algn="l">
              <a:lnSpc>
                <a:spcPct val="106000"/>
              </a:lnSpc>
              <a:spcBef>
                <a:spcPts val="520"/>
              </a:spcBef>
              <a:buFont typeface="Arial"/>
              <a:buChar char="•"/>
            </a:pPr>
            <a:r>
              <a:rPr lang="en-US" sz="1650" dirty="0">
                <a:solidFill>
                  <a:srgbClr val="000000"/>
                </a:solidFill>
                <a:latin typeface="Century Gothic"/>
                <a:cs typeface="Century Gothic"/>
              </a:rPr>
              <a:t>Example: sbp_mmhg vs bmi.</a:t>
            </a:r>
          </a:p>
        </p:txBody>
      </p:sp>
      <p:sp>
        <p:nvSpPr>
          <p:cNvPr id="22" name="Col"/>
          <p:cNvSpPr txBox="1"/>
          <p:nvPr/>
        </p:nvSpPr>
        <p:spPr>
          <a:xfrm>
            <a:off x="6256020" y="1150000"/>
            <a:ext cx="5478780" cy="5050000"/>
          </a:xfrm>
          <a:prstGeom prst="rect">
            <a:avLst/>
          </a:prstGeom>
          <a:noFill/>
          <a:ln>
            <a:noFill/>
          </a:ln>
        </p:spPr>
        <p:txBody>
          <a:bodyPr wrap="square" lIns="91440" tIns="45720" rIns="91440" bIns="45720" rtlCol="0" anchor="t"/>
          <a:lstStyle/>
          <a:p>
            <a:pPr marL="0" indent="0" algn="l">
              <a:buNone/>
            </a:pPr>
            <a:r>
              <a:rPr lang="en-US" sz="2050" b="1" dirty="0">
                <a:solidFill>
                  <a:srgbClr val="0D7377"/>
                </a:solidFill>
                <a:latin typeface="Century Gothic"/>
                <a:cs typeface="Century Gothic"/>
              </a:rPr>
              <a:t>Spearman</a:t>
            </a:r>
          </a:p>
          <a:p>
            <a:pPr marL="274320" indent="-274320" algn="l">
              <a:lnSpc>
                <a:spcPct val="106000"/>
              </a:lnSpc>
              <a:spcBef>
                <a:spcPts val="520"/>
              </a:spcBef>
              <a:buFont typeface="Arial"/>
              <a:buChar char="•"/>
            </a:pPr>
            <a:r>
              <a:rPr lang="en-US" sz="1650" dirty="0">
                <a:solidFill>
                  <a:srgbClr val="000000"/>
                </a:solidFill>
                <a:latin typeface="Century Gothic"/>
                <a:cs typeface="Century Gothic"/>
              </a:rPr>
              <a:t>Based on RANKS.</a:t>
            </a:r>
          </a:p>
          <a:p>
            <a:pPr marL="274320" indent="-274320" algn="l">
              <a:lnSpc>
                <a:spcPct val="106000"/>
              </a:lnSpc>
              <a:spcBef>
                <a:spcPts val="520"/>
              </a:spcBef>
              <a:buFont typeface="Arial"/>
              <a:buChar char="•"/>
            </a:pPr>
            <a:r>
              <a:rPr lang="en-US" sz="1650" dirty="0">
                <a:solidFill>
                  <a:srgbClr val="000000"/>
                </a:solidFill>
                <a:latin typeface="Century Gothic"/>
                <a:cs typeface="Century Gothic"/>
              </a:rPr>
              <a:t>Robust to outliers and non-linearity.</a:t>
            </a:r>
          </a:p>
          <a:p>
            <a:pPr marL="274320" indent="-274320" algn="l">
              <a:lnSpc>
                <a:spcPct val="106000"/>
              </a:lnSpc>
              <a:spcBef>
                <a:spcPts val="520"/>
              </a:spcBef>
              <a:buFont typeface="Arial"/>
              <a:buChar char="•"/>
            </a:pPr>
            <a:r>
              <a:rPr lang="en-US" sz="1650" dirty="0">
                <a:solidFill>
                  <a:srgbClr val="000000"/>
                </a:solidFill>
                <a:latin typeface="Century Gothic"/>
                <a:cs typeface="Century Gothic"/>
              </a:rPr>
              <a:t>Use when data are skewed.</a:t>
            </a:r>
          </a:p>
          <a:p>
            <a:pPr marL="274320" indent="-274320" algn="l">
              <a:lnSpc>
                <a:spcPct val="106000"/>
              </a:lnSpc>
              <a:spcBef>
                <a:spcPts val="520"/>
              </a:spcBef>
              <a:buFont typeface="Arial"/>
              <a:buChar char="•"/>
            </a:pPr>
            <a:r>
              <a:rPr lang="en-US" sz="1650" dirty="0">
                <a:solidFill>
                  <a:srgbClr val="000000"/>
                </a:solidFill>
                <a:latin typeface="Century Gothic"/>
                <a:cs typeface="Century Gothic"/>
              </a:rPr>
              <a:t>Reports a rank correlation.</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Century Gothic"/>
                <a:cs typeface="Century Gothic"/>
              </a:rPr>
              <a:t>Demo: Correlation of SBP and BMI</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Intro"/>
          <p:cNvSpPr txBox="1"/>
          <p:nvPr/>
        </p:nvSpPr>
        <p:spPr>
          <a:xfrm>
            <a:off x="457200" y="1080000"/>
            <a:ext cx="11277600" cy="520000"/>
          </a:xfrm>
          <a:prstGeom prst="rect">
            <a:avLst/>
          </a:prstGeom>
          <a:noFill/>
          <a:ln>
            <a:noFill/>
          </a:ln>
        </p:spPr>
        <p:txBody>
          <a:bodyPr wrap="square" lIns="91440" tIns="45720" rIns="91440" bIns="45720" rtlCol="0" anchor="t"/>
          <a:lstStyle/>
          <a:p>
            <a:pPr marL="0" indent="0" algn="l">
              <a:buNone/>
            </a:pPr>
            <a:r>
              <a:rPr lang="en-US" sz="1600" i="1" dirty="0">
                <a:solidFill>
                  <a:srgbClr val="595959"/>
                </a:solidFill>
                <a:latin typeface="Century Gothic"/>
                <a:cs typeface="Century Gothic"/>
              </a:rPr>
              <a:t>Do systolic blood pressure and BMI move together?</a:t>
            </a:r>
          </a:p>
        </p:txBody>
      </p:sp>
      <p:sp>
        <p:nvSpPr>
          <p:cNvPr id="30" name="Code"/>
          <p:cNvSpPr/>
          <p:nvPr/>
        </p:nvSpPr>
        <p:spPr>
          <a:xfrm>
            <a:off x="457200" y="1640000"/>
            <a:ext cx="11277600" cy="390000"/>
          </a:xfrm>
          <a:prstGeom prst="roundRect">
            <a:avLst>
              <a:gd name="adj" fmla="val 6000"/>
            </a:avLst>
          </a:prstGeom>
          <a:solidFill>
            <a:srgbClr val="EDF1F2"/>
          </a:solidFill>
          <a:ln>
            <a:noFill/>
          </a:ln>
        </p:spPr>
        <p:txBody>
          <a:bodyPr wrap="square" lIns="137160" tIns="91440" rIns="137160" bIns="91440" rtlCol="0" anchor="t"/>
          <a:lstStyle/>
          <a:p>
            <a:pPr marL="0" indent="0" algn="l">
              <a:lnSpc>
                <a:spcPct val="100000"/>
              </a:lnSpc>
              <a:buNone/>
            </a:pPr>
            <a:r>
              <a:rPr lang="en-US" sz="1300" dirty="0">
                <a:solidFill>
                  <a:srgbClr val="1B3A4B"/>
                </a:solidFill>
                <a:latin typeface="Consolas"/>
                <a:cs typeface="Consolas"/>
              </a:rPr>
              <a:t>cor.test(dx$sbp_mmhg, dx$bmi, method = "pearson")</a:t>
            </a:r>
          </a:p>
        </p:txBody>
      </p:sp>
      <p:sp>
        <p:nvSpPr>
          <p:cNvPr id="31" name="Output"/>
          <p:cNvSpPr/>
          <p:nvPr/>
        </p:nvSpPr>
        <p:spPr>
          <a:xfrm>
            <a:off x="457200" y="2180000"/>
            <a:ext cx="11277600" cy="1100000"/>
          </a:xfrm>
          <a:prstGeom prst="roundRect">
            <a:avLst>
              <a:gd name="adj" fmla="val 6000"/>
            </a:avLst>
          </a:prstGeom>
          <a:solidFill>
            <a:srgbClr val="F2EFE6"/>
          </a:solidFill>
          <a:ln>
            <a:noFill/>
          </a:ln>
        </p:spPr>
        <p:txBody>
          <a:bodyPr wrap="square" lIns="137160" tIns="91440" rIns="137160" bIns="91440" rtlCol="0" anchor="t"/>
          <a:lstStyle/>
          <a:p>
            <a:pPr marL="0" indent="0" algn="l">
              <a:buNone/>
            </a:pPr>
            <a:r>
              <a:rPr lang="en-US" sz="1150" b="1" dirty="0">
                <a:solidFill>
                  <a:srgbClr val="595959"/>
                </a:solidFill>
                <a:latin typeface="Century Gothic"/>
                <a:cs typeface="Century Gothic"/>
              </a:rPr>
              <a:t>Console output</a:t>
            </a:r>
          </a:p>
          <a:p>
            <a:pPr marL="0" indent="0" algn="l">
              <a:lnSpc>
                <a:spcPct val="100000"/>
              </a:lnSpc>
              <a:buNone/>
            </a:pPr>
            <a:r>
              <a:rPr lang="en-US" sz="1250" dirty="0">
                <a:solidFill>
                  <a:srgbClr val="1A1A1A"/>
                </a:solidFill>
                <a:latin typeface="Consolas"/>
                <a:cs typeface="Consolas"/>
              </a:rPr>
              <a:t>Pearson's product-moment correlation</a:t>
            </a:r>
          </a:p>
          <a:p>
            <a:pPr marL="0" indent="0" algn="l">
              <a:lnSpc>
                <a:spcPct val="100000"/>
              </a:lnSpc>
              <a:buNone/>
            </a:pPr>
            <a:r>
              <a:rPr lang="en-US" sz="1250" dirty="0">
                <a:solidFill>
                  <a:srgbClr val="1A1A1A"/>
                </a:solidFill>
                <a:latin typeface="Consolas"/>
                <a:cs typeface="Consolas"/>
              </a:rPr>
              <a:t>t = 6.1, df = 1087, p-value = 1.4e-09</a:t>
            </a:r>
          </a:p>
          <a:p>
            <a:pPr marL="0" indent="0" algn="l">
              <a:lnSpc>
                <a:spcPct val="100000"/>
              </a:lnSpc>
              <a:buNone/>
            </a:pPr>
            <a:r>
              <a:rPr lang="en-US" sz="1250" dirty="0">
                <a:solidFill>
                  <a:srgbClr val="1A1A1A"/>
                </a:solidFill>
                <a:latin typeface="Consolas"/>
                <a:cs typeface="Consolas"/>
              </a:rPr>
              <a:t>95 percent CI: 0.12 to 0.24</a:t>
            </a:r>
          </a:p>
          <a:p>
            <a:pPr marL="0" indent="0" algn="l">
              <a:lnSpc>
                <a:spcPct val="100000"/>
              </a:lnSpc>
              <a:buNone/>
            </a:pPr>
            <a:r>
              <a:rPr lang="en-US" sz="1250" dirty="0">
                <a:solidFill>
                  <a:srgbClr val="1A1A1A"/>
                </a:solidFill>
                <a:latin typeface="Consolas"/>
                <a:cs typeface="Consolas"/>
              </a:rPr>
              <a:t>cor = 0.18</a:t>
            </a:r>
          </a:p>
        </p:txBody>
      </p:sp>
      <p:sp>
        <p:nvSpPr>
          <p:cNvPr id="32" name="Note"/>
          <p:cNvSpPr/>
          <p:nvPr/>
        </p:nvSpPr>
        <p:spPr>
          <a:xfrm>
            <a:off x="457200" y="3420000"/>
            <a:ext cx="11277600" cy="470000"/>
          </a:xfrm>
          <a:prstGeom prst="roundRect">
            <a:avLst>
              <a:gd name="adj" fmla="val 6000"/>
            </a:avLst>
          </a:prstGeom>
          <a:solidFill>
            <a:srgbClr val="EAF1F7"/>
          </a:solidFill>
          <a:ln>
            <a:noFill/>
          </a:ln>
        </p:spPr>
        <p:txBody>
          <a:bodyPr wrap="square" lIns="137160" tIns="91440" rIns="137160" bIns="91440" rtlCol="0" anchor="t"/>
          <a:lstStyle/>
          <a:p>
            <a:pPr marL="0" indent="0" algn="l">
              <a:buNone/>
            </a:pPr>
            <a:r>
              <a:rPr lang="en-US" sz="1300" dirty="0">
                <a:solidFill>
                  <a:srgbClr val="1F5C7A"/>
                </a:solidFill>
                <a:latin typeface="Century Gothic"/>
                <a:cs typeface="Century Gothic"/>
              </a:rPr>
              <a:t>INTERPRETATION  -  r = 0.18 is a weak positive link: highly significant, but clinically modest.</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Century Gothic"/>
                <a:cs typeface="Century Gothic"/>
              </a:rPr>
              <a:t>Choosing the Right Test</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graphicFrame>
        <p:nvGraphicFramePr>
          <p:cNvPr id="30" name="Table"/>
          <p:cNvGraphicFramePr/>
          <p:nvPr/>
        </p:nvGraphicFramePr>
        <p:xfrm>
          <a:off x="457200" y="1150000"/>
          <a:ext cx="11277600" cy="2280000"/>
        </p:xfrm>
        <a:graphic>
          <a:graphicData uri="http://schemas.openxmlformats.org/drawingml/2006/table">
            <a:tbl>
              <a:tblPr firstRow="1" bandRow="1">
                <a:tableStyleId>{5C22544A-7EE6-4342-B048-85BDC9FD1C3A}</a:tableStyleId>
              </a:tblPr>
              <a:tblGrid>
                <a:gridCol w="3759200"/>
                <a:gridCol w="3759200"/>
                <a:gridCol w="3759200"/>
              </a:tblGrid>
              <a:tr h="380000">
                <a:tc>
                  <a:txBody>
                    <a:bodyPr/>
                    <a:lstStyle/>
                    <a:p>
                      <a:pPr algn="l"/>
                      <a:r>
                        <a:rPr lang="en-US" sz="1300" b="1" dirty="0">
                          <a:solidFill>
                            <a:srgbClr val="FFFFFF"/>
                          </a:solidFill>
                          <a:latin typeface="Century Gothic"/>
                        </a:rPr>
                        <a:t>Outcome</a:t>
                      </a:r>
                    </a:p>
                  </a:txBody>
                  <a:tcPr marL="73152" marR="73152" marT="36576" marB="36576" anchor="ctr">
                    <a:solidFill>
                      <a:srgbClr val="0D7377"/>
                    </a:solidFill>
                  </a:tcPr>
                </a:tc>
                <a:tc>
                  <a:txBody>
                    <a:bodyPr/>
                    <a:lstStyle/>
                    <a:p>
                      <a:pPr algn="l"/>
                      <a:r>
                        <a:rPr lang="en-US" sz="1300" b="1" dirty="0">
                          <a:solidFill>
                            <a:srgbClr val="FFFFFF"/>
                          </a:solidFill>
                          <a:latin typeface="Century Gothic"/>
                        </a:rPr>
                        <a:t>Predictor / 2nd variable</a:t>
                      </a:r>
                    </a:p>
                  </a:txBody>
                  <a:tcPr marL="73152" marR="73152" marT="36576" marB="36576" anchor="ctr">
                    <a:solidFill>
                      <a:srgbClr val="0D7377"/>
                    </a:solidFill>
                  </a:tcPr>
                </a:tc>
                <a:tc>
                  <a:txBody>
                    <a:bodyPr/>
                    <a:lstStyle/>
                    <a:p>
                      <a:pPr algn="l"/>
                      <a:r>
                        <a:rPr lang="en-US" sz="1300" b="1" dirty="0">
                          <a:solidFill>
                            <a:srgbClr val="FFFFFF"/>
                          </a:solidFill>
                          <a:latin typeface="Century Gothic"/>
                        </a:rPr>
                        <a:t>Test</a:t>
                      </a:r>
                    </a:p>
                  </a:txBody>
                  <a:tcPr marL="73152" marR="73152" marT="36576" marB="36576" anchor="ctr">
                    <a:solidFill>
                      <a:srgbClr val="0D7377"/>
                    </a:solidFill>
                  </a:tcPr>
                </a:tc>
              </a:tr>
              <a:tr h="380000">
                <a:tc>
                  <a:txBody>
                    <a:bodyPr/>
                    <a:lstStyle/>
                    <a:p>
                      <a:pPr algn="l"/>
                      <a:r>
                        <a:rPr lang="en-US" sz="1300" b="0" dirty="0">
                          <a:solidFill>
                            <a:srgbClr val="000000"/>
                          </a:solidFill>
                          <a:latin typeface="Century Gothic"/>
                        </a:rPr>
                        <a:t>Continuous</a:t>
                      </a:r>
                    </a:p>
                  </a:txBody>
                  <a:tcPr marL="73152" marR="73152" marT="36576" marB="36576" anchor="ctr">
                    <a:solidFill>
                      <a:srgbClr val="FFFFFF"/>
                    </a:solidFill>
                  </a:tcPr>
                </a:tc>
                <a:tc>
                  <a:txBody>
                    <a:bodyPr/>
                    <a:lstStyle/>
                    <a:p>
                      <a:pPr algn="l"/>
                      <a:r>
                        <a:rPr lang="en-US" sz="1300" b="0" dirty="0">
                          <a:solidFill>
                            <a:srgbClr val="000000"/>
                          </a:solidFill>
                          <a:latin typeface="Century Gothic"/>
                        </a:rPr>
                        <a:t>Two groups</a:t>
                      </a:r>
                    </a:p>
                  </a:txBody>
                  <a:tcPr marL="73152" marR="73152" marT="36576" marB="36576" anchor="ctr">
                    <a:solidFill>
                      <a:srgbClr val="FFFFFF"/>
                    </a:solidFill>
                  </a:tcPr>
                </a:tc>
                <a:tc>
                  <a:txBody>
                    <a:bodyPr/>
                    <a:lstStyle/>
                    <a:p>
                      <a:pPr algn="l"/>
                      <a:r>
                        <a:rPr lang="en-US" sz="1300" b="0" dirty="0">
                          <a:solidFill>
                            <a:srgbClr val="000000"/>
                          </a:solidFill>
                          <a:latin typeface="Century Gothic"/>
                        </a:rPr>
                        <a:t>t-test (Wilcoxon if skewed)</a:t>
                      </a:r>
                    </a:p>
                  </a:txBody>
                  <a:tcPr marL="73152" marR="73152" marT="36576" marB="36576" anchor="ctr">
                    <a:solidFill>
                      <a:srgbClr val="FFFFFF"/>
                    </a:solidFill>
                  </a:tcPr>
                </a:tc>
              </a:tr>
              <a:tr h="380000">
                <a:tc>
                  <a:txBody>
                    <a:bodyPr/>
                    <a:lstStyle/>
                    <a:p>
                      <a:pPr algn="l"/>
                      <a:r>
                        <a:rPr lang="en-US" sz="1300" b="0" dirty="0">
                          <a:solidFill>
                            <a:srgbClr val="000000"/>
                          </a:solidFill>
                          <a:latin typeface="Century Gothic"/>
                        </a:rPr>
                        <a:t>Continuous</a:t>
                      </a:r>
                    </a:p>
                  </a:txBody>
                  <a:tcPr marL="73152" marR="73152" marT="36576" marB="36576" anchor="ctr">
                    <a:solidFill>
                      <a:srgbClr val="FFFFFF"/>
                    </a:solidFill>
                  </a:tcPr>
                </a:tc>
                <a:tc>
                  <a:txBody>
                    <a:bodyPr/>
                    <a:lstStyle/>
                    <a:p>
                      <a:pPr algn="l"/>
                      <a:r>
                        <a:rPr lang="en-US" sz="1300" b="0" dirty="0">
                          <a:solidFill>
                            <a:srgbClr val="000000"/>
                          </a:solidFill>
                          <a:latin typeface="Century Gothic"/>
                        </a:rPr>
                        <a:t>More than two groups</a:t>
                      </a:r>
                    </a:p>
                  </a:txBody>
                  <a:tcPr marL="73152" marR="73152" marT="36576" marB="36576" anchor="ctr">
                    <a:solidFill>
                      <a:srgbClr val="FFFFFF"/>
                    </a:solidFill>
                  </a:tcPr>
                </a:tc>
                <a:tc>
                  <a:txBody>
                    <a:bodyPr/>
                    <a:lstStyle/>
                    <a:p>
                      <a:pPr algn="l"/>
                      <a:r>
                        <a:rPr lang="en-US" sz="1300" b="0" dirty="0">
                          <a:solidFill>
                            <a:srgbClr val="000000"/>
                          </a:solidFill>
                          <a:latin typeface="Century Gothic"/>
                        </a:rPr>
                        <a:t>ANOVA (Kruskal-Wallis if skewed)</a:t>
                      </a:r>
                    </a:p>
                  </a:txBody>
                  <a:tcPr marL="73152" marR="73152" marT="36576" marB="36576" anchor="ctr">
                    <a:solidFill>
                      <a:srgbClr val="FFFFFF"/>
                    </a:solidFill>
                  </a:tcPr>
                </a:tc>
              </a:tr>
              <a:tr h="380000">
                <a:tc>
                  <a:txBody>
                    <a:bodyPr/>
                    <a:lstStyle/>
                    <a:p>
                      <a:pPr algn="l"/>
                      <a:r>
                        <a:rPr lang="en-US" sz="1300" b="0" dirty="0">
                          <a:solidFill>
                            <a:srgbClr val="000000"/>
                          </a:solidFill>
                          <a:latin typeface="Century Gothic"/>
                        </a:rPr>
                        <a:t>Categorical</a:t>
                      </a:r>
                    </a:p>
                  </a:txBody>
                  <a:tcPr marL="73152" marR="73152" marT="36576" marB="36576" anchor="ctr">
                    <a:solidFill>
                      <a:srgbClr val="FFFFFF"/>
                    </a:solidFill>
                  </a:tcPr>
                </a:tc>
                <a:tc>
                  <a:txBody>
                    <a:bodyPr/>
                    <a:lstStyle/>
                    <a:p>
                      <a:pPr algn="l"/>
                      <a:r>
                        <a:rPr lang="en-US" sz="1300" b="0" dirty="0">
                          <a:solidFill>
                            <a:srgbClr val="000000"/>
                          </a:solidFill>
                          <a:latin typeface="Century Gothic"/>
                        </a:rPr>
                        <a:t>Categorical</a:t>
                      </a:r>
                    </a:p>
                  </a:txBody>
                  <a:tcPr marL="73152" marR="73152" marT="36576" marB="36576" anchor="ctr">
                    <a:solidFill>
                      <a:srgbClr val="FFFFFF"/>
                    </a:solidFill>
                  </a:tcPr>
                </a:tc>
                <a:tc>
                  <a:txBody>
                    <a:bodyPr/>
                    <a:lstStyle/>
                    <a:p>
                      <a:pPr algn="l"/>
                      <a:r>
                        <a:rPr lang="en-US" sz="1300" b="0" dirty="0">
                          <a:solidFill>
                            <a:srgbClr val="000000"/>
                          </a:solidFill>
                          <a:latin typeface="Century Gothic"/>
                        </a:rPr>
                        <a:t>Chi-square (Fisher if sparse)</a:t>
                      </a:r>
                    </a:p>
                  </a:txBody>
                  <a:tcPr marL="73152" marR="73152" marT="36576" marB="36576" anchor="ctr">
                    <a:solidFill>
                      <a:srgbClr val="FFFFFF"/>
                    </a:solidFill>
                  </a:tcPr>
                </a:tc>
              </a:tr>
              <a:tr h="380000">
                <a:tc>
                  <a:txBody>
                    <a:bodyPr/>
                    <a:lstStyle/>
                    <a:p>
                      <a:pPr algn="l"/>
                      <a:r>
                        <a:rPr lang="en-US" sz="1300" b="0" dirty="0">
                          <a:solidFill>
                            <a:srgbClr val="000000"/>
                          </a:solidFill>
                          <a:latin typeface="Century Gothic"/>
                        </a:rPr>
                        <a:t>Continuous</a:t>
                      </a:r>
                    </a:p>
                  </a:txBody>
                  <a:tcPr marL="73152" marR="73152" marT="36576" marB="36576" anchor="ctr">
                    <a:solidFill>
                      <a:srgbClr val="FFFFFF"/>
                    </a:solidFill>
                  </a:tcPr>
                </a:tc>
                <a:tc>
                  <a:txBody>
                    <a:bodyPr/>
                    <a:lstStyle/>
                    <a:p>
                      <a:pPr algn="l"/>
                      <a:r>
                        <a:rPr lang="en-US" sz="1300" b="0" dirty="0">
                          <a:solidFill>
                            <a:srgbClr val="000000"/>
                          </a:solidFill>
                          <a:latin typeface="Century Gothic"/>
                        </a:rPr>
                        <a:t>Continuous</a:t>
                      </a:r>
                    </a:p>
                  </a:txBody>
                  <a:tcPr marL="73152" marR="73152" marT="36576" marB="36576" anchor="ctr">
                    <a:solidFill>
                      <a:srgbClr val="FFFFFF"/>
                    </a:solidFill>
                  </a:tcPr>
                </a:tc>
                <a:tc>
                  <a:txBody>
                    <a:bodyPr/>
                    <a:lstStyle/>
                    <a:p>
                      <a:pPr algn="l"/>
                      <a:r>
                        <a:rPr lang="en-US" sz="1300" b="0" dirty="0">
                          <a:solidFill>
                            <a:srgbClr val="000000"/>
                          </a:solidFill>
                          <a:latin typeface="Century Gothic"/>
                        </a:rPr>
                        <a:t>Correlation (Pearson / Spearman)</a:t>
                      </a:r>
                    </a:p>
                  </a:txBody>
                  <a:tcPr marL="73152" marR="73152" marT="36576" marB="36576" anchor="ctr">
                    <a:solidFill>
                      <a:srgbClr val="FFFFFF"/>
                    </a:solidFill>
                  </a:tcPr>
                </a:tc>
              </a:tr>
              <a:tr h="380000">
                <a:tc>
                  <a:txBody>
                    <a:bodyPr/>
                    <a:lstStyle/>
                    <a:p>
                      <a:pPr algn="l"/>
                      <a:r>
                        <a:rPr lang="en-US" sz="1300" b="0" dirty="0">
                          <a:solidFill>
                            <a:srgbClr val="000000"/>
                          </a:solidFill>
                          <a:latin typeface="Century Gothic"/>
                        </a:rPr>
                        <a:t>Binary</a:t>
                      </a:r>
                    </a:p>
                  </a:txBody>
                  <a:tcPr marL="73152" marR="73152" marT="36576" marB="36576" anchor="ctr">
                    <a:solidFill>
                      <a:srgbClr val="FFFFFF"/>
                    </a:solidFill>
                  </a:tcPr>
                </a:tc>
                <a:tc>
                  <a:txBody>
                    <a:bodyPr/>
                    <a:lstStyle/>
                    <a:p>
                      <a:pPr algn="l"/>
                      <a:r>
                        <a:rPr lang="en-US" sz="1300" b="0" dirty="0">
                          <a:solidFill>
                            <a:srgbClr val="000000"/>
                          </a:solidFill>
                          <a:latin typeface="Century Gothic"/>
                        </a:rPr>
                        <a:t>One or more predictors</a:t>
                      </a:r>
                    </a:p>
                  </a:txBody>
                  <a:tcPr marL="73152" marR="73152" marT="36576" marB="36576" anchor="ctr">
                    <a:solidFill>
                      <a:srgbClr val="FFFFFF"/>
                    </a:solidFill>
                  </a:tcPr>
                </a:tc>
                <a:tc>
                  <a:txBody>
                    <a:bodyPr/>
                    <a:lstStyle/>
                    <a:p>
                      <a:pPr algn="l"/>
                      <a:r>
                        <a:rPr lang="en-US" sz="1300" b="0" dirty="0">
                          <a:solidFill>
                            <a:srgbClr val="000000"/>
                          </a:solidFill>
                          <a:latin typeface="Century Gothic"/>
                        </a:rPr>
                        <a:t>Logistic regression - Day 5</a:t>
                      </a:r>
                    </a:p>
                  </a:txBody>
                  <a:tcPr marL="73152" marR="73152" marT="36576" marB="36576" anchor="ctr">
                    <a:solidFill>
                      <a:srgbClr val="FFFFFF"/>
                    </a:solidFill>
                  </a:tcPr>
                </a:tc>
              </a:tr>
            </a:tbl>
          </a:graphicData>
        </a:graphic>
      </p:graphicFrame>
      <p:sp>
        <p:nvSpPr>
          <p:cNvPr id="31" name="Caption"/>
          <p:cNvSpPr txBox="1"/>
          <p:nvPr/>
        </p:nvSpPr>
        <p:spPr>
          <a:xfrm>
            <a:off x="457200" y="4060000"/>
            <a:ext cx="11277600" cy="500000"/>
          </a:xfrm>
          <a:prstGeom prst="rect">
            <a:avLst/>
          </a:prstGeom>
          <a:noFill/>
          <a:ln>
            <a:noFill/>
          </a:ln>
        </p:spPr>
        <p:txBody>
          <a:bodyPr wrap="square" lIns="91440" tIns="45720" rIns="91440" bIns="45720" rtlCol="0" anchor="t"/>
          <a:lstStyle/>
          <a:p>
            <a:pPr marL="0" indent="0" algn="l">
              <a:buNone/>
            </a:pPr>
            <a:r>
              <a:rPr lang="en-US" sz="1300" i="1" dirty="0">
                <a:solidFill>
                  <a:srgbClr val="595959"/>
                </a:solidFill>
                <a:latin typeface="Century Gothic"/>
                <a:cs typeface="Century Gothic"/>
              </a:rPr>
              <a:t>Match the QUESTION and the data types to the test; a binary outcome with predictors leads to regression (Day 5).</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Century Gothic"/>
                <a:cs typeface="Century Gothic"/>
              </a:rPr>
              <a:t>Day 4 Exercise: Choose and Run the Right Test</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Body"/>
          <p:cNvSpPr txBox="1"/>
          <p:nvPr/>
        </p:nvSpPr>
        <p:spPr>
          <a:xfrm>
            <a:off x="457200" y="1080000"/>
            <a:ext cx="11277600" cy="3150000"/>
          </a:xfrm>
          <a:prstGeom prst="rect">
            <a:avLst/>
          </a:prstGeom>
          <a:noFill/>
          <a:ln>
            <a:noFill/>
          </a:ln>
        </p:spPr>
        <p:txBody>
          <a:bodyPr wrap="square" lIns="91440" tIns="45720" rIns="91440" bIns="45720" rtlCol="0" anchor="t"/>
          <a:lstStyle/>
          <a:p>
            <a:pPr marL="0" indent="0" algn="l">
              <a:spcBef>
                <a:spcPts val="360"/>
              </a:spcBef>
              <a:buNone/>
            </a:pPr>
            <a:r>
              <a:rPr lang="en-US" sz="2050" b="1" dirty="0">
                <a:solidFill>
                  <a:srgbClr val="0D7377"/>
                </a:solidFill>
                <a:latin typeface="Century Gothic"/>
                <a:cs typeface="Century Gothic"/>
              </a:rPr>
              <a:t>Your tasks</a:t>
            </a:r>
          </a:p>
          <a:p>
            <a:pPr marL="0" indent="0" algn="l">
              <a:lnSpc>
                <a:spcPct val="108000"/>
              </a:lnSpc>
              <a:spcBef>
                <a:spcPts val="440"/>
              </a:spcBef>
              <a:buNone/>
            </a:pPr>
            <a:r>
              <a:rPr lang="en-US" sz="1800" dirty="0">
                <a:solidFill>
                  <a:srgbClr val="000000"/>
                </a:solidFill>
                <a:latin typeface="Century Gothic"/>
                <a:cs typeface="Century Gothic"/>
              </a:rPr>
              <a:t>Compare age between treatment-uptake groups with a t-test.</a:t>
            </a:r>
          </a:p>
          <a:p>
            <a:pPr marL="0" indent="0" algn="l">
              <a:lnSpc>
                <a:spcPct val="108000"/>
              </a:lnSpc>
              <a:spcBef>
                <a:spcPts val="440"/>
              </a:spcBef>
              <a:buNone/>
            </a:pPr>
            <a:r>
              <a:rPr lang="en-US" sz="1800" dirty="0">
                <a:solidFill>
                  <a:srgbClr val="000000"/>
                </a:solidFill>
                <a:latin typeface="Century Gothic"/>
                <a:cs typeface="Century Gothic"/>
              </a:rPr>
              <a:t>Test the association between sex and treatment uptake (chi-square).</a:t>
            </a:r>
          </a:p>
          <a:p>
            <a:pPr marL="0" indent="0" algn="l">
              <a:lnSpc>
                <a:spcPct val="108000"/>
              </a:lnSpc>
              <a:spcBef>
                <a:spcPts val="440"/>
              </a:spcBef>
              <a:buNone/>
            </a:pPr>
            <a:r>
              <a:rPr lang="en-US" sz="1800" dirty="0">
                <a:solidFill>
                  <a:srgbClr val="000000"/>
                </a:solidFill>
                <a:latin typeface="Century Gothic"/>
                <a:cs typeface="Century Gothic"/>
              </a:rPr>
              <a:t>Test the correlation between SBP and BMI (Pearson or Spearman).</a:t>
            </a:r>
          </a:p>
          <a:p>
            <a:pPr marL="0" indent="0" algn="l">
              <a:lnSpc>
                <a:spcPct val="108000"/>
              </a:lnSpc>
              <a:spcBef>
                <a:spcPts val="440"/>
              </a:spcBef>
              <a:buNone/>
            </a:pPr>
            <a:r>
              <a:rPr lang="en-US" sz="1800" dirty="0">
                <a:solidFill>
                  <a:srgbClr val="000000"/>
                </a:solidFill>
                <a:latin typeface="Century Gothic"/>
                <a:cs typeface="Century Gothic"/>
              </a:rPr>
              <a:t>For each, state the question, the test, and a plain-language result.</a:t>
            </a:r>
          </a:p>
          <a:p>
            <a:pPr>
              <a:buNone/>
            </a:pPr>
            <a:endParaRPr sz="1050"/>
          </a:p>
          <a:p>
            <a:pPr marL="0" indent="0" algn="l">
              <a:spcBef>
                <a:spcPts val="360"/>
              </a:spcBef>
              <a:buNone/>
            </a:pPr>
            <a:r>
              <a:rPr lang="en-US" sz="2050" b="1" dirty="0">
                <a:solidFill>
                  <a:srgbClr val="0D7377"/>
                </a:solidFill>
                <a:latin typeface="Century Gothic"/>
                <a:cs typeface="Century Gothic"/>
              </a:rPr>
              <a:t>Expected output</a:t>
            </a:r>
          </a:p>
          <a:p>
            <a:pPr marL="0" indent="0" algn="l">
              <a:lnSpc>
                <a:spcPct val="108000"/>
              </a:lnSpc>
              <a:spcBef>
                <a:spcPts val="440"/>
              </a:spcBef>
              <a:buNone/>
            </a:pPr>
            <a:r>
              <a:rPr lang="en-US" sz="1800" dirty="0">
                <a:solidFill>
                  <a:srgbClr val="000000"/>
                </a:solidFill>
                <a:latin typeface="Century Gothic"/>
                <a:cs typeface="Century Gothic"/>
              </a:rPr>
              <a:t>One test result per question, each with a p-value.</a:t>
            </a:r>
          </a:p>
          <a:p>
            <a:pPr marL="0" indent="0" algn="l">
              <a:lnSpc>
                <a:spcPct val="108000"/>
              </a:lnSpc>
              <a:spcBef>
                <a:spcPts val="440"/>
              </a:spcBef>
              <a:buNone/>
            </a:pPr>
            <a:r>
              <a:rPr lang="en-US" sz="1800" dirty="0">
                <a:solidFill>
                  <a:srgbClr val="000000"/>
                </a:solidFill>
                <a:latin typeface="Century Gothic"/>
                <a:cs typeface="Century Gothic"/>
              </a:rPr>
              <a:t>For the t-test and correlation, the estimate and its 95% CI.</a:t>
            </a:r>
          </a:p>
          <a:p>
            <a:pPr marL="0" indent="0" algn="l">
              <a:lnSpc>
                <a:spcPct val="108000"/>
              </a:lnSpc>
              <a:spcBef>
                <a:spcPts val="440"/>
              </a:spcBef>
              <a:buNone/>
            </a:pPr>
            <a:r>
              <a:rPr lang="en-US" sz="1800" dirty="0">
                <a:solidFill>
                  <a:srgbClr val="000000"/>
                </a:solidFill>
                <a:latin typeface="Century Gothic"/>
                <a:cs typeface="Century Gothic"/>
              </a:rPr>
              <a:t>One sentence interpreting each result clinically.</a:t>
            </a:r>
          </a:p>
          <a:p>
            <a:pPr>
              <a:buNone/>
            </a:pPr>
            <a:endParaRPr sz="1050"/>
          </a:p>
        </p:txBody>
      </p:sp>
      <p:sp>
        <p:nvSpPr>
          <p:cNvPr id="40" name="Callout"/>
          <p:cNvSpPr/>
          <p:nvPr/>
        </p:nvSpPr>
        <p:spPr>
          <a:xfrm>
            <a:off x="457200" y="5070000"/>
            <a:ext cx="11277600" cy="810000"/>
          </a:xfrm>
          <a:prstGeom prst="roundRect">
            <a:avLst>
              <a:gd name="adj" fmla="val 6000"/>
            </a:avLst>
          </a:prstGeom>
          <a:solidFill>
            <a:srgbClr val="E8F4F4"/>
          </a:solidFill>
          <a:ln>
            <a:noFill/>
          </a:ln>
        </p:spPr>
        <p:txBody>
          <a:bodyPr wrap="square" lIns="137160" tIns="91440" rIns="137160" bIns="91440" rtlCol="0" anchor="t"/>
          <a:lstStyle/>
          <a:p>
            <a:pPr marL="0" indent="0" algn="l">
              <a:buNone/>
            </a:pPr>
            <a:r>
              <a:rPr lang="en-US" sz="1300" b="1" dirty="0">
                <a:solidFill>
                  <a:srgbClr val="0D7377"/>
                </a:solidFill>
                <a:latin typeface="Century Gothic"/>
                <a:cs typeface="Century Gothic"/>
              </a:rPr>
              <a:t>TIP  -  Let the data type choose the test</a:t>
            </a:r>
          </a:p>
          <a:p>
            <a:pPr marL="0" indent="0" algn="l">
              <a:spcBef>
                <a:spcPts val="100"/>
              </a:spcBef>
              <a:buNone/>
            </a:pPr>
            <a:r>
              <a:rPr lang="en-US" sz="1300" dirty="0">
                <a:solidFill>
                  <a:srgbClr val="000000"/>
                </a:solidFill>
                <a:latin typeface="Century Gothic"/>
                <a:cs typeface="Century Gothic"/>
              </a:rPr>
              <a:t>Check the outcome type and the number of groups before you pick a test.</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Century Gothic"/>
                <a:cs typeface="Century Gothic"/>
              </a:rPr>
              <a:t>Recap and Bridge to Day 5</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Body"/>
          <p:cNvSpPr txBox="1"/>
          <p:nvPr/>
        </p:nvSpPr>
        <p:spPr>
          <a:xfrm>
            <a:off x="457200" y="1080000"/>
            <a:ext cx="11277600" cy="3150000"/>
          </a:xfrm>
          <a:prstGeom prst="rect">
            <a:avLst/>
          </a:prstGeom>
          <a:noFill/>
          <a:ln>
            <a:noFill/>
          </a:ln>
        </p:spPr>
        <p:txBody>
          <a:bodyPr wrap="square" lIns="91440" tIns="45720" rIns="91440" bIns="45720" rtlCol="0" anchor="t"/>
          <a:lstStyle/>
          <a:p>
            <a:pPr marL="0" indent="0" algn="l">
              <a:spcBef>
                <a:spcPts val="360"/>
              </a:spcBef>
              <a:buNone/>
            </a:pPr>
            <a:r>
              <a:rPr lang="en-US" sz="2050" b="1" dirty="0">
                <a:solidFill>
                  <a:srgbClr val="0D7377"/>
                </a:solidFill>
                <a:latin typeface="Century Gothic"/>
                <a:cs typeface="Century Gothic"/>
              </a:rPr>
              <a:t>What you can now do</a:t>
            </a:r>
          </a:p>
          <a:p>
            <a:pPr marL="0" indent="0" algn="l">
              <a:lnSpc>
                <a:spcPct val="108000"/>
              </a:lnSpc>
              <a:spcBef>
                <a:spcPts val="440"/>
              </a:spcBef>
              <a:buNone/>
            </a:pPr>
            <a:r>
              <a:rPr lang="en-US" sz="1800" dirty="0">
                <a:solidFill>
                  <a:srgbClr val="000000"/>
                </a:solidFill>
                <a:latin typeface="Century Gothic"/>
                <a:cs typeface="Century Gothic"/>
              </a:rPr>
              <a:t>Match a question to the correct test using the data types.</a:t>
            </a:r>
          </a:p>
          <a:p>
            <a:pPr marL="0" indent="0" algn="l">
              <a:lnSpc>
                <a:spcPct val="108000"/>
              </a:lnSpc>
              <a:spcBef>
                <a:spcPts val="440"/>
              </a:spcBef>
              <a:buNone/>
            </a:pPr>
            <a:r>
              <a:rPr lang="en-US" sz="1800" dirty="0">
                <a:solidFill>
                  <a:srgbClr val="000000"/>
                </a:solidFill>
                <a:latin typeface="Century Gothic"/>
                <a:cs typeface="Century Gothic"/>
              </a:rPr>
              <a:t>Run and interpret t-tests, Wilcoxon, ANOVA, chi-square and correlation.</a:t>
            </a:r>
          </a:p>
          <a:p>
            <a:pPr marL="0" indent="0" algn="l">
              <a:lnSpc>
                <a:spcPct val="108000"/>
              </a:lnSpc>
              <a:spcBef>
                <a:spcPts val="440"/>
              </a:spcBef>
              <a:buNone/>
            </a:pPr>
            <a:r>
              <a:rPr lang="en-US" sz="1800" dirty="0">
                <a:solidFill>
                  <a:srgbClr val="000000"/>
                </a:solidFill>
                <a:latin typeface="Century Gothic"/>
                <a:cs typeface="Century Gothic"/>
              </a:rPr>
              <a:t>Read a p-value alongside the effect size and its confidence interval.</a:t>
            </a:r>
          </a:p>
          <a:p>
            <a:pPr marL="0" indent="0" algn="l">
              <a:lnSpc>
                <a:spcPct val="108000"/>
              </a:lnSpc>
              <a:spcBef>
                <a:spcPts val="440"/>
              </a:spcBef>
              <a:buNone/>
            </a:pPr>
            <a:r>
              <a:rPr lang="en-US" sz="1800" dirty="0">
                <a:solidFill>
                  <a:srgbClr val="000000"/>
                </a:solidFill>
                <a:latin typeface="Century Gothic"/>
                <a:cs typeface="Century Gothic"/>
              </a:rPr>
              <a:t>Tell statistical significance apart from clinical importance.</a:t>
            </a:r>
          </a:p>
          <a:p>
            <a:pPr>
              <a:buNone/>
            </a:pPr>
            <a:endParaRPr sz="1050"/>
          </a:p>
          <a:p>
            <a:pPr marL="0" indent="0" algn="l">
              <a:spcBef>
                <a:spcPts val="360"/>
              </a:spcBef>
              <a:buNone/>
            </a:pPr>
            <a:r>
              <a:rPr lang="en-US" sz="2050" b="1" dirty="0">
                <a:solidFill>
                  <a:srgbClr val="0D7377"/>
                </a:solidFill>
                <a:latin typeface="Century Gothic"/>
                <a:cs typeface="Century Gothic"/>
              </a:rPr>
              <a:t>Day 5 takes it further</a:t>
            </a:r>
          </a:p>
          <a:p>
            <a:pPr marL="0" indent="0" algn="l">
              <a:lnSpc>
                <a:spcPct val="108000"/>
              </a:lnSpc>
              <a:spcBef>
                <a:spcPts val="440"/>
              </a:spcBef>
              <a:buNone/>
            </a:pPr>
            <a:r>
              <a:rPr lang="en-US" sz="1800" dirty="0">
                <a:solidFill>
                  <a:srgbClr val="000000"/>
                </a:solidFill>
                <a:latin typeface="Century Gothic"/>
                <a:cs typeface="Century Gothic"/>
              </a:rPr>
              <a:t>Introduction to regression: linear (numbers) and logistic (Yes/No).</a:t>
            </a:r>
          </a:p>
          <a:p>
            <a:pPr marL="0" indent="0" algn="l">
              <a:lnSpc>
                <a:spcPct val="108000"/>
              </a:lnSpc>
              <a:spcBef>
                <a:spcPts val="440"/>
              </a:spcBef>
              <a:buNone/>
            </a:pPr>
            <a:r>
              <a:rPr lang="en-US" sz="1800" dirty="0">
                <a:solidFill>
                  <a:srgbClr val="000000"/>
                </a:solidFill>
                <a:latin typeface="Century Gothic"/>
                <a:cs typeface="Century Gothic"/>
              </a:rPr>
              <a:t>Odds ratios, adjustment and confounding.</a:t>
            </a:r>
          </a:p>
          <a:p>
            <a:pPr marL="0" indent="0" algn="l">
              <a:lnSpc>
                <a:spcPct val="108000"/>
              </a:lnSpc>
              <a:spcBef>
                <a:spcPts val="440"/>
              </a:spcBef>
              <a:buNone/>
            </a:pPr>
            <a:r>
              <a:rPr lang="en-US" sz="1800" dirty="0">
                <a:solidFill>
                  <a:srgbClr val="000000"/>
                </a:solidFill>
                <a:latin typeface="Century Gothic"/>
                <a:cs typeface="Century Gothic"/>
              </a:rPr>
              <a:t>Turning model output into a Results section, reproducibly.</a:t>
            </a:r>
          </a:p>
          <a:p>
            <a:pPr>
              <a:buNone/>
            </a:pPr>
            <a:endParaRPr sz="1050"/>
          </a:p>
        </p:txBody>
      </p:sp>
      <p:sp>
        <p:nvSpPr>
          <p:cNvPr id="40" name="Callout"/>
          <p:cNvSpPr/>
          <p:nvPr/>
        </p:nvSpPr>
        <p:spPr>
          <a:xfrm>
            <a:off x="457200" y="5070000"/>
            <a:ext cx="11277600" cy="810000"/>
          </a:xfrm>
          <a:prstGeom prst="roundRect">
            <a:avLst>
              <a:gd name="adj" fmla="val 6000"/>
            </a:avLst>
          </a:prstGeom>
          <a:solidFill>
            <a:srgbClr val="F0F0F0"/>
          </a:solidFill>
          <a:ln>
            <a:noFill/>
          </a:ln>
        </p:spPr>
        <p:txBody>
          <a:bodyPr wrap="square" lIns="137160" tIns="91440" rIns="137160" bIns="91440" rtlCol="0" anchor="t"/>
          <a:lstStyle/>
          <a:p>
            <a:pPr marL="0" indent="0" algn="l">
              <a:buNone/>
            </a:pPr>
            <a:r>
              <a:rPr lang="en-US" sz="1300" b="1" dirty="0">
                <a:solidFill>
                  <a:srgbClr val="404040"/>
                </a:solidFill>
                <a:latin typeface="Century Gothic"/>
                <a:cs typeface="Century Gothic"/>
              </a:rPr>
              <a:t>NOTE  -  Carry forward</a:t>
            </a:r>
          </a:p>
          <a:p>
            <a:pPr marL="0" indent="0" algn="l">
              <a:spcBef>
                <a:spcPts val="100"/>
              </a:spcBef>
              <a:buNone/>
            </a:pPr>
            <a:r>
              <a:rPr lang="en-US" sz="1300" dirty="0">
                <a:solidFill>
                  <a:srgbClr val="000000"/>
                </a:solidFill>
                <a:latin typeface="Century Gothic"/>
                <a:cs typeface="Century Gothic"/>
              </a:rPr>
              <a:t>Keep your decision-framework table - next session we model several predictors at once.</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 name="DayTitle"/>
          <p:cNvSpPr txBox="1"/>
          <p:nvPr/>
        </p:nvSpPr>
        <p:spPr>
          <a:xfrm>
            <a:off x="457200" y="548640"/>
            <a:ext cx="11430000" cy="700000"/>
          </a:xfrm>
          <a:prstGeom prst="rect">
            <a:avLst/>
          </a:prstGeom>
          <a:noFill/>
          <a:ln>
            <a:noFill/>
          </a:ln>
        </p:spPr>
        <p:txBody>
          <a:bodyPr wrap="square" lIns="91440" tIns="45720" rIns="91440" bIns="45720" rtlCol="0" anchor="t"/>
          <a:lstStyle/>
          <a:p>
            <a:pPr marL="0" indent="0" algn="l">
              <a:buNone/>
            </a:pPr>
            <a:r>
              <a:rPr lang="en-US" sz="3200" b="1" dirty="0">
                <a:solidFill>
                  <a:srgbClr val="0D7377"/>
                </a:solidFill>
                <a:latin typeface="Century Gothic"/>
                <a:cs typeface="Century Gothic"/>
              </a:rPr>
              <a:t>Day 5: Introduction to Regression &amp; Interpreting Output</a:t>
            </a:r>
          </a:p>
        </p:txBody>
      </p:sp>
      <p:sp>
        <p:nvSpPr>
          <p:cNvPr id="7" name="Rule"/>
          <p:cNvSpPr/>
          <p:nvPr/>
        </p:nvSpPr>
        <p:spPr>
          <a:xfrm>
            <a:off x="457200" y="1325880"/>
            <a:ext cx="11277600" cy="19050"/>
          </a:xfrm>
          <a:prstGeom prst="rect">
            <a:avLst/>
          </a:prstGeom>
          <a:solidFill>
            <a:srgbClr val="0D7377"/>
          </a:solidFill>
          <a:ln>
            <a:noFill/>
          </a:ln>
        </p:spPr>
        <p:txBody>
          <a:bodyPr/>
          <a:lstStyle/>
          <a:p>
            <a:endParaRPr/>
          </a:p>
        </p:txBody>
      </p:sp>
      <p:sp>
        <p:nvSpPr>
          <p:cNvPr id="8" name="Agenda"/>
          <p:cNvSpPr txBox="1"/>
          <p:nvPr/>
        </p:nvSpPr>
        <p:spPr>
          <a:xfrm>
            <a:off x="457200" y="1600000"/>
            <a:ext cx="11277600" cy="4400000"/>
          </a:xfrm>
          <a:prstGeom prst="rect">
            <a:avLst/>
          </a:prstGeom>
          <a:noFill/>
          <a:ln>
            <a:noFill/>
          </a:ln>
        </p:spPr>
        <p:txBody>
          <a:bodyPr wrap="square" lIns="91440" tIns="45720" rIns="91440" bIns="45720" rtlCol="0" anchor="t"/>
          <a:lstStyle/>
          <a:p>
            <a:pPr marL="0" indent="0" algn="l">
              <a:buNone/>
            </a:pPr>
            <a:r>
              <a:rPr lang="en-US" sz="2800" dirty="0">
                <a:solidFill>
                  <a:srgbClr val="0070C0"/>
                </a:solidFill>
                <a:latin typeface="Century Gothic"/>
                <a:cs typeface="Century Gothic"/>
              </a:rPr>
              <a:t>Plan</a:t>
            </a:r>
          </a:p>
          <a:p>
            <a:pPr>
              <a:buNone/>
            </a:pPr>
            <a:endParaRPr sz="800"/>
          </a:p>
          <a:p>
            <a:pPr marL="274320" indent="-274320" algn="l">
              <a:spcBef>
                <a:spcPts val="440"/>
              </a:spcBef>
              <a:buFont typeface="Arial"/>
              <a:buChar char="•"/>
            </a:pPr>
            <a:r>
              <a:rPr lang="en-US" sz="1900" dirty="0">
                <a:solidFill>
                  <a:srgbClr val="000000"/>
                </a:solidFill>
                <a:latin typeface="Century Gothic"/>
                <a:cs typeface="Century Gothic"/>
              </a:rPr>
              <a:t>Linear regression: modelling a continuous outcome</a:t>
            </a:r>
          </a:p>
          <a:p>
            <a:pPr marL="274320" indent="-274320" algn="l">
              <a:spcBef>
                <a:spcPts val="440"/>
              </a:spcBef>
              <a:buFont typeface="Arial"/>
              <a:buChar char="•"/>
            </a:pPr>
            <a:r>
              <a:rPr lang="en-US" sz="1900" dirty="0">
                <a:solidFill>
                  <a:srgbClr val="000000"/>
                </a:solidFill>
                <a:latin typeface="Century Gothic"/>
                <a:cs typeface="Century Gothic"/>
              </a:rPr>
              <a:t>Logistic regression: odds ratios for a Yes/No outcome</a:t>
            </a:r>
          </a:p>
          <a:p>
            <a:pPr marL="274320" indent="-274320" algn="l">
              <a:spcBef>
                <a:spcPts val="440"/>
              </a:spcBef>
              <a:buFont typeface="Arial"/>
              <a:buChar char="•"/>
            </a:pPr>
            <a:r>
              <a:rPr lang="en-US" sz="1900" dirty="0">
                <a:solidFill>
                  <a:srgbClr val="000000"/>
                </a:solidFill>
                <a:latin typeface="Century Gothic"/>
                <a:cs typeface="Century Gothic"/>
              </a:rPr>
              <a:t>Adjusting for several factors, and confounding</a:t>
            </a:r>
          </a:p>
          <a:p>
            <a:pPr marL="274320" indent="-274320" algn="l">
              <a:spcBef>
                <a:spcPts val="440"/>
              </a:spcBef>
              <a:buFont typeface="Arial"/>
              <a:buChar char="•"/>
            </a:pPr>
            <a:r>
              <a:rPr lang="en-US" sz="1900" dirty="0">
                <a:solidFill>
                  <a:srgbClr val="000000"/>
                </a:solidFill>
                <a:latin typeface="Century Gothic"/>
                <a:cs typeface="Century Gothic"/>
              </a:rPr>
              <a:t>Publication-ready tables, figures and a Results section</a:t>
            </a:r>
          </a:p>
          <a:p>
            <a:pPr marL="274320" indent="-274320" algn="l">
              <a:spcBef>
                <a:spcPts val="440"/>
              </a:spcBef>
              <a:buFont typeface="Arial"/>
              <a:buChar char="•"/>
            </a:pPr>
            <a:r>
              <a:rPr lang="en-US" sz="1900" dirty="0">
                <a:solidFill>
                  <a:srgbClr val="000000"/>
                </a:solidFill>
                <a:latin typeface="Century Gothic"/>
                <a:cs typeface="Century Gothic"/>
              </a:rPr>
              <a:t>Reproducibility: scripts, seeds and projects</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Century Gothic"/>
                <a:cs typeface="Century Gothic"/>
              </a:rPr>
              <a:t>Today's Objectives</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Body"/>
          <p:cNvSpPr txBox="1"/>
          <p:nvPr/>
        </p:nvSpPr>
        <p:spPr>
          <a:xfrm>
            <a:off x="457200" y="1080000"/>
            <a:ext cx="11277600" cy="4780000"/>
          </a:xfrm>
          <a:prstGeom prst="rect">
            <a:avLst/>
          </a:prstGeom>
          <a:noFill/>
          <a:ln>
            <a:noFill/>
          </a:ln>
        </p:spPr>
        <p:txBody>
          <a:bodyPr wrap="square" lIns="91440" tIns="45720" rIns="91440" bIns="45720" rtlCol="0" anchor="ctr"/>
          <a:lstStyle/>
          <a:p>
            <a:pPr marL="0" indent="0" algn="l">
              <a:lnSpc>
                <a:spcPct val="108000"/>
              </a:lnSpc>
              <a:buNone/>
            </a:pPr>
            <a:r>
              <a:rPr lang="en-US" sz="1900" i="1" dirty="0">
                <a:solidFill>
                  <a:srgbClr val="595959"/>
                </a:solidFill>
                <a:latin typeface="Century Gothic"/>
                <a:cs typeface="Century Gothic"/>
              </a:rPr>
              <a:t>By the end of Day 5 you will be able to:</a:t>
            </a:r>
          </a:p>
          <a:p>
            <a:pPr>
              <a:buNone/>
            </a:pPr>
            <a:endParaRPr sz="950"/>
          </a:p>
          <a:p>
            <a:pPr marL="274320" indent="-274320" algn="l">
              <a:lnSpc>
                <a:spcPct val="106000"/>
              </a:lnSpc>
              <a:spcBef>
                <a:spcPts val="560"/>
              </a:spcBef>
              <a:buFont typeface="Arial"/>
              <a:buChar char="•"/>
            </a:pPr>
            <a:r>
              <a:rPr lang="en-US" sz="1950" dirty="0">
                <a:solidFill>
                  <a:srgbClr val="000000"/>
                </a:solidFill>
                <a:latin typeface="Century Gothic"/>
                <a:cs typeface="Century Gothic"/>
              </a:rPr>
              <a:t>Fit and read a linear regression for a continuous outcome.</a:t>
            </a:r>
          </a:p>
          <a:p>
            <a:pPr marL="274320" indent="-274320" algn="l">
              <a:lnSpc>
                <a:spcPct val="106000"/>
              </a:lnSpc>
              <a:spcBef>
                <a:spcPts val="560"/>
              </a:spcBef>
              <a:buFont typeface="Arial"/>
              <a:buChar char="•"/>
            </a:pPr>
            <a:r>
              <a:rPr lang="en-US" sz="1950" dirty="0">
                <a:solidFill>
                  <a:srgbClr val="000000"/>
                </a:solidFill>
                <a:latin typeface="Century Gothic"/>
                <a:cs typeface="Century Gothic"/>
              </a:rPr>
              <a:t>Fit a logistic regression and read odds ratios with 95% CIs.</a:t>
            </a:r>
          </a:p>
          <a:p>
            <a:pPr marL="274320" indent="-274320" algn="l">
              <a:lnSpc>
                <a:spcPct val="106000"/>
              </a:lnSpc>
              <a:spcBef>
                <a:spcPts val="560"/>
              </a:spcBef>
              <a:buFont typeface="Arial"/>
              <a:buChar char="•"/>
            </a:pPr>
            <a:r>
              <a:rPr lang="en-US" sz="1950" dirty="0">
                <a:solidFill>
                  <a:srgbClr val="000000"/>
                </a:solidFill>
                <a:latin typeface="Century Gothic"/>
                <a:cs typeface="Century Gothic"/>
              </a:rPr>
              <a:t>Understand why we adjust for several factors, and recognise confounding.</a:t>
            </a:r>
          </a:p>
          <a:p>
            <a:pPr marL="274320" indent="-274320" algn="l">
              <a:lnSpc>
                <a:spcPct val="106000"/>
              </a:lnSpc>
              <a:spcBef>
                <a:spcPts val="560"/>
              </a:spcBef>
              <a:buFont typeface="Arial"/>
              <a:buChar char="•"/>
            </a:pPr>
            <a:r>
              <a:rPr lang="en-US" sz="1950" dirty="0">
                <a:solidFill>
                  <a:srgbClr val="000000"/>
                </a:solidFill>
                <a:latin typeface="Century Gothic"/>
                <a:cs typeface="Century Gothic"/>
              </a:rPr>
              <a:t>Present adjusted results as a clear table and a forest plot.</a:t>
            </a:r>
          </a:p>
          <a:p>
            <a:pPr marL="274320" indent="-274320" algn="l">
              <a:lnSpc>
                <a:spcPct val="106000"/>
              </a:lnSpc>
              <a:spcBef>
                <a:spcPts val="560"/>
              </a:spcBef>
              <a:buFont typeface="Arial"/>
              <a:buChar char="•"/>
            </a:pPr>
            <a:r>
              <a:rPr lang="en-US" sz="1950" dirty="0">
                <a:solidFill>
                  <a:srgbClr val="000000"/>
                </a:solidFill>
                <a:latin typeface="Century Gothic"/>
                <a:cs typeface="Century Gothic"/>
              </a:rPr>
              <a:t>Write a short, honest Results section from your own numbers.</a:t>
            </a:r>
          </a:p>
          <a:p>
            <a:pPr marL="274320" indent="-274320" algn="l">
              <a:lnSpc>
                <a:spcPct val="106000"/>
              </a:lnSpc>
              <a:spcBef>
                <a:spcPts val="560"/>
              </a:spcBef>
              <a:buFont typeface="Arial"/>
              <a:buChar char="•"/>
            </a:pPr>
            <a:r>
              <a:rPr lang="en-US" sz="1950" dirty="0">
                <a:solidFill>
                  <a:srgbClr val="000000"/>
                </a:solidFill>
                <a:latin typeface="Century Gothic"/>
                <a:cs typeface="Century Gothic"/>
              </a:rPr>
              <a:t>Make the whole analysis reproducible end to end.</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Century Gothic"/>
                <a:cs typeface="Century Gothic"/>
              </a:rPr>
              <a:t>Where We Are in the Journey</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Body"/>
          <p:cNvSpPr txBox="1"/>
          <p:nvPr/>
        </p:nvSpPr>
        <p:spPr>
          <a:xfrm>
            <a:off x="457200" y="1080000"/>
            <a:ext cx="11277600" cy="3150000"/>
          </a:xfrm>
          <a:prstGeom prst="rect">
            <a:avLst/>
          </a:prstGeom>
          <a:noFill/>
          <a:ln>
            <a:noFill/>
          </a:ln>
        </p:spPr>
        <p:txBody>
          <a:bodyPr wrap="square" lIns="91440" tIns="45720" rIns="91440" bIns="45720" rtlCol="0" anchor="t"/>
          <a:lstStyle/>
          <a:p>
            <a:pPr marL="0" indent="0" algn="l">
              <a:spcBef>
                <a:spcPts val="360"/>
              </a:spcBef>
              <a:buNone/>
            </a:pPr>
            <a:r>
              <a:rPr lang="en-US" sz="2050" b="1" dirty="0">
                <a:solidFill>
                  <a:srgbClr val="0D7377"/>
                </a:solidFill>
                <a:latin typeface="Century Gothic"/>
                <a:cs typeface="Century Gothic"/>
              </a:rPr>
              <a:t>Across the week</a:t>
            </a:r>
          </a:p>
          <a:p>
            <a:pPr marL="0" indent="0" algn="l">
              <a:lnSpc>
                <a:spcPct val="108000"/>
              </a:lnSpc>
              <a:spcBef>
                <a:spcPts val="440"/>
              </a:spcBef>
              <a:buNone/>
            </a:pPr>
            <a:r>
              <a:rPr lang="en-US" sz="1800" dirty="0">
                <a:solidFill>
                  <a:srgbClr val="000000"/>
                </a:solidFill>
                <a:latin typeface="Century Gothic"/>
                <a:cs typeface="Century Gothic"/>
              </a:rPr>
              <a:t>Sessions 1-2: import and clean the hypertension dataset.</a:t>
            </a:r>
          </a:p>
          <a:p>
            <a:pPr marL="0" indent="0" algn="l">
              <a:lnSpc>
                <a:spcPct val="108000"/>
              </a:lnSpc>
              <a:spcBef>
                <a:spcPts val="440"/>
              </a:spcBef>
              <a:buNone/>
            </a:pPr>
            <a:r>
              <a:rPr lang="en-US" sz="1800" dirty="0">
                <a:solidFill>
                  <a:srgbClr val="000000"/>
                </a:solidFill>
                <a:latin typeface="Century Gothic"/>
                <a:cs typeface="Century Gothic"/>
              </a:rPr>
              <a:t>Session 3: summarise and visualise (Table 1, figures).</a:t>
            </a:r>
          </a:p>
          <a:p>
            <a:pPr marL="0" indent="0" algn="l">
              <a:lnSpc>
                <a:spcPct val="108000"/>
              </a:lnSpc>
              <a:spcBef>
                <a:spcPts val="440"/>
              </a:spcBef>
              <a:buNone/>
            </a:pPr>
            <a:r>
              <a:rPr lang="en-US" sz="1800" dirty="0">
                <a:solidFill>
                  <a:srgbClr val="000000"/>
                </a:solidFill>
                <a:latin typeface="Century Gothic"/>
                <a:cs typeface="Century Gothic"/>
              </a:rPr>
              <a:t>Session 4: common statistical tests (t-test, chi-square, correlation).</a:t>
            </a:r>
          </a:p>
          <a:p>
            <a:pPr marL="0" indent="0" algn="l">
              <a:lnSpc>
                <a:spcPct val="108000"/>
              </a:lnSpc>
              <a:spcBef>
                <a:spcPts val="440"/>
              </a:spcBef>
              <a:buNone/>
            </a:pPr>
            <a:r>
              <a:rPr lang="en-US" sz="1800" dirty="0">
                <a:solidFill>
                  <a:srgbClr val="000000"/>
                </a:solidFill>
                <a:latin typeface="Century Gothic"/>
                <a:cs typeface="Century Gothic"/>
              </a:rPr>
              <a:t>Session 5: regression - model, interpret, report and reproduce.</a:t>
            </a:r>
          </a:p>
          <a:p>
            <a:pPr>
              <a:buNone/>
            </a:pPr>
            <a:endParaRPr sz="1050"/>
          </a:p>
          <a:p>
            <a:pPr marL="0" indent="0" algn="l">
              <a:spcBef>
                <a:spcPts val="360"/>
              </a:spcBef>
              <a:buNone/>
            </a:pPr>
            <a:r>
              <a:rPr lang="en-US" sz="2050" b="1" dirty="0">
                <a:solidFill>
                  <a:srgbClr val="0D7377"/>
                </a:solidFill>
                <a:latin typeface="Century Gothic"/>
                <a:cs typeface="Century Gothic"/>
              </a:rPr>
              <a:t>Today's running example</a:t>
            </a:r>
          </a:p>
          <a:p>
            <a:pPr marL="0" indent="0" algn="l">
              <a:lnSpc>
                <a:spcPct val="108000"/>
              </a:lnSpc>
              <a:spcBef>
                <a:spcPts val="440"/>
              </a:spcBef>
              <a:buNone/>
            </a:pPr>
            <a:r>
              <a:rPr lang="en-US" sz="1800" dirty="0">
                <a:solidFill>
                  <a:srgbClr val="000000"/>
                </a:solidFill>
                <a:latin typeface="Century Gothic"/>
                <a:cs typeface="Century Gothic"/>
              </a:rPr>
              <a:t>Outcome: treatment_uptake among diagnosed hypertensives.</a:t>
            </a:r>
          </a:p>
          <a:p>
            <a:pPr marL="0" indent="0" algn="l">
              <a:lnSpc>
                <a:spcPct val="108000"/>
              </a:lnSpc>
              <a:spcBef>
                <a:spcPts val="440"/>
              </a:spcBef>
              <a:buNone/>
            </a:pPr>
            <a:r>
              <a:rPr lang="en-US" sz="1800" dirty="0">
                <a:solidFill>
                  <a:srgbClr val="000000"/>
                </a:solidFill>
                <a:latin typeface="Century Gothic"/>
                <a:cs typeface="Century Gothic"/>
              </a:rPr>
              <a:t>Analytic sample: 1,089 diagnosed; 992 complete cases modelled.</a:t>
            </a:r>
          </a:p>
          <a:p>
            <a:pPr>
              <a:buNone/>
            </a:pPr>
            <a:endParaRPr sz="1050"/>
          </a:p>
        </p:txBody>
      </p:sp>
      <p:sp>
        <p:nvSpPr>
          <p:cNvPr id="40" name="Callout"/>
          <p:cNvSpPr/>
          <p:nvPr/>
        </p:nvSpPr>
        <p:spPr>
          <a:xfrm>
            <a:off x="457200" y="5070000"/>
            <a:ext cx="11277600" cy="810000"/>
          </a:xfrm>
          <a:prstGeom prst="roundRect">
            <a:avLst>
              <a:gd name="adj" fmla="val 6000"/>
            </a:avLst>
          </a:prstGeom>
          <a:solidFill>
            <a:srgbClr val="F0F0F0"/>
          </a:solidFill>
          <a:ln>
            <a:noFill/>
          </a:ln>
        </p:spPr>
        <p:txBody>
          <a:bodyPr wrap="square" lIns="137160" tIns="91440" rIns="137160" bIns="91440" rtlCol="0" anchor="t"/>
          <a:lstStyle/>
          <a:p>
            <a:pPr marL="0" indent="0" algn="l">
              <a:buNone/>
            </a:pPr>
            <a:r>
              <a:rPr lang="en-US" sz="1300" b="1" dirty="0">
                <a:solidFill>
                  <a:srgbClr val="404040"/>
                </a:solidFill>
                <a:latin typeface="Century Gothic"/>
                <a:cs typeface="Century Gothic"/>
              </a:rPr>
              <a:t>NOTE  -  One dataset, end to end</a:t>
            </a:r>
          </a:p>
          <a:p>
            <a:pPr marL="0" indent="0" algn="l">
              <a:spcBef>
                <a:spcPts val="100"/>
              </a:spcBef>
              <a:buNone/>
            </a:pPr>
            <a:r>
              <a:rPr lang="en-US" sz="1300" dirty="0">
                <a:solidFill>
                  <a:srgbClr val="000000"/>
                </a:solidFill>
                <a:latin typeface="Century Gothic"/>
                <a:cs typeface="Century Gothic"/>
              </a:rPr>
              <a:t>Every result today comes from the same study you cleaned earlier.</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Century Gothic"/>
                <a:cs typeface="Century Gothic"/>
              </a:rPr>
              <a:t>Linear Regression: Modelling a Number</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Body"/>
          <p:cNvSpPr txBox="1"/>
          <p:nvPr/>
        </p:nvSpPr>
        <p:spPr>
          <a:xfrm>
            <a:off x="457200" y="1080000"/>
            <a:ext cx="11277600" cy="3150000"/>
          </a:xfrm>
          <a:prstGeom prst="rect">
            <a:avLst/>
          </a:prstGeom>
          <a:noFill/>
          <a:ln>
            <a:noFill/>
          </a:ln>
        </p:spPr>
        <p:txBody>
          <a:bodyPr wrap="square" lIns="91440" tIns="45720" rIns="91440" bIns="45720" rtlCol="0" anchor="t"/>
          <a:lstStyle/>
          <a:p>
            <a:pPr marL="0" indent="0" algn="l">
              <a:spcBef>
                <a:spcPts val="360"/>
              </a:spcBef>
              <a:buNone/>
            </a:pPr>
            <a:r>
              <a:rPr lang="en-US" sz="2050" b="1" dirty="0">
                <a:solidFill>
                  <a:srgbClr val="0D7377"/>
                </a:solidFill>
                <a:latin typeface="Century Gothic"/>
                <a:cs typeface="Century Gothic"/>
              </a:rPr>
              <a:t>When the outcome is a number</a:t>
            </a:r>
          </a:p>
          <a:p>
            <a:pPr marL="0" indent="0" algn="l">
              <a:lnSpc>
                <a:spcPct val="108000"/>
              </a:lnSpc>
              <a:spcBef>
                <a:spcPts val="440"/>
              </a:spcBef>
              <a:buNone/>
            </a:pPr>
            <a:r>
              <a:rPr lang="en-US" sz="1800" dirty="0">
                <a:solidFill>
                  <a:srgbClr val="000000"/>
                </a:solidFill>
                <a:latin typeface="Century Gothic"/>
                <a:cs typeface="Century Gothic"/>
              </a:rPr>
              <a:t>Linear regression models a CONTINUOUS outcome, such as blood pressure.</a:t>
            </a:r>
          </a:p>
          <a:p>
            <a:pPr marL="0" indent="0" algn="l">
              <a:lnSpc>
                <a:spcPct val="108000"/>
              </a:lnSpc>
              <a:spcBef>
                <a:spcPts val="440"/>
              </a:spcBef>
              <a:buNone/>
            </a:pPr>
            <a:r>
              <a:rPr lang="en-US" sz="1800" dirty="0">
                <a:solidFill>
                  <a:srgbClr val="000000"/>
                </a:solidFill>
                <a:latin typeface="Century Gothic"/>
                <a:cs typeface="Century Gothic"/>
              </a:rPr>
              <a:t>Outcome = a systematic part (the predictors) + unexplained variation.</a:t>
            </a:r>
          </a:p>
          <a:p>
            <a:pPr marL="0" indent="0" algn="l">
              <a:lnSpc>
                <a:spcPct val="108000"/>
              </a:lnSpc>
              <a:spcBef>
                <a:spcPts val="440"/>
              </a:spcBef>
              <a:buNone/>
            </a:pPr>
            <a:r>
              <a:rPr lang="en-US" sz="1800" dirty="0">
                <a:solidFill>
                  <a:srgbClr val="000000"/>
                </a:solidFill>
                <a:latin typeface="Century Gothic"/>
                <a:cs typeface="Century Gothic"/>
              </a:rPr>
              <a:t>It estimates how much the outcome changes per one unit of a predictor.</a:t>
            </a:r>
          </a:p>
          <a:p>
            <a:pPr>
              <a:buNone/>
            </a:pPr>
            <a:endParaRPr sz="1050"/>
          </a:p>
          <a:p>
            <a:pPr marL="0" indent="0" algn="l">
              <a:spcBef>
                <a:spcPts val="360"/>
              </a:spcBef>
              <a:buNone/>
            </a:pPr>
            <a:r>
              <a:rPr lang="en-US" sz="2050" b="1" dirty="0">
                <a:solidFill>
                  <a:srgbClr val="0D7377"/>
                </a:solidFill>
                <a:latin typeface="Century Gothic"/>
                <a:cs typeface="Century Gothic"/>
              </a:rPr>
              <a:t>Reading the output</a:t>
            </a:r>
          </a:p>
          <a:p>
            <a:pPr marL="0" indent="0" algn="l">
              <a:lnSpc>
                <a:spcPct val="108000"/>
              </a:lnSpc>
              <a:spcBef>
                <a:spcPts val="440"/>
              </a:spcBef>
              <a:buNone/>
            </a:pPr>
            <a:r>
              <a:rPr lang="en-US" sz="1800" dirty="0">
                <a:solidFill>
                  <a:srgbClr val="000000"/>
                </a:solidFill>
                <a:latin typeface="Century Gothic"/>
                <a:cs typeface="Century Gothic"/>
              </a:rPr>
              <a:t>The coefficient (slope) is the change in the outcome per one-unit rise.</a:t>
            </a:r>
          </a:p>
          <a:p>
            <a:pPr marL="0" indent="0" algn="l">
              <a:lnSpc>
                <a:spcPct val="108000"/>
              </a:lnSpc>
              <a:spcBef>
                <a:spcPts val="440"/>
              </a:spcBef>
              <a:buNone/>
            </a:pPr>
            <a:r>
              <a:rPr lang="en-US" sz="1800" dirty="0">
                <a:solidFill>
                  <a:srgbClr val="000000"/>
                </a:solidFill>
                <a:latin typeface="Century Gothic"/>
                <a:cs typeface="Century Gothic"/>
              </a:rPr>
              <a:t>Each coefficient comes with a 95% CI and a p-value.</a:t>
            </a:r>
          </a:p>
          <a:p>
            <a:pPr marL="0" indent="0" algn="l">
              <a:lnSpc>
                <a:spcPct val="108000"/>
              </a:lnSpc>
              <a:spcBef>
                <a:spcPts val="440"/>
              </a:spcBef>
              <a:buNone/>
            </a:pPr>
            <a:r>
              <a:rPr lang="en-US" sz="1800" dirty="0">
                <a:solidFill>
                  <a:srgbClr val="000000"/>
                </a:solidFill>
                <a:latin typeface="Century Gothic"/>
                <a:cs typeface="Century Gothic"/>
              </a:rPr>
              <a:t>Adding predictors gives each one's ADJUSTED effect, holding the others constant.</a:t>
            </a:r>
          </a:p>
          <a:p>
            <a:pPr>
              <a:buNone/>
            </a:pPr>
            <a:endParaRPr sz="1050"/>
          </a:p>
        </p:txBody>
      </p:sp>
      <p:sp>
        <p:nvSpPr>
          <p:cNvPr id="40" name="Callout"/>
          <p:cNvSpPr/>
          <p:nvPr/>
        </p:nvSpPr>
        <p:spPr>
          <a:xfrm>
            <a:off x="457200" y="5070000"/>
            <a:ext cx="11277600" cy="810000"/>
          </a:xfrm>
          <a:prstGeom prst="roundRect">
            <a:avLst>
              <a:gd name="adj" fmla="val 6000"/>
            </a:avLst>
          </a:prstGeom>
          <a:solidFill>
            <a:srgbClr val="EAF1F7"/>
          </a:solidFill>
          <a:ln>
            <a:noFill/>
          </a:ln>
        </p:spPr>
        <p:txBody>
          <a:bodyPr wrap="square" lIns="137160" tIns="91440" rIns="137160" bIns="91440" rtlCol="0" anchor="t"/>
          <a:lstStyle/>
          <a:p>
            <a:pPr marL="0" indent="0" algn="l">
              <a:buNone/>
            </a:pPr>
            <a:r>
              <a:rPr lang="en-US" sz="1300" b="1" dirty="0">
                <a:solidFill>
                  <a:srgbClr val="1F5C7A"/>
                </a:solidFill>
                <a:latin typeface="Century Gothic"/>
                <a:cs typeface="Century Gothic"/>
              </a:rPr>
              <a:t>CLINICAL INTERPRETATION  -  Clinical question</a:t>
            </a:r>
          </a:p>
          <a:p>
            <a:pPr marL="0" indent="0" algn="l">
              <a:spcBef>
                <a:spcPts val="100"/>
              </a:spcBef>
              <a:buNone/>
            </a:pPr>
            <a:r>
              <a:rPr lang="en-US" sz="1300" dirty="0">
                <a:solidFill>
                  <a:srgbClr val="000000"/>
                </a:solidFill>
                <a:latin typeface="Century Gothic"/>
                <a:cs typeface="Century Gothic"/>
              </a:rPr>
              <a:t>Is systolic blood pressure associated with age - and does it hold after adjusting for sex and BMI?</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Century Gothic"/>
                <a:cs typeface="Century Gothic"/>
              </a:rPr>
              <a:t>Demo: Linear Regression of SBP on Age</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Intro"/>
          <p:cNvSpPr txBox="1"/>
          <p:nvPr/>
        </p:nvSpPr>
        <p:spPr>
          <a:xfrm>
            <a:off x="457200" y="1080000"/>
            <a:ext cx="11277600" cy="520000"/>
          </a:xfrm>
          <a:prstGeom prst="rect">
            <a:avLst/>
          </a:prstGeom>
          <a:noFill/>
          <a:ln>
            <a:noFill/>
          </a:ln>
        </p:spPr>
        <p:txBody>
          <a:bodyPr wrap="square" lIns="91440" tIns="45720" rIns="91440" bIns="45720" rtlCol="0" anchor="t"/>
          <a:lstStyle/>
          <a:p>
            <a:pPr marL="0" indent="0" algn="l">
              <a:buNone/>
            </a:pPr>
            <a:r>
              <a:rPr lang="en-US" sz="1600" i="1" dirty="0">
                <a:solidFill>
                  <a:srgbClr val="595959"/>
                </a:solidFill>
                <a:latin typeface="Century Gothic"/>
                <a:cs typeface="Century Gothic"/>
              </a:rPr>
              <a:t>Does systolic blood pressure rise with age, adjusting for sex and BMI?</a:t>
            </a:r>
          </a:p>
        </p:txBody>
      </p:sp>
      <p:sp>
        <p:nvSpPr>
          <p:cNvPr id="30" name="Code"/>
          <p:cNvSpPr/>
          <p:nvPr/>
        </p:nvSpPr>
        <p:spPr>
          <a:xfrm>
            <a:off x="457200" y="1640000"/>
            <a:ext cx="11277600" cy="1650000"/>
          </a:xfrm>
          <a:prstGeom prst="roundRect">
            <a:avLst>
              <a:gd name="adj" fmla="val 6000"/>
            </a:avLst>
          </a:prstGeom>
          <a:solidFill>
            <a:srgbClr val="EDF1F2"/>
          </a:solidFill>
          <a:ln>
            <a:noFill/>
          </a:ln>
        </p:spPr>
        <p:txBody>
          <a:bodyPr wrap="square" lIns="137160" tIns="91440" rIns="137160" bIns="91440" rtlCol="0" anchor="t"/>
          <a:lstStyle/>
          <a:p>
            <a:pPr marL="0" indent="0" algn="l">
              <a:lnSpc>
                <a:spcPct val="100000"/>
              </a:lnSpc>
              <a:buNone/>
            </a:pPr>
            <a:r>
              <a:rPr lang="en-US" sz="1300" dirty="0">
                <a:solidFill>
                  <a:srgbClr val="1B3A4B"/>
                </a:solidFill>
                <a:latin typeface="Consolas"/>
                <a:cs typeface="Consolas"/>
              </a:rPr>
              <a:t>m1 &lt;- lm(sbp_mmhg ~ age, data = analysis_data)</a:t>
            </a:r>
          </a:p>
          <a:p>
            <a:pPr marL="0" indent="0" algn="l">
              <a:lnSpc>
                <a:spcPct val="100000"/>
              </a:lnSpc>
              <a:buNone/>
            </a:pPr>
            <a:r>
              <a:rPr lang="en-US" sz="1300" dirty="0">
                <a:solidFill>
                  <a:srgbClr val="1B3A4B"/>
                </a:solidFill>
                <a:latin typeface="Consolas"/>
                <a:cs typeface="Consolas"/>
              </a:rPr>
              <a:t>summary(m1)</a:t>
            </a:r>
          </a:p>
          <a:p>
            <a:pPr marL="0" indent="0" algn="l">
              <a:lnSpc>
                <a:spcPct val="100000"/>
              </a:lnSpc>
              <a:buNone/>
            </a:pPr>
            <a:r>
              <a:rPr lang="en-US" sz="1300" dirty="0">
                <a:solidFill>
                  <a:srgbClr val="1B3A4B"/>
                </a:solidFill>
                <a:latin typeface="Consolas"/>
                <a:cs typeface="Consolas"/>
              </a:rPr>
              <a:t> </a:t>
            </a:r>
          </a:p>
          <a:p>
            <a:pPr marL="0" indent="0" algn="l">
              <a:lnSpc>
                <a:spcPct val="100000"/>
              </a:lnSpc>
              <a:buNone/>
            </a:pPr>
            <a:r>
              <a:rPr lang="en-US" sz="1300" dirty="0">
                <a:solidFill>
                  <a:srgbClr val="1B3A4B"/>
                </a:solidFill>
                <a:latin typeface="Consolas"/>
                <a:cs typeface="Consolas"/>
              </a:rPr>
              <a:t># adjust for sex and BMI</a:t>
            </a:r>
          </a:p>
          <a:p>
            <a:pPr marL="0" indent="0" algn="l">
              <a:lnSpc>
                <a:spcPct val="100000"/>
              </a:lnSpc>
              <a:buNone/>
            </a:pPr>
            <a:r>
              <a:rPr lang="en-US" sz="1300" dirty="0">
                <a:solidFill>
                  <a:srgbClr val="1B3A4B"/>
                </a:solidFill>
                <a:latin typeface="Consolas"/>
                <a:cs typeface="Consolas"/>
              </a:rPr>
              <a:t>m2 &lt;- lm(sbp_mmhg ~ age + sex + bmi,</a:t>
            </a:r>
          </a:p>
          <a:p>
            <a:pPr marL="0" indent="0" algn="l">
              <a:lnSpc>
                <a:spcPct val="100000"/>
              </a:lnSpc>
              <a:buNone/>
            </a:pPr>
            <a:r>
              <a:rPr lang="en-US" sz="1300" dirty="0">
                <a:solidFill>
                  <a:srgbClr val="1B3A4B"/>
                </a:solidFill>
                <a:latin typeface="Consolas"/>
                <a:cs typeface="Consolas"/>
              </a:rPr>
              <a:t>         data = analysis_data)</a:t>
            </a:r>
          </a:p>
          <a:p>
            <a:pPr marL="0" indent="0" algn="l">
              <a:lnSpc>
                <a:spcPct val="100000"/>
              </a:lnSpc>
              <a:buNone/>
            </a:pPr>
            <a:r>
              <a:rPr lang="en-US" sz="1300" dirty="0">
                <a:solidFill>
                  <a:srgbClr val="1B3A4B"/>
                </a:solidFill>
                <a:latin typeface="Consolas"/>
                <a:cs typeface="Consolas"/>
              </a:rPr>
              <a:t>tidy(m2, conf.int = TRUE)</a:t>
            </a:r>
          </a:p>
        </p:txBody>
      </p:sp>
      <p:sp>
        <p:nvSpPr>
          <p:cNvPr id="31" name="Output"/>
          <p:cNvSpPr/>
          <p:nvPr/>
        </p:nvSpPr>
        <p:spPr>
          <a:xfrm>
            <a:off x="457200" y="3440000"/>
            <a:ext cx="11277600" cy="1300000"/>
          </a:xfrm>
          <a:prstGeom prst="roundRect">
            <a:avLst>
              <a:gd name="adj" fmla="val 6000"/>
            </a:avLst>
          </a:prstGeom>
          <a:solidFill>
            <a:srgbClr val="F2EFE6"/>
          </a:solidFill>
          <a:ln>
            <a:noFill/>
          </a:ln>
        </p:spPr>
        <p:txBody>
          <a:bodyPr wrap="square" lIns="137160" tIns="91440" rIns="137160" bIns="91440" rtlCol="0" anchor="t"/>
          <a:lstStyle/>
          <a:p>
            <a:pPr marL="0" indent="0" algn="l">
              <a:buNone/>
            </a:pPr>
            <a:r>
              <a:rPr lang="en-US" sz="1150" b="1" dirty="0">
                <a:solidFill>
                  <a:srgbClr val="595959"/>
                </a:solidFill>
                <a:latin typeface="Century Gothic"/>
                <a:cs typeface="Century Gothic"/>
              </a:rPr>
              <a:t>Console output</a:t>
            </a:r>
          </a:p>
          <a:p>
            <a:pPr marL="0" indent="0" algn="l">
              <a:lnSpc>
                <a:spcPct val="100000"/>
              </a:lnSpc>
              <a:buNone/>
            </a:pPr>
            <a:r>
              <a:rPr lang="en-US" sz="1250" dirty="0">
                <a:solidFill>
                  <a:srgbClr val="1A1A1A"/>
                </a:solidFill>
                <a:latin typeface="Consolas"/>
                <a:cs typeface="Consolas"/>
              </a:rPr>
              <a:t>term        estimate conf.low conf.high p.value</a:t>
            </a:r>
          </a:p>
          <a:p>
            <a:pPr marL="0" indent="0" algn="l">
              <a:lnSpc>
                <a:spcPct val="100000"/>
              </a:lnSpc>
              <a:buNone/>
            </a:pPr>
            <a:r>
              <a:rPr lang="en-US" sz="1250" dirty="0">
                <a:solidFill>
                  <a:srgbClr val="1A1A1A"/>
                </a:solidFill>
                <a:latin typeface="Consolas"/>
                <a:cs typeface="Consolas"/>
              </a:rPr>
              <a:t>(Intercept)   87.31    81.01    93.61   &lt;0.001</a:t>
            </a:r>
          </a:p>
          <a:p>
            <a:pPr marL="0" indent="0" algn="l">
              <a:lnSpc>
                <a:spcPct val="100000"/>
              </a:lnSpc>
              <a:buNone/>
            </a:pPr>
            <a:r>
              <a:rPr lang="en-US" sz="1250" dirty="0">
                <a:solidFill>
                  <a:srgbClr val="1A1A1A"/>
                </a:solidFill>
                <a:latin typeface="Consolas"/>
                <a:cs typeface="Consolas"/>
              </a:rPr>
              <a:t>age            0.26     0.19     0.33   &lt;0.001</a:t>
            </a:r>
          </a:p>
          <a:p>
            <a:pPr marL="0" indent="0" algn="l">
              <a:lnSpc>
                <a:spcPct val="100000"/>
              </a:lnSpc>
              <a:buNone/>
            </a:pPr>
            <a:r>
              <a:rPr lang="en-US" sz="1250" dirty="0">
                <a:solidFill>
                  <a:srgbClr val="1A1A1A"/>
                </a:solidFill>
                <a:latin typeface="Consolas"/>
                <a:cs typeface="Consolas"/>
              </a:rPr>
              <a:t>sexMale        0.33    -1.57     2.22    0.74</a:t>
            </a:r>
          </a:p>
          <a:p>
            <a:pPr marL="0" indent="0" algn="l">
              <a:lnSpc>
                <a:spcPct val="100000"/>
              </a:lnSpc>
              <a:buNone/>
            </a:pPr>
            <a:r>
              <a:rPr lang="en-US" sz="1250" dirty="0">
                <a:solidFill>
                  <a:srgbClr val="1A1A1A"/>
                </a:solidFill>
                <a:latin typeface="Consolas"/>
                <a:cs typeface="Consolas"/>
              </a:rPr>
              <a:t>bmi            1.45     1.26     1.64   &lt;0.001</a:t>
            </a:r>
          </a:p>
        </p:txBody>
      </p:sp>
      <p:sp>
        <p:nvSpPr>
          <p:cNvPr id="32" name="Note"/>
          <p:cNvSpPr/>
          <p:nvPr/>
        </p:nvSpPr>
        <p:spPr>
          <a:xfrm>
            <a:off x="457200" y="4880000"/>
            <a:ext cx="11277600" cy="470000"/>
          </a:xfrm>
          <a:prstGeom prst="roundRect">
            <a:avLst>
              <a:gd name="adj" fmla="val 6000"/>
            </a:avLst>
          </a:prstGeom>
          <a:solidFill>
            <a:srgbClr val="EAF1F7"/>
          </a:solidFill>
          <a:ln>
            <a:noFill/>
          </a:ln>
        </p:spPr>
        <p:txBody>
          <a:bodyPr wrap="square" lIns="137160" tIns="91440" rIns="137160" bIns="91440" rtlCol="0" anchor="t"/>
          <a:lstStyle/>
          <a:p>
            <a:pPr marL="0" indent="0" algn="l">
              <a:buNone/>
            </a:pPr>
            <a:r>
              <a:rPr lang="en-US" sz="1300" dirty="0">
                <a:solidFill>
                  <a:srgbClr val="1F5C7A"/>
                </a:solidFill>
                <a:latin typeface="Century Gothic"/>
                <a:cs typeface="Century Gothic"/>
              </a:rPr>
              <a:t>INTERPRETATION  -  Each extra year adds ~0.26 mmHg to SBP and each BMI unit ~1.45 mmHg; sex is not significant.</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Century Gothic"/>
                <a:cs typeface="Century Gothic"/>
              </a:rPr>
              <a:t>Why Logistic Regression?</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Body"/>
          <p:cNvSpPr txBox="1"/>
          <p:nvPr/>
        </p:nvSpPr>
        <p:spPr>
          <a:xfrm>
            <a:off x="457200" y="1080000"/>
            <a:ext cx="11277600" cy="3150000"/>
          </a:xfrm>
          <a:prstGeom prst="rect">
            <a:avLst/>
          </a:prstGeom>
          <a:noFill/>
          <a:ln>
            <a:noFill/>
          </a:ln>
        </p:spPr>
        <p:txBody>
          <a:bodyPr wrap="square" lIns="91440" tIns="45720" rIns="91440" bIns="45720" rtlCol="0" anchor="t"/>
          <a:lstStyle/>
          <a:p>
            <a:pPr marL="0" indent="0" algn="l">
              <a:spcBef>
                <a:spcPts val="360"/>
              </a:spcBef>
              <a:buNone/>
            </a:pPr>
            <a:r>
              <a:rPr lang="en-US" sz="2050" b="1" dirty="0">
                <a:solidFill>
                  <a:srgbClr val="0D7377"/>
                </a:solidFill>
                <a:latin typeface="Century Gothic"/>
                <a:cs typeface="Century Gothic"/>
              </a:rPr>
              <a:t>The outcome is binary</a:t>
            </a:r>
          </a:p>
          <a:p>
            <a:pPr marL="0" indent="0" algn="l">
              <a:lnSpc>
                <a:spcPct val="108000"/>
              </a:lnSpc>
              <a:spcBef>
                <a:spcPts val="440"/>
              </a:spcBef>
              <a:buNone/>
            </a:pPr>
            <a:r>
              <a:rPr lang="en-US" sz="1800" dirty="0">
                <a:solidFill>
                  <a:srgbClr val="000000"/>
                </a:solidFill>
                <a:latin typeface="Century Gothic"/>
                <a:cs typeface="Century Gothic"/>
              </a:rPr>
              <a:t>Treatment uptake is Yes/No - not a number, so not linear regression.</a:t>
            </a:r>
          </a:p>
          <a:p>
            <a:pPr marL="0" indent="0" algn="l">
              <a:lnSpc>
                <a:spcPct val="108000"/>
              </a:lnSpc>
              <a:spcBef>
                <a:spcPts val="440"/>
              </a:spcBef>
              <a:buNone/>
            </a:pPr>
            <a:r>
              <a:rPr lang="en-US" sz="1800" dirty="0">
                <a:solidFill>
                  <a:srgbClr val="000000"/>
                </a:solidFill>
                <a:latin typeface="Century Gothic"/>
                <a:cs typeface="Century Gothic"/>
              </a:rPr>
              <a:t>Logistic regression models the ODDS of the 'Yes' outcome.</a:t>
            </a:r>
          </a:p>
          <a:p>
            <a:pPr marL="0" indent="0" algn="l">
              <a:lnSpc>
                <a:spcPct val="108000"/>
              </a:lnSpc>
              <a:spcBef>
                <a:spcPts val="440"/>
              </a:spcBef>
              <a:buNone/>
            </a:pPr>
            <a:r>
              <a:rPr lang="en-US" sz="1800" dirty="0">
                <a:solidFill>
                  <a:srgbClr val="000000"/>
                </a:solidFill>
                <a:latin typeface="Century Gothic"/>
                <a:cs typeface="Century Gothic"/>
              </a:rPr>
              <a:t>It handles one predictor or many at once.</a:t>
            </a:r>
          </a:p>
          <a:p>
            <a:pPr>
              <a:buNone/>
            </a:pPr>
            <a:endParaRPr sz="1050"/>
          </a:p>
          <a:p>
            <a:pPr marL="0" indent="0" algn="l">
              <a:spcBef>
                <a:spcPts val="360"/>
              </a:spcBef>
              <a:buNone/>
            </a:pPr>
            <a:r>
              <a:rPr lang="en-US" sz="2050" b="1" dirty="0">
                <a:solidFill>
                  <a:srgbClr val="0D7377"/>
                </a:solidFill>
                <a:latin typeface="Century Gothic"/>
                <a:cs typeface="Century Gothic"/>
              </a:rPr>
              <a:t>Odds and odds ratios</a:t>
            </a:r>
          </a:p>
          <a:p>
            <a:pPr marL="0" indent="0" algn="l">
              <a:lnSpc>
                <a:spcPct val="108000"/>
              </a:lnSpc>
              <a:spcBef>
                <a:spcPts val="440"/>
              </a:spcBef>
              <a:buNone/>
            </a:pPr>
            <a:r>
              <a:rPr lang="en-US" sz="1800" dirty="0">
                <a:solidFill>
                  <a:srgbClr val="000000"/>
                </a:solidFill>
                <a:latin typeface="Century Gothic"/>
                <a:cs typeface="Century Gothic"/>
              </a:rPr>
              <a:t>Odds = probability of Yes divided by probability of No.</a:t>
            </a:r>
          </a:p>
          <a:p>
            <a:pPr marL="0" indent="0" algn="l">
              <a:lnSpc>
                <a:spcPct val="108000"/>
              </a:lnSpc>
              <a:spcBef>
                <a:spcPts val="440"/>
              </a:spcBef>
              <a:buNone/>
            </a:pPr>
            <a:r>
              <a:rPr lang="en-US" sz="1800" dirty="0">
                <a:solidFill>
                  <a:srgbClr val="000000"/>
                </a:solidFill>
                <a:latin typeface="Century Gothic"/>
                <a:cs typeface="Century Gothic"/>
              </a:rPr>
              <a:t>An odds ratio (OR) compares the odds between two groups.</a:t>
            </a:r>
          </a:p>
          <a:p>
            <a:pPr marL="0" indent="0" algn="l">
              <a:lnSpc>
                <a:spcPct val="108000"/>
              </a:lnSpc>
              <a:spcBef>
                <a:spcPts val="440"/>
              </a:spcBef>
              <a:buNone/>
            </a:pPr>
            <a:r>
              <a:rPr lang="en-US" sz="1800" dirty="0">
                <a:solidFill>
                  <a:srgbClr val="000000"/>
                </a:solidFill>
                <a:latin typeface="Century Gothic"/>
                <a:cs typeface="Century Gothic"/>
              </a:rPr>
              <a:t>The OR is the single number clinicians read from the model.</a:t>
            </a:r>
          </a:p>
          <a:p>
            <a:pPr>
              <a:buNone/>
            </a:pPr>
            <a:endParaRPr sz="1050"/>
          </a:p>
        </p:txBody>
      </p:sp>
      <p:sp>
        <p:nvSpPr>
          <p:cNvPr id="40" name="Callout"/>
          <p:cNvSpPr/>
          <p:nvPr/>
        </p:nvSpPr>
        <p:spPr>
          <a:xfrm>
            <a:off x="457200" y="5070000"/>
            <a:ext cx="11277600" cy="810000"/>
          </a:xfrm>
          <a:prstGeom prst="roundRect">
            <a:avLst>
              <a:gd name="adj" fmla="val 6000"/>
            </a:avLst>
          </a:prstGeom>
          <a:solidFill>
            <a:srgbClr val="E8F4F4"/>
          </a:solidFill>
          <a:ln>
            <a:noFill/>
          </a:ln>
        </p:spPr>
        <p:txBody>
          <a:bodyPr wrap="square" lIns="137160" tIns="91440" rIns="137160" bIns="91440" rtlCol="0" anchor="t"/>
          <a:lstStyle/>
          <a:p>
            <a:pPr marL="0" indent="0" algn="l">
              <a:buNone/>
            </a:pPr>
            <a:r>
              <a:rPr lang="en-US" sz="1300" b="1" dirty="0">
                <a:solidFill>
                  <a:srgbClr val="0D7377"/>
                </a:solidFill>
                <a:latin typeface="Century Gothic"/>
                <a:cs typeface="Century Gothic"/>
              </a:rPr>
              <a:t>TIP  -  Why odds, not probability</a:t>
            </a:r>
          </a:p>
          <a:p>
            <a:pPr marL="0" indent="0" algn="l">
              <a:spcBef>
                <a:spcPts val="100"/>
              </a:spcBef>
              <a:buNone/>
            </a:pPr>
            <a:r>
              <a:rPr lang="en-US" sz="1300" dirty="0">
                <a:solidFill>
                  <a:srgbClr val="000000"/>
                </a:solidFill>
                <a:latin typeface="Century Gothic"/>
                <a:cs typeface="Century Gothic"/>
              </a:rPr>
              <a:t>Odds let us multiply effects cleanly and give a constant OR per group.</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Century Gothic"/>
                <a:cs typeface="Century Gothic"/>
              </a:rPr>
              <a:t>Reading an Odds Ratio</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Body"/>
          <p:cNvSpPr txBox="1"/>
          <p:nvPr/>
        </p:nvSpPr>
        <p:spPr>
          <a:xfrm>
            <a:off x="457200" y="1080000"/>
            <a:ext cx="11277600" cy="3150000"/>
          </a:xfrm>
          <a:prstGeom prst="rect">
            <a:avLst/>
          </a:prstGeom>
          <a:noFill/>
          <a:ln>
            <a:noFill/>
          </a:ln>
        </p:spPr>
        <p:txBody>
          <a:bodyPr wrap="square" lIns="91440" tIns="45720" rIns="91440" bIns="45720" rtlCol="0" anchor="t"/>
          <a:lstStyle/>
          <a:p>
            <a:pPr marL="0" indent="0" algn="l">
              <a:spcBef>
                <a:spcPts val="360"/>
              </a:spcBef>
              <a:buNone/>
            </a:pPr>
            <a:r>
              <a:rPr lang="en-US" sz="2050" b="1" dirty="0">
                <a:solidFill>
                  <a:srgbClr val="0D7377"/>
                </a:solidFill>
                <a:latin typeface="Century Gothic"/>
                <a:cs typeface="Century Gothic"/>
              </a:rPr>
              <a:t>Direction of the effect</a:t>
            </a:r>
          </a:p>
          <a:p>
            <a:pPr marL="0" indent="0" algn="l">
              <a:lnSpc>
                <a:spcPct val="108000"/>
              </a:lnSpc>
              <a:spcBef>
                <a:spcPts val="440"/>
              </a:spcBef>
              <a:buNone/>
            </a:pPr>
            <a:r>
              <a:rPr lang="en-US" sz="1800" dirty="0">
                <a:solidFill>
                  <a:srgbClr val="000000"/>
                </a:solidFill>
                <a:latin typeface="Century Gothic"/>
                <a:cs typeface="Century Gothic"/>
              </a:rPr>
              <a:t>OR = 1: the predictor has no effect on the odds of uptake.</a:t>
            </a:r>
          </a:p>
          <a:p>
            <a:pPr marL="0" indent="0" algn="l">
              <a:lnSpc>
                <a:spcPct val="108000"/>
              </a:lnSpc>
              <a:spcBef>
                <a:spcPts val="440"/>
              </a:spcBef>
              <a:buNone/>
            </a:pPr>
            <a:r>
              <a:rPr lang="en-US" sz="1800" dirty="0">
                <a:solidFill>
                  <a:srgbClr val="000000"/>
                </a:solidFill>
                <a:latin typeface="Century Gothic"/>
                <a:cs typeface="Century Gothic"/>
              </a:rPr>
              <a:t>OR &gt; 1: higher odds of uptake (a positive driver).</a:t>
            </a:r>
          </a:p>
          <a:p>
            <a:pPr marL="0" indent="0" algn="l">
              <a:lnSpc>
                <a:spcPct val="108000"/>
              </a:lnSpc>
              <a:spcBef>
                <a:spcPts val="440"/>
              </a:spcBef>
              <a:buNone/>
            </a:pPr>
            <a:r>
              <a:rPr lang="en-US" sz="1800" dirty="0">
                <a:solidFill>
                  <a:srgbClr val="000000"/>
                </a:solidFill>
                <a:latin typeface="Century Gothic"/>
                <a:cs typeface="Century Gothic"/>
              </a:rPr>
              <a:t>OR &lt; 1: lower odds of uptake (a protective / negative driver).</a:t>
            </a:r>
          </a:p>
          <a:p>
            <a:pPr>
              <a:buNone/>
            </a:pPr>
            <a:endParaRPr sz="1050"/>
          </a:p>
          <a:p>
            <a:pPr marL="0" indent="0" algn="l">
              <a:spcBef>
                <a:spcPts val="360"/>
              </a:spcBef>
              <a:buNone/>
            </a:pPr>
            <a:r>
              <a:rPr lang="en-US" sz="2050" b="1" dirty="0">
                <a:solidFill>
                  <a:srgbClr val="0D7377"/>
                </a:solidFill>
                <a:latin typeface="Century Gothic"/>
                <a:cs typeface="Century Gothic"/>
              </a:rPr>
              <a:t>Precision and significance</a:t>
            </a:r>
          </a:p>
          <a:p>
            <a:pPr marL="0" indent="0" algn="l">
              <a:lnSpc>
                <a:spcPct val="108000"/>
              </a:lnSpc>
              <a:spcBef>
                <a:spcPts val="440"/>
              </a:spcBef>
              <a:buNone/>
            </a:pPr>
            <a:r>
              <a:rPr lang="en-US" sz="1800" dirty="0">
                <a:solidFill>
                  <a:srgbClr val="000000"/>
                </a:solidFill>
                <a:latin typeface="Century Gothic"/>
                <a:cs typeface="Century Gothic"/>
              </a:rPr>
              <a:t>The 95% CI shows the plausible range for the true OR.</a:t>
            </a:r>
          </a:p>
          <a:p>
            <a:pPr marL="0" indent="0" algn="l">
              <a:lnSpc>
                <a:spcPct val="108000"/>
              </a:lnSpc>
              <a:spcBef>
                <a:spcPts val="440"/>
              </a:spcBef>
              <a:buNone/>
            </a:pPr>
            <a:r>
              <a:rPr lang="en-US" sz="1800" dirty="0">
                <a:solidFill>
                  <a:srgbClr val="000000"/>
                </a:solidFill>
                <a:latin typeface="Century Gothic"/>
                <a:cs typeface="Century Gothic"/>
              </a:rPr>
              <a:t>If the CI excludes 1, the effect is statistically significant.</a:t>
            </a:r>
          </a:p>
          <a:p>
            <a:pPr marL="0" indent="0" algn="l">
              <a:lnSpc>
                <a:spcPct val="108000"/>
              </a:lnSpc>
              <a:spcBef>
                <a:spcPts val="440"/>
              </a:spcBef>
              <a:buNone/>
            </a:pPr>
            <a:r>
              <a:rPr lang="en-US" sz="1800" dirty="0">
                <a:solidFill>
                  <a:srgbClr val="000000"/>
                </a:solidFill>
                <a:latin typeface="Century Gothic"/>
                <a:cs typeface="Century Gothic"/>
              </a:rPr>
              <a:t>A wide CI means an imprecise, uncertain estimate.</a:t>
            </a:r>
          </a:p>
          <a:p>
            <a:pPr>
              <a:buNone/>
            </a:pPr>
            <a:endParaRPr sz="1050"/>
          </a:p>
        </p:txBody>
      </p:sp>
      <p:sp>
        <p:nvSpPr>
          <p:cNvPr id="40" name="Callout"/>
          <p:cNvSpPr/>
          <p:nvPr/>
        </p:nvSpPr>
        <p:spPr>
          <a:xfrm>
            <a:off x="457200" y="5070000"/>
            <a:ext cx="11277600" cy="810000"/>
          </a:xfrm>
          <a:prstGeom prst="roundRect">
            <a:avLst>
              <a:gd name="adj" fmla="val 6000"/>
            </a:avLst>
          </a:prstGeom>
          <a:solidFill>
            <a:srgbClr val="EAF1F7"/>
          </a:solidFill>
          <a:ln>
            <a:noFill/>
          </a:ln>
        </p:spPr>
        <p:txBody>
          <a:bodyPr wrap="square" lIns="137160" tIns="91440" rIns="137160" bIns="91440" rtlCol="0" anchor="t"/>
          <a:lstStyle/>
          <a:p>
            <a:pPr marL="0" indent="0" algn="l">
              <a:buNone/>
            </a:pPr>
            <a:r>
              <a:rPr lang="en-US" sz="1300" b="1" dirty="0">
                <a:solidFill>
                  <a:srgbClr val="1F5C7A"/>
                </a:solidFill>
                <a:latin typeface="Century Gothic"/>
                <a:cs typeface="Century Gothic"/>
              </a:rPr>
              <a:t>CLINICAL INTERPRETATION  -  Example phrasing</a:t>
            </a:r>
          </a:p>
          <a:p>
            <a:pPr marL="0" indent="0" algn="l">
              <a:spcBef>
                <a:spcPts val="100"/>
              </a:spcBef>
              <a:buNone/>
            </a:pPr>
            <a:r>
              <a:rPr lang="en-US" sz="1300" dirty="0">
                <a:solidFill>
                  <a:srgbClr val="000000"/>
                </a:solidFill>
                <a:latin typeface="Century Gothic"/>
                <a:cs typeface="Century Gothic"/>
              </a:rPr>
              <a:t>Diabetics had 3.6 times the odds of uptake (aOR 3.56, 95% CI 1.46 to 9.61).</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Century Gothic"/>
                <a:cs typeface="Century Gothic"/>
              </a:rPr>
              <a:t>Demo: Univariable Logistic Regression (Diabetes)</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Intro"/>
          <p:cNvSpPr txBox="1"/>
          <p:nvPr/>
        </p:nvSpPr>
        <p:spPr>
          <a:xfrm>
            <a:off x="457200" y="1080000"/>
            <a:ext cx="11277600" cy="520000"/>
          </a:xfrm>
          <a:prstGeom prst="rect">
            <a:avLst/>
          </a:prstGeom>
          <a:noFill/>
          <a:ln>
            <a:noFill/>
          </a:ln>
        </p:spPr>
        <p:txBody>
          <a:bodyPr wrap="square" lIns="91440" tIns="45720" rIns="91440" bIns="45720" rtlCol="0" anchor="t"/>
          <a:lstStyle/>
          <a:p>
            <a:pPr marL="0" indent="0" algn="l">
              <a:buNone/>
            </a:pPr>
            <a:r>
              <a:rPr lang="en-US" sz="1600" i="1" dirty="0">
                <a:solidFill>
                  <a:srgbClr val="595959"/>
                </a:solidFill>
                <a:latin typeface="Century Gothic"/>
                <a:cs typeface="Century Gothic"/>
              </a:rPr>
              <a:t>Does diabetes raise the odds of treatment uptake?</a:t>
            </a:r>
          </a:p>
        </p:txBody>
      </p:sp>
      <p:sp>
        <p:nvSpPr>
          <p:cNvPr id="30" name="Code"/>
          <p:cNvSpPr/>
          <p:nvPr/>
        </p:nvSpPr>
        <p:spPr>
          <a:xfrm>
            <a:off x="457200" y="1640000"/>
            <a:ext cx="11277600" cy="1020000"/>
          </a:xfrm>
          <a:prstGeom prst="roundRect">
            <a:avLst>
              <a:gd name="adj" fmla="val 6000"/>
            </a:avLst>
          </a:prstGeom>
          <a:solidFill>
            <a:srgbClr val="EDF1F2"/>
          </a:solidFill>
          <a:ln>
            <a:noFill/>
          </a:ln>
        </p:spPr>
        <p:txBody>
          <a:bodyPr wrap="square" lIns="137160" tIns="91440" rIns="137160" bIns="91440" rtlCol="0" anchor="t"/>
          <a:lstStyle/>
          <a:p>
            <a:pPr marL="0" indent="0" algn="l">
              <a:lnSpc>
                <a:spcPct val="100000"/>
              </a:lnSpc>
              <a:buNone/>
            </a:pPr>
            <a:r>
              <a:rPr lang="en-US" sz="1300" dirty="0">
                <a:solidFill>
                  <a:srgbClr val="1B3A4B"/>
                </a:solidFill>
                <a:latin typeface="Consolas"/>
                <a:cs typeface="Consolas"/>
              </a:rPr>
              <a:t>m_diab &lt;- glm(treatment_uptake ~ diabetes,</a:t>
            </a:r>
          </a:p>
          <a:p>
            <a:pPr marL="0" indent="0" algn="l">
              <a:lnSpc>
                <a:spcPct val="100000"/>
              </a:lnSpc>
              <a:buNone/>
            </a:pPr>
            <a:r>
              <a:rPr lang="en-US" sz="1300" dirty="0">
                <a:solidFill>
                  <a:srgbClr val="1B3A4B"/>
                </a:solidFill>
                <a:latin typeface="Consolas"/>
                <a:cs typeface="Consolas"/>
              </a:rPr>
              <a:t>              data = dx, family = binomial)</a:t>
            </a:r>
          </a:p>
          <a:p>
            <a:pPr marL="0" indent="0" algn="l">
              <a:lnSpc>
                <a:spcPct val="100000"/>
              </a:lnSpc>
              <a:buNone/>
            </a:pPr>
            <a:r>
              <a:rPr lang="en-US" sz="1300" dirty="0">
                <a:solidFill>
                  <a:srgbClr val="1B3A4B"/>
                </a:solidFill>
                <a:latin typeface="Consolas"/>
                <a:cs typeface="Consolas"/>
              </a:rPr>
              <a:t>exp(coef(m_diab))      # odds ratio</a:t>
            </a:r>
          </a:p>
          <a:p>
            <a:pPr marL="0" indent="0" algn="l">
              <a:lnSpc>
                <a:spcPct val="100000"/>
              </a:lnSpc>
              <a:buNone/>
            </a:pPr>
            <a:r>
              <a:rPr lang="en-US" sz="1300" dirty="0">
                <a:solidFill>
                  <a:srgbClr val="1B3A4B"/>
                </a:solidFill>
                <a:latin typeface="Consolas"/>
                <a:cs typeface="Consolas"/>
              </a:rPr>
              <a:t>exp(confint(m_diab))   # 95% CI</a:t>
            </a:r>
          </a:p>
        </p:txBody>
      </p:sp>
      <p:sp>
        <p:nvSpPr>
          <p:cNvPr id="31" name="Output"/>
          <p:cNvSpPr/>
          <p:nvPr/>
        </p:nvSpPr>
        <p:spPr>
          <a:xfrm>
            <a:off x="457200" y="2810000"/>
            <a:ext cx="11277600" cy="1100000"/>
          </a:xfrm>
          <a:prstGeom prst="roundRect">
            <a:avLst>
              <a:gd name="adj" fmla="val 6000"/>
            </a:avLst>
          </a:prstGeom>
          <a:solidFill>
            <a:srgbClr val="F2EFE6"/>
          </a:solidFill>
          <a:ln>
            <a:noFill/>
          </a:ln>
        </p:spPr>
        <p:txBody>
          <a:bodyPr wrap="square" lIns="137160" tIns="91440" rIns="137160" bIns="91440" rtlCol="0" anchor="t"/>
          <a:lstStyle/>
          <a:p>
            <a:pPr marL="0" indent="0" algn="l">
              <a:buNone/>
            </a:pPr>
            <a:r>
              <a:rPr lang="en-US" sz="1150" b="1" dirty="0">
                <a:solidFill>
                  <a:srgbClr val="595959"/>
                </a:solidFill>
                <a:latin typeface="Century Gothic"/>
                <a:cs typeface="Century Gothic"/>
              </a:rPr>
              <a:t>Console output</a:t>
            </a:r>
          </a:p>
          <a:p>
            <a:pPr marL="0" indent="0" algn="l">
              <a:lnSpc>
                <a:spcPct val="100000"/>
              </a:lnSpc>
              <a:buNone/>
            </a:pPr>
            <a:r>
              <a:rPr lang="en-US" sz="1250" dirty="0">
                <a:solidFill>
                  <a:srgbClr val="1A1A1A"/>
                </a:solidFill>
                <a:latin typeface="Consolas"/>
                <a:cs typeface="Consolas"/>
              </a:rPr>
              <a:t>(Intercept)   diabetesYes</a:t>
            </a:r>
          </a:p>
          <a:p>
            <a:pPr marL="0" indent="0" algn="l">
              <a:lnSpc>
                <a:spcPct val="100000"/>
              </a:lnSpc>
              <a:buNone/>
            </a:pPr>
            <a:r>
              <a:rPr lang="en-US" sz="1250" dirty="0">
                <a:solidFill>
                  <a:srgbClr val="1A1A1A"/>
                </a:solidFill>
                <a:latin typeface="Consolas"/>
                <a:cs typeface="Consolas"/>
              </a:rPr>
              <a:t>      0.74          2.85</a:t>
            </a:r>
          </a:p>
          <a:p>
            <a:pPr marL="0" indent="0" algn="l">
              <a:lnSpc>
                <a:spcPct val="100000"/>
              </a:lnSpc>
              <a:buNone/>
            </a:pPr>
            <a:r>
              <a:rPr lang="en-US" sz="1250" dirty="0">
                <a:solidFill>
                  <a:srgbClr val="1A1A1A"/>
                </a:solidFill>
                <a:latin typeface="Consolas"/>
                <a:cs typeface="Consolas"/>
              </a:rPr>
              <a:t>            2.5 %   97.5 %</a:t>
            </a:r>
          </a:p>
          <a:p>
            <a:pPr marL="0" indent="0" algn="l">
              <a:lnSpc>
                <a:spcPct val="100000"/>
              </a:lnSpc>
              <a:buNone/>
            </a:pPr>
            <a:r>
              <a:rPr lang="en-US" sz="1250" dirty="0">
                <a:solidFill>
                  <a:srgbClr val="1A1A1A"/>
                </a:solidFill>
                <a:latin typeface="Consolas"/>
                <a:cs typeface="Consolas"/>
              </a:rPr>
              <a:t>diabetesYes  2.01     4.07</a:t>
            </a:r>
          </a:p>
        </p:txBody>
      </p:sp>
      <p:sp>
        <p:nvSpPr>
          <p:cNvPr id="32" name="Note"/>
          <p:cNvSpPr/>
          <p:nvPr/>
        </p:nvSpPr>
        <p:spPr>
          <a:xfrm>
            <a:off x="457200" y="4050000"/>
            <a:ext cx="11277600" cy="470000"/>
          </a:xfrm>
          <a:prstGeom prst="roundRect">
            <a:avLst>
              <a:gd name="adj" fmla="val 6000"/>
            </a:avLst>
          </a:prstGeom>
          <a:solidFill>
            <a:srgbClr val="EAF1F7"/>
          </a:solidFill>
          <a:ln>
            <a:noFill/>
          </a:ln>
        </p:spPr>
        <p:txBody>
          <a:bodyPr wrap="square" lIns="137160" tIns="91440" rIns="137160" bIns="91440" rtlCol="0" anchor="t"/>
          <a:lstStyle/>
          <a:p>
            <a:pPr marL="0" indent="0" algn="l">
              <a:buNone/>
            </a:pPr>
            <a:r>
              <a:rPr lang="en-US" sz="1300" dirty="0">
                <a:solidFill>
                  <a:srgbClr val="1F5C7A"/>
                </a:solidFill>
                <a:latin typeface="Century Gothic"/>
                <a:cs typeface="Century Gothic"/>
              </a:rPr>
              <a:t>INTERPRETATION  -  Unadjusted OR ~2.85: diabetics have roughly triple the odds of uptake; CI excludes 1.</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Century Gothic"/>
                <a:cs typeface="Century Gothic"/>
              </a:rPr>
              <a:t>A Continuous Predictor: Age</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Body"/>
          <p:cNvSpPr txBox="1"/>
          <p:nvPr/>
        </p:nvSpPr>
        <p:spPr>
          <a:xfrm>
            <a:off x="457200" y="1080000"/>
            <a:ext cx="11277600" cy="3150000"/>
          </a:xfrm>
          <a:prstGeom prst="rect">
            <a:avLst/>
          </a:prstGeom>
          <a:noFill/>
          <a:ln>
            <a:noFill/>
          </a:ln>
        </p:spPr>
        <p:txBody>
          <a:bodyPr wrap="square" lIns="91440" tIns="45720" rIns="91440" bIns="45720" rtlCol="0" anchor="t"/>
          <a:lstStyle/>
          <a:p>
            <a:pPr marL="0" indent="0" algn="l">
              <a:spcBef>
                <a:spcPts val="360"/>
              </a:spcBef>
              <a:buNone/>
            </a:pPr>
            <a:r>
              <a:rPr lang="en-US" sz="2050" b="1" dirty="0">
                <a:solidFill>
                  <a:srgbClr val="0D7377"/>
                </a:solidFill>
                <a:latin typeface="Century Gothic"/>
                <a:cs typeface="Century Gothic"/>
              </a:rPr>
              <a:t>OR per one unit</a:t>
            </a:r>
          </a:p>
          <a:p>
            <a:pPr marL="0" indent="0" algn="l">
              <a:lnSpc>
                <a:spcPct val="108000"/>
              </a:lnSpc>
              <a:spcBef>
                <a:spcPts val="440"/>
              </a:spcBef>
              <a:buNone/>
            </a:pPr>
            <a:r>
              <a:rPr lang="en-US" sz="1800" dirty="0">
                <a:solidFill>
                  <a:srgbClr val="000000"/>
                </a:solidFill>
                <a:latin typeface="Century Gothic"/>
                <a:cs typeface="Century Gothic"/>
              </a:rPr>
              <a:t>glm(treatment_uptake ~ age) gives the OR per ONE extra year.</a:t>
            </a:r>
          </a:p>
          <a:p>
            <a:pPr marL="0" indent="0" algn="l">
              <a:lnSpc>
                <a:spcPct val="108000"/>
              </a:lnSpc>
              <a:spcBef>
                <a:spcPts val="440"/>
              </a:spcBef>
              <a:buNone/>
            </a:pPr>
            <a:r>
              <a:rPr lang="en-US" sz="1800" dirty="0">
                <a:solidFill>
                  <a:srgbClr val="000000"/>
                </a:solidFill>
                <a:latin typeface="Century Gothic"/>
                <a:cs typeface="Century Gothic"/>
              </a:rPr>
              <a:t>That OR is close to 1 because one year is a tiny step.</a:t>
            </a:r>
          </a:p>
          <a:p>
            <a:pPr marL="0" indent="0" algn="l">
              <a:lnSpc>
                <a:spcPct val="108000"/>
              </a:lnSpc>
              <a:spcBef>
                <a:spcPts val="440"/>
              </a:spcBef>
              <a:buNone/>
            </a:pPr>
            <a:r>
              <a:rPr lang="en-US" sz="1800" dirty="0">
                <a:solidFill>
                  <a:srgbClr val="000000"/>
                </a:solidFill>
                <a:latin typeface="Century Gothic"/>
                <a:cs typeface="Century Gothic"/>
              </a:rPr>
              <a:t>Here about 1.03 per year - easy to overlook.</a:t>
            </a:r>
          </a:p>
          <a:p>
            <a:pPr>
              <a:buNone/>
            </a:pPr>
            <a:endParaRPr sz="1050"/>
          </a:p>
          <a:p>
            <a:pPr marL="0" indent="0" algn="l">
              <a:spcBef>
                <a:spcPts val="360"/>
              </a:spcBef>
              <a:buNone/>
            </a:pPr>
            <a:r>
              <a:rPr lang="en-US" sz="2050" b="1" dirty="0">
                <a:solidFill>
                  <a:srgbClr val="0D7377"/>
                </a:solidFill>
                <a:latin typeface="Century Gothic"/>
                <a:cs typeface="Century Gothic"/>
              </a:rPr>
              <a:t>Rescale to a meaningful unit</a:t>
            </a:r>
          </a:p>
          <a:p>
            <a:pPr marL="0" indent="0" algn="l">
              <a:lnSpc>
                <a:spcPct val="108000"/>
              </a:lnSpc>
              <a:spcBef>
                <a:spcPts val="440"/>
              </a:spcBef>
              <a:buNone/>
            </a:pPr>
            <a:r>
              <a:rPr lang="en-US" sz="1800" dirty="0">
                <a:solidFill>
                  <a:srgbClr val="000000"/>
                </a:solidFill>
                <a:latin typeface="Century Gothic"/>
                <a:cs typeface="Century Gothic"/>
              </a:rPr>
              <a:t>OR per 10 years = the 1-year OR raised to the power 10.</a:t>
            </a:r>
          </a:p>
          <a:p>
            <a:pPr marL="0" indent="0" algn="l">
              <a:lnSpc>
                <a:spcPct val="108000"/>
              </a:lnSpc>
              <a:spcBef>
                <a:spcPts val="440"/>
              </a:spcBef>
              <a:buNone/>
            </a:pPr>
            <a:r>
              <a:rPr lang="en-US" sz="1800" dirty="0">
                <a:solidFill>
                  <a:srgbClr val="000000"/>
                </a:solidFill>
                <a:latin typeface="Century Gothic"/>
                <a:cs typeface="Century Gothic"/>
              </a:rPr>
              <a:t>exp(coef(m_age)["age"] * 10) gives the per-decade OR.</a:t>
            </a:r>
          </a:p>
          <a:p>
            <a:pPr marL="0" indent="0" algn="l">
              <a:lnSpc>
                <a:spcPct val="108000"/>
              </a:lnSpc>
              <a:spcBef>
                <a:spcPts val="440"/>
              </a:spcBef>
              <a:buNone/>
            </a:pPr>
            <a:r>
              <a:rPr lang="en-US" sz="1800" dirty="0">
                <a:solidFill>
                  <a:srgbClr val="000000"/>
                </a:solidFill>
                <a:latin typeface="Century Gothic"/>
                <a:cs typeface="Century Gothic"/>
              </a:rPr>
              <a:t>1.03 per year becomes roughly 1.34 per decade.</a:t>
            </a:r>
          </a:p>
          <a:p>
            <a:pPr>
              <a:buNone/>
            </a:pPr>
            <a:endParaRPr sz="1050"/>
          </a:p>
        </p:txBody>
      </p:sp>
      <p:sp>
        <p:nvSpPr>
          <p:cNvPr id="40" name="Callout"/>
          <p:cNvSpPr/>
          <p:nvPr/>
        </p:nvSpPr>
        <p:spPr>
          <a:xfrm>
            <a:off x="457200" y="5070000"/>
            <a:ext cx="11277600" cy="810000"/>
          </a:xfrm>
          <a:prstGeom prst="roundRect">
            <a:avLst>
              <a:gd name="adj" fmla="val 6000"/>
            </a:avLst>
          </a:prstGeom>
          <a:solidFill>
            <a:srgbClr val="E8F4F4"/>
          </a:solidFill>
          <a:ln>
            <a:noFill/>
          </a:ln>
        </p:spPr>
        <p:txBody>
          <a:bodyPr wrap="square" lIns="137160" tIns="91440" rIns="137160" bIns="91440" rtlCol="0" anchor="t"/>
          <a:lstStyle/>
          <a:p>
            <a:pPr marL="0" indent="0" algn="l">
              <a:buNone/>
            </a:pPr>
            <a:r>
              <a:rPr lang="en-US" sz="1300" b="1" dirty="0">
                <a:solidFill>
                  <a:srgbClr val="0D7377"/>
                </a:solidFill>
                <a:latin typeface="Century Gothic"/>
                <a:cs typeface="Century Gothic"/>
              </a:rPr>
              <a:t>TIP  -  Communicate in clinical units</a:t>
            </a:r>
          </a:p>
          <a:p>
            <a:pPr marL="0" indent="0" algn="l">
              <a:spcBef>
                <a:spcPts val="100"/>
              </a:spcBef>
              <a:buNone/>
            </a:pPr>
            <a:r>
              <a:rPr lang="en-US" sz="1300" dirty="0">
                <a:solidFill>
                  <a:srgbClr val="000000"/>
                </a:solidFill>
                <a:latin typeface="Century Gothic"/>
                <a:cs typeface="Century Gothic"/>
              </a:rPr>
              <a:t>Per decade is far easier for a clinical audience than per year.</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Century Gothic"/>
                <a:cs typeface="Century Gothic"/>
              </a:rPr>
              <a:t>Model Building: Clinical Knowledge First</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Body"/>
          <p:cNvSpPr txBox="1"/>
          <p:nvPr/>
        </p:nvSpPr>
        <p:spPr>
          <a:xfrm>
            <a:off x="457200" y="1080000"/>
            <a:ext cx="11277600" cy="3150000"/>
          </a:xfrm>
          <a:prstGeom prst="rect">
            <a:avLst/>
          </a:prstGeom>
          <a:noFill/>
          <a:ln>
            <a:noFill/>
          </a:ln>
        </p:spPr>
        <p:txBody>
          <a:bodyPr wrap="square" lIns="91440" tIns="45720" rIns="91440" bIns="45720" rtlCol="0" anchor="t"/>
          <a:lstStyle/>
          <a:p>
            <a:pPr marL="0" indent="0" algn="l">
              <a:spcBef>
                <a:spcPts val="360"/>
              </a:spcBef>
              <a:buNone/>
            </a:pPr>
            <a:r>
              <a:rPr lang="en-US" sz="2050" b="1" dirty="0">
                <a:solidFill>
                  <a:srgbClr val="0D7377"/>
                </a:solidFill>
                <a:latin typeface="Century Gothic"/>
                <a:cs typeface="Century Gothic"/>
              </a:rPr>
              <a:t>Choose predictors before you look at p-values</a:t>
            </a:r>
          </a:p>
          <a:p>
            <a:pPr marL="0" indent="0" algn="l">
              <a:lnSpc>
                <a:spcPct val="108000"/>
              </a:lnSpc>
              <a:spcBef>
                <a:spcPts val="440"/>
              </a:spcBef>
              <a:buNone/>
            </a:pPr>
            <a:r>
              <a:rPr lang="en-US" sz="1800" dirty="0">
                <a:solidFill>
                  <a:srgbClr val="000000"/>
                </a:solidFill>
                <a:latin typeface="Century Gothic"/>
                <a:cs typeface="Century Gothic"/>
              </a:rPr>
              <a:t>Biological or clinical plausibility (diabetes drives clinic visits).</a:t>
            </a:r>
          </a:p>
          <a:p>
            <a:pPr marL="0" indent="0" algn="l">
              <a:lnSpc>
                <a:spcPct val="108000"/>
              </a:lnSpc>
              <a:spcBef>
                <a:spcPts val="440"/>
              </a:spcBef>
              <a:buNone/>
            </a:pPr>
            <a:r>
              <a:rPr lang="en-US" sz="1800" dirty="0">
                <a:solidFill>
                  <a:srgbClr val="000000"/>
                </a:solidFill>
                <a:latin typeface="Century Gothic"/>
                <a:cs typeface="Century Gothic"/>
              </a:rPr>
              <a:t>Known confounders from the literature (age, sex, education).</a:t>
            </a:r>
          </a:p>
          <a:p>
            <a:pPr marL="0" indent="0" algn="l">
              <a:lnSpc>
                <a:spcPct val="108000"/>
              </a:lnSpc>
              <a:spcBef>
                <a:spcPts val="440"/>
              </a:spcBef>
              <a:buNone/>
            </a:pPr>
            <a:r>
              <a:rPr lang="en-US" sz="1800" dirty="0">
                <a:solidFill>
                  <a:srgbClr val="000000"/>
                </a:solidFill>
                <a:latin typeface="Century Gothic"/>
                <a:cs typeface="Century Gothic"/>
              </a:rPr>
              <a:t>The study's stated determinants (distance, knowledge).</a:t>
            </a:r>
          </a:p>
          <a:p>
            <a:pPr>
              <a:buNone/>
            </a:pPr>
            <a:endParaRPr sz="1050"/>
          </a:p>
          <a:p>
            <a:pPr marL="0" indent="0" algn="l">
              <a:spcBef>
                <a:spcPts val="360"/>
              </a:spcBef>
              <a:buNone/>
            </a:pPr>
            <a:r>
              <a:rPr lang="en-US" sz="2050" b="1" dirty="0">
                <a:solidFill>
                  <a:srgbClr val="0D7377"/>
                </a:solidFill>
                <a:latin typeface="Century Gothic"/>
                <a:cs typeface="Century Gothic"/>
              </a:rPr>
              <a:t>Then fit ONE pre-specified model</a:t>
            </a:r>
          </a:p>
          <a:p>
            <a:pPr marL="0" indent="0" algn="l">
              <a:lnSpc>
                <a:spcPct val="108000"/>
              </a:lnSpc>
              <a:spcBef>
                <a:spcPts val="440"/>
              </a:spcBef>
              <a:buNone/>
            </a:pPr>
            <a:r>
              <a:rPr lang="en-US" sz="1800" dirty="0">
                <a:solidFill>
                  <a:srgbClr val="000000"/>
                </a:solidFill>
                <a:latin typeface="Century Gothic"/>
                <a:cs typeface="Century Gothic"/>
              </a:rPr>
              <a:t>Decide the variable list first, fit once, report it.</a:t>
            </a:r>
          </a:p>
          <a:p>
            <a:pPr marL="0" indent="0" algn="l">
              <a:lnSpc>
                <a:spcPct val="108000"/>
              </a:lnSpc>
              <a:spcBef>
                <a:spcPts val="440"/>
              </a:spcBef>
              <a:buNone/>
            </a:pPr>
            <a:r>
              <a:rPr lang="en-US" sz="1800" dirty="0">
                <a:solidFill>
                  <a:srgbClr val="000000"/>
                </a:solidFill>
                <a:latin typeface="Century Gothic"/>
                <a:cs typeface="Century Gothic"/>
              </a:rPr>
              <a:t>This is the honest, replicable approach for a determinants study.</a:t>
            </a:r>
          </a:p>
          <a:p>
            <a:pPr>
              <a:buNone/>
            </a:pPr>
            <a:endParaRPr sz="1050"/>
          </a:p>
        </p:txBody>
      </p:sp>
      <p:sp>
        <p:nvSpPr>
          <p:cNvPr id="40" name="Callout"/>
          <p:cNvSpPr/>
          <p:nvPr/>
        </p:nvSpPr>
        <p:spPr>
          <a:xfrm>
            <a:off x="457200" y="5070000"/>
            <a:ext cx="11277600" cy="810000"/>
          </a:xfrm>
          <a:prstGeom prst="roundRect">
            <a:avLst>
              <a:gd name="adj" fmla="val 6000"/>
            </a:avLst>
          </a:prstGeom>
          <a:solidFill>
            <a:srgbClr val="FFF4E5"/>
          </a:solidFill>
          <a:ln>
            <a:noFill/>
          </a:ln>
        </p:spPr>
        <p:txBody>
          <a:bodyPr wrap="square" lIns="137160" tIns="91440" rIns="137160" bIns="91440" rtlCol="0" anchor="t"/>
          <a:lstStyle/>
          <a:p>
            <a:pPr marL="0" indent="0" algn="l">
              <a:buNone/>
            </a:pPr>
            <a:r>
              <a:rPr lang="en-US" sz="1300" b="1" dirty="0">
                <a:solidFill>
                  <a:srgbClr val="B5651D"/>
                </a:solidFill>
                <a:latin typeface="Century Gothic"/>
                <a:cs typeface="Century Gothic"/>
              </a:rPr>
              <a:t>COMMON MISTAKE  -  Data dredging</a:t>
            </a:r>
          </a:p>
          <a:p>
            <a:pPr marL="0" indent="0" algn="l">
              <a:spcBef>
                <a:spcPts val="100"/>
              </a:spcBef>
              <a:buNone/>
            </a:pPr>
            <a:r>
              <a:rPr lang="en-US" sz="1300" dirty="0">
                <a:solidFill>
                  <a:srgbClr val="000000"/>
                </a:solidFill>
                <a:latin typeface="Century Gothic"/>
                <a:cs typeface="Century Gothic"/>
              </a:rPr>
              <a:t>Trying many models and reporting only significant ones inflates false positives.</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Century Gothic"/>
                <a:cs typeface="Century Gothic"/>
              </a:rPr>
              <a:t>Confounding: A Clinical Example</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1" name="Col"/>
          <p:cNvSpPr txBox="1"/>
          <p:nvPr/>
        </p:nvSpPr>
        <p:spPr>
          <a:xfrm>
            <a:off x="457200" y="1150000"/>
            <a:ext cx="5478780" cy="5050000"/>
          </a:xfrm>
          <a:prstGeom prst="rect">
            <a:avLst/>
          </a:prstGeom>
          <a:noFill/>
          <a:ln>
            <a:noFill/>
          </a:ln>
        </p:spPr>
        <p:txBody>
          <a:bodyPr wrap="square" lIns="91440" tIns="45720" rIns="91440" bIns="45720" rtlCol="0" anchor="t"/>
          <a:lstStyle/>
          <a:p>
            <a:pPr marL="0" indent="0" algn="l">
              <a:buNone/>
            </a:pPr>
            <a:r>
              <a:rPr lang="en-US" sz="2050" b="1" dirty="0">
                <a:solidFill>
                  <a:srgbClr val="0D7377"/>
                </a:solidFill>
                <a:latin typeface="Century Gothic"/>
                <a:cs typeface="Century Gothic"/>
              </a:rPr>
              <a:t>What confounding is</a:t>
            </a:r>
          </a:p>
          <a:p>
            <a:pPr marL="274320" indent="-274320" algn="l">
              <a:lnSpc>
                <a:spcPct val="106000"/>
              </a:lnSpc>
              <a:spcBef>
                <a:spcPts val="520"/>
              </a:spcBef>
              <a:buFont typeface="Arial"/>
              <a:buChar char="•"/>
            </a:pPr>
            <a:r>
              <a:rPr lang="en-US" sz="1650" dirty="0">
                <a:solidFill>
                  <a:srgbClr val="000000"/>
                </a:solidFill>
                <a:latin typeface="Century Gothic"/>
                <a:cs typeface="Century Gothic"/>
              </a:rPr>
              <a:t>A third variable distorts the crude link between exposure and outcome.</a:t>
            </a:r>
          </a:p>
          <a:p>
            <a:pPr marL="274320" indent="-274320" algn="l">
              <a:lnSpc>
                <a:spcPct val="106000"/>
              </a:lnSpc>
              <a:spcBef>
                <a:spcPts val="520"/>
              </a:spcBef>
              <a:buFont typeface="Arial"/>
              <a:buChar char="•"/>
            </a:pPr>
            <a:r>
              <a:rPr lang="en-US" sz="1650" dirty="0">
                <a:solidFill>
                  <a:srgbClr val="000000"/>
                </a:solidFill>
                <a:latin typeface="Century Gothic"/>
                <a:cs typeface="Century Gothic"/>
              </a:rPr>
              <a:t>Example: urban residents are younger and better insured.</a:t>
            </a:r>
          </a:p>
          <a:p>
            <a:pPr marL="274320" indent="-274320" algn="l">
              <a:lnSpc>
                <a:spcPct val="106000"/>
              </a:lnSpc>
              <a:spcBef>
                <a:spcPts val="520"/>
              </a:spcBef>
              <a:buFont typeface="Arial"/>
              <a:buChar char="•"/>
            </a:pPr>
            <a:r>
              <a:rPr lang="en-US" sz="1650" dirty="0">
                <a:solidFill>
                  <a:srgbClr val="000000"/>
                </a:solidFill>
                <a:latin typeface="Century Gothic"/>
                <a:cs typeface="Century Gothic"/>
              </a:rPr>
              <a:t>Those factors also raise uptake - so crude residence looks too strong.</a:t>
            </a:r>
          </a:p>
          <a:p>
            <a:pPr marL="274320" indent="-274320" algn="l">
              <a:lnSpc>
                <a:spcPct val="106000"/>
              </a:lnSpc>
              <a:spcBef>
                <a:spcPts val="520"/>
              </a:spcBef>
              <a:buFont typeface="Arial"/>
              <a:buChar char="•"/>
            </a:pPr>
            <a:r>
              <a:rPr lang="en-US" sz="1650" dirty="0">
                <a:solidFill>
                  <a:srgbClr val="000000"/>
                </a:solidFill>
                <a:latin typeface="Century Gothic"/>
                <a:cs typeface="Century Gothic"/>
              </a:rPr>
              <a:t>Adjusting for them isolates the true residence effect.</a:t>
            </a:r>
          </a:p>
        </p:txBody>
      </p:sp>
      <p:sp>
        <p:nvSpPr>
          <p:cNvPr id="22" name="Col"/>
          <p:cNvSpPr txBox="1"/>
          <p:nvPr/>
        </p:nvSpPr>
        <p:spPr>
          <a:xfrm>
            <a:off x="6256020" y="1150000"/>
            <a:ext cx="5478780" cy="5050000"/>
          </a:xfrm>
          <a:prstGeom prst="rect">
            <a:avLst/>
          </a:prstGeom>
          <a:noFill/>
          <a:ln>
            <a:noFill/>
          </a:ln>
        </p:spPr>
        <p:txBody>
          <a:bodyPr wrap="square" lIns="91440" tIns="45720" rIns="91440" bIns="45720" rtlCol="0" anchor="t"/>
          <a:lstStyle/>
          <a:p>
            <a:pPr marL="0" indent="0" algn="l">
              <a:buNone/>
            </a:pPr>
            <a:r>
              <a:rPr lang="en-US" sz="2050" b="1" dirty="0">
                <a:solidFill>
                  <a:srgbClr val="0D7377"/>
                </a:solidFill>
                <a:latin typeface="Century Gothic"/>
                <a:cs typeface="Century Gothic"/>
              </a:rPr>
              <a:t>How we detect it</a:t>
            </a:r>
          </a:p>
          <a:p>
            <a:pPr marL="274320" indent="-274320" algn="l">
              <a:lnSpc>
                <a:spcPct val="106000"/>
              </a:lnSpc>
              <a:spcBef>
                <a:spcPts val="520"/>
              </a:spcBef>
              <a:buFont typeface="Arial"/>
              <a:buChar char="•"/>
            </a:pPr>
            <a:r>
              <a:rPr lang="en-US" sz="1650" dirty="0">
                <a:solidFill>
                  <a:srgbClr val="000000"/>
                </a:solidFill>
                <a:latin typeface="Century Gothic"/>
                <a:cs typeface="Century Gothic"/>
              </a:rPr>
              <a:t>Compare the crude OR with the adjusted OR for residence.</a:t>
            </a:r>
          </a:p>
          <a:p>
            <a:pPr marL="274320" indent="-274320" algn="l">
              <a:lnSpc>
                <a:spcPct val="106000"/>
              </a:lnSpc>
              <a:spcBef>
                <a:spcPts val="520"/>
              </a:spcBef>
              <a:buFont typeface="Arial"/>
              <a:buChar char="•"/>
            </a:pPr>
            <a:r>
              <a:rPr lang="en-US" sz="1650" dirty="0">
                <a:solidFill>
                  <a:srgbClr val="000000"/>
                </a:solidFill>
                <a:latin typeface="Century Gothic"/>
                <a:cs typeface="Century Gothic"/>
              </a:rPr>
              <a:t>If the estimate shifts noticeably (rule of thumb &gt;10%), confounding is present.</a:t>
            </a:r>
          </a:p>
          <a:p>
            <a:pPr marL="274320" indent="-274320" algn="l">
              <a:lnSpc>
                <a:spcPct val="106000"/>
              </a:lnSpc>
              <a:spcBef>
                <a:spcPts val="520"/>
              </a:spcBef>
              <a:buFont typeface="Arial"/>
              <a:buChar char="•"/>
            </a:pPr>
            <a:r>
              <a:rPr lang="en-US" sz="1650" dirty="0">
                <a:solidFill>
                  <a:srgbClr val="000000"/>
                </a:solidFill>
                <a:latin typeface="Century Gothic"/>
                <a:cs typeface="Century Gothic"/>
              </a:rPr>
              <a:t>Always report and interpret the ADJUSTED odds ratio.</a:t>
            </a:r>
          </a:p>
          <a:p>
            <a:pPr marL="274320" indent="-274320" algn="l">
              <a:lnSpc>
                <a:spcPct val="106000"/>
              </a:lnSpc>
              <a:spcBef>
                <a:spcPts val="520"/>
              </a:spcBef>
              <a:buFont typeface="Arial"/>
              <a:buChar char="•"/>
            </a:pPr>
            <a:r>
              <a:rPr lang="en-US" sz="1650" dirty="0">
                <a:solidFill>
                  <a:srgbClr val="000000"/>
                </a:solidFill>
                <a:latin typeface="Century Gothic"/>
                <a:cs typeface="Century Gothic"/>
              </a:rPr>
              <a:t>The adjusted urban OR in our model is 1.87 (1.41-2.49).</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Century Gothic"/>
                <a:cs typeface="Century Gothic"/>
              </a:rPr>
              <a:t>Demo: Crude vs Adjusted OR for Residence</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Intro"/>
          <p:cNvSpPr txBox="1"/>
          <p:nvPr/>
        </p:nvSpPr>
        <p:spPr>
          <a:xfrm>
            <a:off x="457200" y="1080000"/>
            <a:ext cx="11277600" cy="520000"/>
          </a:xfrm>
          <a:prstGeom prst="rect">
            <a:avLst/>
          </a:prstGeom>
          <a:noFill/>
          <a:ln>
            <a:noFill/>
          </a:ln>
        </p:spPr>
        <p:txBody>
          <a:bodyPr wrap="square" lIns="91440" tIns="45720" rIns="91440" bIns="45720" rtlCol="0" anchor="t"/>
          <a:lstStyle/>
          <a:p>
            <a:pPr marL="0" indent="0" algn="l">
              <a:buNone/>
            </a:pPr>
            <a:r>
              <a:rPr lang="en-US" sz="1600" i="1" dirty="0">
                <a:solidFill>
                  <a:srgbClr val="595959"/>
                </a:solidFill>
                <a:latin typeface="Century Gothic"/>
                <a:cs typeface="Century Gothic"/>
              </a:rPr>
              <a:t>Fit a crude model, then compare with the full model.</a:t>
            </a:r>
          </a:p>
        </p:txBody>
      </p:sp>
      <p:sp>
        <p:nvSpPr>
          <p:cNvPr id="30" name="Code"/>
          <p:cNvSpPr/>
          <p:nvPr/>
        </p:nvSpPr>
        <p:spPr>
          <a:xfrm>
            <a:off x="457200" y="1640000"/>
            <a:ext cx="11277600" cy="2070000"/>
          </a:xfrm>
          <a:prstGeom prst="roundRect">
            <a:avLst>
              <a:gd name="adj" fmla="val 6000"/>
            </a:avLst>
          </a:prstGeom>
          <a:solidFill>
            <a:srgbClr val="EDF1F2"/>
          </a:solidFill>
          <a:ln>
            <a:noFill/>
          </a:ln>
        </p:spPr>
        <p:txBody>
          <a:bodyPr wrap="square" lIns="137160" tIns="91440" rIns="137160" bIns="91440" rtlCol="0" anchor="t"/>
          <a:lstStyle/>
          <a:p>
            <a:pPr marL="0" indent="0" algn="l">
              <a:lnSpc>
                <a:spcPct val="100000"/>
              </a:lnSpc>
              <a:buNone/>
            </a:pPr>
            <a:r>
              <a:rPr lang="en-US" sz="1300" dirty="0">
                <a:solidFill>
                  <a:srgbClr val="1B3A4B"/>
                </a:solidFill>
                <a:latin typeface="Consolas"/>
                <a:cs typeface="Consolas"/>
              </a:rPr>
              <a:t>crude &lt;- glm(treatment_uptake ~ residence,</a:t>
            </a:r>
          </a:p>
          <a:p>
            <a:pPr marL="0" indent="0" algn="l">
              <a:lnSpc>
                <a:spcPct val="100000"/>
              </a:lnSpc>
              <a:buNone/>
            </a:pPr>
            <a:r>
              <a:rPr lang="en-US" sz="1300" dirty="0">
                <a:solidFill>
                  <a:srgbClr val="1B3A4B"/>
                </a:solidFill>
                <a:latin typeface="Consolas"/>
                <a:cs typeface="Consolas"/>
              </a:rPr>
              <a:t>             data = dx, family = binomial)</a:t>
            </a:r>
          </a:p>
          <a:p>
            <a:pPr marL="0" indent="0" algn="l">
              <a:lnSpc>
                <a:spcPct val="100000"/>
              </a:lnSpc>
              <a:buNone/>
            </a:pPr>
            <a:r>
              <a:rPr lang="en-US" sz="1300" dirty="0">
                <a:solidFill>
                  <a:srgbClr val="1B3A4B"/>
                </a:solidFill>
                <a:latin typeface="Consolas"/>
                <a:cs typeface="Consolas"/>
              </a:rPr>
              <a:t>full &lt;- glm(treatment_uptake ~ age + sex + education +</a:t>
            </a:r>
          </a:p>
          <a:p>
            <a:pPr marL="0" indent="0" algn="l">
              <a:lnSpc>
                <a:spcPct val="100000"/>
              </a:lnSpc>
              <a:buNone/>
            </a:pPr>
            <a:r>
              <a:rPr lang="en-US" sz="1300" dirty="0">
                <a:solidFill>
                  <a:srgbClr val="1B3A4B"/>
                </a:solidFill>
                <a:latin typeface="Consolas"/>
                <a:cs typeface="Consolas"/>
              </a:rPr>
              <a:t>             residence + diabetes + family_history_htn +</a:t>
            </a:r>
          </a:p>
          <a:p>
            <a:pPr marL="0" indent="0" algn="l">
              <a:lnSpc>
                <a:spcPct val="100000"/>
              </a:lnSpc>
              <a:buNone/>
            </a:pPr>
            <a:r>
              <a:rPr lang="en-US" sz="1300" dirty="0">
                <a:solidFill>
                  <a:srgbClr val="1B3A4B"/>
                </a:solidFill>
                <a:latin typeface="Consolas"/>
                <a:cs typeface="Consolas"/>
              </a:rPr>
              <a:t>             health_insurance + knowledge_score +</a:t>
            </a:r>
          </a:p>
          <a:p>
            <a:pPr marL="0" indent="0" algn="l">
              <a:lnSpc>
                <a:spcPct val="100000"/>
              </a:lnSpc>
              <a:buNone/>
            </a:pPr>
            <a:r>
              <a:rPr lang="en-US" sz="1300" dirty="0">
                <a:solidFill>
                  <a:srgbClr val="1B3A4B"/>
                </a:solidFill>
                <a:latin typeface="Consolas"/>
                <a:cs typeface="Consolas"/>
              </a:rPr>
              <a:t>             distance_to_facility_km,</a:t>
            </a:r>
          </a:p>
          <a:p>
            <a:pPr marL="0" indent="0" algn="l">
              <a:lnSpc>
                <a:spcPct val="100000"/>
              </a:lnSpc>
              <a:buNone/>
            </a:pPr>
            <a:r>
              <a:rPr lang="en-US" sz="1300" dirty="0">
                <a:solidFill>
                  <a:srgbClr val="1B3A4B"/>
                </a:solidFill>
                <a:latin typeface="Consolas"/>
                <a:cs typeface="Consolas"/>
              </a:rPr>
              <a:t>             data = dx, family = binomial)</a:t>
            </a:r>
          </a:p>
          <a:p>
            <a:pPr marL="0" indent="0" algn="l">
              <a:lnSpc>
                <a:spcPct val="100000"/>
              </a:lnSpc>
              <a:buNone/>
            </a:pPr>
            <a:r>
              <a:rPr lang="en-US" sz="1300" dirty="0">
                <a:solidFill>
                  <a:srgbClr val="1B3A4B"/>
                </a:solidFill>
                <a:latin typeface="Consolas"/>
                <a:cs typeface="Consolas"/>
              </a:rPr>
              <a:t>exp(coef(crude))["residenceUrban"]</a:t>
            </a:r>
          </a:p>
          <a:p>
            <a:pPr marL="0" indent="0" algn="l">
              <a:lnSpc>
                <a:spcPct val="100000"/>
              </a:lnSpc>
              <a:buNone/>
            </a:pPr>
            <a:r>
              <a:rPr lang="en-US" sz="1300" dirty="0">
                <a:solidFill>
                  <a:srgbClr val="1B3A4B"/>
                </a:solidFill>
                <a:latin typeface="Consolas"/>
                <a:cs typeface="Consolas"/>
              </a:rPr>
              <a:t>exp(coef(full))["residenceUrban"]</a:t>
            </a:r>
          </a:p>
        </p:txBody>
      </p:sp>
      <p:sp>
        <p:nvSpPr>
          <p:cNvPr id="31" name="Output"/>
          <p:cNvSpPr/>
          <p:nvPr/>
        </p:nvSpPr>
        <p:spPr>
          <a:xfrm>
            <a:off x="457200" y="3860000"/>
            <a:ext cx="11277600" cy="1100000"/>
          </a:xfrm>
          <a:prstGeom prst="roundRect">
            <a:avLst>
              <a:gd name="adj" fmla="val 6000"/>
            </a:avLst>
          </a:prstGeom>
          <a:solidFill>
            <a:srgbClr val="F2EFE6"/>
          </a:solidFill>
          <a:ln>
            <a:noFill/>
          </a:ln>
        </p:spPr>
        <p:txBody>
          <a:bodyPr wrap="square" lIns="137160" tIns="91440" rIns="137160" bIns="91440" rtlCol="0" anchor="t"/>
          <a:lstStyle/>
          <a:p>
            <a:pPr marL="0" indent="0" algn="l">
              <a:buNone/>
            </a:pPr>
            <a:r>
              <a:rPr lang="en-US" sz="1150" b="1" dirty="0">
                <a:solidFill>
                  <a:srgbClr val="595959"/>
                </a:solidFill>
                <a:latin typeface="Century Gothic"/>
                <a:cs typeface="Century Gothic"/>
              </a:rPr>
              <a:t>Console output</a:t>
            </a:r>
          </a:p>
          <a:p>
            <a:pPr marL="0" indent="0" algn="l">
              <a:lnSpc>
                <a:spcPct val="100000"/>
              </a:lnSpc>
              <a:buNone/>
            </a:pPr>
            <a:r>
              <a:rPr lang="en-US" sz="1250" dirty="0">
                <a:solidFill>
                  <a:srgbClr val="1A1A1A"/>
                </a:solidFill>
                <a:latin typeface="Consolas"/>
                <a:cs typeface="Consolas"/>
              </a:rPr>
              <a:t>residenceUrban</a:t>
            </a:r>
          </a:p>
          <a:p>
            <a:pPr marL="0" indent="0" algn="l">
              <a:lnSpc>
                <a:spcPct val="100000"/>
              </a:lnSpc>
              <a:buNone/>
            </a:pPr>
            <a:r>
              <a:rPr lang="en-US" sz="1250" dirty="0">
                <a:solidFill>
                  <a:srgbClr val="1A1A1A"/>
                </a:solidFill>
                <a:latin typeface="Consolas"/>
                <a:cs typeface="Consolas"/>
              </a:rPr>
              <a:t>     2.34</a:t>
            </a:r>
          </a:p>
          <a:p>
            <a:pPr marL="0" indent="0" algn="l">
              <a:lnSpc>
                <a:spcPct val="100000"/>
              </a:lnSpc>
              <a:buNone/>
            </a:pPr>
            <a:r>
              <a:rPr lang="en-US" sz="1250" dirty="0">
                <a:solidFill>
                  <a:srgbClr val="1A1A1A"/>
                </a:solidFill>
                <a:latin typeface="Consolas"/>
                <a:cs typeface="Consolas"/>
              </a:rPr>
              <a:t>residenceUrban</a:t>
            </a:r>
          </a:p>
          <a:p>
            <a:pPr marL="0" indent="0" algn="l">
              <a:lnSpc>
                <a:spcPct val="100000"/>
              </a:lnSpc>
              <a:buNone/>
            </a:pPr>
            <a:r>
              <a:rPr lang="en-US" sz="1250" dirty="0">
                <a:solidFill>
                  <a:srgbClr val="1A1A1A"/>
                </a:solidFill>
                <a:latin typeface="Consolas"/>
                <a:cs typeface="Consolas"/>
              </a:rPr>
              <a:t>     1.87</a:t>
            </a:r>
          </a:p>
        </p:txBody>
      </p:sp>
      <p:sp>
        <p:nvSpPr>
          <p:cNvPr id="32" name="Note"/>
          <p:cNvSpPr/>
          <p:nvPr/>
        </p:nvSpPr>
        <p:spPr>
          <a:xfrm>
            <a:off x="457200" y="5100000"/>
            <a:ext cx="11277600" cy="470000"/>
          </a:xfrm>
          <a:prstGeom prst="roundRect">
            <a:avLst>
              <a:gd name="adj" fmla="val 6000"/>
            </a:avLst>
          </a:prstGeom>
          <a:solidFill>
            <a:srgbClr val="EAF1F7"/>
          </a:solidFill>
          <a:ln>
            <a:noFill/>
          </a:ln>
        </p:spPr>
        <p:txBody>
          <a:bodyPr wrap="square" lIns="137160" tIns="91440" rIns="137160" bIns="91440" rtlCol="0" anchor="t"/>
          <a:lstStyle/>
          <a:p>
            <a:pPr marL="0" indent="0" algn="l">
              <a:buNone/>
            </a:pPr>
            <a:r>
              <a:rPr lang="en-US" sz="1300" dirty="0">
                <a:solidFill>
                  <a:srgbClr val="1F5C7A"/>
                </a:solidFill>
                <a:latin typeface="Century Gothic"/>
                <a:cs typeface="Century Gothic"/>
              </a:rPr>
              <a:t>INTERPRETATION  -  The OR shrinks from 2.34 (crude) to 1.87 (adjusted): age and insurance were confounding it.</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Century Gothic"/>
                <a:cs typeface="Century Gothic"/>
              </a:rPr>
              <a:t>Demo: The Final Model and Tidy ORs</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Intro"/>
          <p:cNvSpPr txBox="1"/>
          <p:nvPr/>
        </p:nvSpPr>
        <p:spPr>
          <a:xfrm>
            <a:off x="457200" y="1080000"/>
            <a:ext cx="11277600" cy="520000"/>
          </a:xfrm>
          <a:prstGeom prst="rect">
            <a:avLst/>
          </a:prstGeom>
          <a:noFill/>
          <a:ln>
            <a:noFill/>
          </a:ln>
        </p:spPr>
        <p:txBody>
          <a:bodyPr wrap="square" lIns="91440" tIns="45720" rIns="91440" bIns="45720" rtlCol="0" anchor="t"/>
          <a:lstStyle/>
          <a:p>
            <a:pPr marL="0" indent="0" algn="l">
              <a:buNone/>
            </a:pPr>
            <a:r>
              <a:rPr lang="en-US" sz="1600" i="1" dirty="0">
                <a:solidFill>
                  <a:srgbClr val="595959"/>
                </a:solidFill>
                <a:latin typeface="Century Gothic"/>
                <a:cs typeface="Century Gothic"/>
              </a:rPr>
              <a:t>Fit once, then turn coefficients into odds ratios with CIs.</a:t>
            </a:r>
          </a:p>
        </p:txBody>
      </p:sp>
      <p:sp>
        <p:nvSpPr>
          <p:cNvPr id="30" name="Code"/>
          <p:cNvSpPr/>
          <p:nvPr/>
        </p:nvSpPr>
        <p:spPr>
          <a:xfrm>
            <a:off x="457200" y="1640000"/>
            <a:ext cx="11277600" cy="1440000"/>
          </a:xfrm>
          <a:prstGeom prst="roundRect">
            <a:avLst>
              <a:gd name="adj" fmla="val 6000"/>
            </a:avLst>
          </a:prstGeom>
          <a:solidFill>
            <a:srgbClr val="EDF1F2"/>
          </a:solidFill>
          <a:ln>
            <a:noFill/>
          </a:ln>
        </p:spPr>
        <p:txBody>
          <a:bodyPr wrap="square" lIns="137160" tIns="91440" rIns="137160" bIns="91440" rtlCol="0" anchor="t"/>
          <a:lstStyle/>
          <a:p>
            <a:pPr marL="0" indent="0" algn="l">
              <a:lnSpc>
                <a:spcPct val="100000"/>
              </a:lnSpc>
              <a:buNone/>
            </a:pPr>
            <a:r>
              <a:rPr lang="en-US" sz="1300" dirty="0">
                <a:solidFill>
                  <a:srgbClr val="1B3A4B"/>
                </a:solidFill>
                <a:latin typeface="Consolas"/>
                <a:cs typeface="Consolas"/>
              </a:rPr>
              <a:t>model_final &lt;- full</a:t>
            </a:r>
          </a:p>
          <a:p>
            <a:pPr marL="0" indent="0" algn="l">
              <a:lnSpc>
                <a:spcPct val="100000"/>
              </a:lnSpc>
              <a:buNone/>
            </a:pPr>
            <a:r>
              <a:rPr lang="en-US" sz="1300" dirty="0">
                <a:solidFill>
                  <a:srgbClr val="1B3A4B"/>
                </a:solidFill>
                <a:latin typeface="Consolas"/>
                <a:cs typeface="Consolas"/>
              </a:rPr>
              <a:t>library(broom)</a:t>
            </a:r>
          </a:p>
          <a:p>
            <a:pPr marL="0" indent="0" algn="l">
              <a:lnSpc>
                <a:spcPct val="100000"/>
              </a:lnSpc>
              <a:buNone/>
            </a:pPr>
            <a:r>
              <a:rPr lang="en-US" sz="1300" dirty="0">
                <a:solidFill>
                  <a:srgbClr val="1B3A4B"/>
                </a:solidFill>
                <a:latin typeface="Consolas"/>
                <a:cs typeface="Consolas"/>
              </a:rPr>
              <a:t>or_table &lt;- tidy(model_final,</a:t>
            </a:r>
          </a:p>
          <a:p>
            <a:pPr marL="0" indent="0" algn="l">
              <a:lnSpc>
                <a:spcPct val="100000"/>
              </a:lnSpc>
              <a:buNone/>
            </a:pPr>
            <a:r>
              <a:rPr lang="en-US" sz="1300" dirty="0">
                <a:solidFill>
                  <a:srgbClr val="1B3A4B"/>
                </a:solidFill>
                <a:latin typeface="Consolas"/>
                <a:cs typeface="Consolas"/>
              </a:rPr>
              <a:t>                 exponentiate = TRUE,</a:t>
            </a:r>
          </a:p>
          <a:p>
            <a:pPr marL="0" indent="0" algn="l">
              <a:lnSpc>
                <a:spcPct val="100000"/>
              </a:lnSpc>
              <a:buNone/>
            </a:pPr>
            <a:r>
              <a:rPr lang="en-US" sz="1300" dirty="0">
                <a:solidFill>
                  <a:srgbClr val="1B3A4B"/>
                </a:solidFill>
                <a:latin typeface="Consolas"/>
                <a:cs typeface="Consolas"/>
              </a:rPr>
              <a:t>                 conf.int = TRUE)</a:t>
            </a:r>
          </a:p>
          <a:p>
            <a:pPr marL="0" indent="0" algn="l">
              <a:lnSpc>
                <a:spcPct val="100000"/>
              </a:lnSpc>
              <a:buNone/>
            </a:pPr>
            <a:r>
              <a:rPr lang="en-US" sz="1300" dirty="0">
                <a:solidFill>
                  <a:srgbClr val="1B3A4B"/>
                </a:solidFill>
                <a:latin typeface="Consolas"/>
                <a:cs typeface="Consolas"/>
              </a:rPr>
              <a:t>print(or_table, n = Inf)</a:t>
            </a:r>
          </a:p>
        </p:txBody>
      </p:sp>
      <p:sp>
        <p:nvSpPr>
          <p:cNvPr id="31" name="Output"/>
          <p:cNvSpPr/>
          <p:nvPr/>
        </p:nvSpPr>
        <p:spPr>
          <a:xfrm>
            <a:off x="457200" y="3230000"/>
            <a:ext cx="11277600" cy="1300000"/>
          </a:xfrm>
          <a:prstGeom prst="roundRect">
            <a:avLst>
              <a:gd name="adj" fmla="val 6000"/>
            </a:avLst>
          </a:prstGeom>
          <a:solidFill>
            <a:srgbClr val="F2EFE6"/>
          </a:solidFill>
          <a:ln>
            <a:noFill/>
          </a:ln>
        </p:spPr>
        <p:txBody>
          <a:bodyPr wrap="square" lIns="137160" tIns="91440" rIns="137160" bIns="91440" rtlCol="0" anchor="t"/>
          <a:lstStyle/>
          <a:p>
            <a:pPr marL="0" indent="0" algn="l">
              <a:buNone/>
            </a:pPr>
            <a:r>
              <a:rPr lang="en-US" sz="1150" b="1" dirty="0">
                <a:solidFill>
                  <a:srgbClr val="595959"/>
                </a:solidFill>
                <a:latin typeface="Century Gothic"/>
                <a:cs typeface="Century Gothic"/>
              </a:rPr>
              <a:t>Console output</a:t>
            </a:r>
          </a:p>
          <a:p>
            <a:pPr marL="0" indent="0" algn="l">
              <a:lnSpc>
                <a:spcPct val="100000"/>
              </a:lnSpc>
              <a:buNone/>
            </a:pPr>
            <a:r>
              <a:rPr lang="en-US" sz="1250" dirty="0">
                <a:solidFill>
                  <a:srgbClr val="1A1A1A"/>
                </a:solidFill>
                <a:latin typeface="Consolas"/>
                <a:cs typeface="Consolas"/>
              </a:rPr>
              <a:t>term            estimate conf.low conf.high</a:t>
            </a:r>
          </a:p>
          <a:p>
            <a:pPr marL="0" indent="0" algn="l">
              <a:lnSpc>
                <a:spcPct val="100000"/>
              </a:lnSpc>
              <a:buNone/>
            </a:pPr>
            <a:r>
              <a:rPr lang="en-US" sz="1250" dirty="0">
                <a:solidFill>
                  <a:srgbClr val="1A1A1A"/>
                </a:solidFill>
                <a:latin typeface="Consolas"/>
                <a:cs typeface="Consolas"/>
              </a:rPr>
              <a:t>diabetesYes        3.56     1.46      9.61</a:t>
            </a:r>
          </a:p>
          <a:p>
            <a:pPr marL="0" indent="0" algn="l">
              <a:lnSpc>
                <a:spcPct val="100000"/>
              </a:lnSpc>
              <a:buNone/>
            </a:pPr>
            <a:r>
              <a:rPr lang="en-US" sz="1250" dirty="0">
                <a:solidFill>
                  <a:srgbClr val="1A1A1A"/>
                </a:solidFill>
                <a:latin typeface="Consolas"/>
                <a:cs typeface="Consolas"/>
              </a:rPr>
              <a:t>health_insuranceYes 2.05    1.54      2.74</a:t>
            </a:r>
          </a:p>
          <a:p>
            <a:pPr marL="0" indent="0" algn="l">
              <a:lnSpc>
                <a:spcPct val="100000"/>
              </a:lnSpc>
              <a:buNone/>
            </a:pPr>
            <a:r>
              <a:rPr lang="en-US" sz="1250" dirty="0">
                <a:solidFill>
                  <a:srgbClr val="1A1A1A"/>
                </a:solidFill>
                <a:latin typeface="Consolas"/>
                <a:cs typeface="Consolas"/>
              </a:rPr>
              <a:t>residenceUrban     1.87     1.41      2.49</a:t>
            </a:r>
          </a:p>
          <a:p>
            <a:pPr marL="0" indent="0" algn="l">
              <a:lnSpc>
                <a:spcPct val="100000"/>
              </a:lnSpc>
              <a:buNone/>
            </a:pPr>
            <a:r>
              <a:rPr lang="en-US" sz="1250" dirty="0">
                <a:solidFill>
                  <a:srgbClr val="1A1A1A"/>
                </a:solidFill>
                <a:latin typeface="Consolas"/>
                <a:cs typeface="Consolas"/>
              </a:rPr>
              <a:t>age                1.03     1.02      1.04</a:t>
            </a:r>
          </a:p>
        </p:txBody>
      </p:sp>
      <p:sp>
        <p:nvSpPr>
          <p:cNvPr id="32" name="Note"/>
          <p:cNvSpPr/>
          <p:nvPr/>
        </p:nvSpPr>
        <p:spPr>
          <a:xfrm>
            <a:off x="457200" y="4670000"/>
            <a:ext cx="11277600" cy="470000"/>
          </a:xfrm>
          <a:prstGeom prst="roundRect">
            <a:avLst>
              <a:gd name="adj" fmla="val 6000"/>
            </a:avLst>
          </a:prstGeom>
          <a:solidFill>
            <a:srgbClr val="EAF1F7"/>
          </a:solidFill>
          <a:ln>
            <a:noFill/>
          </a:ln>
        </p:spPr>
        <p:txBody>
          <a:bodyPr wrap="square" lIns="137160" tIns="91440" rIns="137160" bIns="91440" rtlCol="0" anchor="t"/>
          <a:lstStyle/>
          <a:p>
            <a:pPr marL="0" indent="0" algn="l">
              <a:buNone/>
            </a:pPr>
            <a:r>
              <a:rPr lang="en-US" sz="1300" dirty="0">
                <a:solidFill>
                  <a:srgbClr val="1F5C7A"/>
                </a:solidFill>
                <a:latin typeface="Century Gothic"/>
                <a:cs typeface="Century Gothic"/>
              </a:rPr>
              <a:t>INTERPRETATION  -  exponentiate = TRUE gives ORs; conf.int = TRUE adds 95% CIs - the exact table your reader needs.</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Century Gothic"/>
                <a:cs typeface="Century Gothic"/>
              </a:rPr>
              <a:t>Final Multivariable Model: Adjusted ORs</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graphicFrame>
        <p:nvGraphicFramePr>
          <p:cNvPr id="30" name="Table"/>
          <p:cNvGraphicFramePr/>
          <p:nvPr/>
        </p:nvGraphicFramePr>
        <p:xfrm>
          <a:off x="457200" y="1150000"/>
          <a:ext cx="11277600" cy="3040000"/>
        </p:xfrm>
        <a:graphic>
          <a:graphicData uri="http://schemas.openxmlformats.org/drawingml/2006/table">
            <a:tbl>
              <a:tblPr firstRow="1" bandRow="1">
                <a:tableStyleId>{5C22544A-7EE6-4342-B048-85BDC9FD1C3A}</a:tableStyleId>
              </a:tblPr>
              <a:tblGrid>
                <a:gridCol w="2819400"/>
                <a:gridCol w="2819400"/>
                <a:gridCol w="2819400"/>
                <a:gridCol w="2819400"/>
              </a:tblGrid>
              <a:tr h="380000">
                <a:tc>
                  <a:txBody>
                    <a:bodyPr/>
                    <a:lstStyle/>
                    <a:p>
                      <a:pPr algn="l"/>
                      <a:r>
                        <a:rPr lang="en-US" sz="1300" b="1" dirty="0">
                          <a:solidFill>
                            <a:srgbClr val="FFFFFF"/>
                          </a:solidFill>
                          <a:latin typeface="Century Gothic"/>
                        </a:rPr>
                        <a:t>Predictor</a:t>
                      </a:r>
                    </a:p>
                  </a:txBody>
                  <a:tcPr marL="73152" marR="73152" marT="36576" marB="36576" anchor="ctr">
                    <a:solidFill>
                      <a:srgbClr val="0D7377"/>
                    </a:solidFill>
                  </a:tcPr>
                </a:tc>
                <a:tc>
                  <a:txBody>
                    <a:bodyPr/>
                    <a:lstStyle/>
                    <a:p>
                      <a:pPr algn="l"/>
                      <a:r>
                        <a:rPr lang="en-US" sz="1300" b="1" dirty="0">
                          <a:solidFill>
                            <a:srgbClr val="FFFFFF"/>
                          </a:solidFill>
                          <a:latin typeface="Century Gothic"/>
                        </a:rPr>
                        <a:t>aOR</a:t>
                      </a:r>
                    </a:p>
                  </a:txBody>
                  <a:tcPr marL="73152" marR="73152" marT="36576" marB="36576" anchor="ctr">
                    <a:solidFill>
                      <a:srgbClr val="0D7377"/>
                    </a:solidFill>
                  </a:tcPr>
                </a:tc>
                <a:tc>
                  <a:txBody>
                    <a:bodyPr/>
                    <a:lstStyle/>
                    <a:p>
                      <a:pPr algn="l"/>
                      <a:r>
                        <a:rPr lang="en-US" sz="1300" b="1" dirty="0">
                          <a:solidFill>
                            <a:srgbClr val="FFFFFF"/>
                          </a:solidFill>
                          <a:latin typeface="Century Gothic"/>
                        </a:rPr>
                        <a:t>95% CI</a:t>
                      </a:r>
                    </a:p>
                  </a:txBody>
                  <a:tcPr marL="73152" marR="73152" marT="36576" marB="36576" anchor="ctr">
                    <a:solidFill>
                      <a:srgbClr val="0D7377"/>
                    </a:solidFill>
                  </a:tcPr>
                </a:tc>
                <a:tc>
                  <a:txBody>
                    <a:bodyPr/>
                    <a:lstStyle/>
                    <a:p>
                      <a:pPr algn="l"/>
                      <a:r>
                        <a:rPr lang="en-US" sz="1300" b="1" dirty="0">
                          <a:solidFill>
                            <a:srgbClr val="FFFFFF"/>
                          </a:solidFill>
                          <a:latin typeface="Century Gothic"/>
                        </a:rPr>
                        <a:t>p</a:t>
                      </a:r>
                    </a:p>
                  </a:txBody>
                  <a:tcPr marL="73152" marR="73152" marT="36576" marB="36576" anchor="ctr">
                    <a:solidFill>
                      <a:srgbClr val="0D7377"/>
                    </a:solidFill>
                  </a:tcPr>
                </a:tc>
              </a:tr>
              <a:tr h="380000">
                <a:tc>
                  <a:txBody>
                    <a:bodyPr/>
                    <a:lstStyle/>
                    <a:p>
                      <a:pPr algn="l"/>
                      <a:r>
                        <a:rPr lang="en-US" sz="1300" b="0" dirty="0">
                          <a:solidFill>
                            <a:srgbClr val="000000"/>
                          </a:solidFill>
                          <a:latin typeface="Century Gothic"/>
                        </a:rPr>
                        <a:t>Age (per year)</a:t>
                      </a:r>
                    </a:p>
                  </a:txBody>
                  <a:tcPr marL="73152" marR="73152" marT="36576" marB="36576" anchor="ctr">
                    <a:solidFill>
                      <a:srgbClr val="FFFFFF"/>
                    </a:solidFill>
                  </a:tcPr>
                </a:tc>
                <a:tc>
                  <a:txBody>
                    <a:bodyPr/>
                    <a:lstStyle/>
                    <a:p>
                      <a:pPr algn="l"/>
                      <a:r>
                        <a:rPr lang="en-US" sz="1300" b="0" dirty="0">
                          <a:solidFill>
                            <a:srgbClr val="000000"/>
                          </a:solidFill>
                          <a:latin typeface="Century Gothic"/>
                        </a:rPr>
                        <a:t>1.03</a:t>
                      </a:r>
                    </a:p>
                  </a:txBody>
                  <a:tcPr marL="73152" marR="73152" marT="36576" marB="36576" anchor="ctr">
                    <a:solidFill>
                      <a:srgbClr val="FFFFFF"/>
                    </a:solidFill>
                  </a:tcPr>
                </a:tc>
                <a:tc>
                  <a:txBody>
                    <a:bodyPr/>
                    <a:lstStyle/>
                    <a:p>
                      <a:pPr algn="l"/>
                      <a:r>
                        <a:rPr lang="en-US" sz="1300" b="0" dirty="0">
                          <a:solidFill>
                            <a:srgbClr val="000000"/>
                          </a:solidFill>
                          <a:latin typeface="Century Gothic"/>
                        </a:rPr>
                        <a:t>1.02-1.04</a:t>
                      </a:r>
                    </a:p>
                  </a:txBody>
                  <a:tcPr marL="73152" marR="73152" marT="36576" marB="36576" anchor="ctr">
                    <a:solidFill>
                      <a:srgbClr val="FFFFFF"/>
                    </a:solidFill>
                  </a:tcPr>
                </a:tc>
                <a:tc>
                  <a:txBody>
                    <a:bodyPr/>
                    <a:lstStyle/>
                    <a:p>
                      <a:pPr algn="l"/>
                      <a:r>
                        <a:rPr lang="en-US" sz="1300" b="0" dirty="0">
                          <a:solidFill>
                            <a:srgbClr val="000000"/>
                          </a:solidFill>
                          <a:latin typeface="Century Gothic"/>
                        </a:rPr>
                        <a:t>&lt;0.001</a:t>
                      </a:r>
                    </a:p>
                  </a:txBody>
                  <a:tcPr marL="73152" marR="73152" marT="36576" marB="36576" anchor="ctr">
                    <a:solidFill>
                      <a:srgbClr val="FFFFFF"/>
                    </a:solidFill>
                  </a:tcPr>
                </a:tc>
              </a:tr>
              <a:tr h="380000">
                <a:tc>
                  <a:txBody>
                    <a:bodyPr/>
                    <a:lstStyle/>
                    <a:p>
                      <a:pPr algn="l"/>
                      <a:r>
                        <a:rPr lang="en-US" sz="1300" b="0" dirty="0">
                          <a:solidFill>
                            <a:srgbClr val="000000"/>
                          </a:solidFill>
                          <a:latin typeface="Century Gothic"/>
                        </a:rPr>
                        <a:t>Sex: Male (vs Female)</a:t>
                      </a:r>
                    </a:p>
                  </a:txBody>
                  <a:tcPr marL="73152" marR="73152" marT="36576" marB="36576" anchor="ctr">
                    <a:solidFill>
                      <a:srgbClr val="FFFFFF"/>
                    </a:solidFill>
                  </a:tcPr>
                </a:tc>
                <a:tc>
                  <a:txBody>
                    <a:bodyPr/>
                    <a:lstStyle/>
                    <a:p>
                      <a:pPr algn="l"/>
                      <a:r>
                        <a:rPr lang="en-US" sz="1300" b="0" dirty="0">
                          <a:solidFill>
                            <a:srgbClr val="000000"/>
                          </a:solidFill>
                          <a:latin typeface="Century Gothic"/>
                        </a:rPr>
                        <a:t>0.74</a:t>
                      </a:r>
                    </a:p>
                  </a:txBody>
                  <a:tcPr marL="73152" marR="73152" marT="36576" marB="36576" anchor="ctr">
                    <a:solidFill>
                      <a:srgbClr val="FFFFFF"/>
                    </a:solidFill>
                  </a:tcPr>
                </a:tc>
                <a:tc>
                  <a:txBody>
                    <a:bodyPr/>
                    <a:lstStyle/>
                    <a:p>
                      <a:pPr algn="l"/>
                      <a:r>
                        <a:rPr lang="en-US" sz="1300" b="0" dirty="0">
                          <a:solidFill>
                            <a:srgbClr val="000000"/>
                          </a:solidFill>
                          <a:latin typeface="Century Gothic"/>
                        </a:rPr>
                        <a:t>0.56-0.97</a:t>
                      </a:r>
                    </a:p>
                  </a:txBody>
                  <a:tcPr marL="73152" marR="73152" marT="36576" marB="36576" anchor="ctr">
                    <a:solidFill>
                      <a:srgbClr val="FFFFFF"/>
                    </a:solidFill>
                  </a:tcPr>
                </a:tc>
                <a:tc>
                  <a:txBody>
                    <a:bodyPr/>
                    <a:lstStyle/>
                    <a:p>
                      <a:pPr algn="l"/>
                      <a:r>
                        <a:rPr lang="en-US" sz="1300" b="0" dirty="0">
                          <a:solidFill>
                            <a:srgbClr val="000000"/>
                          </a:solidFill>
                          <a:latin typeface="Century Gothic"/>
                        </a:rPr>
                        <a:t>0.031</a:t>
                      </a:r>
                    </a:p>
                  </a:txBody>
                  <a:tcPr marL="73152" marR="73152" marT="36576" marB="36576" anchor="ctr">
                    <a:solidFill>
                      <a:srgbClr val="FFFFFF"/>
                    </a:solidFill>
                  </a:tcPr>
                </a:tc>
              </a:tr>
              <a:tr h="380000">
                <a:tc>
                  <a:txBody>
                    <a:bodyPr/>
                    <a:lstStyle/>
                    <a:p>
                      <a:pPr algn="l"/>
                      <a:r>
                        <a:rPr lang="en-US" sz="1300" b="0" dirty="0">
                          <a:solidFill>
                            <a:srgbClr val="000000"/>
                          </a:solidFill>
                          <a:latin typeface="Century Gothic"/>
                        </a:rPr>
                        <a:t>Education (linear trend)</a:t>
                      </a:r>
                    </a:p>
                  </a:txBody>
                  <a:tcPr marL="73152" marR="73152" marT="36576" marB="36576" anchor="ctr">
                    <a:solidFill>
                      <a:srgbClr val="FFFFFF"/>
                    </a:solidFill>
                  </a:tcPr>
                </a:tc>
                <a:tc>
                  <a:txBody>
                    <a:bodyPr/>
                    <a:lstStyle/>
                    <a:p>
                      <a:pPr algn="l"/>
                      <a:r>
                        <a:rPr lang="en-US" sz="1300" b="0" dirty="0">
                          <a:solidFill>
                            <a:srgbClr val="000000"/>
                          </a:solidFill>
                          <a:latin typeface="Century Gothic"/>
                        </a:rPr>
                        <a:t>1.96</a:t>
                      </a:r>
                    </a:p>
                  </a:txBody>
                  <a:tcPr marL="73152" marR="73152" marT="36576" marB="36576" anchor="ctr">
                    <a:solidFill>
                      <a:srgbClr val="FFFFFF"/>
                    </a:solidFill>
                  </a:tcPr>
                </a:tc>
                <a:tc>
                  <a:txBody>
                    <a:bodyPr/>
                    <a:lstStyle/>
                    <a:p>
                      <a:pPr algn="l"/>
                      <a:r>
                        <a:rPr lang="en-US" sz="1300" b="0" dirty="0">
                          <a:solidFill>
                            <a:srgbClr val="000000"/>
                          </a:solidFill>
                          <a:latin typeface="Century Gothic"/>
                        </a:rPr>
                        <a:t>1.39-2.77</a:t>
                      </a:r>
                    </a:p>
                  </a:txBody>
                  <a:tcPr marL="73152" marR="73152" marT="36576" marB="36576" anchor="ctr">
                    <a:solidFill>
                      <a:srgbClr val="FFFFFF"/>
                    </a:solidFill>
                  </a:tcPr>
                </a:tc>
                <a:tc>
                  <a:txBody>
                    <a:bodyPr/>
                    <a:lstStyle/>
                    <a:p>
                      <a:pPr algn="l"/>
                      <a:r>
                        <a:rPr lang="en-US" sz="1300" b="0" dirty="0">
                          <a:solidFill>
                            <a:srgbClr val="000000"/>
                          </a:solidFill>
                          <a:latin typeface="Century Gothic"/>
                        </a:rPr>
                        <a:t>&lt;0.001</a:t>
                      </a:r>
                    </a:p>
                  </a:txBody>
                  <a:tcPr marL="73152" marR="73152" marT="36576" marB="36576" anchor="ctr">
                    <a:solidFill>
                      <a:srgbClr val="FFFFFF"/>
                    </a:solidFill>
                  </a:tcPr>
                </a:tc>
              </a:tr>
              <a:tr h="380000">
                <a:tc>
                  <a:txBody>
                    <a:bodyPr/>
                    <a:lstStyle/>
                    <a:p>
                      <a:pPr algn="l"/>
                      <a:r>
                        <a:rPr lang="en-US" sz="1300" b="0" dirty="0">
                          <a:solidFill>
                            <a:srgbClr val="000000"/>
                          </a:solidFill>
                          <a:latin typeface="Century Gothic"/>
                        </a:rPr>
                        <a:t>Residence: Urban (vs Rural)</a:t>
                      </a:r>
                    </a:p>
                  </a:txBody>
                  <a:tcPr marL="73152" marR="73152" marT="36576" marB="36576" anchor="ctr">
                    <a:solidFill>
                      <a:srgbClr val="FFFFFF"/>
                    </a:solidFill>
                  </a:tcPr>
                </a:tc>
                <a:tc>
                  <a:txBody>
                    <a:bodyPr/>
                    <a:lstStyle/>
                    <a:p>
                      <a:pPr algn="l"/>
                      <a:r>
                        <a:rPr lang="en-US" sz="1300" b="0" dirty="0">
                          <a:solidFill>
                            <a:srgbClr val="000000"/>
                          </a:solidFill>
                          <a:latin typeface="Century Gothic"/>
                        </a:rPr>
                        <a:t>1.87</a:t>
                      </a:r>
                    </a:p>
                  </a:txBody>
                  <a:tcPr marL="73152" marR="73152" marT="36576" marB="36576" anchor="ctr">
                    <a:solidFill>
                      <a:srgbClr val="FFFFFF"/>
                    </a:solidFill>
                  </a:tcPr>
                </a:tc>
                <a:tc>
                  <a:txBody>
                    <a:bodyPr/>
                    <a:lstStyle/>
                    <a:p>
                      <a:pPr algn="l"/>
                      <a:r>
                        <a:rPr lang="en-US" sz="1300" b="0" dirty="0">
                          <a:solidFill>
                            <a:srgbClr val="000000"/>
                          </a:solidFill>
                          <a:latin typeface="Century Gothic"/>
                        </a:rPr>
                        <a:t>1.41-2.49</a:t>
                      </a:r>
                    </a:p>
                  </a:txBody>
                  <a:tcPr marL="73152" marR="73152" marT="36576" marB="36576" anchor="ctr">
                    <a:solidFill>
                      <a:srgbClr val="FFFFFF"/>
                    </a:solidFill>
                  </a:tcPr>
                </a:tc>
                <a:tc>
                  <a:txBody>
                    <a:bodyPr/>
                    <a:lstStyle/>
                    <a:p>
                      <a:pPr algn="l"/>
                      <a:r>
                        <a:rPr lang="en-US" sz="1300" b="0" dirty="0">
                          <a:solidFill>
                            <a:srgbClr val="000000"/>
                          </a:solidFill>
                          <a:latin typeface="Century Gothic"/>
                        </a:rPr>
                        <a:t>&lt;0.001</a:t>
                      </a:r>
                    </a:p>
                  </a:txBody>
                  <a:tcPr marL="73152" marR="73152" marT="36576" marB="36576" anchor="ctr">
                    <a:solidFill>
                      <a:srgbClr val="FFFFFF"/>
                    </a:solidFill>
                  </a:tcPr>
                </a:tc>
              </a:tr>
              <a:tr h="380000">
                <a:tc>
                  <a:txBody>
                    <a:bodyPr/>
                    <a:lstStyle/>
                    <a:p>
                      <a:pPr algn="l"/>
                      <a:r>
                        <a:rPr lang="en-US" sz="1300" b="0" dirty="0">
                          <a:solidFill>
                            <a:srgbClr val="000000"/>
                          </a:solidFill>
                          <a:latin typeface="Century Gothic"/>
                        </a:rPr>
                        <a:t>Diabetes: Yes</a:t>
                      </a:r>
                    </a:p>
                  </a:txBody>
                  <a:tcPr marL="73152" marR="73152" marT="36576" marB="36576" anchor="ctr">
                    <a:solidFill>
                      <a:srgbClr val="FFFFFF"/>
                    </a:solidFill>
                  </a:tcPr>
                </a:tc>
                <a:tc>
                  <a:txBody>
                    <a:bodyPr/>
                    <a:lstStyle/>
                    <a:p>
                      <a:pPr algn="l"/>
                      <a:r>
                        <a:rPr lang="en-US" sz="1300" b="0" dirty="0">
                          <a:solidFill>
                            <a:srgbClr val="000000"/>
                          </a:solidFill>
                          <a:latin typeface="Century Gothic"/>
                        </a:rPr>
                        <a:t>3.56</a:t>
                      </a:r>
                    </a:p>
                  </a:txBody>
                  <a:tcPr marL="73152" marR="73152" marT="36576" marB="36576" anchor="ctr">
                    <a:solidFill>
                      <a:srgbClr val="FFFFFF"/>
                    </a:solidFill>
                  </a:tcPr>
                </a:tc>
                <a:tc>
                  <a:txBody>
                    <a:bodyPr/>
                    <a:lstStyle/>
                    <a:p>
                      <a:pPr algn="l"/>
                      <a:r>
                        <a:rPr lang="en-US" sz="1300" b="0" dirty="0">
                          <a:solidFill>
                            <a:srgbClr val="000000"/>
                          </a:solidFill>
                          <a:latin typeface="Century Gothic"/>
                        </a:rPr>
                        <a:t>1.46-9.61</a:t>
                      </a:r>
                    </a:p>
                  </a:txBody>
                  <a:tcPr marL="73152" marR="73152" marT="36576" marB="36576" anchor="ctr">
                    <a:solidFill>
                      <a:srgbClr val="FFFFFF"/>
                    </a:solidFill>
                  </a:tcPr>
                </a:tc>
                <a:tc>
                  <a:txBody>
                    <a:bodyPr/>
                    <a:lstStyle/>
                    <a:p>
                      <a:pPr algn="l"/>
                      <a:r>
                        <a:rPr lang="en-US" sz="1300" b="0" dirty="0">
                          <a:solidFill>
                            <a:srgbClr val="000000"/>
                          </a:solidFill>
                          <a:latin typeface="Century Gothic"/>
                        </a:rPr>
                        <a:t>0.007</a:t>
                      </a:r>
                    </a:p>
                  </a:txBody>
                  <a:tcPr marL="73152" marR="73152" marT="36576" marB="36576" anchor="ctr">
                    <a:solidFill>
                      <a:srgbClr val="FFFFFF"/>
                    </a:solidFill>
                  </a:tcPr>
                </a:tc>
              </a:tr>
              <a:tr h="380000">
                <a:tc>
                  <a:txBody>
                    <a:bodyPr/>
                    <a:lstStyle/>
                    <a:p>
                      <a:pPr algn="l"/>
                      <a:r>
                        <a:rPr lang="en-US" sz="1300" b="0" dirty="0">
                          <a:solidFill>
                            <a:srgbClr val="000000"/>
                          </a:solidFill>
                          <a:latin typeface="Century Gothic"/>
                        </a:rPr>
                        <a:t>Health insurance: Yes</a:t>
                      </a:r>
                    </a:p>
                  </a:txBody>
                  <a:tcPr marL="73152" marR="73152" marT="36576" marB="36576" anchor="ctr">
                    <a:solidFill>
                      <a:srgbClr val="FFFFFF"/>
                    </a:solidFill>
                  </a:tcPr>
                </a:tc>
                <a:tc>
                  <a:txBody>
                    <a:bodyPr/>
                    <a:lstStyle/>
                    <a:p>
                      <a:pPr algn="l"/>
                      <a:r>
                        <a:rPr lang="en-US" sz="1300" b="0" dirty="0">
                          <a:solidFill>
                            <a:srgbClr val="000000"/>
                          </a:solidFill>
                          <a:latin typeface="Century Gothic"/>
                        </a:rPr>
                        <a:t>2.05</a:t>
                      </a:r>
                    </a:p>
                  </a:txBody>
                  <a:tcPr marL="73152" marR="73152" marT="36576" marB="36576" anchor="ctr">
                    <a:solidFill>
                      <a:srgbClr val="FFFFFF"/>
                    </a:solidFill>
                  </a:tcPr>
                </a:tc>
                <a:tc>
                  <a:txBody>
                    <a:bodyPr/>
                    <a:lstStyle/>
                    <a:p>
                      <a:pPr algn="l"/>
                      <a:r>
                        <a:rPr lang="en-US" sz="1300" b="0" dirty="0">
                          <a:solidFill>
                            <a:srgbClr val="000000"/>
                          </a:solidFill>
                          <a:latin typeface="Century Gothic"/>
                        </a:rPr>
                        <a:t>1.54-2.74</a:t>
                      </a:r>
                    </a:p>
                  </a:txBody>
                  <a:tcPr marL="73152" marR="73152" marT="36576" marB="36576" anchor="ctr">
                    <a:solidFill>
                      <a:srgbClr val="FFFFFF"/>
                    </a:solidFill>
                  </a:tcPr>
                </a:tc>
                <a:tc>
                  <a:txBody>
                    <a:bodyPr/>
                    <a:lstStyle/>
                    <a:p>
                      <a:pPr algn="l"/>
                      <a:r>
                        <a:rPr lang="en-US" sz="1300" b="0" dirty="0">
                          <a:solidFill>
                            <a:srgbClr val="000000"/>
                          </a:solidFill>
                          <a:latin typeface="Century Gothic"/>
                        </a:rPr>
                        <a:t>&lt;0.001</a:t>
                      </a:r>
                    </a:p>
                  </a:txBody>
                  <a:tcPr marL="73152" marR="73152" marT="36576" marB="36576" anchor="ctr">
                    <a:solidFill>
                      <a:srgbClr val="FFFFFF"/>
                    </a:solidFill>
                  </a:tcPr>
                </a:tc>
              </a:tr>
              <a:tr h="380000">
                <a:tc>
                  <a:txBody>
                    <a:bodyPr/>
                    <a:lstStyle/>
                    <a:p>
                      <a:pPr algn="l"/>
                      <a:r>
                        <a:rPr lang="en-US" sz="1300" b="0" dirty="0">
                          <a:solidFill>
                            <a:srgbClr val="000000"/>
                          </a:solidFill>
                          <a:latin typeface="Century Gothic"/>
                        </a:rPr>
                        <a:t>Distance to facility (per km)</a:t>
                      </a:r>
                    </a:p>
                  </a:txBody>
                  <a:tcPr marL="73152" marR="73152" marT="36576" marB="36576" anchor="ctr">
                    <a:solidFill>
                      <a:srgbClr val="FFFFFF"/>
                    </a:solidFill>
                  </a:tcPr>
                </a:tc>
                <a:tc>
                  <a:txBody>
                    <a:bodyPr/>
                    <a:lstStyle/>
                    <a:p>
                      <a:pPr algn="l"/>
                      <a:r>
                        <a:rPr lang="en-US" sz="1300" b="0" dirty="0">
                          <a:solidFill>
                            <a:srgbClr val="000000"/>
                          </a:solidFill>
                          <a:latin typeface="Century Gothic"/>
                        </a:rPr>
                        <a:t>0.98</a:t>
                      </a:r>
                    </a:p>
                  </a:txBody>
                  <a:tcPr marL="73152" marR="73152" marT="36576" marB="36576" anchor="ctr">
                    <a:solidFill>
                      <a:srgbClr val="FFFFFF"/>
                    </a:solidFill>
                  </a:tcPr>
                </a:tc>
                <a:tc>
                  <a:txBody>
                    <a:bodyPr/>
                    <a:lstStyle/>
                    <a:p>
                      <a:pPr algn="l"/>
                      <a:r>
                        <a:rPr lang="en-US" sz="1300" b="0" dirty="0">
                          <a:solidFill>
                            <a:srgbClr val="000000"/>
                          </a:solidFill>
                          <a:latin typeface="Century Gothic"/>
                        </a:rPr>
                        <a:t>0.96-1.01</a:t>
                      </a:r>
                    </a:p>
                  </a:txBody>
                  <a:tcPr marL="73152" marR="73152" marT="36576" marB="36576" anchor="ctr">
                    <a:solidFill>
                      <a:srgbClr val="FFFFFF"/>
                    </a:solidFill>
                  </a:tcPr>
                </a:tc>
                <a:tc>
                  <a:txBody>
                    <a:bodyPr/>
                    <a:lstStyle/>
                    <a:p>
                      <a:pPr algn="l"/>
                      <a:r>
                        <a:rPr lang="en-US" sz="1300" b="0" dirty="0">
                          <a:solidFill>
                            <a:srgbClr val="000000"/>
                          </a:solidFill>
                          <a:latin typeface="Century Gothic"/>
                        </a:rPr>
                        <a:t>0.128</a:t>
                      </a:r>
                    </a:p>
                  </a:txBody>
                  <a:tcPr marL="73152" marR="73152" marT="36576" marB="36576" anchor="ctr">
                    <a:solidFill>
                      <a:srgbClr val="FFFFFF"/>
                    </a:solidFill>
                  </a:tcPr>
                </a:tc>
              </a:tr>
            </a:tbl>
          </a:graphicData>
        </a:graphic>
      </p:graphicFrame>
      <p:sp>
        <p:nvSpPr>
          <p:cNvPr id="31" name="Caption"/>
          <p:cNvSpPr txBox="1"/>
          <p:nvPr/>
        </p:nvSpPr>
        <p:spPr>
          <a:xfrm>
            <a:off x="457200" y="5000000"/>
            <a:ext cx="11277600" cy="500000"/>
          </a:xfrm>
          <a:prstGeom prst="rect">
            <a:avLst/>
          </a:prstGeom>
          <a:noFill/>
          <a:ln>
            <a:noFill/>
          </a:ln>
        </p:spPr>
        <p:txBody>
          <a:bodyPr wrap="square" lIns="91440" tIns="45720" rIns="91440" bIns="45720" rtlCol="0" anchor="t"/>
          <a:lstStyle/>
          <a:p>
            <a:pPr marL="0" indent="0" algn="l">
              <a:buNone/>
            </a:pPr>
            <a:r>
              <a:rPr lang="en-US" sz="1300" i="1" dirty="0">
                <a:solidFill>
                  <a:srgbClr val="595959"/>
                </a:solidFill>
                <a:latin typeface="Century Gothic"/>
                <a:cs typeface="Century Gothic"/>
              </a:rPr>
              <a:t>Logistic regression; n = 992 complete cases; AUC = 0.71. Family history aOR 1.91 (1.44-2.54); knowledge 1.10 (1.06-1.14) per point.</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Century Gothic"/>
                <a:cs typeface="Century Gothic"/>
              </a:rPr>
              <a:t>Visualising the Adjusted ORs</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Notes"/>
          <p:cNvSpPr txBox="1"/>
          <p:nvPr/>
        </p:nvSpPr>
        <p:spPr>
          <a:xfrm>
            <a:off x="457200" y="1150000"/>
            <a:ext cx="3600000" cy="5000000"/>
          </a:xfrm>
          <a:prstGeom prst="rect">
            <a:avLst/>
          </a:prstGeom>
          <a:noFill/>
          <a:ln>
            <a:noFill/>
          </a:ln>
        </p:spPr>
        <p:txBody>
          <a:bodyPr wrap="square" lIns="91440" tIns="45720" rIns="91440" bIns="45720" rtlCol="0" anchor="t"/>
          <a:lstStyle/>
          <a:p>
            <a:pPr marL="0" indent="0" algn="l">
              <a:buNone/>
            </a:pPr>
            <a:r>
              <a:rPr lang="en-US" sz="1700" b="1" dirty="0">
                <a:solidFill>
                  <a:srgbClr val="0D7377"/>
                </a:solidFill>
                <a:latin typeface="Century Gothic"/>
                <a:cs typeface="Century Gothic"/>
              </a:rPr>
              <a:t>How to read it</a:t>
            </a:r>
          </a:p>
          <a:p>
            <a:pPr marL="274320" indent="-274320" algn="l">
              <a:spcBef>
                <a:spcPts val="440"/>
              </a:spcBef>
              <a:buFont typeface="Arial"/>
              <a:buChar char="•"/>
            </a:pPr>
            <a:r>
              <a:rPr lang="en-US" sz="1450" dirty="0">
                <a:solidFill>
                  <a:srgbClr val="000000"/>
                </a:solidFill>
                <a:latin typeface="Century Gothic"/>
                <a:cs typeface="Century Gothic"/>
              </a:rPr>
              <a:t>Each point is an adjusted odds ratio.</a:t>
            </a:r>
          </a:p>
          <a:p>
            <a:pPr marL="274320" indent="-274320" algn="l">
              <a:spcBef>
                <a:spcPts val="440"/>
              </a:spcBef>
              <a:buFont typeface="Arial"/>
              <a:buChar char="•"/>
            </a:pPr>
            <a:r>
              <a:rPr lang="en-US" sz="1450" dirty="0">
                <a:solidFill>
                  <a:srgbClr val="000000"/>
                </a:solidFill>
                <a:latin typeface="Century Gothic"/>
                <a:cs typeface="Century Gothic"/>
              </a:rPr>
              <a:t>Whiskers are the 95% confidence intervals.</a:t>
            </a:r>
          </a:p>
          <a:p>
            <a:pPr marL="274320" indent="-274320" algn="l">
              <a:spcBef>
                <a:spcPts val="440"/>
              </a:spcBef>
              <a:buFont typeface="Arial"/>
              <a:buChar char="•"/>
            </a:pPr>
            <a:r>
              <a:rPr lang="en-US" sz="1450" dirty="0">
                <a:solidFill>
                  <a:srgbClr val="000000"/>
                </a:solidFill>
                <a:latin typeface="Century Gothic"/>
                <a:cs typeface="Century Gothic"/>
              </a:rPr>
              <a:t>Dashed line at 1 = no effect.</a:t>
            </a:r>
          </a:p>
          <a:p>
            <a:pPr marL="274320" indent="-274320" algn="l">
              <a:spcBef>
                <a:spcPts val="440"/>
              </a:spcBef>
              <a:buFont typeface="Arial"/>
              <a:buChar char="•"/>
            </a:pPr>
            <a:r>
              <a:rPr lang="en-US" sz="1450" dirty="0">
                <a:solidFill>
                  <a:srgbClr val="000000"/>
                </a:solidFill>
                <a:latin typeface="Century Gothic"/>
                <a:cs typeface="Century Gothic"/>
              </a:rPr>
              <a:t>Right of 1 increases uptake; left decreases it.</a:t>
            </a:r>
          </a:p>
          <a:p>
            <a:pPr marL="274320" indent="-274320" algn="l">
              <a:spcBef>
                <a:spcPts val="440"/>
              </a:spcBef>
              <a:buFont typeface="Arial"/>
              <a:buChar char="•"/>
            </a:pPr>
            <a:r>
              <a:rPr lang="en-US" sz="1450" dirty="0">
                <a:solidFill>
                  <a:srgbClr val="000000"/>
                </a:solidFill>
                <a:latin typeface="Century Gothic"/>
                <a:cs typeface="Century Gothic"/>
              </a:rPr>
              <a:t>Diabetes sits farthest right - largest effect.</a:t>
            </a:r>
          </a:p>
          <a:p>
            <a:pPr marL="274320" indent="-274320" algn="l">
              <a:spcBef>
                <a:spcPts val="440"/>
              </a:spcBef>
              <a:buFont typeface="Arial"/>
              <a:buChar char="•"/>
            </a:pPr>
            <a:r>
              <a:rPr lang="en-US" sz="1450" dirty="0">
                <a:solidFill>
                  <a:srgbClr val="000000"/>
                </a:solidFill>
                <a:latin typeface="Century Gothic"/>
                <a:cs typeface="Century Gothic"/>
              </a:rPr>
              <a:t>Distance crosses 1 - not significant.</a:t>
            </a:r>
          </a:p>
        </p:txBody>
      </p:sp>
      <p:pic>
        <p:nvPicPr>
          <p:cNvPr id="25" name="Figure"/>
          <p:cNvPicPr>
            <a:picLocks noChangeAspect="1"/>
          </p:cNvPicPr>
          <p:nvPr/>
        </p:nvPicPr>
        <p:blipFill>
          <a:blip r:embed="rId4"/>
          <a:stretch>
            <a:fillRect/>
          </a:stretch>
        </p:blipFill>
        <p:spPr>
          <a:xfrm>
            <a:off x="4307200" y="1150000"/>
            <a:ext cx="6217948" cy="4850000"/>
          </a:xfrm>
          <a:prstGeom prst="rect">
            <a:avLst/>
          </a:prstGeom>
        </p:spPr>
      </p:pic>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Century Gothic"/>
                <a:cs typeface="Century Gothic"/>
              </a:rPr>
              <a:t>Demo: Publication-Ready Table and Forest Plot</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Intro"/>
          <p:cNvSpPr txBox="1"/>
          <p:nvPr/>
        </p:nvSpPr>
        <p:spPr>
          <a:xfrm>
            <a:off x="457200" y="1080000"/>
            <a:ext cx="11277600" cy="520000"/>
          </a:xfrm>
          <a:prstGeom prst="rect">
            <a:avLst/>
          </a:prstGeom>
          <a:noFill/>
          <a:ln>
            <a:noFill/>
          </a:ln>
        </p:spPr>
        <p:txBody>
          <a:bodyPr wrap="square" lIns="91440" tIns="45720" rIns="91440" bIns="45720" rtlCol="0" anchor="t"/>
          <a:lstStyle/>
          <a:p>
            <a:pPr marL="0" indent="0" algn="l">
              <a:buNone/>
            </a:pPr>
            <a:r>
              <a:rPr lang="en-US" sz="1600" i="1" dirty="0">
                <a:solidFill>
                  <a:srgbClr val="595959"/>
                </a:solidFill>
                <a:latin typeface="Century Gothic"/>
                <a:cs typeface="Century Gothic"/>
              </a:rPr>
              <a:t>Build a journal-style table, then save the figure.</a:t>
            </a:r>
          </a:p>
        </p:txBody>
      </p:sp>
      <p:sp>
        <p:nvSpPr>
          <p:cNvPr id="30" name="Code"/>
          <p:cNvSpPr/>
          <p:nvPr/>
        </p:nvSpPr>
        <p:spPr>
          <a:xfrm>
            <a:off x="457200" y="1640000"/>
            <a:ext cx="11277600" cy="1860000"/>
          </a:xfrm>
          <a:prstGeom prst="roundRect">
            <a:avLst>
              <a:gd name="adj" fmla="val 6000"/>
            </a:avLst>
          </a:prstGeom>
          <a:solidFill>
            <a:srgbClr val="EDF1F2"/>
          </a:solidFill>
          <a:ln>
            <a:noFill/>
          </a:ln>
        </p:spPr>
        <p:txBody>
          <a:bodyPr wrap="square" lIns="137160" tIns="91440" rIns="137160" bIns="91440" rtlCol="0" anchor="t"/>
          <a:lstStyle/>
          <a:p>
            <a:pPr marL="0" indent="0" algn="l">
              <a:lnSpc>
                <a:spcPct val="100000"/>
              </a:lnSpc>
              <a:buNone/>
            </a:pPr>
            <a:r>
              <a:rPr lang="en-US" sz="1300" dirty="0">
                <a:solidFill>
                  <a:srgbClr val="1B3A4B"/>
                </a:solidFill>
                <a:latin typeface="Consolas"/>
                <a:cs typeface="Consolas"/>
              </a:rPr>
              <a:t>library(gtsummary)</a:t>
            </a:r>
          </a:p>
          <a:p>
            <a:pPr marL="0" indent="0" algn="l">
              <a:lnSpc>
                <a:spcPct val="100000"/>
              </a:lnSpc>
              <a:buNone/>
            </a:pPr>
            <a:r>
              <a:rPr lang="en-US" sz="1300" dirty="0">
                <a:solidFill>
                  <a:srgbClr val="1B3A4B"/>
                </a:solidFill>
                <a:latin typeface="Consolas"/>
                <a:cs typeface="Consolas"/>
              </a:rPr>
              <a:t>tbl &lt;- tbl_regression(model_final,</a:t>
            </a:r>
          </a:p>
          <a:p>
            <a:pPr marL="0" indent="0" algn="l">
              <a:lnSpc>
                <a:spcPct val="100000"/>
              </a:lnSpc>
              <a:buNone/>
            </a:pPr>
            <a:r>
              <a:rPr lang="en-US" sz="1300" dirty="0">
                <a:solidFill>
                  <a:srgbClr val="1B3A4B"/>
                </a:solidFill>
                <a:latin typeface="Consolas"/>
                <a:cs typeface="Consolas"/>
              </a:rPr>
              <a:t>                      exponentiate = TRUE) |&gt;</a:t>
            </a:r>
          </a:p>
          <a:p>
            <a:pPr marL="0" indent="0" algn="l">
              <a:lnSpc>
                <a:spcPct val="100000"/>
              </a:lnSpc>
              <a:buNone/>
            </a:pPr>
            <a:r>
              <a:rPr lang="en-US" sz="1300" dirty="0">
                <a:solidFill>
                  <a:srgbClr val="1B3A4B"/>
                </a:solidFill>
                <a:latin typeface="Consolas"/>
                <a:cs typeface="Consolas"/>
              </a:rPr>
              <a:t>  bold_p()</a:t>
            </a:r>
          </a:p>
          <a:p>
            <a:pPr marL="0" indent="0" algn="l">
              <a:lnSpc>
                <a:spcPct val="100000"/>
              </a:lnSpc>
              <a:buNone/>
            </a:pPr>
            <a:r>
              <a:rPr lang="en-US" sz="1300" dirty="0">
                <a:solidFill>
                  <a:srgbClr val="1B3A4B"/>
                </a:solidFill>
                <a:latin typeface="Consolas"/>
                <a:cs typeface="Consolas"/>
              </a:rPr>
              <a:t>tbl</a:t>
            </a:r>
          </a:p>
          <a:p>
            <a:pPr marL="0" indent="0" algn="l">
              <a:lnSpc>
                <a:spcPct val="100000"/>
              </a:lnSpc>
              <a:buNone/>
            </a:pPr>
            <a:r>
              <a:rPr lang="en-US" sz="1300" dirty="0">
                <a:solidFill>
                  <a:srgbClr val="1B3A4B"/>
                </a:solidFill>
                <a:latin typeface="Consolas"/>
                <a:cs typeface="Consolas"/>
              </a:rPr>
              <a:t># save the forest plot built from or_table</a:t>
            </a:r>
          </a:p>
          <a:p>
            <a:pPr marL="0" indent="0" algn="l">
              <a:lnSpc>
                <a:spcPct val="100000"/>
              </a:lnSpc>
              <a:buNone/>
            </a:pPr>
            <a:r>
              <a:rPr lang="en-US" sz="1300" dirty="0">
                <a:solidFill>
                  <a:srgbClr val="1B3A4B"/>
                </a:solidFill>
                <a:latin typeface="Consolas"/>
                <a:cs typeface="Consolas"/>
              </a:rPr>
              <a:t>ggsave("Resources/forest_plot_or.png",</a:t>
            </a:r>
          </a:p>
          <a:p>
            <a:pPr marL="0" indent="0" algn="l">
              <a:lnSpc>
                <a:spcPct val="100000"/>
              </a:lnSpc>
              <a:buNone/>
            </a:pPr>
            <a:r>
              <a:rPr lang="en-US" sz="1300" dirty="0">
                <a:solidFill>
                  <a:srgbClr val="1B3A4B"/>
                </a:solidFill>
                <a:latin typeface="Consolas"/>
                <a:cs typeface="Consolas"/>
              </a:rPr>
              <a:t>       plot = forest, width = 8, height = 5, dpi = 300)</a:t>
            </a:r>
          </a:p>
        </p:txBody>
      </p:sp>
      <p:sp>
        <p:nvSpPr>
          <p:cNvPr id="32" name="Note"/>
          <p:cNvSpPr/>
          <p:nvPr/>
        </p:nvSpPr>
        <p:spPr>
          <a:xfrm>
            <a:off x="457200" y="3650000"/>
            <a:ext cx="11277600" cy="470000"/>
          </a:xfrm>
          <a:prstGeom prst="roundRect">
            <a:avLst>
              <a:gd name="adj" fmla="val 6000"/>
            </a:avLst>
          </a:prstGeom>
          <a:solidFill>
            <a:srgbClr val="EAF1F7"/>
          </a:solidFill>
          <a:ln>
            <a:noFill/>
          </a:ln>
        </p:spPr>
        <p:txBody>
          <a:bodyPr wrap="square" lIns="137160" tIns="91440" rIns="137160" bIns="91440" rtlCol="0" anchor="t"/>
          <a:lstStyle/>
          <a:p>
            <a:pPr marL="0" indent="0" algn="l">
              <a:buNone/>
            </a:pPr>
            <a:r>
              <a:rPr lang="en-US" sz="1300" dirty="0">
                <a:solidFill>
                  <a:srgbClr val="1F5C7A"/>
                </a:solidFill>
                <a:latin typeface="Century Gothic"/>
                <a:cs typeface="Century Gothic"/>
              </a:rPr>
              <a:t>INTERPRETATION  -  tbl_regression reads the model directly - no manual copying - and ggsave exports the figure for the manuscript.</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Century Gothic"/>
                <a:cs typeface="Century Gothic"/>
              </a:rPr>
              <a:t>Exporting Outputs for the Manuscript</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Body"/>
          <p:cNvSpPr txBox="1"/>
          <p:nvPr/>
        </p:nvSpPr>
        <p:spPr>
          <a:xfrm>
            <a:off x="457200" y="1080000"/>
            <a:ext cx="11277600" cy="3150000"/>
          </a:xfrm>
          <a:prstGeom prst="rect">
            <a:avLst/>
          </a:prstGeom>
          <a:noFill/>
          <a:ln>
            <a:noFill/>
          </a:ln>
        </p:spPr>
        <p:txBody>
          <a:bodyPr wrap="square" lIns="91440" tIns="45720" rIns="91440" bIns="45720" rtlCol="0" anchor="t"/>
          <a:lstStyle/>
          <a:p>
            <a:pPr marL="0" indent="0" algn="l">
              <a:spcBef>
                <a:spcPts val="360"/>
              </a:spcBef>
              <a:buNone/>
            </a:pPr>
            <a:r>
              <a:rPr lang="en-US" sz="2050" b="1" dirty="0">
                <a:solidFill>
                  <a:srgbClr val="0D7377"/>
                </a:solidFill>
                <a:latin typeface="Century Gothic"/>
                <a:cs typeface="Century Gothic"/>
              </a:rPr>
              <a:t>Save tables</a:t>
            </a:r>
          </a:p>
          <a:p>
            <a:pPr marL="0" indent="0" algn="l">
              <a:lnSpc>
                <a:spcPct val="108000"/>
              </a:lnSpc>
              <a:spcBef>
                <a:spcPts val="440"/>
              </a:spcBef>
              <a:buNone/>
            </a:pPr>
            <a:r>
              <a:rPr lang="en-US" sz="1800" dirty="0">
                <a:solidFill>
                  <a:srgbClr val="000000"/>
                </a:solidFill>
                <a:latin typeface="Century Gothic"/>
                <a:cs typeface="Century Gothic"/>
              </a:rPr>
              <a:t>gtsummary: as_gt(tbl) then gtsave() writes HTML, PNG or Word.</a:t>
            </a:r>
          </a:p>
          <a:p>
            <a:pPr marL="0" indent="0" algn="l">
              <a:lnSpc>
                <a:spcPct val="108000"/>
              </a:lnSpc>
              <a:spcBef>
                <a:spcPts val="440"/>
              </a:spcBef>
              <a:buNone/>
            </a:pPr>
            <a:r>
              <a:rPr lang="en-US" sz="1800" dirty="0">
                <a:solidFill>
                  <a:srgbClr val="000000"/>
                </a:solidFill>
                <a:latin typeface="Century Gothic"/>
                <a:cs typeface="Century Gothic"/>
              </a:rPr>
              <a:t>Fallback: write_csv(or_table, "Resources/regression_table.csv").</a:t>
            </a:r>
          </a:p>
          <a:p>
            <a:pPr>
              <a:buNone/>
            </a:pPr>
            <a:endParaRPr sz="1050"/>
          </a:p>
          <a:p>
            <a:pPr marL="0" indent="0" algn="l">
              <a:spcBef>
                <a:spcPts val="360"/>
              </a:spcBef>
              <a:buNone/>
            </a:pPr>
            <a:r>
              <a:rPr lang="en-US" sz="2050" b="1" dirty="0">
                <a:solidFill>
                  <a:srgbClr val="0D7377"/>
                </a:solidFill>
                <a:latin typeface="Century Gothic"/>
                <a:cs typeface="Century Gothic"/>
              </a:rPr>
              <a:t>Save figures</a:t>
            </a:r>
          </a:p>
          <a:p>
            <a:pPr marL="0" indent="0" algn="l">
              <a:lnSpc>
                <a:spcPct val="108000"/>
              </a:lnSpc>
              <a:spcBef>
                <a:spcPts val="440"/>
              </a:spcBef>
              <a:buNone/>
            </a:pPr>
            <a:r>
              <a:rPr lang="en-US" sz="1800" dirty="0">
                <a:solidFill>
                  <a:srgbClr val="000000"/>
                </a:solidFill>
                <a:latin typeface="Century Gothic"/>
                <a:cs typeface="Century Gothic"/>
              </a:rPr>
              <a:t>ggsave() writes the forest plot at a fixed size and resolution.</a:t>
            </a:r>
          </a:p>
          <a:p>
            <a:pPr marL="0" indent="0" algn="l">
              <a:lnSpc>
                <a:spcPct val="108000"/>
              </a:lnSpc>
              <a:spcBef>
                <a:spcPts val="440"/>
              </a:spcBef>
              <a:buNone/>
            </a:pPr>
            <a:r>
              <a:rPr lang="en-US" sz="1800" dirty="0">
                <a:solidFill>
                  <a:srgbClr val="000000"/>
                </a:solidFill>
                <a:latin typeface="Century Gothic"/>
                <a:cs typeface="Century Gothic"/>
              </a:rPr>
              <a:t>Use dpi = 300 for print-quality figures in journals.</a:t>
            </a:r>
          </a:p>
          <a:p>
            <a:pPr>
              <a:buNone/>
            </a:pPr>
            <a:endParaRPr sz="1050"/>
          </a:p>
          <a:p>
            <a:pPr marL="0" indent="0" algn="l">
              <a:spcBef>
                <a:spcPts val="360"/>
              </a:spcBef>
              <a:buNone/>
            </a:pPr>
            <a:r>
              <a:rPr lang="en-US" sz="2050" b="1" dirty="0">
                <a:solidFill>
                  <a:srgbClr val="0D7377"/>
                </a:solidFill>
                <a:latin typeface="Century Gothic"/>
                <a:cs typeface="Century Gothic"/>
              </a:rPr>
              <a:t>Why export from code</a:t>
            </a:r>
          </a:p>
          <a:p>
            <a:pPr marL="0" indent="0" algn="l">
              <a:lnSpc>
                <a:spcPct val="108000"/>
              </a:lnSpc>
              <a:spcBef>
                <a:spcPts val="440"/>
              </a:spcBef>
              <a:buNone/>
            </a:pPr>
            <a:r>
              <a:rPr lang="en-US" sz="1800" dirty="0">
                <a:solidFill>
                  <a:srgbClr val="000000"/>
                </a:solidFill>
                <a:latin typeface="Century Gothic"/>
                <a:cs typeface="Century Gothic"/>
              </a:rPr>
              <a:t>The report can be rebuilt from raw data with no manual steps.</a:t>
            </a:r>
          </a:p>
          <a:p>
            <a:pPr marL="0" indent="0" algn="l">
              <a:lnSpc>
                <a:spcPct val="108000"/>
              </a:lnSpc>
              <a:spcBef>
                <a:spcPts val="440"/>
              </a:spcBef>
              <a:buNone/>
            </a:pPr>
            <a:r>
              <a:rPr lang="en-US" sz="1800" dirty="0">
                <a:solidFill>
                  <a:srgbClr val="000000"/>
                </a:solidFill>
                <a:latin typeface="Century Gothic"/>
                <a:cs typeface="Century Gothic"/>
              </a:rPr>
              <a:t>No copy-paste means no transcription errors.</a:t>
            </a:r>
          </a:p>
          <a:p>
            <a:pPr>
              <a:buNone/>
            </a:pPr>
            <a:endParaRPr sz="1050"/>
          </a:p>
        </p:txBody>
      </p:sp>
      <p:sp>
        <p:nvSpPr>
          <p:cNvPr id="40" name="Callout"/>
          <p:cNvSpPr/>
          <p:nvPr/>
        </p:nvSpPr>
        <p:spPr>
          <a:xfrm>
            <a:off x="457200" y="5070000"/>
            <a:ext cx="11277600" cy="810000"/>
          </a:xfrm>
          <a:prstGeom prst="roundRect">
            <a:avLst>
              <a:gd name="adj" fmla="val 6000"/>
            </a:avLst>
          </a:prstGeom>
          <a:solidFill>
            <a:srgbClr val="E8F4F4"/>
          </a:solidFill>
          <a:ln>
            <a:noFill/>
          </a:ln>
        </p:spPr>
        <p:txBody>
          <a:bodyPr wrap="square" lIns="137160" tIns="91440" rIns="137160" bIns="91440" rtlCol="0" anchor="t"/>
          <a:lstStyle/>
          <a:p>
            <a:pPr marL="0" indent="0" algn="l">
              <a:buNone/>
            </a:pPr>
            <a:r>
              <a:rPr lang="en-US" sz="1300" b="1" dirty="0">
                <a:solidFill>
                  <a:srgbClr val="0D7377"/>
                </a:solidFill>
                <a:latin typeface="Century Gothic"/>
                <a:cs typeface="Century Gothic"/>
              </a:rPr>
              <a:t>TIP  -  Keep a Resources/ folder</a:t>
            </a:r>
          </a:p>
          <a:p>
            <a:pPr marL="0" indent="0" algn="l">
              <a:spcBef>
                <a:spcPts val="100"/>
              </a:spcBef>
              <a:buNone/>
            </a:pPr>
            <a:r>
              <a:rPr lang="en-US" sz="1300" dirty="0">
                <a:solidFill>
                  <a:srgbClr val="000000"/>
                </a:solidFill>
                <a:latin typeface="Century Gothic"/>
                <a:cs typeface="Century Gothic"/>
              </a:rPr>
              <a:t>Send every table and figure there so outputs live in one place.</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Century Gothic"/>
                <a:cs typeface="Century Gothic"/>
              </a:rPr>
              <a:t>From Odds Ratios to Prose</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1" name="Col"/>
          <p:cNvSpPr txBox="1"/>
          <p:nvPr/>
        </p:nvSpPr>
        <p:spPr>
          <a:xfrm>
            <a:off x="457200" y="1150000"/>
            <a:ext cx="5478780" cy="5050000"/>
          </a:xfrm>
          <a:prstGeom prst="rect">
            <a:avLst/>
          </a:prstGeom>
          <a:noFill/>
          <a:ln>
            <a:noFill/>
          </a:ln>
        </p:spPr>
        <p:txBody>
          <a:bodyPr wrap="square" lIns="91440" tIns="45720" rIns="91440" bIns="45720" rtlCol="0" anchor="t"/>
          <a:lstStyle/>
          <a:p>
            <a:pPr marL="0" indent="0" algn="l">
              <a:buNone/>
            </a:pPr>
            <a:r>
              <a:rPr lang="en-US" sz="2050" b="1" dirty="0">
                <a:solidFill>
                  <a:srgbClr val="0D7377"/>
                </a:solidFill>
                <a:latin typeface="Century Gothic"/>
                <a:cs typeface="Century Gothic"/>
              </a:rPr>
              <a:t>The numbers</a:t>
            </a:r>
          </a:p>
          <a:p>
            <a:pPr marL="274320" indent="-274320" algn="l">
              <a:lnSpc>
                <a:spcPct val="106000"/>
              </a:lnSpc>
              <a:spcBef>
                <a:spcPts val="520"/>
              </a:spcBef>
              <a:buFont typeface="Arial"/>
              <a:buChar char="•"/>
            </a:pPr>
            <a:r>
              <a:rPr lang="en-US" sz="1650" dirty="0">
                <a:solidFill>
                  <a:srgbClr val="000000"/>
                </a:solidFill>
                <a:latin typeface="Century Gothic"/>
                <a:cs typeface="Century Gothic"/>
              </a:rPr>
              <a:t>Diabetes: aOR 3.56 (1.46-9.61).</a:t>
            </a:r>
          </a:p>
          <a:p>
            <a:pPr marL="274320" indent="-274320" algn="l">
              <a:lnSpc>
                <a:spcPct val="106000"/>
              </a:lnSpc>
              <a:spcBef>
                <a:spcPts val="520"/>
              </a:spcBef>
              <a:buFont typeface="Arial"/>
              <a:buChar char="•"/>
            </a:pPr>
            <a:r>
              <a:rPr lang="en-US" sz="1650" dirty="0">
                <a:solidFill>
                  <a:srgbClr val="000000"/>
                </a:solidFill>
                <a:latin typeface="Century Gothic"/>
                <a:cs typeface="Century Gothic"/>
              </a:rPr>
              <a:t>Insurance: aOR 2.05 (1.54-2.74).</a:t>
            </a:r>
          </a:p>
          <a:p>
            <a:pPr marL="274320" indent="-274320" algn="l">
              <a:lnSpc>
                <a:spcPct val="106000"/>
              </a:lnSpc>
              <a:spcBef>
                <a:spcPts val="520"/>
              </a:spcBef>
              <a:buFont typeface="Arial"/>
              <a:buChar char="•"/>
            </a:pPr>
            <a:r>
              <a:rPr lang="en-US" sz="1650" dirty="0">
                <a:solidFill>
                  <a:srgbClr val="000000"/>
                </a:solidFill>
                <a:latin typeface="Century Gothic"/>
                <a:cs typeface="Century Gothic"/>
              </a:rPr>
              <a:t>Urban: aOR 1.87 (1.41-2.49).</a:t>
            </a:r>
          </a:p>
          <a:p>
            <a:pPr marL="274320" indent="-274320" algn="l">
              <a:lnSpc>
                <a:spcPct val="106000"/>
              </a:lnSpc>
              <a:spcBef>
                <a:spcPts val="520"/>
              </a:spcBef>
              <a:buFont typeface="Arial"/>
              <a:buChar char="•"/>
            </a:pPr>
            <a:r>
              <a:rPr lang="en-US" sz="1650" dirty="0">
                <a:solidFill>
                  <a:srgbClr val="000000"/>
                </a:solidFill>
                <a:latin typeface="Century Gothic"/>
                <a:cs typeface="Century Gothic"/>
              </a:rPr>
              <a:t>Education trend: aOR 1.96 (1.39-2.77).</a:t>
            </a:r>
          </a:p>
          <a:p>
            <a:pPr marL="274320" indent="-274320" algn="l">
              <a:lnSpc>
                <a:spcPct val="106000"/>
              </a:lnSpc>
              <a:spcBef>
                <a:spcPts val="520"/>
              </a:spcBef>
              <a:buFont typeface="Arial"/>
              <a:buChar char="•"/>
            </a:pPr>
            <a:r>
              <a:rPr lang="en-US" sz="1650" dirty="0">
                <a:solidFill>
                  <a:srgbClr val="000000"/>
                </a:solidFill>
                <a:latin typeface="Century Gothic"/>
                <a:cs typeface="Century Gothic"/>
              </a:rPr>
              <a:t>Male sex: aOR 0.74 (0.56-0.97).</a:t>
            </a:r>
          </a:p>
          <a:p>
            <a:pPr marL="274320" indent="-274320" algn="l">
              <a:lnSpc>
                <a:spcPct val="106000"/>
              </a:lnSpc>
              <a:spcBef>
                <a:spcPts val="520"/>
              </a:spcBef>
              <a:buFont typeface="Arial"/>
              <a:buChar char="•"/>
            </a:pPr>
            <a:r>
              <a:rPr lang="en-US" sz="1650" dirty="0">
                <a:solidFill>
                  <a:srgbClr val="000000"/>
                </a:solidFill>
                <a:latin typeface="Century Gothic"/>
                <a:cs typeface="Century Gothic"/>
              </a:rPr>
              <a:t>Distance: aOR 0.98 (0.96-1.01), NS.</a:t>
            </a:r>
          </a:p>
        </p:txBody>
      </p:sp>
      <p:sp>
        <p:nvSpPr>
          <p:cNvPr id="22" name="Col"/>
          <p:cNvSpPr txBox="1"/>
          <p:nvPr/>
        </p:nvSpPr>
        <p:spPr>
          <a:xfrm>
            <a:off x="6256020" y="1150000"/>
            <a:ext cx="5478780" cy="5050000"/>
          </a:xfrm>
          <a:prstGeom prst="rect">
            <a:avLst/>
          </a:prstGeom>
          <a:noFill/>
          <a:ln>
            <a:noFill/>
          </a:ln>
        </p:spPr>
        <p:txBody>
          <a:bodyPr wrap="square" lIns="91440" tIns="45720" rIns="91440" bIns="45720" rtlCol="0" anchor="t"/>
          <a:lstStyle/>
          <a:p>
            <a:pPr marL="0" indent="0" algn="l">
              <a:buNone/>
            </a:pPr>
            <a:r>
              <a:rPr lang="en-US" sz="2050" b="1" dirty="0">
                <a:solidFill>
                  <a:srgbClr val="0D7377"/>
                </a:solidFill>
                <a:latin typeface="Century Gothic"/>
                <a:cs typeface="Century Gothic"/>
              </a:rPr>
              <a:t>Turning each OR into a sentence</a:t>
            </a:r>
          </a:p>
          <a:p>
            <a:pPr marL="274320" indent="-274320" algn="l">
              <a:lnSpc>
                <a:spcPct val="106000"/>
              </a:lnSpc>
              <a:spcBef>
                <a:spcPts val="520"/>
              </a:spcBef>
              <a:buFont typeface="Arial"/>
              <a:buChar char="•"/>
            </a:pPr>
            <a:r>
              <a:rPr lang="en-US" sz="1650" dirty="0">
                <a:solidFill>
                  <a:srgbClr val="000000"/>
                </a:solidFill>
                <a:latin typeface="Century Gothic"/>
                <a:cs typeface="Century Gothic"/>
              </a:rPr>
              <a:t>State direction, size, comparison group and CI.</a:t>
            </a:r>
          </a:p>
          <a:p>
            <a:pPr marL="274320" indent="-274320" algn="l">
              <a:lnSpc>
                <a:spcPct val="106000"/>
              </a:lnSpc>
              <a:spcBef>
                <a:spcPts val="520"/>
              </a:spcBef>
              <a:buFont typeface="Arial"/>
              <a:buChar char="•"/>
            </a:pPr>
            <a:r>
              <a:rPr lang="en-US" sz="1650" dirty="0">
                <a:solidFill>
                  <a:srgbClr val="000000"/>
                </a:solidFill>
                <a:latin typeface="Century Gothic"/>
                <a:cs typeface="Century Gothic"/>
              </a:rPr>
              <a:t>OR&gt;1: 'X times the odds of uptake'.</a:t>
            </a:r>
          </a:p>
          <a:p>
            <a:pPr marL="274320" indent="-274320" algn="l">
              <a:lnSpc>
                <a:spcPct val="106000"/>
              </a:lnSpc>
              <a:spcBef>
                <a:spcPts val="520"/>
              </a:spcBef>
              <a:buFont typeface="Arial"/>
              <a:buChar char="•"/>
            </a:pPr>
            <a:r>
              <a:rPr lang="en-US" sz="1650" dirty="0">
                <a:solidFill>
                  <a:srgbClr val="000000"/>
                </a:solidFill>
                <a:latin typeface="Century Gothic"/>
                <a:cs typeface="Century Gothic"/>
              </a:rPr>
              <a:t>OR&lt;1: 'lower odds' - here men vs women.</a:t>
            </a:r>
          </a:p>
          <a:p>
            <a:pPr marL="274320" indent="-274320" algn="l">
              <a:lnSpc>
                <a:spcPct val="106000"/>
              </a:lnSpc>
              <a:spcBef>
                <a:spcPts val="520"/>
              </a:spcBef>
              <a:buFont typeface="Arial"/>
              <a:buChar char="•"/>
            </a:pPr>
            <a:r>
              <a:rPr lang="en-US" sz="1650" dirty="0">
                <a:solidFill>
                  <a:srgbClr val="000000"/>
                </a:solidFill>
                <a:latin typeface="Century Gothic"/>
                <a:cs typeface="Century Gothic"/>
              </a:rPr>
              <a:t>Continuous: 'per 1-unit increase'.</a:t>
            </a:r>
          </a:p>
          <a:p>
            <a:pPr marL="274320" indent="-274320" algn="l">
              <a:lnSpc>
                <a:spcPct val="106000"/>
              </a:lnSpc>
              <a:spcBef>
                <a:spcPts val="520"/>
              </a:spcBef>
              <a:buFont typeface="Arial"/>
              <a:buChar char="•"/>
            </a:pPr>
            <a:r>
              <a:rPr lang="en-US" sz="1650" dirty="0">
                <a:solidFill>
                  <a:srgbClr val="000000"/>
                </a:solidFill>
                <a:latin typeface="Century Gothic"/>
                <a:cs typeface="Century Gothic"/>
              </a:rPr>
              <a:t>Name the reference group explicitly.</a:t>
            </a:r>
          </a:p>
          <a:p>
            <a:pPr marL="274320" indent="-274320" algn="l">
              <a:lnSpc>
                <a:spcPct val="106000"/>
              </a:lnSpc>
              <a:spcBef>
                <a:spcPts val="520"/>
              </a:spcBef>
              <a:buFont typeface="Arial"/>
              <a:buChar char="•"/>
            </a:pPr>
            <a:r>
              <a:rPr lang="en-US" sz="1650" dirty="0">
                <a:solidFill>
                  <a:srgbClr val="000000"/>
                </a:solidFill>
                <a:latin typeface="Century Gothic"/>
                <a:cs typeface="Century Gothic"/>
              </a:rPr>
              <a:t>Report NS findings honestly, with the CI.</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Century Gothic"/>
                <a:cs typeface="Century Gothic"/>
              </a:rPr>
              <a:t>Worked Example: A Results Paragraph</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Body"/>
          <p:cNvSpPr txBox="1"/>
          <p:nvPr/>
        </p:nvSpPr>
        <p:spPr>
          <a:xfrm>
            <a:off x="457200" y="1080000"/>
            <a:ext cx="11277600" cy="3150000"/>
          </a:xfrm>
          <a:prstGeom prst="rect">
            <a:avLst/>
          </a:prstGeom>
          <a:noFill/>
          <a:ln>
            <a:noFill/>
          </a:ln>
        </p:spPr>
        <p:txBody>
          <a:bodyPr wrap="square" lIns="91440" tIns="45720" rIns="91440" bIns="45720" rtlCol="0" anchor="t"/>
          <a:lstStyle/>
          <a:p>
            <a:pPr marL="0" indent="0" algn="l">
              <a:spcBef>
                <a:spcPts val="360"/>
              </a:spcBef>
              <a:buNone/>
            </a:pPr>
            <a:r>
              <a:rPr lang="en-US" sz="2050" b="1" dirty="0">
                <a:solidFill>
                  <a:srgbClr val="0D7377"/>
                </a:solidFill>
                <a:latin typeface="Century Gothic"/>
                <a:cs typeface="Century Gothic"/>
              </a:rPr>
              <a:t>Model results paragraph</a:t>
            </a:r>
          </a:p>
          <a:p>
            <a:pPr marL="0" indent="0" algn="l">
              <a:lnSpc>
                <a:spcPct val="108000"/>
              </a:lnSpc>
              <a:spcBef>
                <a:spcPts val="440"/>
              </a:spcBef>
              <a:buNone/>
            </a:pPr>
            <a:r>
              <a:rPr lang="en-US" sz="1800" dirty="0">
                <a:solidFill>
                  <a:srgbClr val="000000"/>
                </a:solidFill>
                <a:latin typeface="Century Gothic"/>
                <a:cs typeface="Century Gothic"/>
              </a:rPr>
              <a:t>Among 992 diagnosed hypertensives, treatment uptake was independently</a:t>
            </a:r>
          </a:p>
          <a:p>
            <a:pPr marL="0" indent="0" algn="l">
              <a:lnSpc>
                <a:spcPct val="108000"/>
              </a:lnSpc>
              <a:spcBef>
                <a:spcPts val="440"/>
              </a:spcBef>
              <a:buNone/>
            </a:pPr>
            <a:r>
              <a:rPr lang="en-US" sz="1800" dirty="0">
                <a:solidFill>
                  <a:srgbClr val="000000"/>
                </a:solidFill>
                <a:latin typeface="Century Gothic"/>
                <a:cs typeface="Century Gothic"/>
              </a:rPr>
              <a:t>associated with diabetes (aOR 3.56, 95% CI 1.46-9.61), health insurance</a:t>
            </a:r>
          </a:p>
          <a:p>
            <a:pPr marL="0" indent="0" algn="l">
              <a:lnSpc>
                <a:spcPct val="108000"/>
              </a:lnSpc>
              <a:spcBef>
                <a:spcPts val="440"/>
              </a:spcBef>
              <a:buNone/>
            </a:pPr>
            <a:r>
              <a:rPr lang="en-US" sz="1800" dirty="0">
                <a:solidFill>
                  <a:srgbClr val="000000"/>
                </a:solidFill>
                <a:latin typeface="Century Gothic"/>
                <a:cs typeface="Century Gothic"/>
              </a:rPr>
              <a:t>(2.05, 1.54-2.74), urban residence (1.87, 1.41-2.49) and higher education</a:t>
            </a:r>
          </a:p>
          <a:p>
            <a:pPr marL="0" indent="0" algn="l">
              <a:lnSpc>
                <a:spcPct val="108000"/>
              </a:lnSpc>
              <a:spcBef>
                <a:spcPts val="440"/>
              </a:spcBef>
              <a:buNone/>
            </a:pPr>
            <a:r>
              <a:rPr lang="en-US" sz="1800" dirty="0">
                <a:solidFill>
                  <a:srgbClr val="000000"/>
                </a:solidFill>
                <a:latin typeface="Century Gothic"/>
                <a:cs typeface="Century Gothic"/>
              </a:rPr>
              <a:t>(1.96, 1.39-2.77). Older age (1.03 per year) and greater knowledge (1.10</a:t>
            </a:r>
          </a:p>
          <a:p>
            <a:pPr marL="0" indent="0" algn="l">
              <a:lnSpc>
                <a:spcPct val="108000"/>
              </a:lnSpc>
              <a:spcBef>
                <a:spcPts val="440"/>
              </a:spcBef>
              <a:buNone/>
            </a:pPr>
            <a:r>
              <a:rPr lang="en-US" sz="1800" dirty="0">
                <a:solidFill>
                  <a:srgbClr val="000000"/>
                </a:solidFill>
                <a:latin typeface="Century Gothic"/>
                <a:cs typeface="Century Gothic"/>
              </a:rPr>
              <a:t>per point) also raised the odds, while men had lower odds than women</a:t>
            </a:r>
          </a:p>
          <a:p>
            <a:pPr marL="0" indent="0" algn="l">
              <a:lnSpc>
                <a:spcPct val="108000"/>
              </a:lnSpc>
              <a:spcBef>
                <a:spcPts val="440"/>
              </a:spcBef>
              <a:buNone/>
            </a:pPr>
            <a:r>
              <a:rPr lang="en-US" sz="1800" dirty="0">
                <a:solidFill>
                  <a:srgbClr val="000000"/>
                </a:solidFill>
                <a:latin typeface="Century Gothic"/>
                <a:cs typeface="Century Gothic"/>
              </a:rPr>
              <a:t>(0.74, 0.56-0.97). Distance to facility was not significant (0.98,</a:t>
            </a:r>
          </a:p>
          <a:p>
            <a:pPr marL="0" indent="0" algn="l">
              <a:lnSpc>
                <a:spcPct val="108000"/>
              </a:lnSpc>
              <a:spcBef>
                <a:spcPts val="440"/>
              </a:spcBef>
              <a:buNone/>
            </a:pPr>
            <a:r>
              <a:rPr lang="en-US" sz="1800" dirty="0">
                <a:solidFill>
                  <a:srgbClr val="000000"/>
                </a:solidFill>
                <a:latin typeface="Century Gothic"/>
                <a:cs typeface="Century Gothic"/>
              </a:rPr>
              <a:t>0.96-1.01). The model discriminated acceptably (AUC 0.71).</a:t>
            </a:r>
          </a:p>
          <a:p>
            <a:pPr>
              <a:buNone/>
            </a:pPr>
            <a:endParaRPr sz="1050"/>
          </a:p>
        </p:txBody>
      </p:sp>
      <p:sp>
        <p:nvSpPr>
          <p:cNvPr id="40" name="Callout"/>
          <p:cNvSpPr/>
          <p:nvPr/>
        </p:nvSpPr>
        <p:spPr>
          <a:xfrm>
            <a:off x="457200" y="5070000"/>
            <a:ext cx="11277600" cy="810000"/>
          </a:xfrm>
          <a:prstGeom prst="roundRect">
            <a:avLst>
              <a:gd name="adj" fmla="val 6000"/>
            </a:avLst>
          </a:prstGeom>
          <a:solidFill>
            <a:srgbClr val="E8F4F4"/>
          </a:solidFill>
          <a:ln>
            <a:noFill/>
          </a:ln>
        </p:spPr>
        <p:txBody>
          <a:bodyPr wrap="square" lIns="137160" tIns="91440" rIns="137160" bIns="91440" rtlCol="0" anchor="t"/>
          <a:lstStyle/>
          <a:p>
            <a:pPr marL="0" indent="0" algn="l">
              <a:buNone/>
            </a:pPr>
            <a:r>
              <a:rPr lang="en-US" sz="1300" b="1" dirty="0">
                <a:solidFill>
                  <a:srgbClr val="0D7377"/>
                </a:solidFill>
                <a:latin typeface="Century Gothic"/>
                <a:cs typeface="Century Gothic"/>
              </a:rPr>
              <a:t>TIP  -  Always close with discrimination</a:t>
            </a:r>
          </a:p>
          <a:p>
            <a:pPr marL="0" indent="0" algn="l">
              <a:spcBef>
                <a:spcPts val="100"/>
              </a:spcBef>
              <a:buNone/>
            </a:pPr>
            <a:r>
              <a:rPr lang="en-US" sz="1300" dirty="0">
                <a:solidFill>
                  <a:srgbClr val="000000"/>
                </a:solidFill>
                <a:latin typeface="Century Gothic"/>
                <a:cs typeface="Century Gothic"/>
              </a:rPr>
              <a:t>Reporting the AUC tells the reader how well the model separates uptake from non-uptake.</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Century Gothic"/>
                <a:cs typeface="Century Gothic"/>
              </a:rPr>
              <a:t>Reproducibility: The Capstone Message</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Body"/>
          <p:cNvSpPr txBox="1"/>
          <p:nvPr/>
        </p:nvSpPr>
        <p:spPr>
          <a:xfrm>
            <a:off x="457200" y="1080000"/>
            <a:ext cx="11277600" cy="3150000"/>
          </a:xfrm>
          <a:prstGeom prst="rect">
            <a:avLst/>
          </a:prstGeom>
          <a:noFill/>
          <a:ln>
            <a:noFill/>
          </a:ln>
        </p:spPr>
        <p:txBody>
          <a:bodyPr wrap="square" lIns="91440" tIns="45720" rIns="91440" bIns="45720" rtlCol="0" anchor="t"/>
          <a:lstStyle/>
          <a:p>
            <a:pPr marL="0" indent="0" algn="l">
              <a:spcBef>
                <a:spcPts val="360"/>
              </a:spcBef>
              <a:buNone/>
            </a:pPr>
            <a:r>
              <a:rPr lang="en-US" sz="2050" b="1" dirty="0">
                <a:solidFill>
                  <a:srgbClr val="0D7377"/>
                </a:solidFill>
                <a:latin typeface="Century Gothic"/>
                <a:cs typeface="Century Gothic"/>
              </a:rPr>
              <a:t>Make your work re-runnable by anyone</a:t>
            </a:r>
          </a:p>
          <a:p>
            <a:pPr marL="0" indent="0" algn="l">
              <a:lnSpc>
                <a:spcPct val="108000"/>
              </a:lnSpc>
              <a:spcBef>
                <a:spcPts val="440"/>
              </a:spcBef>
              <a:buNone/>
            </a:pPr>
            <a:r>
              <a:rPr lang="en-US" sz="1800" dirty="0">
                <a:solidFill>
                  <a:srgbClr val="000000"/>
                </a:solidFill>
                <a:latin typeface="Century Gothic"/>
                <a:cs typeface="Century Gothic"/>
              </a:rPr>
              <a:t>Scripts over click-menus: the code is the permanent record.</a:t>
            </a:r>
          </a:p>
          <a:p>
            <a:pPr marL="0" indent="0" algn="l">
              <a:lnSpc>
                <a:spcPct val="108000"/>
              </a:lnSpc>
              <a:spcBef>
                <a:spcPts val="440"/>
              </a:spcBef>
              <a:buNone/>
            </a:pPr>
            <a:r>
              <a:rPr lang="en-US" sz="1800" dirty="0">
                <a:solidFill>
                  <a:srgbClr val="000000"/>
                </a:solidFill>
                <a:latin typeface="Century Gothic"/>
                <a:cs typeface="Century Gothic"/>
              </a:rPr>
              <a:t>set.seed() makes any randomness (bootstraps, splits) repeatable.</a:t>
            </a:r>
          </a:p>
          <a:p>
            <a:pPr marL="0" indent="0" algn="l">
              <a:lnSpc>
                <a:spcPct val="108000"/>
              </a:lnSpc>
              <a:spcBef>
                <a:spcPts val="440"/>
              </a:spcBef>
              <a:buNone/>
            </a:pPr>
            <a:r>
              <a:rPr lang="en-US" sz="1800" dirty="0">
                <a:solidFill>
                  <a:srgbClr val="000000"/>
                </a:solidFill>
                <a:latin typeface="Century Gothic"/>
                <a:cs typeface="Century Gothic"/>
              </a:rPr>
              <a:t>Use RStudio Projects and relative paths - never C:/Users/yourname/...</a:t>
            </a:r>
          </a:p>
          <a:p>
            <a:pPr marL="0" indent="0" algn="l">
              <a:lnSpc>
                <a:spcPct val="108000"/>
              </a:lnSpc>
              <a:spcBef>
                <a:spcPts val="440"/>
              </a:spcBef>
              <a:buNone/>
            </a:pPr>
            <a:r>
              <a:rPr lang="en-US" sz="1800" dirty="0">
                <a:solidFill>
                  <a:srgbClr val="000000"/>
                </a:solidFill>
                <a:latin typeface="Century Gothic"/>
                <a:cs typeface="Century Gothic"/>
              </a:rPr>
              <a:t>Save every table and figure to disk so the report rebuilds from code.</a:t>
            </a:r>
          </a:p>
          <a:p>
            <a:pPr>
              <a:buNone/>
            </a:pPr>
            <a:endParaRPr sz="1050"/>
          </a:p>
          <a:p>
            <a:pPr marL="0" indent="0" algn="l">
              <a:spcBef>
                <a:spcPts val="360"/>
              </a:spcBef>
              <a:buNone/>
            </a:pPr>
            <a:r>
              <a:rPr lang="en-US" sz="2050" b="1" dirty="0">
                <a:solidFill>
                  <a:srgbClr val="0D7377"/>
                </a:solidFill>
                <a:latin typeface="Century Gothic"/>
                <a:cs typeface="Century Gothic"/>
              </a:rPr>
              <a:t>Record and share your environment</a:t>
            </a:r>
          </a:p>
          <a:p>
            <a:pPr marL="0" indent="0" algn="l">
              <a:lnSpc>
                <a:spcPct val="108000"/>
              </a:lnSpc>
              <a:spcBef>
                <a:spcPts val="440"/>
              </a:spcBef>
              <a:buNone/>
            </a:pPr>
            <a:r>
              <a:rPr lang="en-US" sz="1800" dirty="0">
                <a:solidFill>
                  <a:srgbClr val="000000"/>
                </a:solidFill>
                <a:latin typeface="Century Gothic"/>
                <a:cs typeface="Century Gothic"/>
              </a:rPr>
              <a:t>sessionInfo() captures your exact R and package versions.</a:t>
            </a:r>
          </a:p>
          <a:p>
            <a:pPr marL="0" indent="0" algn="l">
              <a:lnSpc>
                <a:spcPct val="108000"/>
              </a:lnSpc>
              <a:spcBef>
                <a:spcPts val="440"/>
              </a:spcBef>
              <a:buNone/>
            </a:pPr>
            <a:r>
              <a:rPr lang="en-US" sz="1800" dirty="0">
                <a:solidFill>
                  <a:srgbClr val="000000"/>
                </a:solidFill>
                <a:latin typeface="Century Gothic"/>
                <a:cs typeface="Century Gothic"/>
              </a:rPr>
              <a:t>R Markdown / Quarto knit code, text and figures into one report.</a:t>
            </a:r>
          </a:p>
          <a:p>
            <a:pPr>
              <a:buNone/>
            </a:pPr>
            <a:endParaRPr sz="1050"/>
          </a:p>
        </p:txBody>
      </p:sp>
      <p:sp>
        <p:nvSpPr>
          <p:cNvPr id="40" name="Callout"/>
          <p:cNvSpPr/>
          <p:nvPr/>
        </p:nvSpPr>
        <p:spPr>
          <a:xfrm>
            <a:off x="457200" y="5070000"/>
            <a:ext cx="11277600" cy="810000"/>
          </a:xfrm>
          <a:prstGeom prst="roundRect">
            <a:avLst>
              <a:gd name="adj" fmla="val 6000"/>
            </a:avLst>
          </a:prstGeom>
          <a:solidFill>
            <a:srgbClr val="E8F4F4"/>
          </a:solidFill>
          <a:ln>
            <a:noFill/>
          </a:ln>
        </p:spPr>
        <p:txBody>
          <a:bodyPr wrap="square" lIns="137160" tIns="91440" rIns="137160" bIns="91440" rtlCol="0" anchor="t"/>
          <a:lstStyle/>
          <a:p>
            <a:pPr marL="0" indent="0" algn="l">
              <a:buNone/>
            </a:pPr>
            <a:r>
              <a:rPr lang="en-US" sz="1300" b="1" dirty="0">
                <a:solidFill>
                  <a:srgbClr val="0D7377"/>
                </a:solidFill>
                <a:latin typeface="Century Gothic"/>
                <a:cs typeface="Century Gothic"/>
              </a:rPr>
              <a:t>TIP  -  Best practice</a:t>
            </a:r>
          </a:p>
          <a:p>
            <a:pPr marL="0" indent="0" algn="l">
              <a:spcBef>
                <a:spcPts val="100"/>
              </a:spcBef>
              <a:buNone/>
            </a:pPr>
            <a:r>
              <a:rPr lang="en-US" sz="1300" dirty="0">
                <a:solidFill>
                  <a:srgbClr val="000000"/>
                </a:solidFill>
                <a:latin typeface="Century Gothic"/>
                <a:cs typeface="Century Gothic"/>
              </a:rPr>
              <a:t>One click should rebuild the whole report from raw data to PDF.</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Century Gothic"/>
                <a:cs typeface="Century Gothic"/>
              </a:rPr>
              <a:t>Demo: A Reproducibility Snippet</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Intro"/>
          <p:cNvSpPr txBox="1"/>
          <p:nvPr/>
        </p:nvSpPr>
        <p:spPr>
          <a:xfrm>
            <a:off x="457200" y="1080000"/>
            <a:ext cx="11277600" cy="520000"/>
          </a:xfrm>
          <a:prstGeom prst="rect">
            <a:avLst/>
          </a:prstGeom>
          <a:noFill/>
          <a:ln>
            <a:noFill/>
          </a:ln>
        </p:spPr>
        <p:txBody>
          <a:bodyPr wrap="square" lIns="91440" tIns="45720" rIns="91440" bIns="45720" rtlCol="0" anchor="t"/>
          <a:lstStyle/>
          <a:p>
            <a:pPr marL="0" indent="0" algn="l">
              <a:buNone/>
            </a:pPr>
            <a:r>
              <a:rPr lang="en-US" sz="1600" i="1" dirty="0">
                <a:solidFill>
                  <a:srgbClr val="595959"/>
                </a:solidFill>
                <a:latin typeface="Century Gothic"/>
                <a:cs typeface="Century Gothic"/>
              </a:rPr>
              <a:t>Seed, relative path, and a recorded environment.</a:t>
            </a:r>
          </a:p>
        </p:txBody>
      </p:sp>
      <p:sp>
        <p:nvSpPr>
          <p:cNvPr id="30" name="Code"/>
          <p:cNvSpPr/>
          <p:nvPr/>
        </p:nvSpPr>
        <p:spPr>
          <a:xfrm>
            <a:off x="457200" y="1640000"/>
            <a:ext cx="11277600" cy="1440000"/>
          </a:xfrm>
          <a:prstGeom prst="roundRect">
            <a:avLst>
              <a:gd name="adj" fmla="val 6000"/>
            </a:avLst>
          </a:prstGeom>
          <a:solidFill>
            <a:srgbClr val="EDF1F2"/>
          </a:solidFill>
          <a:ln>
            <a:noFill/>
          </a:ln>
        </p:spPr>
        <p:txBody>
          <a:bodyPr wrap="square" lIns="137160" tIns="91440" rIns="137160" bIns="91440" rtlCol="0" anchor="t"/>
          <a:lstStyle/>
          <a:p>
            <a:pPr marL="0" indent="0" algn="l">
              <a:lnSpc>
                <a:spcPct val="100000"/>
              </a:lnSpc>
              <a:buNone/>
            </a:pPr>
            <a:r>
              <a:rPr lang="en-US" sz="1300" dirty="0">
                <a:solidFill>
                  <a:srgbClr val="1B3A4B"/>
                </a:solidFill>
                <a:latin typeface="Consolas"/>
                <a:cs typeface="Consolas"/>
              </a:rPr>
              <a:t>set.seed(2025)</a:t>
            </a:r>
          </a:p>
          <a:p>
            <a:pPr marL="0" indent="0" algn="l">
              <a:lnSpc>
                <a:spcPct val="100000"/>
              </a:lnSpc>
              <a:buNone/>
            </a:pPr>
            <a:r>
              <a:rPr lang="en-US" sz="1300" dirty="0">
                <a:solidFill>
                  <a:srgbClr val="1B3A4B"/>
                </a:solidFill>
                <a:latin typeface="Consolas"/>
                <a:cs typeface="Consolas"/>
              </a:rPr>
              <a:t>analysis_data &lt;- readRDS("Data/analysis_data.rds")</a:t>
            </a:r>
          </a:p>
          <a:p>
            <a:pPr marL="0" indent="0" algn="l">
              <a:lnSpc>
                <a:spcPct val="100000"/>
              </a:lnSpc>
              <a:buNone/>
            </a:pPr>
            <a:r>
              <a:rPr lang="en-US" sz="1300" dirty="0">
                <a:solidFill>
                  <a:srgbClr val="1B3A4B"/>
                </a:solidFill>
                <a:latin typeface="Consolas"/>
                <a:cs typeface="Consolas"/>
              </a:rPr>
              <a:t>dx &lt;- filter(analysis_data, htn_diagnosed == "Yes")</a:t>
            </a:r>
          </a:p>
          <a:p>
            <a:pPr marL="0" indent="0" algn="l">
              <a:lnSpc>
                <a:spcPct val="100000"/>
              </a:lnSpc>
              <a:buNone/>
            </a:pPr>
            <a:r>
              <a:rPr lang="en-US" sz="1300" dirty="0">
                <a:solidFill>
                  <a:srgbClr val="1B3A4B"/>
                </a:solidFill>
                <a:latin typeface="Consolas"/>
                <a:cs typeface="Consolas"/>
              </a:rPr>
              <a:t># record the exact software environment</a:t>
            </a:r>
          </a:p>
          <a:p>
            <a:pPr marL="0" indent="0" algn="l">
              <a:lnSpc>
                <a:spcPct val="100000"/>
              </a:lnSpc>
              <a:buNone/>
            </a:pPr>
            <a:r>
              <a:rPr lang="en-US" sz="1300" dirty="0">
                <a:solidFill>
                  <a:srgbClr val="1B3A4B"/>
                </a:solidFill>
                <a:latin typeface="Consolas"/>
                <a:cs typeface="Consolas"/>
              </a:rPr>
              <a:t>writeLines(capture.output(sessionInfo()),</a:t>
            </a:r>
          </a:p>
          <a:p>
            <a:pPr marL="0" indent="0" algn="l">
              <a:lnSpc>
                <a:spcPct val="100000"/>
              </a:lnSpc>
              <a:buNone/>
            </a:pPr>
            <a:r>
              <a:rPr lang="en-US" sz="1300" dirty="0">
                <a:solidFill>
                  <a:srgbClr val="1B3A4B"/>
                </a:solidFill>
                <a:latin typeface="Consolas"/>
                <a:cs typeface="Consolas"/>
              </a:rPr>
              <a:t>           "References/session_info.txt")</a:t>
            </a:r>
          </a:p>
        </p:txBody>
      </p:sp>
      <p:sp>
        <p:nvSpPr>
          <p:cNvPr id="31" name="Output"/>
          <p:cNvSpPr/>
          <p:nvPr/>
        </p:nvSpPr>
        <p:spPr>
          <a:xfrm>
            <a:off x="457200" y="3230000"/>
            <a:ext cx="11277600" cy="900000"/>
          </a:xfrm>
          <a:prstGeom prst="roundRect">
            <a:avLst>
              <a:gd name="adj" fmla="val 6000"/>
            </a:avLst>
          </a:prstGeom>
          <a:solidFill>
            <a:srgbClr val="F2EFE6"/>
          </a:solidFill>
          <a:ln>
            <a:noFill/>
          </a:ln>
        </p:spPr>
        <p:txBody>
          <a:bodyPr wrap="square" lIns="137160" tIns="91440" rIns="137160" bIns="91440" rtlCol="0" anchor="t"/>
          <a:lstStyle/>
          <a:p>
            <a:pPr marL="0" indent="0" algn="l">
              <a:buNone/>
            </a:pPr>
            <a:r>
              <a:rPr lang="en-US" sz="1150" b="1" dirty="0">
                <a:solidFill>
                  <a:srgbClr val="595959"/>
                </a:solidFill>
                <a:latin typeface="Century Gothic"/>
                <a:cs typeface="Century Gothic"/>
              </a:rPr>
              <a:t>Console output</a:t>
            </a:r>
          </a:p>
          <a:p>
            <a:pPr marL="0" indent="0" algn="l">
              <a:lnSpc>
                <a:spcPct val="100000"/>
              </a:lnSpc>
              <a:buNone/>
            </a:pPr>
            <a:r>
              <a:rPr lang="en-US" sz="1250" dirty="0">
                <a:solidFill>
                  <a:srgbClr val="1A1A1A"/>
                </a:solidFill>
                <a:latin typeface="Consolas"/>
                <a:cs typeface="Consolas"/>
              </a:rPr>
              <a:t>R version 4.4.1 (2024-06-14)</a:t>
            </a:r>
          </a:p>
          <a:p>
            <a:pPr marL="0" indent="0" algn="l">
              <a:lnSpc>
                <a:spcPct val="100000"/>
              </a:lnSpc>
              <a:buNone/>
            </a:pPr>
            <a:r>
              <a:rPr lang="en-US" sz="1250" dirty="0">
                <a:solidFill>
                  <a:srgbClr val="1A1A1A"/>
                </a:solidFill>
                <a:latin typeface="Consolas"/>
                <a:cs typeface="Consolas"/>
              </a:rPr>
              <a:t>attached: dplyr_1.1.4 broom_1.0.6 gtsummary_2.0</a:t>
            </a:r>
          </a:p>
          <a:p>
            <a:pPr marL="0" indent="0" algn="l">
              <a:lnSpc>
                <a:spcPct val="100000"/>
              </a:lnSpc>
              <a:buNone/>
            </a:pPr>
            <a:r>
              <a:rPr lang="en-US" sz="1250" dirty="0">
                <a:solidFill>
                  <a:srgbClr val="1A1A1A"/>
                </a:solidFill>
                <a:latin typeface="Consolas"/>
                <a:cs typeface="Consolas"/>
              </a:rPr>
              <a:t>... (full environment written to References/session_info.txt)</a:t>
            </a:r>
          </a:p>
        </p:txBody>
      </p:sp>
      <p:sp>
        <p:nvSpPr>
          <p:cNvPr id="32" name="Note"/>
          <p:cNvSpPr/>
          <p:nvPr/>
        </p:nvSpPr>
        <p:spPr>
          <a:xfrm>
            <a:off x="457200" y="4270000"/>
            <a:ext cx="11277600" cy="470000"/>
          </a:xfrm>
          <a:prstGeom prst="roundRect">
            <a:avLst>
              <a:gd name="adj" fmla="val 6000"/>
            </a:avLst>
          </a:prstGeom>
          <a:solidFill>
            <a:srgbClr val="EAF1F7"/>
          </a:solidFill>
          <a:ln>
            <a:noFill/>
          </a:ln>
        </p:spPr>
        <p:txBody>
          <a:bodyPr wrap="square" lIns="137160" tIns="91440" rIns="137160" bIns="91440" rtlCol="0" anchor="t"/>
          <a:lstStyle/>
          <a:p>
            <a:pPr marL="0" indent="0" algn="l">
              <a:buNone/>
            </a:pPr>
            <a:r>
              <a:rPr lang="en-US" sz="1300" dirty="0">
                <a:solidFill>
                  <a:srgbClr val="1F5C7A"/>
                </a:solidFill>
                <a:latin typeface="Century Gothic"/>
                <a:cs typeface="Century Gothic"/>
              </a:rPr>
              <a:t>INTERPRETATION  -  Relative paths plus a saved sessionInfo() let any colleague rerun this on any machine.</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Century Gothic"/>
                <a:cs typeface="Century Gothic"/>
              </a:rPr>
              <a:t>Day 5 Exercise: Complete the Analysis &amp; Write a Results Section</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Body"/>
          <p:cNvSpPr txBox="1"/>
          <p:nvPr/>
        </p:nvSpPr>
        <p:spPr>
          <a:xfrm>
            <a:off x="457200" y="1080000"/>
            <a:ext cx="11277600" cy="3150000"/>
          </a:xfrm>
          <a:prstGeom prst="rect">
            <a:avLst/>
          </a:prstGeom>
          <a:noFill/>
          <a:ln>
            <a:noFill/>
          </a:ln>
        </p:spPr>
        <p:txBody>
          <a:bodyPr wrap="square" lIns="91440" tIns="45720" rIns="91440" bIns="45720" rtlCol="0" anchor="t"/>
          <a:lstStyle/>
          <a:p>
            <a:pPr marL="0" indent="0" algn="l">
              <a:spcBef>
                <a:spcPts val="360"/>
              </a:spcBef>
              <a:buNone/>
            </a:pPr>
            <a:r>
              <a:rPr lang="en-US" sz="2050" b="1" dirty="0">
                <a:solidFill>
                  <a:srgbClr val="0D7377"/>
                </a:solidFill>
                <a:latin typeface="Century Gothic"/>
                <a:cs typeface="Century Gothic"/>
              </a:rPr>
              <a:t>Your tasks</a:t>
            </a:r>
          </a:p>
          <a:p>
            <a:pPr marL="0" indent="0" algn="l">
              <a:lnSpc>
                <a:spcPct val="108000"/>
              </a:lnSpc>
              <a:spcBef>
                <a:spcPts val="440"/>
              </a:spcBef>
              <a:buNone/>
            </a:pPr>
            <a:r>
              <a:rPr lang="en-US" sz="1800" dirty="0">
                <a:solidFill>
                  <a:srgbClr val="000000"/>
                </a:solidFill>
                <a:latin typeface="Century Gothic"/>
                <a:cs typeface="Century Gothic"/>
              </a:rPr>
              <a:t>Fit the pre-specified multivariable model on the diagnosed subset.</a:t>
            </a:r>
          </a:p>
          <a:p>
            <a:pPr marL="0" indent="0" algn="l">
              <a:lnSpc>
                <a:spcPct val="108000"/>
              </a:lnSpc>
              <a:spcBef>
                <a:spcPts val="440"/>
              </a:spcBef>
              <a:buNone/>
            </a:pPr>
            <a:r>
              <a:rPr lang="en-US" sz="1800" dirty="0">
                <a:solidFill>
                  <a:srgbClr val="000000"/>
                </a:solidFill>
                <a:latin typeface="Century Gothic"/>
                <a:cs typeface="Century Gothic"/>
              </a:rPr>
              <a:t>Produce a tidy OR table (exponentiate = TRUE, conf.int = TRUE).</a:t>
            </a:r>
          </a:p>
          <a:p>
            <a:pPr marL="0" indent="0" algn="l">
              <a:lnSpc>
                <a:spcPct val="108000"/>
              </a:lnSpc>
              <a:spcBef>
                <a:spcPts val="440"/>
              </a:spcBef>
              <a:buNone/>
            </a:pPr>
            <a:r>
              <a:rPr lang="en-US" sz="1800" dirty="0">
                <a:solidFill>
                  <a:srgbClr val="000000"/>
                </a:solidFill>
                <a:latin typeface="Century Gothic"/>
                <a:cs typeface="Century Gothic"/>
              </a:rPr>
              <a:t>Run the diagnostics: VIF, a linearity check, Cook's distance, AUC.</a:t>
            </a:r>
          </a:p>
          <a:p>
            <a:pPr marL="0" indent="0" algn="l">
              <a:lnSpc>
                <a:spcPct val="108000"/>
              </a:lnSpc>
              <a:spcBef>
                <a:spcPts val="440"/>
              </a:spcBef>
              <a:buNone/>
            </a:pPr>
            <a:r>
              <a:rPr lang="en-US" sz="1800" dirty="0">
                <a:solidFill>
                  <a:srgbClr val="000000"/>
                </a:solidFill>
                <a:latin typeface="Century Gothic"/>
                <a:cs typeface="Century Gothic"/>
              </a:rPr>
              <a:t>Build a gtsummary table and a forest plot, and save both to Resources/.</a:t>
            </a:r>
          </a:p>
          <a:p>
            <a:pPr marL="0" indent="0" algn="l">
              <a:lnSpc>
                <a:spcPct val="108000"/>
              </a:lnSpc>
              <a:spcBef>
                <a:spcPts val="440"/>
              </a:spcBef>
              <a:buNone/>
            </a:pPr>
            <a:r>
              <a:rPr lang="en-US" sz="1800" dirty="0">
                <a:solidFill>
                  <a:srgbClr val="000000"/>
                </a:solidFill>
                <a:latin typeface="Century Gothic"/>
                <a:cs typeface="Century Gothic"/>
              </a:rPr>
              <a:t>Write a 4-6 sentence Results section from your own ORs.</a:t>
            </a:r>
          </a:p>
          <a:p>
            <a:pPr>
              <a:buNone/>
            </a:pPr>
            <a:endParaRPr sz="1050"/>
          </a:p>
        </p:txBody>
      </p:sp>
      <p:sp>
        <p:nvSpPr>
          <p:cNvPr id="40" name="Callout"/>
          <p:cNvSpPr/>
          <p:nvPr/>
        </p:nvSpPr>
        <p:spPr>
          <a:xfrm>
            <a:off x="457200" y="5070000"/>
            <a:ext cx="11277600" cy="810000"/>
          </a:xfrm>
          <a:prstGeom prst="roundRect">
            <a:avLst>
              <a:gd name="adj" fmla="val 6000"/>
            </a:avLst>
          </a:prstGeom>
          <a:solidFill>
            <a:srgbClr val="F0F0F0"/>
          </a:solidFill>
          <a:ln>
            <a:noFill/>
          </a:ln>
        </p:spPr>
        <p:txBody>
          <a:bodyPr wrap="square" lIns="137160" tIns="91440" rIns="137160" bIns="91440" rtlCol="0" anchor="t"/>
          <a:lstStyle/>
          <a:p>
            <a:pPr marL="0" indent="0" algn="l">
              <a:buNone/>
            </a:pPr>
            <a:r>
              <a:rPr lang="en-US" sz="1300" b="1" dirty="0">
                <a:solidFill>
                  <a:srgbClr val="404040"/>
                </a:solidFill>
                <a:latin typeface="Century Gothic"/>
                <a:cs typeface="Century Gothic"/>
              </a:rPr>
              <a:t>NOTE  -  Deliverable</a:t>
            </a:r>
          </a:p>
          <a:p>
            <a:pPr marL="0" indent="0" algn="l">
              <a:spcBef>
                <a:spcPts val="100"/>
              </a:spcBef>
              <a:buNone/>
            </a:pPr>
            <a:r>
              <a:rPr lang="en-US" sz="1300" dirty="0">
                <a:solidFill>
                  <a:srgbClr val="000000"/>
                </a:solidFill>
                <a:latin typeface="Century Gothic"/>
                <a:cs typeface="Century Gothic"/>
              </a:rPr>
              <a:t>A reproducible script plus a short Results paragraph citing aORs, 95% CIs and the AUC.</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Century Gothic"/>
                <a:cs typeface="Century Gothic"/>
              </a:rPr>
              <a:t>Course Wrap-Up: What You Can Now Do</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Body"/>
          <p:cNvSpPr txBox="1"/>
          <p:nvPr/>
        </p:nvSpPr>
        <p:spPr>
          <a:xfrm>
            <a:off x="457200" y="1080000"/>
            <a:ext cx="11277600" cy="4780000"/>
          </a:xfrm>
          <a:prstGeom prst="rect">
            <a:avLst/>
          </a:prstGeom>
          <a:noFill/>
          <a:ln>
            <a:noFill/>
          </a:ln>
        </p:spPr>
        <p:txBody>
          <a:bodyPr wrap="square" lIns="91440" tIns="45720" rIns="91440" bIns="45720" rtlCol="0" anchor="ctr"/>
          <a:lstStyle/>
          <a:p>
            <a:pPr marL="0" indent="0" algn="l">
              <a:lnSpc>
                <a:spcPct val="108000"/>
              </a:lnSpc>
              <a:buNone/>
            </a:pPr>
            <a:r>
              <a:rPr lang="en-US" sz="1900" i="1" dirty="0">
                <a:solidFill>
                  <a:srgbClr val="595959"/>
                </a:solidFill>
                <a:latin typeface="Century Gothic"/>
                <a:cs typeface="Century Gothic"/>
              </a:rPr>
              <a:t>Five days, one real dataset, a full analysis pipeline.</a:t>
            </a:r>
          </a:p>
          <a:p>
            <a:pPr>
              <a:buNone/>
            </a:pPr>
            <a:endParaRPr sz="950"/>
          </a:p>
          <a:p>
            <a:pPr marL="274320" indent="-274320" algn="l">
              <a:lnSpc>
                <a:spcPct val="106000"/>
              </a:lnSpc>
              <a:spcBef>
                <a:spcPts val="560"/>
              </a:spcBef>
              <a:buFont typeface="Arial"/>
              <a:buChar char="•"/>
            </a:pPr>
            <a:r>
              <a:rPr lang="en-US" sz="1950" dirty="0">
                <a:solidFill>
                  <a:srgbClr val="000000"/>
                </a:solidFill>
                <a:latin typeface="Century Gothic"/>
                <a:cs typeface="Century Gothic"/>
              </a:rPr>
              <a:t>Import messy clinical data into R and understand its structure.</a:t>
            </a:r>
          </a:p>
          <a:p>
            <a:pPr marL="274320" indent="-274320" algn="l">
              <a:lnSpc>
                <a:spcPct val="106000"/>
              </a:lnSpc>
              <a:spcBef>
                <a:spcPts val="560"/>
              </a:spcBef>
              <a:buFont typeface="Arial"/>
              <a:buChar char="•"/>
            </a:pPr>
            <a:r>
              <a:rPr lang="en-US" sz="1950" dirty="0">
                <a:solidFill>
                  <a:srgbClr val="000000"/>
                </a:solidFill>
                <a:latin typeface="Century Gothic"/>
                <a:cs typeface="Century Gothic"/>
              </a:rPr>
              <a:t>Clean it: fix impossible values, standardise categories, handle missingness.</a:t>
            </a:r>
          </a:p>
          <a:p>
            <a:pPr marL="274320" indent="-274320" algn="l">
              <a:lnSpc>
                <a:spcPct val="106000"/>
              </a:lnSpc>
              <a:spcBef>
                <a:spcPts val="560"/>
              </a:spcBef>
              <a:buFont typeface="Arial"/>
              <a:buChar char="•"/>
            </a:pPr>
            <a:r>
              <a:rPr lang="en-US" sz="1950" dirty="0">
                <a:solidFill>
                  <a:srgbClr val="000000"/>
                </a:solidFill>
                <a:latin typeface="Century Gothic"/>
                <a:cs typeface="Century Gothic"/>
              </a:rPr>
              <a:t>Summarise and visualise: Table 1, histograms, boxplots, bar charts.</a:t>
            </a:r>
          </a:p>
          <a:p>
            <a:pPr marL="274320" indent="-274320" algn="l">
              <a:lnSpc>
                <a:spcPct val="106000"/>
              </a:lnSpc>
              <a:spcBef>
                <a:spcPts val="560"/>
              </a:spcBef>
              <a:buFont typeface="Arial"/>
              <a:buChar char="•"/>
            </a:pPr>
            <a:r>
              <a:rPr lang="en-US" sz="1950" dirty="0">
                <a:solidFill>
                  <a:srgbClr val="000000"/>
                </a:solidFill>
                <a:latin typeface="Century Gothic"/>
                <a:cs typeface="Century Gothic"/>
              </a:rPr>
              <a:t>Fit and interpret logistic regression with adjusted odds ratios.</a:t>
            </a:r>
          </a:p>
          <a:p>
            <a:pPr marL="274320" indent="-274320" algn="l">
              <a:lnSpc>
                <a:spcPct val="106000"/>
              </a:lnSpc>
              <a:spcBef>
                <a:spcPts val="560"/>
              </a:spcBef>
              <a:buFont typeface="Arial"/>
              <a:buChar char="•"/>
            </a:pPr>
            <a:r>
              <a:rPr lang="en-US" sz="1950" dirty="0">
                <a:solidFill>
                  <a:srgbClr val="000000"/>
                </a:solidFill>
                <a:latin typeface="Century Gothic"/>
                <a:cs typeface="Century Gothic"/>
              </a:rPr>
              <a:t>Build models from clinical reasoning and check their assumptions.</a:t>
            </a:r>
          </a:p>
          <a:p>
            <a:pPr marL="274320" indent="-274320" algn="l">
              <a:lnSpc>
                <a:spcPct val="106000"/>
              </a:lnSpc>
              <a:spcBef>
                <a:spcPts val="560"/>
              </a:spcBef>
              <a:buFont typeface="Arial"/>
              <a:buChar char="•"/>
            </a:pPr>
            <a:r>
              <a:rPr lang="en-US" sz="1950" dirty="0">
                <a:solidFill>
                  <a:srgbClr val="000000"/>
                </a:solidFill>
                <a:latin typeface="Century Gothic"/>
                <a:cs typeface="Century Gothic"/>
              </a:rPr>
              <a:t>Produce publication-ready tables and figures, and a Results section.</a:t>
            </a:r>
          </a:p>
          <a:p>
            <a:pPr marL="274320" indent="-274320" algn="l">
              <a:lnSpc>
                <a:spcPct val="106000"/>
              </a:lnSpc>
              <a:spcBef>
                <a:spcPts val="560"/>
              </a:spcBef>
              <a:buFont typeface="Arial"/>
              <a:buChar char="•"/>
            </a:pPr>
            <a:r>
              <a:rPr lang="en-US" sz="1950" dirty="0">
                <a:solidFill>
                  <a:srgbClr val="000000"/>
                </a:solidFill>
                <a:latin typeface="Century Gothic"/>
                <a:cs typeface="Century Gothic"/>
              </a:rPr>
              <a:t>Work reproducibly with scripts, projects, seeds and Quarto reports.</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Century Gothic"/>
                <a:cs typeface="Century Gothic"/>
              </a:rPr>
              <a:t>What Phase II Might Cover</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Body"/>
          <p:cNvSpPr txBox="1"/>
          <p:nvPr/>
        </p:nvSpPr>
        <p:spPr>
          <a:xfrm>
            <a:off x="457200" y="1080000"/>
            <a:ext cx="11277600" cy="3150000"/>
          </a:xfrm>
          <a:prstGeom prst="rect">
            <a:avLst/>
          </a:prstGeom>
          <a:noFill/>
          <a:ln>
            <a:noFill/>
          </a:ln>
        </p:spPr>
        <p:txBody>
          <a:bodyPr wrap="square" lIns="91440" tIns="45720" rIns="91440" bIns="45720" rtlCol="0" anchor="t"/>
          <a:lstStyle/>
          <a:p>
            <a:pPr marL="0" indent="0" algn="l">
              <a:spcBef>
                <a:spcPts val="360"/>
              </a:spcBef>
              <a:buNone/>
            </a:pPr>
            <a:r>
              <a:rPr lang="en-US" sz="2050" b="1" dirty="0">
                <a:solidFill>
                  <a:srgbClr val="0D7377"/>
                </a:solidFill>
                <a:latin typeface="Century Gothic"/>
                <a:cs typeface="Century Gothic"/>
              </a:rPr>
              <a:t>Deeper modelling</a:t>
            </a:r>
          </a:p>
          <a:p>
            <a:pPr marL="0" indent="0" algn="l">
              <a:lnSpc>
                <a:spcPct val="108000"/>
              </a:lnSpc>
              <a:spcBef>
                <a:spcPts val="440"/>
              </a:spcBef>
              <a:buNone/>
            </a:pPr>
            <a:r>
              <a:rPr lang="en-US" sz="1800" dirty="0">
                <a:solidFill>
                  <a:srgbClr val="000000"/>
                </a:solidFill>
                <a:latin typeface="Century Gothic"/>
                <a:cs typeface="Century Gothic"/>
              </a:rPr>
              <a:t>Confounding, interaction and effect modification in depth.</a:t>
            </a:r>
          </a:p>
          <a:p>
            <a:pPr marL="0" indent="0" algn="l">
              <a:lnSpc>
                <a:spcPct val="108000"/>
              </a:lnSpc>
              <a:spcBef>
                <a:spcPts val="440"/>
              </a:spcBef>
              <a:buNone/>
            </a:pPr>
            <a:r>
              <a:rPr lang="en-US" sz="1800" dirty="0">
                <a:solidFill>
                  <a:srgbClr val="000000"/>
                </a:solidFill>
                <a:latin typeface="Century Gothic"/>
                <a:cs typeface="Century Gothic"/>
              </a:rPr>
              <a:t>Model diagnostics: multicollinearity, fit and discrimination (AUC).</a:t>
            </a:r>
          </a:p>
          <a:p>
            <a:pPr marL="0" indent="0" algn="l">
              <a:lnSpc>
                <a:spcPct val="108000"/>
              </a:lnSpc>
              <a:spcBef>
                <a:spcPts val="440"/>
              </a:spcBef>
              <a:buNone/>
            </a:pPr>
            <a:r>
              <a:rPr lang="en-US" sz="1800" dirty="0">
                <a:solidFill>
                  <a:srgbClr val="000000"/>
                </a:solidFill>
                <a:latin typeface="Century Gothic"/>
                <a:cs typeface="Century Gothic"/>
              </a:rPr>
              <a:t>Variable selection and how to build a model responsibly.</a:t>
            </a:r>
          </a:p>
          <a:p>
            <a:pPr>
              <a:buNone/>
            </a:pPr>
            <a:endParaRPr sz="1050"/>
          </a:p>
          <a:p>
            <a:pPr marL="0" indent="0" algn="l">
              <a:spcBef>
                <a:spcPts val="360"/>
              </a:spcBef>
              <a:buNone/>
            </a:pPr>
            <a:r>
              <a:rPr lang="en-US" sz="2050" b="1" dirty="0">
                <a:solidFill>
                  <a:srgbClr val="0D7377"/>
                </a:solidFill>
                <a:latin typeface="Century Gothic"/>
                <a:cs typeface="Century Gothic"/>
              </a:rPr>
              <a:t>New methods and skills</a:t>
            </a:r>
          </a:p>
          <a:p>
            <a:pPr marL="0" indent="0" algn="l">
              <a:lnSpc>
                <a:spcPct val="108000"/>
              </a:lnSpc>
              <a:spcBef>
                <a:spcPts val="440"/>
              </a:spcBef>
              <a:buNone/>
            </a:pPr>
            <a:r>
              <a:rPr lang="en-US" sz="1800" dirty="0">
                <a:solidFill>
                  <a:srgbClr val="000000"/>
                </a:solidFill>
                <a:latin typeface="Century Gothic"/>
                <a:cs typeface="Century Gothic"/>
              </a:rPr>
              <a:t>Survival analysis: Kaplan-Meier and Cox models for time-to-event data.</a:t>
            </a:r>
          </a:p>
          <a:p>
            <a:pPr marL="0" indent="0" algn="l">
              <a:lnSpc>
                <a:spcPct val="108000"/>
              </a:lnSpc>
              <a:spcBef>
                <a:spcPts val="440"/>
              </a:spcBef>
              <a:buNone/>
            </a:pPr>
            <a:r>
              <a:rPr lang="en-US" sz="1800" dirty="0">
                <a:solidFill>
                  <a:srgbClr val="000000"/>
                </a:solidFill>
                <a:latin typeface="Century Gothic"/>
                <a:cs typeface="Century Gothic"/>
              </a:rPr>
              <a:t>Mixed-effects models: patients clustered within facilities.</a:t>
            </a:r>
          </a:p>
          <a:p>
            <a:pPr marL="0" indent="0" algn="l">
              <a:lnSpc>
                <a:spcPct val="108000"/>
              </a:lnSpc>
              <a:spcBef>
                <a:spcPts val="440"/>
              </a:spcBef>
              <a:buNone/>
            </a:pPr>
            <a:r>
              <a:rPr lang="en-US" sz="1800" dirty="0">
                <a:solidFill>
                  <a:srgbClr val="000000"/>
                </a:solidFill>
                <a:latin typeface="Century Gothic"/>
                <a:cs typeface="Century Gothic"/>
              </a:rPr>
              <a:t>Missing data (multiple imputation) and automated Quarto reporting.</a:t>
            </a:r>
          </a:p>
          <a:p>
            <a:pPr>
              <a:buNone/>
            </a:pPr>
            <a:endParaRPr sz="1050"/>
          </a:p>
        </p:txBody>
      </p:sp>
      <p:sp>
        <p:nvSpPr>
          <p:cNvPr id="40" name="Callout"/>
          <p:cNvSpPr/>
          <p:nvPr/>
        </p:nvSpPr>
        <p:spPr>
          <a:xfrm>
            <a:off x="457200" y="5070000"/>
            <a:ext cx="11277600" cy="810000"/>
          </a:xfrm>
          <a:prstGeom prst="roundRect">
            <a:avLst>
              <a:gd name="adj" fmla="val 6000"/>
            </a:avLst>
          </a:prstGeom>
          <a:solidFill>
            <a:srgbClr val="E8F4F4"/>
          </a:solidFill>
          <a:ln>
            <a:noFill/>
          </a:ln>
        </p:spPr>
        <p:txBody>
          <a:bodyPr wrap="square" lIns="137160" tIns="91440" rIns="137160" bIns="91440" rtlCol="0" anchor="t"/>
          <a:lstStyle/>
          <a:p>
            <a:pPr marL="0" indent="0" algn="l">
              <a:buNone/>
            </a:pPr>
            <a:r>
              <a:rPr lang="en-US" sz="1300" b="1" dirty="0">
                <a:solidFill>
                  <a:srgbClr val="0D7377"/>
                </a:solidFill>
                <a:latin typeface="Century Gothic"/>
                <a:cs typeface="Century Gothic"/>
              </a:rPr>
              <a:t>TIP  -  Keep practising</a:t>
            </a:r>
          </a:p>
          <a:p>
            <a:pPr marL="0" indent="0" algn="l">
              <a:spcBef>
                <a:spcPts val="100"/>
              </a:spcBef>
              <a:buNone/>
            </a:pPr>
            <a:r>
              <a:rPr lang="en-US" sz="1300" dirty="0">
                <a:solidFill>
                  <a:srgbClr val="000000"/>
                </a:solidFill>
                <a:latin typeface="Century Gothic"/>
                <a:cs typeface="Century Gothic"/>
              </a:rPr>
              <a:t>Bring your own dataset to Phase II and analyse it end to end.</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 name="DayTitle"/>
          <p:cNvSpPr txBox="1"/>
          <p:nvPr/>
        </p:nvSpPr>
        <p:spPr>
          <a:xfrm>
            <a:off x="457200" y="548640"/>
            <a:ext cx="11430000" cy="700000"/>
          </a:xfrm>
          <a:prstGeom prst="rect">
            <a:avLst/>
          </a:prstGeom>
          <a:noFill/>
          <a:ln>
            <a:noFill/>
          </a:ln>
        </p:spPr>
        <p:txBody>
          <a:bodyPr wrap="square" lIns="91440" tIns="45720" rIns="91440" bIns="45720" rtlCol="0" anchor="t"/>
          <a:lstStyle/>
          <a:p>
            <a:pPr marL="0" indent="0" algn="l">
              <a:buNone/>
            </a:pPr>
            <a:r>
              <a:rPr lang="en-US" sz="3200" b="1" dirty="0">
                <a:solidFill>
                  <a:srgbClr val="0D7377"/>
                </a:solidFill>
                <a:latin typeface="Century Gothic"/>
                <a:cs typeface="Century Gothic"/>
              </a:rPr>
              <a:t>Final Assignment</a:t>
            </a:r>
          </a:p>
        </p:txBody>
      </p:sp>
      <p:sp>
        <p:nvSpPr>
          <p:cNvPr id="7" name="Rule"/>
          <p:cNvSpPr/>
          <p:nvPr/>
        </p:nvSpPr>
        <p:spPr>
          <a:xfrm>
            <a:off x="457200" y="1325880"/>
            <a:ext cx="11277600" cy="19050"/>
          </a:xfrm>
          <a:prstGeom prst="rect">
            <a:avLst/>
          </a:prstGeom>
          <a:solidFill>
            <a:srgbClr val="0D7377"/>
          </a:solidFill>
          <a:ln>
            <a:noFill/>
          </a:ln>
        </p:spPr>
        <p:txBody>
          <a:bodyPr/>
          <a:lstStyle/>
          <a:p>
            <a:endParaRPr/>
          </a:p>
        </p:txBody>
      </p:sp>
      <p:sp>
        <p:nvSpPr>
          <p:cNvPr id="8" name="Agenda"/>
          <p:cNvSpPr txBox="1"/>
          <p:nvPr/>
        </p:nvSpPr>
        <p:spPr>
          <a:xfrm>
            <a:off x="457200" y="1600000"/>
            <a:ext cx="11277600" cy="4400000"/>
          </a:xfrm>
          <a:prstGeom prst="rect">
            <a:avLst/>
          </a:prstGeom>
          <a:noFill/>
          <a:ln>
            <a:noFill/>
          </a:ln>
        </p:spPr>
        <p:txBody>
          <a:bodyPr wrap="square" lIns="91440" tIns="45720" rIns="91440" bIns="45720" rtlCol="0" anchor="t"/>
          <a:lstStyle/>
          <a:p>
            <a:pPr marL="0" indent="0" algn="l">
              <a:buNone/>
            </a:pPr>
            <a:r>
              <a:rPr lang="en-US" sz="2800" dirty="0">
                <a:solidFill>
                  <a:srgbClr val="0070C0"/>
                </a:solidFill>
                <a:latin typeface="Century Gothic"/>
                <a:cs typeface="Century Gothic"/>
              </a:rPr>
              <a:t>Overview</a:t>
            </a:r>
          </a:p>
          <a:p>
            <a:pPr>
              <a:buNone/>
            </a:pPr>
            <a:endParaRPr sz="800"/>
          </a:p>
          <a:p>
            <a:pPr marL="274320" indent="-274320" algn="l">
              <a:spcBef>
                <a:spcPts val="440"/>
              </a:spcBef>
              <a:buFont typeface="Arial"/>
              <a:buChar char="•"/>
            </a:pPr>
            <a:r>
              <a:rPr lang="en-US" sz="1900" dirty="0">
                <a:solidFill>
                  <a:srgbClr val="000000"/>
                </a:solidFill>
                <a:latin typeface="Century Gothic"/>
                <a:cs typeface="Century Gothic"/>
              </a:rPr>
              <a:t>An independent, take-home analysis</a:t>
            </a:r>
          </a:p>
          <a:p>
            <a:pPr marL="274320" indent="-274320" algn="l">
              <a:spcBef>
                <a:spcPts val="440"/>
              </a:spcBef>
              <a:buFont typeface="Arial"/>
              <a:buChar char="•"/>
            </a:pPr>
            <a:r>
              <a:rPr lang="en-US" sz="1900" dirty="0">
                <a:solidFill>
                  <a:srgbClr val="000000"/>
                </a:solidFill>
                <a:latin typeface="Century Gothic"/>
                <a:cs typeface="Century Gothic"/>
              </a:rPr>
              <a:t>One week to complete</a:t>
            </a:r>
          </a:p>
          <a:p>
            <a:pPr marL="274320" indent="-274320" algn="l">
              <a:spcBef>
                <a:spcPts val="440"/>
              </a:spcBef>
              <a:buFont typeface="Arial"/>
              <a:buChar char="•"/>
            </a:pPr>
            <a:r>
              <a:rPr lang="en-US" sz="1900" dirty="0">
                <a:solidFill>
                  <a:srgbClr val="000000"/>
                </a:solidFill>
                <a:latin typeface="Century Gothic"/>
                <a:cs typeface="Century Gothic"/>
              </a:rPr>
              <a:t>Uses the same study dataset</a:t>
            </a:r>
          </a:p>
          <a:p>
            <a:pPr marL="274320" indent="-274320" algn="l">
              <a:spcBef>
                <a:spcPts val="440"/>
              </a:spcBef>
              <a:buFont typeface="Arial"/>
              <a:buChar char="•"/>
            </a:pPr>
            <a:r>
              <a:rPr lang="en-US" sz="1900" dirty="0">
                <a:solidFill>
                  <a:srgbClr val="000000"/>
                </a:solidFill>
                <a:latin typeface="Century Gothic"/>
                <a:cs typeface="Century Gothic"/>
              </a:rPr>
              <a:t>Marked out of 100%</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Century Gothic"/>
                <a:cs typeface="Century Gothic"/>
              </a:rPr>
              <a:t>Final Assignment - What to Do</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Body"/>
          <p:cNvSpPr txBox="1"/>
          <p:nvPr/>
        </p:nvSpPr>
        <p:spPr>
          <a:xfrm>
            <a:off x="457200" y="1080000"/>
            <a:ext cx="11277600" cy="4780000"/>
          </a:xfrm>
          <a:prstGeom prst="rect">
            <a:avLst/>
          </a:prstGeom>
          <a:noFill/>
          <a:ln>
            <a:noFill/>
          </a:ln>
        </p:spPr>
        <p:txBody>
          <a:bodyPr wrap="square" lIns="91440" tIns="45720" rIns="91440" bIns="45720" rtlCol="0" anchor="ctr"/>
          <a:lstStyle/>
          <a:p>
            <a:pPr marL="0" indent="0" algn="l">
              <a:spcBef>
                <a:spcPts val="360"/>
              </a:spcBef>
              <a:buNone/>
            </a:pPr>
            <a:r>
              <a:rPr lang="en-US" sz="2050" b="1" dirty="0">
                <a:solidFill>
                  <a:srgbClr val="0D7377"/>
                </a:solidFill>
                <a:latin typeface="Century Gothic"/>
                <a:cs typeface="Century Gothic"/>
              </a:rPr>
              <a:t>Task</a:t>
            </a:r>
          </a:p>
          <a:p>
            <a:pPr marL="0" indent="0" algn="l">
              <a:lnSpc>
                <a:spcPct val="108000"/>
              </a:lnSpc>
              <a:spcBef>
                <a:spcPts val="440"/>
              </a:spcBef>
              <a:buNone/>
            </a:pPr>
            <a:r>
              <a:rPr lang="en-US" sz="1800" dirty="0">
                <a:solidFill>
                  <a:srgbClr val="000000"/>
                </a:solidFill>
                <a:latin typeface="Century Gothic"/>
                <a:cs typeface="Century Gothic"/>
              </a:rPr>
              <a:t>Working independently, analyse the study dataset and identify the determinants of treatment uptake.</a:t>
            </a:r>
          </a:p>
          <a:p>
            <a:pPr>
              <a:buNone/>
            </a:pPr>
            <a:endParaRPr sz="1050"/>
          </a:p>
          <a:p>
            <a:pPr marL="0" indent="0" algn="l">
              <a:spcBef>
                <a:spcPts val="360"/>
              </a:spcBef>
              <a:buNone/>
            </a:pPr>
            <a:r>
              <a:rPr lang="en-US" sz="2050" b="1" dirty="0">
                <a:solidFill>
                  <a:srgbClr val="0D7377"/>
                </a:solidFill>
                <a:latin typeface="Century Gothic"/>
                <a:cs typeface="Century Gothic"/>
              </a:rPr>
              <a:t>Your submission must</a:t>
            </a:r>
          </a:p>
          <a:p>
            <a:pPr marL="274320" indent="-274320" algn="l">
              <a:lnSpc>
                <a:spcPct val="108000"/>
              </a:lnSpc>
              <a:spcBef>
                <a:spcPts val="440"/>
              </a:spcBef>
              <a:buFont typeface="Arial"/>
              <a:buChar char="•"/>
            </a:pPr>
            <a:r>
              <a:rPr lang="en-US" sz="1800" dirty="0">
                <a:solidFill>
                  <a:srgbClr val="000000"/>
                </a:solidFill>
                <a:latin typeface="Century Gothic"/>
                <a:cs typeface="Century Gothic"/>
              </a:rPr>
              <a:t>Import the raw data and clean/validate it.</a:t>
            </a:r>
          </a:p>
          <a:p>
            <a:pPr marL="274320" indent="-274320" algn="l">
              <a:lnSpc>
                <a:spcPct val="108000"/>
              </a:lnSpc>
              <a:spcBef>
                <a:spcPts val="440"/>
              </a:spcBef>
              <a:buFont typeface="Arial"/>
              <a:buChar char="•"/>
            </a:pPr>
            <a:r>
              <a:rPr lang="en-US" sz="1800" dirty="0">
                <a:solidFill>
                  <a:srgbClr val="000000"/>
                </a:solidFill>
                <a:latin typeface="Century Gothic"/>
                <a:cs typeface="Century Gothic"/>
              </a:rPr>
              <a:t>Produce descriptive statistics and a publication-ready Table 1.</a:t>
            </a:r>
          </a:p>
          <a:p>
            <a:pPr marL="274320" indent="-274320" algn="l">
              <a:lnSpc>
                <a:spcPct val="108000"/>
              </a:lnSpc>
              <a:spcBef>
                <a:spcPts val="440"/>
              </a:spcBef>
              <a:buFont typeface="Arial"/>
              <a:buChar char="•"/>
            </a:pPr>
            <a:r>
              <a:rPr lang="en-US" sz="1800" dirty="0">
                <a:solidFill>
                  <a:srgbClr val="000000"/>
                </a:solidFill>
                <a:latin typeface="Century Gothic"/>
                <a:cs typeface="Century Gothic"/>
              </a:rPr>
              <a:t>Create at least two publication-quality figures.</a:t>
            </a:r>
          </a:p>
          <a:p>
            <a:pPr marL="274320" indent="-274320" algn="l">
              <a:lnSpc>
                <a:spcPct val="108000"/>
              </a:lnSpc>
              <a:spcBef>
                <a:spcPts val="440"/>
              </a:spcBef>
              <a:buFont typeface="Arial"/>
              <a:buChar char="•"/>
            </a:pPr>
            <a:r>
              <a:rPr lang="en-US" sz="1800" dirty="0">
                <a:solidFill>
                  <a:srgbClr val="000000"/>
                </a:solidFill>
                <a:latin typeface="Century Gothic"/>
                <a:cs typeface="Century Gothic"/>
              </a:rPr>
              <a:t>Perform appropriate statistical tests.</a:t>
            </a:r>
          </a:p>
          <a:p>
            <a:pPr marL="274320" indent="-274320" algn="l">
              <a:lnSpc>
                <a:spcPct val="108000"/>
              </a:lnSpc>
              <a:spcBef>
                <a:spcPts val="440"/>
              </a:spcBef>
              <a:buFont typeface="Arial"/>
              <a:buChar char="•"/>
            </a:pPr>
            <a:r>
              <a:rPr lang="en-US" sz="1800" dirty="0">
                <a:solidFill>
                  <a:srgbClr val="000000"/>
                </a:solidFill>
                <a:latin typeface="Century Gothic"/>
                <a:cs typeface="Century Gothic"/>
              </a:rPr>
              <a:t>Fit simple and multiple logistic regression models.</a:t>
            </a:r>
          </a:p>
          <a:p>
            <a:pPr marL="274320" indent="-274320" algn="l">
              <a:lnSpc>
                <a:spcPct val="108000"/>
              </a:lnSpc>
              <a:spcBef>
                <a:spcPts val="440"/>
              </a:spcBef>
              <a:buFont typeface="Arial"/>
              <a:buChar char="•"/>
            </a:pPr>
            <a:r>
              <a:rPr lang="en-US" sz="1800" dirty="0">
                <a:solidFill>
                  <a:srgbClr val="000000"/>
                </a:solidFill>
                <a:latin typeface="Century Gothic"/>
                <a:cs typeface="Century Gothic"/>
              </a:rPr>
              <a:t>Interpret the results and write a short Results section.</a:t>
            </a:r>
          </a:p>
          <a:p>
            <a:pPr marL="274320" indent="-274320" algn="l">
              <a:lnSpc>
                <a:spcPct val="108000"/>
              </a:lnSpc>
              <a:spcBef>
                <a:spcPts val="440"/>
              </a:spcBef>
              <a:buFont typeface="Arial"/>
              <a:buChar char="•"/>
            </a:pPr>
            <a:r>
              <a:rPr lang="en-US" sz="1800" dirty="0">
                <a:solidFill>
                  <a:srgbClr val="000000"/>
                </a:solidFill>
                <a:latin typeface="Century Gothic"/>
                <a:cs typeface="Century Gothic"/>
              </a:rPr>
              <a:t>Be fully reproducible (a single script that runs start to finish).</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Century Gothic"/>
                <a:cs typeface="Century Gothic"/>
              </a:rPr>
              <a:t>Final Assignment - Deliverables &amp; Submission</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Body"/>
          <p:cNvSpPr txBox="1"/>
          <p:nvPr/>
        </p:nvSpPr>
        <p:spPr>
          <a:xfrm>
            <a:off x="457200" y="1080000"/>
            <a:ext cx="11277600" cy="3150000"/>
          </a:xfrm>
          <a:prstGeom prst="rect">
            <a:avLst/>
          </a:prstGeom>
          <a:noFill/>
          <a:ln>
            <a:noFill/>
          </a:ln>
        </p:spPr>
        <p:txBody>
          <a:bodyPr wrap="square" lIns="91440" tIns="45720" rIns="91440" bIns="45720" rtlCol="0" anchor="t"/>
          <a:lstStyle/>
          <a:p>
            <a:pPr marL="0" indent="0" algn="l">
              <a:spcBef>
                <a:spcPts val="360"/>
              </a:spcBef>
              <a:buNone/>
            </a:pPr>
            <a:r>
              <a:rPr lang="en-US" sz="2050" b="1" dirty="0">
                <a:solidFill>
                  <a:srgbClr val="0D7377"/>
                </a:solidFill>
                <a:latin typeface="Century Gothic"/>
                <a:cs typeface="Century Gothic"/>
              </a:rPr>
              <a:t>Submit</a:t>
            </a:r>
          </a:p>
          <a:p>
            <a:pPr marL="0" indent="0" algn="l">
              <a:lnSpc>
                <a:spcPct val="108000"/>
              </a:lnSpc>
              <a:spcBef>
                <a:spcPts val="440"/>
              </a:spcBef>
              <a:buNone/>
            </a:pPr>
            <a:r>
              <a:rPr lang="en-US" sz="1800" dirty="0">
                <a:solidFill>
                  <a:srgbClr val="000000"/>
                </a:solidFill>
                <a:latin typeface="Century Gothic"/>
                <a:cs typeface="Century Gothic"/>
              </a:rPr>
              <a:t>1. A single commented R script (.R) or R Markdown/Quarto file.</a:t>
            </a:r>
          </a:p>
          <a:p>
            <a:pPr marL="0" indent="0" algn="l">
              <a:lnSpc>
                <a:spcPct val="108000"/>
              </a:lnSpc>
              <a:spcBef>
                <a:spcPts val="440"/>
              </a:spcBef>
              <a:buNone/>
            </a:pPr>
            <a:r>
              <a:rPr lang="en-US" sz="1800" dirty="0">
                <a:solidFill>
                  <a:srgbClr val="000000"/>
                </a:solidFill>
                <a:latin typeface="Century Gothic"/>
                <a:cs typeface="Century Gothic"/>
              </a:rPr>
              <a:t>2. The exported Table 1 and figures.</a:t>
            </a:r>
          </a:p>
          <a:p>
            <a:pPr marL="0" indent="0" algn="l">
              <a:lnSpc>
                <a:spcPct val="108000"/>
              </a:lnSpc>
              <a:spcBef>
                <a:spcPts val="440"/>
              </a:spcBef>
              <a:buNone/>
            </a:pPr>
            <a:r>
              <a:rPr lang="en-US" sz="1800" dirty="0">
                <a:solidFill>
                  <a:srgbClr val="000000"/>
                </a:solidFill>
                <a:latin typeface="Century Gothic"/>
                <a:cs typeface="Century Gothic"/>
              </a:rPr>
              <a:t>3. A one-page Results section (about 250-400 words).</a:t>
            </a:r>
          </a:p>
          <a:p>
            <a:pPr>
              <a:buNone/>
            </a:pPr>
            <a:endParaRPr sz="1050"/>
          </a:p>
          <a:p>
            <a:pPr marL="0" indent="0" algn="l">
              <a:spcBef>
                <a:spcPts val="360"/>
              </a:spcBef>
              <a:buNone/>
            </a:pPr>
            <a:r>
              <a:rPr lang="en-US" sz="2050" b="1" dirty="0">
                <a:solidFill>
                  <a:srgbClr val="0D7377"/>
                </a:solidFill>
                <a:latin typeface="Century Gothic"/>
                <a:cs typeface="Century Gothic"/>
              </a:rPr>
              <a:t>Format</a:t>
            </a:r>
          </a:p>
          <a:p>
            <a:pPr marL="0" indent="0" algn="l">
              <a:lnSpc>
                <a:spcPct val="108000"/>
              </a:lnSpc>
              <a:spcBef>
                <a:spcPts val="440"/>
              </a:spcBef>
              <a:buNone/>
            </a:pPr>
            <a:r>
              <a:rPr lang="en-US" sz="1800" dirty="0">
                <a:solidFill>
                  <a:srgbClr val="000000"/>
                </a:solidFill>
                <a:latin typeface="Century Gothic"/>
                <a:cs typeface="Century Gothic"/>
              </a:rPr>
              <a:t>Use an RStudio Project with relative paths.</a:t>
            </a:r>
          </a:p>
          <a:p>
            <a:pPr marL="0" indent="0" algn="l">
              <a:lnSpc>
                <a:spcPct val="108000"/>
              </a:lnSpc>
              <a:spcBef>
                <a:spcPts val="440"/>
              </a:spcBef>
              <a:buNone/>
            </a:pPr>
            <a:r>
              <a:rPr lang="en-US" sz="1800" dirty="0">
                <a:solidFill>
                  <a:srgbClr val="000000"/>
                </a:solidFill>
                <a:latin typeface="Century Gothic"/>
                <a:cs typeface="Century Gothic"/>
              </a:rPr>
              <a:t>Name files clearly: Surname_Phase1_Assignment.R</a:t>
            </a:r>
          </a:p>
          <a:p>
            <a:pPr>
              <a:buNone/>
            </a:pPr>
            <a:endParaRPr sz="1050"/>
          </a:p>
        </p:txBody>
      </p:sp>
      <p:sp>
        <p:nvSpPr>
          <p:cNvPr id="40" name="Callout"/>
          <p:cNvSpPr/>
          <p:nvPr/>
        </p:nvSpPr>
        <p:spPr>
          <a:xfrm>
            <a:off x="457200" y="5070000"/>
            <a:ext cx="11277600" cy="810000"/>
          </a:xfrm>
          <a:prstGeom prst="roundRect">
            <a:avLst>
              <a:gd name="adj" fmla="val 6000"/>
            </a:avLst>
          </a:prstGeom>
          <a:solidFill>
            <a:srgbClr val="FBE9E7"/>
          </a:solidFill>
          <a:ln>
            <a:noFill/>
          </a:ln>
        </p:spPr>
        <p:txBody>
          <a:bodyPr wrap="square" lIns="137160" tIns="91440" rIns="137160" bIns="91440" rtlCol="0" anchor="t"/>
          <a:lstStyle/>
          <a:p>
            <a:pPr marL="0" indent="0" algn="l">
              <a:buNone/>
            </a:pPr>
            <a:r>
              <a:rPr lang="en-US" sz="1300" b="1" dirty="0">
                <a:solidFill>
                  <a:srgbClr val="B23B2E"/>
                </a:solidFill>
                <a:latin typeface="Century Gothic"/>
                <a:cs typeface="Century Gothic"/>
              </a:rPr>
              <a:t>WARNING  -  Academic integrity</a:t>
            </a:r>
          </a:p>
          <a:p>
            <a:pPr marL="0" indent="0" algn="l">
              <a:spcBef>
                <a:spcPts val="100"/>
              </a:spcBef>
              <a:buNone/>
            </a:pPr>
            <a:r>
              <a:rPr lang="en-US" sz="1300" dirty="0">
                <a:solidFill>
                  <a:srgbClr val="000000"/>
                </a:solidFill>
                <a:latin typeface="Century Gothic"/>
                <a:cs typeface="Century Gothic"/>
              </a:rPr>
              <a:t>Work independently. You may use the course scripts and notes, but the analysis and writing must be your own.</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Century Gothic"/>
                <a:cs typeface="Century Gothic"/>
              </a:rPr>
              <a:t>Marking Rubric (out of 100%)</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graphicFrame>
        <p:nvGraphicFramePr>
          <p:cNvPr id="30" name="Table"/>
          <p:cNvGraphicFramePr/>
          <p:nvPr/>
        </p:nvGraphicFramePr>
        <p:xfrm>
          <a:off x="457200" y="1150000"/>
          <a:ext cx="11277600" cy="3040000"/>
        </p:xfrm>
        <a:graphic>
          <a:graphicData uri="http://schemas.openxmlformats.org/drawingml/2006/table">
            <a:tbl>
              <a:tblPr firstRow="1" bandRow="1">
                <a:tableStyleId>{5C22544A-7EE6-4342-B048-85BDC9FD1C3A}</a:tableStyleId>
              </a:tblPr>
              <a:tblGrid>
                <a:gridCol w="3759200"/>
                <a:gridCol w="3759200"/>
                <a:gridCol w="3759200"/>
              </a:tblGrid>
              <a:tr h="380000">
                <a:tc>
                  <a:txBody>
                    <a:bodyPr/>
                    <a:lstStyle/>
                    <a:p>
                      <a:pPr algn="l"/>
                      <a:r>
                        <a:rPr lang="en-US" sz="1300" b="1" dirty="0">
                          <a:solidFill>
                            <a:srgbClr val="FFFFFF"/>
                          </a:solidFill>
                          <a:latin typeface="Century Gothic"/>
                        </a:rPr>
                        <a:t>Component</a:t>
                      </a:r>
                    </a:p>
                  </a:txBody>
                  <a:tcPr marL="73152" marR="73152" marT="36576" marB="36576" anchor="ctr">
                    <a:solidFill>
                      <a:srgbClr val="0D7377"/>
                    </a:solidFill>
                  </a:tcPr>
                </a:tc>
                <a:tc>
                  <a:txBody>
                    <a:bodyPr/>
                    <a:lstStyle/>
                    <a:p>
                      <a:pPr algn="l"/>
                      <a:r>
                        <a:rPr lang="en-US" sz="1300" b="1" dirty="0">
                          <a:solidFill>
                            <a:srgbClr val="FFFFFF"/>
                          </a:solidFill>
                          <a:latin typeface="Century Gothic"/>
                        </a:rPr>
                        <a:t>What is assessed</a:t>
                      </a:r>
                    </a:p>
                  </a:txBody>
                  <a:tcPr marL="73152" marR="73152" marT="36576" marB="36576" anchor="ctr">
                    <a:solidFill>
                      <a:srgbClr val="0D7377"/>
                    </a:solidFill>
                  </a:tcPr>
                </a:tc>
                <a:tc>
                  <a:txBody>
                    <a:bodyPr/>
                    <a:lstStyle/>
                    <a:p>
                      <a:pPr algn="l"/>
                      <a:r>
                        <a:rPr lang="en-US" sz="1300" b="1" dirty="0">
                          <a:solidFill>
                            <a:srgbClr val="FFFFFF"/>
                          </a:solidFill>
                          <a:latin typeface="Century Gothic"/>
                        </a:rPr>
                        <a:t>Marks</a:t>
                      </a:r>
                    </a:p>
                  </a:txBody>
                  <a:tcPr marL="73152" marR="73152" marT="36576" marB="36576" anchor="ctr">
                    <a:solidFill>
                      <a:srgbClr val="0D7377"/>
                    </a:solidFill>
                  </a:tcPr>
                </a:tc>
              </a:tr>
              <a:tr h="380000">
                <a:tc>
                  <a:txBody>
                    <a:bodyPr/>
                    <a:lstStyle/>
                    <a:p>
                      <a:pPr algn="l"/>
                      <a:r>
                        <a:rPr lang="en-US" sz="1300" b="0" dirty="0">
                          <a:solidFill>
                            <a:srgbClr val="000000"/>
                          </a:solidFill>
                          <a:latin typeface="Century Gothic"/>
                        </a:rPr>
                        <a:t>Data import &amp; cleaning</a:t>
                      </a:r>
                    </a:p>
                  </a:txBody>
                  <a:tcPr marL="73152" marR="73152" marT="36576" marB="36576" anchor="ctr">
                    <a:solidFill>
                      <a:srgbClr val="FFFFFF"/>
                    </a:solidFill>
                  </a:tcPr>
                </a:tc>
                <a:tc>
                  <a:txBody>
                    <a:bodyPr/>
                    <a:lstStyle/>
                    <a:p>
                      <a:pPr algn="l"/>
                      <a:r>
                        <a:rPr lang="en-US" sz="1300" b="0" dirty="0">
                          <a:solidFill>
                            <a:srgbClr val="000000"/>
                          </a:solidFill>
                          <a:latin typeface="Century Gothic"/>
                        </a:rPr>
                        <a:t>Correct import, missing codes, validation, recoding</a:t>
                      </a:r>
                    </a:p>
                  </a:txBody>
                  <a:tcPr marL="73152" marR="73152" marT="36576" marB="36576" anchor="ctr">
                    <a:solidFill>
                      <a:srgbClr val="FFFFFF"/>
                    </a:solidFill>
                  </a:tcPr>
                </a:tc>
                <a:tc>
                  <a:txBody>
                    <a:bodyPr/>
                    <a:lstStyle/>
                    <a:p>
                      <a:pPr algn="l"/>
                      <a:r>
                        <a:rPr lang="en-US" sz="1300" b="0" dirty="0">
                          <a:solidFill>
                            <a:srgbClr val="000000"/>
                          </a:solidFill>
                          <a:latin typeface="Century Gothic"/>
                        </a:rPr>
                        <a:t>20</a:t>
                      </a:r>
                    </a:p>
                  </a:txBody>
                  <a:tcPr marL="73152" marR="73152" marT="36576" marB="36576" anchor="ctr">
                    <a:solidFill>
                      <a:srgbClr val="FFFFFF"/>
                    </a:solidFill>
                  </a:tcPr>
                </a:tc>
              </a:tr>
              <a:tr h="380000">
                <a:tc>
                  <a:txBody>
                    <a:bodyPr/>
                    <a:lstStyle/>
                    <a:p>
                      <a:pPr algn="l"/>
                      <a:r>
                        <a:rPr lang="en-US" sz="1300" b="0" dirty="0">
                          <a:solidFill>
                            <a:srgbClr val="000000"/>
                          </a:solidFill>
                          <a:latin typeface="Century Gothic"/>
                        </a:rPr>
                        <a:t>Descriptive statistics</a:t>
                      </a:r>
                    </a:p>
                  </a:txBody>
                  <a:tcPr marL="73152" marR="73152" marT="36576" marB="36576" anchor="ctr">
                    <a:solidFill>
                      <a:srgbClr val="FFFFFF"/>
                    </a:solidFill>
                  </a:tcPr>
                </a:tc>
                <a:tc>
                  <a:txBody>
                    <a:bodyPr/>
                    <a:lstStyle/>
                    <a:p>
                      <a:pPr algn="l"/>
                      <a:r>
                        <a:rPr lang="en-US" sz="1300" b="0" dirty="0">
                          <a:solidFill>
                            <a:srgbClr val="000000"/>
                          </a:solidFill>
                          <a:latin typeface="Century Gothic"/>
                        </a:rPr>
                        <a:t>Appropriate summaries and a correct Table 1</a:t>
                      </a:r>
                    </a:p>
                  </a:txBody>
                  <a:tcPr marL="73152" marR="73152" marT="36576" marB="36576" anchor="ctr">
                    <a:solidFill>
                      <a:srgbClr val="FFFFFF"/>
                    </a:solidFill>
                  </a:tcPr>
                </a:tc>
                <a:tc>
                  <a:txBody>
                    <a:bodyPr/>
                    <a:lstStyle/>
                    <a:p>
                      <a:pPr algn="l"/>
                      <a:r>
                        <a:rPr lang="en-US" sz="1300" b="0" dirty="0">
                          <a:solidFill>
                            <a:srgbClr val="000000"/>
                          </a:solidFill>
                          <a:latin typeface="Century Gothic"/>
                        </a:rPr>
                        <a:t>15</a:t>
                      </a:r>
                    </a:p>
                  </a:txBody>
                  <a:tcPr marL="73152" marR="73152" marT="36576" marB="36576" anchor="ctr">
                    <a:solidFill>
                      <a:srgbClr val="FFFFFF"/>
                    </a:solidFill>
                  </a:tcPr>
                </a:tc>
              </a:tr>
              <a:tr h="380000">
                <a:tc>
                  <a:txBody>
                    <a:bodyPr/>
                    <a:lstStyle/>
                    <a:p>
                      <a:pPr algn="l"/>
                      <a:r>
                        <a:rPr lang="en-US" sz="1300" b="0" dirty="0">
                          <a:solidFill>
                            <a:srgbClr val="000000"/>
                          </a:solidFill>
                          <a:latin typeface="Century Gothic"/>
                        </a:rPr>
                        <a:t>Figures</a:t>
                      </a:r>
                    </a:p>
                  </a:txBody>
                  <a:tcPr marL="73152" marR="73152" marT="36576" marB="36576" anchor="ctr">
                    <a:solidFill>
                      <a:srgbClr val="FFFFFF"/>
                    </a:solidFill>
                  </a:tcPr>
                </a:tc>
                <a:tc>
                  <a:txBody>
                    <a:bodyPr/>
                    <a:lstStyle/>
                    <a:p>
                      <a:pPr algn="l"/>
                      <a:r>
                        <a:rPr lang="en-US" sz="1300" b="0" dirty="0">
                          <a:solidFill>
                            <a:srgbClr val="000000"/>
                          </a:solidFill>
                          <a:latin typeface="Century Gothic"/>
                        </a:rPr>
                        <a:t>Two clear, correctly labelled, publication-quality figures</a:t>
                      </a:r>
                    </a:p>
                  </a:txBody>
                  <a:tcPr marL="73152" marR="73152" marT="36576" marB="36576" anchor="ctr">
                    <a:solidFill>
                      <a:srgbClr val="FFFFFF"/>
                    </a:solidFill>
                  </a:tcPr>
                </a:tc>
                <a:tc>
                  <a:txBody>
                    <a:bodyPr/>
                    <a:lstStyle/>
                    <a:p>
                      <a:pPr algn="l"/>
                      <a:r>
                        <a:rPr lang="en-US" sz="1300" b="0" dirty="0">
                          <a:solidFill>
                            <a:srgbClr val="000000"/>
                          </a:solidFill>
                          <a:latin typeface="Century Gothic"/>
                        </a:rPr>
                        <a:t>10</a:t>
                      </a:r>
                    </a:p>
                  </a:txBody>
                  <a:tcPr marL="73152" marR="73152" marT="36576" marB="36576" anchor="ctr">
                    <a:solidFill>
                      <a:srgbClr val="FFFFFF"/>
                    </a:solidFill>
                  </a:tcPr>
                </a:tc>
              </a:tr>
              <a:tr h="380000">
                <a:tc>
                  <a:txBody>
                    <a:bodyPr/>
                    <a:lstStyle/>
                    <a:p>
                      <a:pPr algn="l"/>
                      <a:r>
                        <a:rPr lang="en-US" sz="1300" b="0" dirty="0">
                          <a:solidFill>
                            <a:srgbClr val="000000"/>
                          </a:solidFill>
                          <a:latin typeface="Century Gothic"/>
                        </a:rPr>
                        <a:t>Statistical tests</a:t>
                      </a:r>
                    </a:p>
                  </a:txBody>
                  <a:tcPr marL="73152" marR="73152" marT="36576" marB="36576" anchor="ctr">
                    <a:solidFill>
                      <a:srgbClr val="FFFFFF"/>
                    </a:solidFill>
                  </a:tcPr>
                </a:tc>
                <a:tc>
                  <a:txBody>
                    <a:bodyPr/>
                    <a:lstStyle/>
                    <a:p>
                      <a:pPr algn="l"/>
                      <a:r>
                        <a:rPr lang="en-US" sz="1300" b="0" dirty="0">
                          <a:solidFill>
                            <a:srgbClr val="000000"/>
                          </a:solidFill>
                          <a:latin typeface="Century Gothic"/>
                        </a:rPr>
                        <a:t>Right test chosen and correctly applied</a:t>
                      </a:r>
                    </a:p>
                  </a:txBody>
                  <a:tcPr marL="73152" marR="73152" marT="36576" marB="36576" anchor="ctr">
                    <a:solidFill>
                      <a:srgbClr val="FFFFFF"/>
                    </a:solidFill>
                  </a:tcPr>
                </a:tc>
                <a:tc>
                  <a:txBody>
                    <a:bodyPr/>
                    <a:lstStyle/>
                    <a:p>
                      <a:pPr algn="l"/>
                      <a:r>
                        <a:rPr lang="en-US" sz="1300" b="0" dirty="0">
                          <a:solidFill>
                            <a:srgbClr val="000000"/>
                          </a:solidFill>
                          <a:latin typeface="Century Gothic"/>
                        </a:rPr>
                        <a:t>15</a:t>
                      </a:r>
                    </a:p>
                  </a:txBody>
                  <a:tcPr marL="73152" marR="73152" marT="36576" marB="36576" anchor="ctr">
                    <a:solidFill>
                      <a:srgbClr val="FFFFFF"/>
                    </a:solidFill>
                  </a:tcPr>
                </a:tc>
              </a:tr>
              <a:tr h="380000">
                <a:tc>
                  <a:txBody>
                    <a:bodyPr/>
                    <a:lstStyle/>
                    <a:p>
                      <a:pPr algn="l"/>
                      <a:r>
                        <a:rPr lang="en-US" sz="1300" b="0" dirty="0">
                          <a:solidFill>
                            <a:srgbClr val="000000"/>
                          </a:solidFill>
                          <a:latin typeface="Century Gothic"/>
                        </a:rPr>
                        <a:t>Regression modelling</a:t>
                      </a:r>
                    </a:p>
                  </a:txBody>
                  <a:tcPr marL="73152" marR="73152" marT="36576" marB="36576" anchor="ctr">
                    <a:solidFill>
                      <a:srgbClr val="FFFFFF"/>
                    </a:solidFill>
                  </a:tcPr>
                </a:tc>
                <a:tc>
                  <a:txBody>
                    <a:bodyPr/>
                    <a:lstStyle/>
                    <a:p>
                      <a:pPr algn="l"/>
                      <a:r>
                        <a:rPr lang="en-US" sz="1300" b="0" dirty="0">
                          <a:solidFill>
                            <a:srgbClr val="000000"/>
                          </a:solidFill>
                          <a:latin typeface="Century Gothic"/>
                        </a:rPr>
                        <a:t>Sound univariable &amp; multivariable logistic models</a:t>
                      </a:r>
                    </a:p>
                  </a:txBody>
                  <a:tcPr marL="73152" marR="73152" marT="36576" marB="36576" anchor="ctr">
                    <a:solidFill>
                      <a:srgbClr val="FFFFFF"/>
                    </a:solidFill>
                  </a:tcPr>
                </a:tc>
                <a:tc>
                  <a:txBody>
                    <a:bodyPr/>
                    <a:lstStyle/>
                    <a:p>
                      <a:pPr algn="l"/>
                      <a:r>
                        <a:rPr lang="en-US" sz="1300" b="0" dirty="0">
                          <a:solidFill>
                            <a:srgbClr val="000000"/>
                          </a:solidFill>
                          <a:latin typeface="Century Gothic"/>
                        </a:rPr>
                        <a:t>20</a:t>
                      </a:r>
                    </a:p>
                  </a:txBody>
                  <a:tcPr marL="73152" marR="73152" marT="36576" marB="36576" anchor="ctr">
                    <a:solidFill>
                      <a:srgbClr val="FFFFFF"/>
                    </a:solidFill>
                  </a:tcPr>
                </a:tc>
              </a:tr>
              <a:tr h="380000">
                <a:tc>
                  <a:txBody>
                    <a:bodyPr/>
                    <a:lstStyle/>
                    <a:p>
                      <a:pPr algn="l"/>
                      <a:r>
                        <a:rPr lang="en-US" sz="1300" b="0" dirty="0">
                          <a:solidFill>
                            <a:srgbClr val="000000"/>
                          </a:solidFill>
                          <a:latin typeface="Century Gothic"/>
                        </a:rPr>
                        <a:t>Interpretation &amp; Results</a:t>
                      </a:r>
                    </a:p>
                  </a:txBody>
                  <a:tcPr marL="73152" marR="73152" marT="36576" marB="36576" anchor="ctr">
                    <a:solidFill>
                      <a:srgbClr val="FFFFFF"/>
                    </a:solidFill>
                  </a:tcPr>
                </a:tc>
                <a:tc>
                  <a:txBody>
                    <a:bodyPr/>
                    <a:lstStyle/>
                    <a:p>
                      <a:pPr algn="l"/>
                      <a:r>
                        <a:rPr lang="en-US" sz="1300" b="0" dirty="0">
                          <a:solidFill>
                            <a:srgbClr val="000000"/>
                          </a:solidFill>
                          <a:latin typeface="Century Gothic"/>
                        </a:rPr>
                        <a:t>Accurate ORs/CIs and clear clinical writing</a:t>
                      </a:r>
                    </a:p>
                  </a:txBody>
                  <a:tcPr marL="73152" marR="73152" marT="36576" marB="36576" anchor="ctr">
                    <a:solidFill>
                      <a:srgbClr val="FFFFFF"/>
                    </a:solidFill>
                  </a:tcPr>
                </a:tc>
                <a:tc>
                  <a:txBody>
                    <a:bodyPr/>
                    <a:lstStyle/>
                    <a:p>
                      <a:pPr algn="l"/>
                      <a:r>
                        <a:rPr lang="en-US" sz="1300" b="0" dirty="0">
                          <a:solidFill>
                            <a:srgbClr val="000000"/>
                          </a:solidFill>
                          <a:latin typeface="Century Gothic"/>
                        </a:rPr>
                        <a:t>15</a:t>
                      </a:r>
                    </a:p>
                  </a:txBody>
                  <a:tcPr marL="73152" marR="73152" marT="36576" marB="36576" anchor="ctr">
                    <a:solidFill>
                      <a:srgbClr val="FFFFFF"/>
                    </a:solidFill>
                  </a:tcPr>
                </a:tc>
              </a:tr>
              <a:tr h="380000">
                <a:tc>
                  <a:txBody>
                    <a:bodyPr/>
                    <a:lstStyle/>
                    <a:p>
                      <a:pPr algn="l"/>
                      <a:r>
                        <a:rPr lang="en-US" sz="1300" b="0" dirty="0">
                          <a:solidFill>
                            <a:srgbClr val="000000"/>
                          </a:solidFill>
                          <a:latin typeface="Century Gothic"/>
                        </a:rPr>
                        <a:t>Reproducibility &amp; code quality</a:t>
                      </a:r>
                    </a:p>
                  </a:txBody>
                  <a:tcPr marL="73152" marR="73152" marT="36576" marB="36576" anchor="ctr">
                    <a:solidFill>
                      <a:srgbClr val="FFFFFF"/>
                    </a:solidFill>
                  </a:tcPr>
                </a:tc>
                <a:tc>
                  <a:txBody>
                    <a:bodyPr/>
                    <a:lstStyle/>
                    <a:p>
                      <a:pPr algn="l"/>
                      <a:r>
                        <a:rPr lang="en-US" sz="1300" b="0" dirty="0">
                          <a:solidFill>
                            <a:srgbClr val="000000"/>
                          </a:solidFill>
                          <a:latin typeface="Century Gothic"/>
                        </a:rPr>
                        <a:t>Runs end-to-end; clean, commented, relative paths</a:t>
                      </a:r>
                    </a:p>
                  </a:txBody>
                  <a:tcPr marL="73152" marR="73152" marT="36576" marB="36576" anchor="ctr">
                    <a:solidFill>
                      <a:srgbClr val="FFFFFF"/>
                    </a:solidFill>
                  </a:tcPr>
                </a:tc>
                <a:tc>
                  <a:txBody>
                    <a:bodyPr/>
                    <a:lstStyle/>
                    <a:p>
                      <a:pPr algn="l"/>
                      <a:r>
                        <a:rPr lang="en-US" sz="1300" b="0" dirty="0">
                          <a:solidFill>
                            <a:srgbClr val="000000"/>
                          </a:solidFill>
                          <a:latin typeface="Century Gothic"/>
                        </a:rPr>
                        <a:t>5</a:t>
                      </a:r>
                    </a:p>
                  </a:txBody>
                  <a:tcPr marL="73152" marR="73152" marT="36576" marB="36576" anchor="ctr">
                    <a:solidFill>
                      <a:srgbClr val="FFFFFF"/>
                    </a:solidFill>
                  </a:tcPr>
                </a:tc>
              </a:tr>
            </a:tbl>
          </a:graphicData>
        </a:graphic>
      </p:graphicFrame>
      <p:sp>
        <p:nvSpPr>
          <p:cNvPr id="31" name="Caption"/>
          <p:cNvSpPr txBox="1"/>
          <p:nvPr/>
        </p:nvSpPr>
        <p:spPr>
          <a:xfrm>
            <a:off x="457200" y="5000000"/>
            <a:ext cx="11277600" cy="500000"/>
          </a:xfrm>
          <a:prstGeom prst="rect">
            <a:avLst/>
          </a:prstGeom>
          <a:noFill/>
          <a:ln>
            <a:noFill/>
          </a:ln>
        </p:spPr>
        <p:txBody>
          <a:bodyPr wrap="square" lIns="91440" tIns="45720" rIns="91440" bIns="45720" rtlCol="0" anchor="t"/>
          <a:lstStyle/>
          <a:p>
            <a:pPr marL="0" indent="0" algn="l">
              <a:buNone/>
            </a:pPr>
            <a:r>
              <a:rPr lang="en-US" sz="1300" i="1" dirty="0">
                <a:solidFill>
                  <a:srgbClr val="595959"/>
                </a:solidFill>
                <a:latin typeface="Century Gothic"/>
                <a:cs typeface="Century Gothic"/>
              </a:rPr>
              <a:t>Total = 100%. A detailed marking guide is provided to instructors.</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Century Gothic"/>
                <a:cs typeface="Century Gothic"/>
              </a:rPr>
              <a:t>Marking Guide - What Earns Full Marks</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1" name="Col"/>
          <p:cNvSpPr txBox="1"/>
          <p:nvPr/>
        </p:nvSpPr>
        <p:spPr>
          <a:xfrm>
            <a:off x="457200" y="1150000"/>
            <a:ext cx="5478780" cy="5050000"/>
          </a:xfrm>
          <a:prstGeom prst="rect">
            <a:avLst/>
          </a:prstGeom>
          <a:noFill/>
          <a:ln>
            <a:noFill/>
          </a:ln>
        </p:spPr>
        <p:txBody>
          <a:bodyPr wrap="square" lIns="91440" tIns="45720" rIns="91440" bIns="45720" rtlCol="0" anchor="t"/>
          <a:lstStyle/>
          <a:p>
            <a:pPr marL="0" indent="0" algn="l">
              <a:buNone/>
            </a:pPr>
            <a:r>
              <a:rPr lang="en-US" sz="2050" b="1" dirty="0">
                <a:solidFill>
                  <a:srgbClr val="0D7377"/>
                </a:solidFill>
                <a:latin typeface="Century Gothic"/>
                <a:cs typeface="Century Gothic"/>
              </a:rPr>
              <a:t>Strong submission</a:t>
            </a:r>
          </a:p>
          <a:p>
            <a:pPr marL="274320" indent="-274320" algn="l">
              <a:lnSpc>
                <a:spcPct val="106000"/>
              </a:lnSpc>
              <a:spcBef>
                <a:spcPts val="520"/>
              </a:spcBef>
              <a:buFont typeface="Arial"/>
              <a:buChar char="•"/>
            </a:pPr>
            <a:r>
              <a:rPr lang="en-US" sz="1650" dirty="0">
                <a:solidFill>
                  <a:srgbClr val="000000"/>
                </a:solidFill>
                <a:latin typeface="Century Gothic"/>
                <a:cs typeface="Century Gothic"/>
              </a:rPr>
              <a:t>Handles all messiness (dups, sentinels, impossible values).</a:t>
            </a:r>
          </a:p>
          <a:p>
            <a:pPr marL="274320" indent="-274320" algn="l">
              <a:lnSpc>
                <a:spcPct val="106000"/>
              </a:lnSpc>
              <a:spcBef>
                <a:spcPts val="520"/>
              </a:spcBef>
              <a:buFont typeface="Arial"/>
              <a:buChar char="•"/>
            </a:pPr>
            <a:r>
              <a:rPr lang="en-US" sz="1650" dirty="0">
                <a:solidFill>
                  <a:srgbClr val="000000"/>
                </a:solidFill>
                <a:latin typeface="Century Gothic"/>
                <a:cs typeface="Century Gothic"/>
              </a:rPr>
              <a:t>Table 1 stratified by uptake with sensible tests.</a:t>
            </a:r>
          </a:p>
          <a:p>
            <a:pPr marL="274320" indent="-274320" algn="l">
              <a:lnSpc>
                <a:spcPct val="106000"/>
              </a:lnSpc>
              <a:spcBef>
                <a:spcPts val="520"/>
              </a:spcBef>
              <a:buFont typeface="Arial"/>
              <a:buChar char="•"/>
            </a:pPr>
            <a:r>
              <a:rPr lang="en-US" sz="1650" dirty="0">
                <a:solidFill>
                  <a:srgbClr val="000000"/>
                </a:solidFill>
                <a:latin typeface="Century Gothic"/>
                <a:cs typeface="Century Gothic"/>
              </a:rPr>
              <a:t>Adjusted ORs with 95% CIs and correct reference levels.</a:t>
            </a:r>
          </a:p>
          <a:p>
            <a:pPr marL="274320" indent="-274320" algn="l">
              <a:lnSpc>
                <a:spcPct val="106000"/>
              </a:lnSpc>
              <a:spcBef>
                <a:spcPts val="520"/>
              </a:spcBef>
              <a:buFont typeface="Arial"/>
              <a:buChar char="•"/>
            </a:pPr>
            <a:r>
              <a:rPr lang="en-US" sz="1650" dirty="0">
                <a:solidFill>
                  <a:srgbClr val="000000"/>
                </a:solidFill>
                <a:latin typeface="Century Gothic"/>
                <a:cs typeface="Century Gothic"/>
              </a:rPr>
              <a:t>Results paragraph matches the numbers and is clinically framed.</a:t>
            </a:r>
          </a:p>
          <a:p>
            <a:pPr marL="274320" indent="-274320" algn="l">
              <a:lnSpc>
                <a:spcPct val="106000"/>
              </a:lnSpc>
              <a:spcBef>
                <a:spcPts val="520"/>
              </a:spcBef>
              <a:buFont typeface="Arial"/>
              <a:buChar char="•"/>
            </a:pPr>
            <a:r>
              <a:rPr lang="en-US" sz="1650" dirty="0">
                <a:solidFill>
                  <a:srgbClr val="000000"/>
                </a:solidFill>
                <a:latin typeface="Century Gothic"/>
                <a:cs typeface="Century Gothic"/>
              </a:rPr>
              <a:t>One script runs cleanly from raw data to outputs.</a:t>
            </a:r>
          </a:p>
        </p:txBody>
      </p:sp>
      <p:sp>
        <p:nvSpPr>
          <p:cNvPr id="22" name="Col"/>
          <p:cNvSpPr txBox="1"/>
          <p:nvPr/>
        </p:nvSpPr>
        <p:spPr>
          <a:xfrm>
            <a:off x="6256020" y="1150000"/>
            <a:ext cx="5478780" cy="5050000"/>
          </a:xfrm>
          <a:prstGeom prst="rect">
            <a:avLst/>
          </a:prstGeom>
          <a:noFill/>
          <a:ln>
            <a:noFill/>
          </a:ln>
        </p:spPr>
        <p:txBody>
          <a:bodyPr wrap="square" lIns="91440" tIns="45720" rIns="91440" bIns="45720" rtlCol="0" anchor="t"/>
          <a:lstStyle/>
          <a:p>
            <a:pPr marL="0" indent="0" algn="l">
              <a:buNone/>
            </a:pPr>
            <a:r>
              <a:rPr lang="en-US" sz="2050" b="1" dirty="0">
                <a:solidFill>
                  <a:srgbClr val="0D7377"/>
                </a:solidFill>
                <a:latin typeface="Century Gothic"/>
                <a:cs typeface="Century Gothic"/>
              </a:rPr>
              <a:t>Common mark losses</a:t>
            </a:r>
          </a:p>
          <a:p>
            <a:pPr marL="274320" indent="-274320" algn="l">
              <a:lnSpc>
                <a:spcPct val="106000"/>
              </a:lnSpc>
              <a:spcBef>
                <a:spcPts val="520"/>
              </a:spcBef>
              <a:buFont typeface="Arial"/>
              <a:buChar char="•"/>
            </a:pPr>
            <a:r>
              <a:rPr lang="en-US" sz="1650" dirty="0">
                <a:solidFill>
                  <a:srgbClr val="000000"/>
                </a:solidFill>
                <a:latin typeface="Century Gothic"/>
                <a:cs typeface="Century Gothic"/>
              </a:rPr>
              <a:t>Leaving 999 / -99 as real numbers.</a:t>
            </a:r>
          </a:p>
          <a:p>
            <a:pPr marL="274320" indent="-274320" algn="l">
              <a:lnSpc>
                <a:spcPct val="106000"/>
              </a:lnSpc>
              <a:spcBef>
                <a:spcPts val="520"/>
              </a:spcBef>
              <a:buFont typeface="Arial"/>
              <a:buChar char="•"/>
            </a:pPr>
            <a:r>
              <a:rPr lang="en-US" sz="1650" dirty="0">
                <a:solidFill>
                  <a:srgbClr val="000000"/>
                </a:solidFill>
                <a:latin typeface="Century Gothic"/>
                <a:cs typeface="Century Gothic"/>
              </a:rPr>
              <a:t>Analysing all 1,500 instead of diagnosed patients.</a:t>
            </a:r>
          </a:p>
          <a:p>
            <a:pPr marL="274320" indent="-274320" algn="l">
              <a:lnSpc>
                <a:spcPct val="106000"/>
              </a:lnSpc>
              <a:spcBef>
                <a:spcPts val="520"/>
              </a:spcBef>
              <a:buFont typeface="Arial"/>
              <a:buChar char="•"/>
            </a:pPr>
            <a:r>
              <a:rPr lang="en-US" sz="1650" dirty="0">
                <a:solidFill>
                  <a:srgbClr val="000000"/>
                </a:solidFill>
                <a:latin typeface="Century Gothic"/>
                <a:cs typeface="Century Gothic"/>
              </a:rPr>
              <a:t>Reporting log-odds instead of odds ratios.</a:t>
            </a:r>
          </a:p>
          <a:p>
            <a:pPr marL="274320" indent="-274320" algn="l">
              <a:lnSpc>
                <a:spcPct val="106000"/>
              </a:lnSpc>
              <a:spcBef>
                <a:spcPts val="520"/>
              </a:spcBef>
              <a:buFont typeface="Arial"/>
              <a:buChar char="•"/>
            </a:pPr>
            <a:r>
              <a:rPr lang="en-US" sz="1650" dirty="0">
                <a:solidFill>
                  <a:srgbClr val="000000"/>
                </a:solidFill>
                <a:latin typeface="Century Gothic"/>
                <a:cs typeface="Century Gothic"/>
              </a:rPr>
              <a:t>Interpreting a non-significant result as 'no effect'.</a:t>
            </a:r>
          </a:p>
          <a:p>
            <a:pPr marL="274320" indent="-274320" algn="l">
              <a:lnSpc>
                <a:spcPct val="106000"/>
              </a:lnSpc>
              <a:spcBef>
                <a:spcPts val="520"/>
              </a:spcBef>
              <a:buFont typeface="Arial"/>
              <a:buChar char="•"/>
            </a:pPr>
            <a:r>
              <a:rPr lang="en-US" sz="1650" dirty="0">
                <a:solidFill>
                  <a:srgbClr val="000000"/>
                </a:solidFill>
                <a:latin typeface="Century Gothic"/>
                <a:cs typeface="Century Gothic"/>
              </a:rPr>
              <a:t>Absolute paths that break on another computer.</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Century Gothic"/>
                <a:cs typeface="Century Gothic"/>
              </a:rPr>
              <a:t>Resources &amp; Further Reading</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Body"/>
          <p:cNvSpPr txBox="1"/>
          <p:nvPr/>
        </p:nvSpPr>
        <p:spPr>
          <a:xfrm>
            <a:off x="457200" y="1080000"/>
            <a:ext cx="11277600" cy="3150000"/>
          </a:xfrm>
          <a:prstGeom prst="rect">
            <a:avLst/>
          </a:prstGeom>
          <a:noFill/>
          <a:ln>
            <a:noFill/>
          </a:ln>
        </p:spPr>
        <p:txBody>
          <a:bodyPr wrap="square" lIns="91440" tIns="45720" rIns="91440" bIns="45720" rtlCol="0" anchor="t"/>
          <a:lstStyle/>
          <a:p>
            <a:pPr marL="0" indent="0" algn="l">
              <a:spcBef>
                <a:spcPts val="360"/>
              </a:spcBef>
              <a:buNone/>
            </a:pPr>
            <a:r>
              <a:rPr lang="en-US" sz="2050" b="1" dirty="0">
                <a:solidFill>
                  <a:srgbClr val="0D7377"/>
                </a:solidFill>
                <a:latin typeface="Century Gothic"/>
                <a:cs typeface="Century Gothic"/>
              </a:rPr>
              <a:t>In your course pack</a:t>
            </a:r>
          </a:p>
          <a:p>
            <a:pPr marL="0" indent="0" algn="l">
              <a:lnSpc>
                <a:spcPct val="108000"/>
              </a:lnSpc>
              <a:spcBef>
                <a:spcPts val="440"/>
              </a:spcBef>
              <a:buNone/>
            </a:pPr>
            <a:r>
              <a:rPr lang="en-US" sz="1800" dirty="0">
                <a:solidFill>
                  <a:srgbClr val="000000"/>
                </a:solidFill>
                <a:latin typeface="Century Gothic"/>
                <a:cs typeface="Century Gothic"/>
              </a:rPr>
              <a:t>R command reference sheet and package installation guide.</a:t>
            </a:r>
          </a:p>
          <a:p>
            <a:pPr marL="0" indent="0" algn="l">
              <a:lnSpc>
                <a:spcPct val="108000"/>
              </a:lnSpc>
              <a:spcBef>
                <a:spcPts val="440"/>
              </a:spcBef>
              <a:buNone/>
            </a:pPr>
            <a:r>
              <a:rPr lang="en-US" sz="1800" dirty="0">
                <a:solidFill>
                  <a:srgbClr val="000000"/>
                </a:solidFill>
                <a:latin typeface="Century Gothic"/>
                <a:cs typeface="Century Gothic"/>
              </a:rPr>
              <a:t>All demonstration scripts and worked solutions.</a:t>
            </a:r>
          </a:p>
          <a:p>
            <a:pPr marL="0" indent="0" algn="l">
              <a:lnSpc>
                <a:spcPct val="108000"/>
              </a:lnSpc>
              <a:spcBef>
                <a:spcPts val="440"/>
              </a:spcBef>
              <a:buNone/>
            </a:pPr>
            <a:r>
              <a:rPr lang="en-US" sz="1800" dirty="0">
                <a:solidFill>
                  <a:srgbClr val="000000"/>
                </a:solidFill>
                <a:latin typeface="Century Gothic"/>
                <a:cs typeface="Century Gothic"/>
              </a:rPr>
              <a:t>The dataset, data dictionary and this slide deck.</a:t>
            </a:r>
          </a:p>
          <a:p>
            <a:pPr>
              <a:buNone/>
            </a:pPr>
            <a:endParaRPr sz="1050"/>
          </a:p>
          <a:p>
            <a:pPr marL="0" indent="0" algn="l">
              <a:spcBef>
                <a:spcPts val="360"/>
              </a:spcBef>
              <a:buNone/>
            </a:pPr>
            <a:r>
              <a:rPr lang="en-US" sz="2050" b="1" dirty="0">
                <a:solidFill>
                  <a:srgbClr val="0D7377"/>
                </a:solidFill>
                <a:latin typeface="Century Gothic"/>
                <a:cs typeface="Century Gothic"/>
              </a:rPr>
              <a:t>To go further</a:t>
            </a:r>
          </a:p>
          <a:p>
            <a:pPr marL="0" indent="0" algn="l">
              <a:lnSpc>
                <a:spcPct val="108000"/>
              </a:lnSpc>
              <a:spcBef>
                <a:spcPts val="440"/>
              </a:spcBef>
              <a:buNone/>
            </a:pPr>
            <a:r>
              <a:rPr lang="en-US" sz="1800" dirty="0">
                <a:solidFill>
                  <a:srgbClr val="000000"/>
                </a:solidFill>
                <a:latin typeface="Century Gothic"/>
                <a:cs typeface="Century Gothic"/>
              </a:rPr>
              <a:t>R for Data Science (Wickham &amp; Grolemund) - free online.</a:t>
            </a:r>
          </a:p>
          <a:p>
            <a:pPr marL="0" indent="0" algn="l">
              <a:lnSpc>
                <a:spcPct val="108000"/>
              </a:lnSpc>
              <a:spcBef>
                <a:spcPts val="440"/>
              </a:spcBef>
              <a:buNone/>
            </a:pPr>
            <a:r>
              <a:rPr lang="en-US" sz="1800" dirty="0">
                <a:solidFill>
                  <a:srgbClr val="000000"/>
                </a:solidFill>
                <a:latin typeface="Century Gothic"/>
                <a:cs typeface="Century Gothic"/>
              </a:rPr>
              <a:t>Regression Modeling Strategies (Harrell).</a:t>
            </a:r>
          </a:p>
          <a:p>
            <a:pPr marL="0" indent="0" algn="l">
              <a:lnSpc>
                <a:spcPct val="108000"/>
              </a:lnSpc>
              <a:spcBef>
                <a:spcPts val="440"/>
              </a:spcBef>
              <a:buNone/>
            </a:pPr>
            <a:r>
              <a:rPr lang="en-US" sz="1800" dirty="0">
                <a:solidFill>
                  <a:srgbClr val="000000"/>
                </a:solidFill>
                <a:latin typeface="Century Gothic"/>
                <a:cs typeface="Century Gothic"/>
              </a:rPr>
              <a:t>The gtsummary and ggplot2 documentation websites.</a:t>
            </a:r>
          </a:p>
          <a:p>
            <a:pPr>
              <a:buNone/>
            </a:pPr>
            <a:endParaRPr sz="1050"/>
          </a:p>
        </p:txBody>
      </p:sp>
      <p:sp>
        <p:nvSpPr>
          <p:cNvPr id="40" name="Callout"/>
          <p:cNvSpPr/>
          <p:nvPr/>
        </p:nvSpPr>
        <p:spPr>
          <a:xfrm>
            <a:off x="457200" y="5070000"/>
            <a:ext cx="11277600" cy="810000"/>
          </a:xfrm>
          <a:prstGeom prst="roundRect">
            <a:avLst>
              <a:gd name="adj" fmla="val 6000"/>
            </a:avLst>
          </a:prstGeom>
          <a:solidFill>
            <a:srgbClr val="E8F4F4"/>
          </a:solidFill>
          <a:ln>
            <a:noFill/>
          </a:ln>
        </p:spPr>
        <p:txBody>
          <a:bodyPr wrap="square" lIns="137160" tIns="91440" rIns="137160" bIns="91440" rtlCol="0" anchor="t"/>
          <a:lstStyle/>
          <a:p>
            <a:pPr marL="0" indent="0" algn="l">
              <a:buNone/>
            </a:pPr>
            <a:r>
              <a:rPr lang="en-US" sz="1300" b="1" dirty="0">
                <a:solidFill>
                  <a:srgbClr val="0D7377"/>
                </a:solidFill>
                <a:latin typeface="Century Gothic"/>
                <a:cs typeface="Century Gothic"/>
              </a:rPr>
              <a:t>TIP  -  Keep practising</a:t>
            </a:r>
          </a:p>
          <a:p>
            <a:pPr marL="0" indent="0" algn="l">
              <a:spcBef>
                <a:spcPts val="100"/>
              </a:spcBef>
              <a:buNone/>
            </a:pPr>
            <a:r>
              <a:rPr lang="en-US" sz="1300" dirty="0">
                <a:solidFill>
                  <a:srgbClr val="000000"/>
                </a:solidFill>
                <a:latin typeface="Century Gothic"/>
                <a:cs typeface="Century Gothic"/>
              </a:rPr>
              <a:t>Re-run the week's scripts on your own data - that is where the skills become permanent.</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 name="DayTitle"/>
          <p:cNvSpPr txBox="1"/>
          <p:nvPr/>
        </p:nvSpPr>
        <p:spPr>
          <a:xfrm>
            <a:off x="457200" y="548640"/>
            <a:ext cx="11430000" cy="700000"/>
          </a:xfrm>
          <a:prstGeom prst="rect">
            <a:avLst/>
          </a:prstGeom>
          <a:noFill/>
          <a:ln>
            <a:noFill/>
          </a:ln>
        </p:spPr>
        <p:txBody>
          <a:bodyPr wrap="square" lIns="91440" tIns="45720" rIns="91440" bIns="45720" rtlCol="0" anchor="t"/>
          <a:lstStyle/>
          <a:p>
            <a:pPr marL="0" indent="0" algn="l">
              <a:buNone/>
            </a:pPr>
            <a:r>
              <a:rPr lang="en-US" sz="3200" b="1" dirty="0">
                <a:solidFill>
                  <a:srgbClr val="0D7377"/>
                </a:solidFill>
                <a:latin typeface="Century Gothic"/>
                <a:cs typeface="Century Gothic"/>
              </a:rPr>
              <a:t>Thank You &amp; Questions</a:t>
            </a:r>
          </a:p>
        </p:txBody>
      </p:sp>
      <p:sp>
        <p:nvSpPr>
          <p:cNvPr id="7" name="Rule"/>
          <p:cNvSpPr/>
          <p:nvPr/>
        </p:nvSpPr>
        <p:spPr>
          <a:xfrm>
            <a:off x="457200" y="1325880"/>
            <a:ext cx="11277600" cy="19050"/>
          </a:xfrm>
          <a:prstGeom prst="rect">
            <a:avLst/>
          </a:prstGeom>
          <a:solidFill>
            <a:srgbClr val="0D7377"/>
          </a:solidFill>
          <a:ln>
            <a:noFill/>
          </a:ln>
        </p:spPr>
        <p:txBody>
          <a:bodyPr/>
          <a:lstStyle/>
          <a:p>
            <a:endParaRPr/>
          </a:p>
        </p:txBody>
      </p:sp>
      <p:sp>
        <p:nvSpPr>
          <p:cNvPr id="8" name="Agenda"/>
          <p:cNvSpPr txBox="1"/>
          <p:nvPr/>
        </p:nvSpPr>
        <p:spPr>
          <a:xfrm>
            <a:off x="457200" y="1600000"/>
            <a:ext cx="11277600" cy="4400000"/>
          </a:xfrm>
          <a:prstGeom prst="rect">
            <a:avLst/>
          </a:prstGeom>
          <a:noFill/>
          <a:ln>
            <a:noFill/>
          </a:ln>
        </p:spPr>
        <p:txBody>
          <a:bodyPr wrap="square" lIns="91440" tIns="45720" rIns="91440" bIns="45720" rtlCol="0" anchor="t"/>
          <a:lstStyle/>
          <a:p>
            <a:pPr marL="0" indent="0" algn="l">
              <a:buNone/>
            </a:pPr>
            <a:r>
              <a:rPr lang="en-US" sz="2800" dirty="0">
                <a:solidFill>
                  <a:srgbClr val="0070C0"/>
                </a:solidFill>
                <a:latin typeface="Century Gothic"/>
                <a:cs typeface="Century Gothic"/>
              </a:rPr>
              <a:t>Stay in touch</a:t>
            </a:r>
          </a:p>
          <a:p>
            <a:pPr>
              <a:buNone/>
            </a:pPr>
            <a:endParaRPr sz="800"/>
          </a:p>
          <a:p>
            <a:pPr marL="274320" indent="-274320" algn="l">
              <a:spcBef>
                <a:spcPts val="440"/>
              </a:spcBef>
              <a:buFont typeface="Arial"/>
              <a:buChar char="•"/>
            </a:pPr>
            <a:r>
              <a:rPr lang="en-US" sz="1900" dirty="0">
                <a:solidFill>
                  <a:srgbClr val="000000"/>
                </a:solidFill>
                <a:latin typeface="Century Gothic"/>
                <a:cs typeface="Century Gothic"/>
              </a:rPr>
              <a:t>You can now import, clean, analyse and report clinical data in R</a:t>
            </a:r>
          </a:p>
          <a:p>
            <a:pPr marL="274320" indent="-274320" algn="l">
              <a:spcBef>
                <a:spcPts val="440"/>
              </a:spcBef>
              <a:buFont typeface="Arial"/>
              <a:buChar char="•"/>
            </a:pPr>
            <a:r>
              <a:rPr lang="en-US" sz="1900" dirty="0">
                <a:solidFill>
                  <a:srgbClr val="000000"/>
                </a:solidFill>
                <a:latin typeface="Century Gothic"/>
                <a:cs typeface="Century Gothic"/>
              </a:rPr>
              <a:t>Practise on your own datasets</a:t>
            </a:r>
          </a:p>
          <a:p>
            <a:pPr marL="274320" indent="-274320" algn="l">
              <a:spcBef>
                <a:spcPts val="440"/>
              </a:spcBef>
              <a:buFont typeface="Arial"/>
              <a:buChar char="•"/>
            </a:pPr>
            <a:r>
              <a:rPr lang="en-US" sz="1900" dirty="0">
                <a:solidFill>
                  <a:srgbClr val="000000"/>
                </a:solidFill>
                <a:latin typeface="Century Gothic"/>
                <a:cs typeface="Century Gothic"/>
              </a:rPr>
              <a:t>Phase II: survival analysis, mixed models and prediction</a:t>
            </a:r>
          </a:p>
          <a:p>
            <a:pPr marL="274320" indent="-274320" algn="l">
              <a:spcBef>
                <a:spcPts val="440"/>
              </a:spcBef>
              <a:buFont typeface="Arial"/>
              <a:buChar char="•"/>
            </a:pPr>
            <a:r>
              <a:rPr lang="en-US" sz="1900" dirty="0">
                <a:solidFill>
                  <a:srgbClr val="000000"/>
                </a:solidFill>
                <a:latin typeface="Century Gothic"/>
                <a:cs typeface="Century Gothic"/>
              </a:rPr>
              <a:t>Contact: Neudata  -  #ClearDataClearImpact</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 name="Logo"/>
          <p:cNvPicPr>
            <a:picLocks noChangeAspect="1"/>
          </p:cNvPicPr>
          <p:nvPr/>
        </p:nvPicPr>
        <p:blipFill>
          <a:blip r:embed="rId3"/>
          <a:stretch>
            <a:fillRect/>
          </a:stretch>
        </p:blipFill>
        <p:spPr>
          <a:xfrm>
            <a:off x="4438553" y="723719"/>
            <a:ext cx="3314894" cy="2906250"/>
          </a:xfrm>
          <a:prstGeom prst="rect">
            <a:avLst/>
          </a:prstGeom>
        </p:spPr>
      </p:pic>
      <p:sp>
        <p:nvSpPr>
          <p:cNvPr id="3" name="CopyHead"/>
          <p:cNvSpPr txBox="1"/>
          <p:nvPr/>
        </p:nvSpPr>
        <p:spPr>
          <a:xfrm>
            <a:off x="1100000" y="3650000"/>
            <a:ext cx="9000000" cy="500000"/>
          </a:xfrm>
          <a:prstGeom prst="rect">
            <a:avLst/>
          </a:prstGeom>
          <a:noFill/>
          <a:ln>
            <a:noFill/>
          </a:ln>
        </p:spPr>
        <p:txBody>
          <a:bodyPr wrap="square" lIns="0" tIns="45720" rIns="0" bIns="45720" rtlCol="0" anchor="t"/>
          <a:lstStyle/>
          <a:p>
            <a:pPr marL="0" indent="0" algn="l">
              <a:buNone/>
            </a:pPr>
            <a:r>
              <a:rPr lang="en-US" sz="2400" b="1" dirty="0">
                <a:solidFill>
                  <a:srgbClr val="4472C4"/>
                </a:solidFill>
                <a:latin typeface="Century Gothic"/>
                <a:cs typeface="Century Gothic"/>
              </a:rPr>
              <a:t>Copyright © Neudata, 2026</a:t>
            </a:r>
          </a:p>
        </p:txBody>
      </p:sp>
      <p:sp>
        <p:nvSpPr>
          <p:cNvPr id="4" name="CopyBody"/>
          <p:cNvSpPr txBox="1"/>
          <p:nvPr/>
        </p:nvSpPr>
        <p:spPr>
          <a:xfrm>
            <a:off x="1100000" y="4200000"/>
            <a:ext cx="9991440" cy="2200000"/>
          </a:xfrm>
          <a:prstGeom prst="rect">
            <a:avLst/>
          </a:prstGeom>
          <a:noFill/>
          <a:ln>
            <a:noFill/>
          </a:ln>
        </p:spPr>
        <p:txBody>
          <a:bodyPr wrap="square" lIns="0" tIns="45720" rIns="0" bIns="45720" rtlCol="0" anchor="t"/>
          <a:lstStyle/>
          <a:p>
            <a:pPr marL="0" indent="0" algn="l">
              <a:spcBef>
                <a:spcPts val="100"/>
              </a:spcBef>
              <a:buNone/>
            </a:pPr>
            <a:r>
              <a:rPr lang="en-US" sz="1200" dirty="0">
                <a:solidFill>
                  <a:srgbClr val="000000"/>
                </a:solidFill>
                <a:latin typeface="Courier New"/>
                <a:cs typeface="Courier New"/>
              </a:rPr>
              <a:t>All property rights and copyright are reserved.</a:t>
            </a:r>
          </a:p>
          <a:p>
            <a:pPr>
              <a:buNone/>
            </a:pPr>
            <a:endParaRPr sz="800"/>
          </a:p>
          <a:p>
            <a:pPr marL="0" indent="0" algn="l">
              <a:spcBef>
                <a:spcPts val="100"/>
              </a:spcBef>
              <a:buNone/>
            </a:pPr>
            <a:r>
              <a:rPr lang="en-US" sz="1200" dirty="0">
                <a:solidFill>
                  <a:srgbClr val="000000"/>
                </a:solidFill>
                <a:latin typeface="Courier New"/>
                <a:cs typeface="Courier New"/>
              </a:rPr>
              <a:t>This presentation contains proprietary data, information, and materials developed by Neudata for dedicated use only and may not be communicated, copied, reproduced, distributed, published, or cited, in whole or in part, without the prior written consent of Neudata.</a:t>
            </a:r>
          </a:p>
          <a:p>
            <a:pPr marL="0" indent="0" algn="l">
              <a:spcBef>
                <a:spcPts val="100"/>
              </a:spcBef>
              <a:buNone/>
            </a:pPr>
            <a:r>
              <a:rPr lang="en-US" sz="1200" dirty="0">
                <a:solidFill>
                  <a:srgbClr val="000000"/>
                </a:solidFill>
                <a:latin typeface="Courier New"/>
                <a:cs typeface="Courier New"/>
              </a:rPr>
              <a:t>Where explicit written permission has been granted, appropriate attribution must be included, followed by “by courtesy of Neudata”.</a:t>
            </a:r>
          </a:p>
          <a:p>
            <a:pPr>
              <a:buNone/>
            </a:pPr>
            <a:endParaRPr sz="800"/>
          </a:p>
          <a:p>
            <a:pPr marL="0" indent="0" algn="l">
              <a:spcBef>
                <a:spcPts val="100"/>
              </a:spcBef>
              <a:buNone/>
            </a:pPr>
            <a:r>
              <a:rPr lang="en-US" sz="1200" dirty="0">
                <a:solidFill>
                  <a:srgbClr val="000000"/>
                </a:solidFill>
                <a:latin typeface="Courier New"/>
                <a:cs typeface="Courier New"/>
              </a:rPr>
              <a:t>Any unauthorized use or infringement of these materials may give rise to legal action and claims for damages, without prejudice to any other rights of Neudata, including rights relating to patents, trademarks, or other forms of intellectual property protection.</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Verdana"/>
              </a:rPr>
              <a:t>Neudata | #ClearDataClearImpact</a:t>
            </a:r>
          </a:p>
        </p:txBody>
      </p:sp>
      <p:sp>
        <p:nvSpPr>
          <p:cNvPr id="905"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x</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Relationships xmlns="http://schemas.openxmlformats.org/package/2006/relationships">
  <Relationship Id="rId1" Type="http://schemas.openxmlformats.org/officeDocument/2006/relationships/customXmlProps" Target="itemProps1.xml"/>
</Relationships>

</file>

<file path=customXml/_rels/item2.xml.rels><?xml version="1.0" encoding="utf-8"?>
<Relationships xmlns="http://schemas.openxmlformats.org/package/2006/relationships">
  <Relationship Id="rId1" Type="http://schemas.openxmlformats.org/officeDocument/2006/relationships/customXmlProps" Target="itemProps2.xml"/>
</Relationships>

</file>

<file path=customXml/_rels/item3.xml.rels><?xml version="1.0" encoding="utf-8"?>
<Relationships xmlns="http://schemas.openxmlformats.org/package/2006/relationships">
  <Relationship Id="rId1" Type="http://schemas.openxmlformats.org/officeDocument/2006/relationships/customXmlProps" Target="itemProps3.xml"/>
</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e658d648-6ffc-4f30-955e-342d2c65b5cc"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F54D7B907B5DFD428D1C0297734363F0" ma:contentTypeVersion="15" ma:contentTypeDescription="Een nieuw document maken." ma:contentTypeScope="" ma:versionID="26c99ba727eaa891493a7fa95ff6c725">
  <xsd:schema xmlns:xsd="http://www.w3.org/2001/XMLSchema" xmlns:xs="http://www.w3.org/2001/XMLSchema" xmlns:p="http://schemas.microsoft.com/office/2006/metadata/properties" xmlns:ns3="e658d648-6ffc-4f30-955e-342d2c65b5cc" xmlns:ns4="ab59a5c7-b96d-406d-bbef-f0a1b42de2f3" targetNamespace="http://schemas.microsoft.com/office/2006/metadata/properties" ma:root="true" ma:fieldsID="786a918a36af2f8db8f60bc36475a9d3" ns3:_="" ns4:_="">
    <xsd:import namespace="e658d648-6ffc-4f30-955e-342d2c65b5cc"/>
    <xsd:import namespace="ab59a5c7-b96d-406d-bbef-f0a1b42de2f3"/>
    <xsd:element name="properties">
      <xsd:complexType>
        <xsd:sequence>
          <xsd:element name="documentManagement">
            <xsd:complexType>
              <xsd:all>
                <xsd:element ref="ns3:_activity" minOccurs="0"/>
                <xsd:element ref="ns4:SharedWithUsers" minOccurs="0"/>
                <xsd:element ref="ns4:SharedWithDetails" minOccurs="0"/>
                <xsd:element ref="ns4:SharingHintHash" minOccurs="0"/>
                <xsd:element ref="ns3:MediaServiceMetadata" minOccurs="0"/>
                <xsd:element ref="ns3:MediaServiceFastMetadata" minOccurs="0"/>
                <xsd:element ref="ns3:MediaServiceObjectDetectorVersions" minOccurs="0"/>
                <xsd:element ref="ns3:MediaServiceDateTaken" minOccurs="0"/>
                <xsd:element ref="ns3:MediaServiceAutoTags" minOccurs="0"/>
                <xsd:element ref="ns3:MediaLengthInSeconds" minOccurs="0"/>
                <xsd:element ref="ns3:MediaServiceSearchProperties" minOccurs="0"/>
                <xsd:element ref="ns3:MediaServiceSystemTags" minOccurs="0"/>
                <xsd:element ref="ns3:MediaServiceOCR" minOccurs="0"/>
                <xsd:element ref="ns3:MediaServiceGenerationTime" minOccurs="0"/>
                <xsd:element ref="ns3: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658d648-6ffc-4f30-955e-342d2c65b5cc" elementFormDefault="qualified">
    <xsd:import namespace="http://schemas.microsoft.com/office/2006/documentManagement/types"/>
    <xsd:import namespace="http://schemas.microsoft.com/office/infopath/2007/PartnerControls"/>
    <xsd:element name="_activity" ma:index="8" nillable="true" ma:displayName="_activity" ma:hidden="true" ma:internalName="_activity">
      <xsd:simpleType>
        <xsd:restriction base="dms:Note"/>
      </xsd:simpleType>
    </xsd:element>
    <xsd:element name="MediaServiceMetadata" ma:index="12" nillable="true" ma:displayName="MediaServiceMetadata" ma:hidden="true" ma:internalName="MediaServiceMetadata" ma:readOnly="true">
      <xsd:simpleType>
        <xsd:restriction base="dms:Note"/>
      </xsd:simpleType>
    </xsd:element>
    <xsd:element name="MediaServiceFastMetadata" ma:index="13" nillable="true" ma:displayName="MediaServiceFastMetadata" ma:hidden="true" ma:internalName="MediaServiceFastMetadata" ma:readOnly="true">
      <xsd:simpleType>
        <xsd:restriction base="dms:Note"/>
      </xsd:simpleType>
    </xsd:element>
    <xsd:element name="MediaServiceObjectDetectorVersions" ma:index="14" nillable="true" ma:displayName="MediaServiceObjectDetectorVersions" ma:hidden="true" ma:indexed="true" ma:internalName="MediaServiceObjectDetectorVersions" ma:readOnly="true">
      <xsd:simpleType>
        <xsd:restriction base="dms:Text"/>
      </xsd:simple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AutoTags" ma:index="16" nillable="true" ma:displayName="Tags" ma:internalName="MediaServiceAutoTags"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MediaServiceSearchProperties" ma:index="18" nillable="true" ma:displayName="MediaServiceSearchProperties" ma:hidden="true" ma:internalName="MediaServiceSearchProperties" ma:readOnly="true">
      <xsd:simpleType>
        <xsd:restriction base="dms:Note"/>
      </xsd:simpleType>
    </xsd:element>
    <xsd:element name="MediaServiceSystemTags" ma:index="19" nillable="true" ma:displayName="MediaServiceSystemTags" ma:hidden="true" ma:internalName="MediaServiceSystemTags" ma:readOnly="true">
      <xsd:simpleType>
        <xsd:restriction base="dms:Note"/>
      </xsd:simpleType>
    </xsd:element>
    <xsd:element name="MediaServiceOCR" ma:index="20" nillable="true" ma:displayName="Extracted Text" ma:internalName="MediaServiceOCR" ma:readOnly="true">
      <xsd:simpleType>
        <xsd:restriction base="dms:Note">
          <xsd:maxLength value="255"/>
        </xsd:restriction>
      </xsd:simpleType>
    </xsd:element>
    <xsd:element name="MediaServiceGenerationTime" ma:index="21" nillable="true" ma:displayName="MediaServiceGenerationTime" ma:hidden="true" ma:internalName="MediaServiceGenerationTime" ma:readOnly="true">
      <xsd:simpleType>
        <xsd:restriction base="dms:Text"/>
      </xsd:simpleType>
    </xsd:element>
    <xsd:element name="MediaServiceEventHashCode" ma:index="22"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ab59a5c7-b96d-406d-bbef-f0a1b42de2f3" elementFormDefault="qualified">
    <xsd:import namespace="http://schemas.microsoft.com/office/2006/documentManagement/types"/>
    <xsd:import namespace="http://schemas.microsoft.com/office/infopath/2007/PartnerControls"/>
    <xsd:element name="SharedWithUsers" ma:index="9" nillable="true" ma:displayName="Gedeeld met"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0" nillable="true" ma:displayName="Gedeeld met details" ma:internalName="SharedWithDetails" ma:readOnly="true">
      <xsd:simpleType>
        <xsd:restriction base="dms:Note">
          <xsd:maxLength value="255"/>
        </xsd:restriction>
      </xsd:simpleType>
    </xsd:element>
    <xsd:element name="SharingHintHash" ma:index="11" nillable="true" ma:displayName="Hint-hash delen"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oudstype"/>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D90B55F9-5C8D-46ED-979A-F6455BC92B05}">
  <ds:schemaRefs>
    <ds:schemaRef ds:uri="e658d648-6ffc-4f30-955e-342d2c65b5cc"/>
    <ds:schemaRef ds:uri="ab59a5c7-b96d-406d-bbef-f0a1b42de2f3"/>
    <ds:schemaRef ds:uri="http://purl.org/dc/elements/1.1/"/>
    <ds:schemaRef ds:uri="http://schemas.microsoft.com/office/2006/metadata/properties"/>
    <ds:schemaRef ds:uri="http://schemas.microsoft.com/office/2006/documentManagement/types"/>
    <ds:schemaRef ds:uri="http://schemas.openxmlformats.org/package/2006/metadata/core-properties"/>
    <ds:schemaRef ds:uri="http://purl.org/dc/dcmitype/"/>
    <ds:schemaRef ds:uri="http://schemas.microsoft.com/office/infopath/2007/PartnerControls"/>
    <ds:schemaRef ds:uri="http://www.w3.org/XML/1998/namespace"/>
    <ds:schemaRef ds:uri="http://purl.org/dc/terms/"/>
  </ds:schemaRefs>
</ds:datastoreItem>
</file>

<file path=customXml/itemProps2.xml><?xml version="1.0" encoding="utf-8"?>
<ds:datastoreItem xmlns:ds="http://schemas.openxmlformats.org/officeDocument/2006/customXml" ds:itemID="{183C2C74-28C0-461B-998D-91BCFE0ECC1C}">
  <ds:schemaRefs>
    <ds:schemaRef ds:uri="http://schemas.microsoft.com/sharepoint/v3/contenttype/forms"/>
  </ds:schemaRefs>
</ds:datastoreItem>
</file>

<file path=customXml/itemProps3.xml><?xml version="1.0" encoding="utf-8"?>
<ds:datastoreItem xmlns:ds="http://schemas.openxmlformats.org/officeDocument/2006/customXml" ds:itemID="{A73EACF0-A77F-4E50-B4B4-74F98872DC2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658d648-6ffc-4f30-955e-342d2c65b5cc"/>
    <ds:schemaRef ds:uri="ab59a5c7-b96d-406d-bbef-f0a1b42de2f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2181</TotalTime>
  <Words>443</Words>
  <Application>Microsoft Office PowerPoint</Application>
  <PresentationFormat>Widescreen</PresentationFormat>
  <Paragraphs>58</Paragraphs>
  <Slides>4</Slides>
  <Notes>4</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vt:i4>
      </vt:variant>
    </vt:vector>
  </HeadingPairs>
  <TitlesOfParts>
    <vt:vector size="12" baseType="lpstr">
      <vt:lpstr>Arial</vt:lpstr>
      <vt:lpstr>Calibri</vt:lpstr>
      <vt:lpstr>Century Gothic</vt:lpstr>
      <vt:lpstr>Consolas</vt:lpstr>
      <vt:lpstr>Segoe UI</vt:lpstr>
      <vt:lpstr>Segoe UI (Body)</vt:lpstr>
      <vt:lpstr>Verdana</vt:lpstr>
      <vt:lpstr>Office Theme</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Osangir Bernard</dc:creator>
  <cp:keywords/>
  <dc:description>generated using python-pptx</dc:description>
  <cp:lastModifiedBy>Bernard OSANG'IR</cp:lastModifiedBy>
  <cp:revision>75</cp:revision>
  <dcterms:created xsi:type="dcterms:W3CDTF">2013-01-27T09:14:16Z</dcterms:created>
  <dcterms:modified xsi:type="dcterms:W3CDTF">2026-06-28T14:46:43Z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0x010100F54D7B907B5DFD428D1C0297734363F0</vt:lpwstr>
  </property>
</Properties>
</file>