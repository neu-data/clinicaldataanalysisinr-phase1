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8"/>
  </p:notesMasterIdLst>
  <p:handoutMasterIdLst>
    <p:handoutMasterId r:id="rId129"/>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microsoft.com/office/2016/11/relationships/changesInfo" Target="changesInfos/changesInfo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handoutMaster" Target="handoutMasters/handoutMaster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presProps" Target="presProp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theme" Target="theme/theme1.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y Luong Vuong" userId="5aae12bc-8908-4eb1-901e-ac5e7d3d92fa" providerId="ADAL" clId="{564E09FA-B8F3-423D-9D6E-093B32FA934F}"/>
    <pc:docChg chg="custSel modSld">
      <pc:chgData name="My Luong Vuong" userId="5aae12bc-8908-4eb1-901e-ac5e7d3d92fa" providerId="ADAL" clId="{564E09FA-B8F3-423D-9D6E-093B32FA934F}" dt="2026-09-07T08:47:21.460" v="101" actId="20577"/>
      <pc:docMkLst>
        <pc:docMk/>
      </pc:docMkLst>
      <pc:sldChg chg="modSp mod">
        <pc:chgData name="My Luong Vuong" userId="5aae12bc-8908-4eb1-901e-ac5e7d3d92fa" providerId="ADAL" clId="{564E09FA-B8F3-423D-9D6E-093B32FA934F}" dt="2026-09-07T08:47:02.218" v="63" actId="20577"/>
        <pc:sldMkLst>
          <pc:docMk/>
          <pc:sldMk cId="0" sldId="256"/>
        </pc:sldMkLst>
        <pc:spChg chg="mod">
          <ac:chgData name="My Luong Vuong" userId="5aae12bc-8908-4eb1-901e-ac5e7d3d92fa" providerId="ADAL" clId="{564E09FA-B8F3-423D-9D6E-093B32FA934F}" dt="2026-09-07T08:47:02.218" v="63" actId="20577"/>
          <ac:spMkLst>
            <pc:docMk/>
            <pc:sldMk cId="0" sldId="256"/>
            <ac:spMk id="5" creationId="{00000000-0000-0000-0000-000000000000}"/>
          </ac:spMkLst>
        </pc:spChg>
      </pc:sldChg>
      <pc:sldChg chg="modSp mod">
        <pc:chgData name="My Luong Vuong" userId="5aae12bc-8908-4eb1-901e-ac5e7d3d92fa" providerId="ADAL" clId="{564E09FA-B8F3-423D-9D6E-093B32FA934F}" dt="2026-09-07T08:47:21.460" v="101" actId="20577"/>
        <pc:sldMkLst>
          <pc:docMk/>
          <pc:sldMk cId="0" sldId="266"/>
        </pc:sldMkLst>
        <pc:spChg chg="mod">
          <ac:chgData name="My Luong Vuong" userId="5aae12bc-8908-4eb1-901e-ac5e7d3d92fa" providerId="ADAL" clId="{564E09FA-B8F3-423D-9D6E-093B32FA934F}" dt="2026-09-07T08:47:21.460" v="101" actId="20577"/>
          <ac:spMkLst>
            <pc:docMk/>
            <pc:sldMk cId="0" sldId="266"/>
            <ac:spMk id="20"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9/7/2026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9/7/2026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TITLE SLIDE.</a:t>
            </a:r>
          </a:p>
          <a:p>
            <a:r>
              <a:rPr lang="en-US" sz="1400" b="0" dirty="0"/>
              <a:t>Chào mừng học viên đến với Giai đoạn I của khóa Phân tích Dữ liệu Lâm sàng bằng R.</a:t>
            </a:r>
          </a:p>
          <a:p>
            <a:r>
              <a:rPr lang="en-US" sz="1400" b="0" dirty="0"/>
              <a:t>Điểm giảng dạy chính: đến buổi cuối cùng, mỗi học viên sẽ nhập, làm sạch, phân tích và báo cáo một bộ dữ liệu lâm sàng thực tế, dù chưa từng lập trình.</a:t>
            </a:r>
          </a:p>
          <a:p>
            <a:r>
              <a:rPr lang="en-US" sz="1400" b="0" dirty="0"/>
              <a:t>Mẹo demo: hỏi cả lớp ai đã từng mở R - để căn chỉnh nhịp độ.</a:t>
            </a:r>
          </a:p>
          <a:p>
            <a:r>
              <a:rPr lang="en-US" sz="1400" b="0" dirty="0"/>
              <a:t>Câu hỏi cho học viên: bạn mong muốn phân tích điều gì trong công việc của mình? Câu trả lời dự kiến: dữ liệu thử nghiệm/khảo sát/kiểm toán - trấn an rằng tất cả đều phù hợp với quy trình này.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Định hình không khí: hỗ trợ, thực tiễn, gắn với lâm sàng.</a:t>
            </a:r>
          </a:p>
          <a:p>
            <a:r>
              <a:rPr lang="en-US" sz="1400" b="0" dirty="0"/>
              <a:t>Ngộ nhận phổ biến: 'Tôi không phải người giỏi toán/máy tính nên R không dành cho tôi.' Diễn giải lại: R là một kỹ năng như dùng một thiết bị lâm sàng mới - học được qua luyện tập.</a:t>
            </a:r>
          </a:p>
          <a:p>
            <a:r>
              <a:rPr lang="en-US" sz="1400" b="0" dirty="0"/>
              <a:t>Diễn giải lâm sàng: khả năng tái lập bảo vệ bạn trong kiểm toán, chỉnh sửa và phân tích lại.</a:t>
            </a:r>
          </a:p>
          <a:p>
            <a:r>
              <a:rPr lang="en-US" sz="1400" b="0" dirty="0"/>
              <a:t>Câu hỏi cho học viên: hiện có bao nhiêu người dùng Excel/SPSS/Stata? Dự kiến: đa số - bắc cầu từ đó.</a:t>
            </a:r>
          </a:p>
          <a:p>
            <a:r>
              <a:rPr lang="en-US" sz="1400" b="0" dirty="0"/>
              <a:t>Mẹo demo: giữ ngày đầu tiên nhẹ nhàng, ít thuật ngữ.</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Thiết lập điểm xuất phát chung.</a:t>
            </a:r>
          </a:p>
          <a:p>
            <a:r>
              <a:rPr lang="en-US" sz="1400" b="0" dirty="0"/>
              <a:t>Điểm giảng dạy chính: sự đa dạng nền tảng là một thế mạnh - ghép người tự tin với người kém tự tin hơn.</a:t>
            </a:r>
          </a:p>
          <a:p>
            <a:r>
              <a:rPr lang="en-US" sz="1400" b="0" dirty="0"/>
              <a:t>Ngộ nhận phổ biến: rằng nhà thống kê và bác sĩ cần công cụ khác nhau - không phải vậy.</a:t>
            </a:r>
          </a:p>
          <a:p>
            <a:r>
              <a:rPr lang="en-US" sz="1400" b="0" dirty="0"/>
              <a:t>Câu hỏi cho học viên: nỗi bực bội lớn nhất về dữ liệu của bạn hôm nay là gì? Dự kiến: làm sạch, hoặc 'Tôi không thể tái lập phân tích của năm ngoái'.</a:t>
            </a:r>
          </a:p>
          <a:p>
            <a:r>
              <a:rPr lang="en-US" sz="1400" b="0" dirty="0"/>
              <a:t>Mẹo demo: ghi lại tên/vai trò để điều chỉnh ví dụ.</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 qua các mục tiêu 1-7 (kỹ năng xử lý và mô tả dữ liệu).</a:t>
            </a:r>
          </a:p>
          <a:p>
            <a:r>
              <a:rPr lang="en-US" sz="1400" b="0" dirty="0"/>
              <a:t>Điểm giảng dạy chính: các mục tiêu này ánh xạ một-một với năm ngày học.</a:t>
            </a:r>
          </a:p>
          <a:p>
            <a:r>
              <a:rPr lang="en-US" sz="1400" b="0" dirty="0"/>
              <a:t>Diễn giải lâm sàng: mỗi mục tiêu là một bước trong quy trình viết bản thảo thực tế.</a:t>
            </a:r>
          </a:p>
          <a:p>
            <a:r>
              <a:rPr lang="en-US" sz="1400" b="0" dirty="0"/>
              <a:t>Câu hỏi cho học viên: mục tiêu nào quan trọng nhất với bạn? Dự kiến: khác nhau - trấn an rằng tất cả đều được bao phủ.</a:t>
            </a:r>
          </a:p>
          <a:p>
            <a:r>
              <a:rPr lang="en-US" sz="1400" b="0" dirty="0"/>
              <a:t>Mẹo demo: quay lại danh sách này ở phần tóm tắt mỗi ngày để cho thấy tiến bộ.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Các mục tiêu 8-13 (kỹ năng phân tích, suy luận và báo cáo).</a:t>
            </a:r>
          </a:p>
          <a:p>
            <a:r>
              <a:rPr lang="en-US" sz="1400" b="0" dirty="0"/>
              <a:t>Điểm giảng dạy chính: diễn giải được coi trọng ngang với tính toán xuyên suốt khóa học.</a:t>
            </a:r>
          </a:p>
          <a:p>
            <a:r>
              <a:rPr lang="en-US" sz="1400" b="0" dirty="0"/>
              <a:t>Ngộ nhận phổ biến: rằng chạy kiểm định là phần khó - diễn giải và báo cáo tốt mới khó hơn.</a:t>
            </a:r>
          </a:p>
          <a:p>
            <a:r>
              <a:rPr lang="en-US" sz="1400" b="0" dirty="0"/>
              <a:t>Câu hỏi cho học viên: ai từng bị phê bình về thống kê trong một bài báo? Dự kiến: một vài người - khóa học này ngăn điều đó.</a:t>
            </a:r>
          </a:p>
          <a:p>
            <a:r>
              <a:rPr lang="en-US" sz="1400" b="0" dirty="0"/>
              <a:t>Mẹo demo: nhấn mạnh rằng ta luôn hỏi 'điều này có ý nghĩa gì về mặt lâm sàng?'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Đưa ra bản đồ của cả tuần.</a:t>
            </a:r>
          </a:p>
          <a:p>
            <a:r>
              <a:rPr lang="en-US" sz="1400" b="0" dirty="0"/>
              <a:t>Điểm giảng dạy chính: các kỹ năng tích lũy - dữ liệu sạch của Buổi 2 phục vụ mọi buổi sau.</a:t>
            </a:r>
          </a:p>
          <a:p>
            <a:r>
              <a:rPr lang="en-US" sz="1400" b="0" dirty="0"/>
              <a:t>Diễn giải lâm sàng: đây chính xác là cách một dự án phân tích thực tế diễn ra, từ đầu đến cuối.</a:t>
            </a:r>
          </a:p>
          <a:p>
            <a:r>
              <a:rPr lang="en-US" sz="1400" b="0" dirty="0"/>
              <a:t>Câu hỏi cho học viên: buổi nào trông đáng ngại nhất? Dự kiến: Buổi 4-5 - trấn an rằng ta xây dựng dần dần.</a:t>
            </a:r>
          </a:p>
          <a:p>
            <a:r>
              <a:rPr lang="en-US" sz="1400" b="0" dirty="0"/>
              <a:t>Mẹo demo: giữ slide này sẵn để định hướng lại cho ai cảm thấy lạc lối.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Giải thích định dạng để học viên biết điều gì mong đợi ở mỗi buổi.</a:t>
            </a:r>
          </a:p>
          <a:p>
            <a:r>
              <a:rPr lang="en-US" sz="1400" b="0" dirty="0"/>
              <a:t>Điểm giảng dạy chính: quan sát rồi thực hành (mẫu demo-rồi-bài tập) là cách học lập trình.</a:t>
            </a:r>
          </a:p>
          <a:p>
            <a:r>
              <a:rPr lang="en-US" sz="1400" b="0" dirty="0"/>
              <a:t>Lỗi phổ biến: cố gõ theo trong lúc demo và bị tụt lại - hãy quan sát trước, viết code khi làm bài tập.</a:t>
            </a:r>
          </a:p>
          <a:p>
            <a:r>
              <a:rPr lang="en-US" sz="1400" b="0" dirty="0"/>
              <a:t>Câu hỏi cho học viên: thích gõ theo hay quan sát rồi làm? Dự kiến: pha trộn - giải thích vì sao quan sát trước hiệu quả.</a:t>
            </a:r>
          </a:p>
          <a:p>
            <a:r>
              <a:rPr lang="en-US" sz="1400" b="0" dirty="0"/>
              <a:t>Mẹo demo: chia sẻ màn hình với cỡ chữ lớn (ví dụ 16-18pt).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Giới thiệu bộ dữ liệu duy nhất làm nền cho mọi bài tập.</a:t>
            </a:r>
          </a:p>
          <a:p>
            <a:r>
              <a:rPr lang="en-US" sz="1400" b="0" dirty="0"/>
              <a:t>Điểm giảng dạy chính: dùng một bộ dữ liệu thực tế suốt cả tuần cho phép các kỹ năng cộng dồn.</a:t>
            </a:r>
          </a:p>
          <a:p>
            <a:r>
              <a:rPr lang="en-US" sz="1400" b="0" dirty="0"/>
              <a:t>Diễn giải lâm sàng: tiếp nhận điều trị là một câu hỏi khoa học triển khai thực tế - nhiều bệnh nhân được chẩn đoán không bao giờ bắt đầu điều trị.</a:t>
            </a:r>
          </a:p>
          <a:p>
            <a:r>
              <a:rPr lang="en-US" sz="1400" b="0" dirty="0"/>
              <a:t>Câu hỏi cho học viên: vì sao một bệnh nhân đã chẩn đoán lại không được điều trị? Dự kiến: chi phí, khoảng cách, niềm tin, không có bảo hiểm - đây là các yếu tố dự báo của chúng ta.</a:t>
            </a:r>
          </a:p>
          <a:p>
            <a:r>
              <a:rPr lang="en-US" sz="1400" b="0" dirty="0"/>
              <a:t>Mẹo demo: đây là dữ liệu mô phỏng được xây dựng để hoạt động thực tế - an toàn để chia sẻ và tái lập.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Xem trước từ điển dữ liệu để làm quen với các biến trước phần nhập dữ liệu của Buổi 1.</a:t>
            </a:r>
          </a:p>
          <a:p>
            <a:r>
              <a:rPr lang="en-US" sz="1400" b="0" dirty="0"/>
              <a:t>Điểm giảng dạy chính: biết rõ các biến và kiểu của chúng là một nửa của phân tích tốt.</a:t>
            </a:r>
          </a:p>
          <a:p>
            <a:r>
              <a:rPr lang="en-US" sz="1400" b="0" dirty="0"/>
              <a:t>Ngộ nhận phổ biến: càng nhiều biến càng tốt - ta sẽ bàn về tính tiết kiệm ở Buổi 5.</a:t>
            </a:r>
          </a:p>
          <a:p>
            <a:r>
              <a:rPr lang="en-US" sz="1400" b="0" dirty="0"/>
              <a:t>Diễn giải lâm sàng: các biến này trải rộng khung yếu tố quyết định (yếu tố tiền định, yếu tố tạo điều kiện, yếu tố nhu cầu).</a:t>
            </a:r>
          </a:p>
          <a:p>
            <a:r>
              <a:rPr lang="en-US" sz="1400" b="0" dirty="0"/>
              <a:t>Câu hỏi cho học viên: biến nào bạn kỳ vọng sẽ dự báo tiếp nhận điều trị? Dự kiến: bảo hiểm, đái tháo đường, học vấn - ta sẽ kiểm tra điều này.</a:t>
            </a:r>
          </a:p>
          <a:p>
            <a:r>
              <a:rPr lang="en-US" sz="1400" b="0" dirty="0"/>
              <a:t>Mẹo demo: phát bản in từ điển dữ liệu ngay bây giờ.</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Cho thấy mạch xuyên suốt để học viên nhìn thấy đích đến ngay từ Buổi 1.</a:t>
            </a:r>
          </a:p>
          <a:p>
            <a:r>
              <a:rPr lang="en-US" sz="1400" b="0" dirty="0"/>
              <a:t>Điểm giảng dạy chính: phân tích là một quy trình, không phải một câu lệnh thần kỳ đơn lẻ.</a:t>
            </a:r>
          </a:p>
          <a:p>
            <a:r>
              <a:rPr lang="en-US" sz="1400" b="0" dirty="0"/>
              <a:t>Diễn giải lâm sàng: khả năng tái lập nghĩa là một người phản biện có thể chạy lại script của bạn và ra đúng con số của bạn.</a:t>
            </a:r>
          </a:p>
          <a:p>
            <a:r>
              <a:rPr lang="en-US" sz="1400" b="0" dirty="0"/>
              <a:t>Câu hỏi cho học viên: đa số phân tích sai ở đâu? Dự kiến: làm sạch và diễn giải - do đó có hai buổi trọn vẹn cho chúng.</a:t>
            </a:r>
          </a:p>
          <a:p>
            <a:r>
              <a:rPr lang="en-US" sz="1400" b="0" dirty="0"/>
              <a:t>Mẹo demo: nhắc lại sơ đồ quy trình này ở đầu mỗi buổi.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Dùng slide này để xác nhận hậu cần và giới thiệu đội ngũ giảng dạy.</a:t>
            </a:r>
          </a:p>
          <a:p>
            <a:r>
              <a:rPr lang="en-US" sz="1400" b="0" dirty="0"/>
              <a:t>Điểm giảng dạy chính: ba giảng viên nghĩa là có nhiều hỗ trợ trong các bài tập có hướng dẫn.</a:t>
            </a:r>
          </a:p>
          <a:p>
            <a:r>
              <a:rPr lang="en-US" sz="1400" b="0" dirty="0"/>
              <a:t>Việc nội bộ: chia sẻ liên kết/QR đăng ký và email hỏi thông tin cho đồng nghiệp muốn tham gia khóa sau.</a:t>
            </a:r>
          </a:p>
          <a:p>
            <a:r>
              <a:rPr lang="en-US" sz="1400" b="0" dirty="0"/>
              <a:t>Mẹo demo: mời mỗi giảng viên nói một câu về bản thân.</a:t>
            </a:r>
          </a:p>
          <a:p>
            <a:r>
              <a:rPr lang="en-US" sz="1400" b="0" dirty="0"/>
              <a:t>Câu hỏi cho học viên: có câu hỏi nào về lịch học hay truy cập trước khi bắt đầu không? Dự kiến: xác nhận khung giờ tối Thứ Ba phù hợp.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cả ngày hôm nay là để làm quen, không phải học thuộc. Đến tối nay mỗi học viên sẽ đã nhập được một bộ dữ liệu lâm sàng thật và xem qua nó.</a:t>
            </a:r>
          </a:p>
          <a:p>
            <a:r>
              <a:rPr lang="en-US" sz="1400" b="0" dirty="0"/>
              <a:t>Ngộ nhận thường gặp: rằng bạn phải là lập trình viên. Không cần; R là một công cụ như máy tính bỏ túi hay ống nghe.</a:t>
            </a:r>
          </a:p>
          <a:p>
            <a:r>
              <a:rPr lang="en-US" sz="1400" b="0" dirty="0"/>
              <a:t>Diễn giải lâm sàng: phân tích có thể tái lập nghĩa là một đồng nghiệp hay cơ quan quản lý có thể chạy lại công việc của bạn và thu được cùng những con số.</a:t>
            </a:r>
          </a:p>
          <a:p>
            <a:r>
              <a:rPr lang="en-US" sz="1400" b="0" dirty="0"/>
              <a:t>Hỏi khán giả: ai đã từng dùng Excel cho nghiên cứu? Câu trả lời mong đợi: gần như tất cả. Nhịp cầu: R làm được những gì Excel làm, nhưng nó ghi lại mọi bước.</a:t>
            </a:r>
          </a:p>
          <a:p>
            <a:r>
              <a:rPr lang="en-US" sz="1400" b="0" dirty="0"/>
              <a:t>Mẹo trình diễn: để RStudio mở trên màn hình phía sau bạn để mọi người thấy thứ thật, không chỉ là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lợi thế nổi bật là khả năng tái lập cộng với chi phí bằng không. Bấm-từng-bước trong Excel thì khó tái lập; một tập lệnh là công thức.</a:t>
            </a:r>
          </a:p>
          <a:p>
            <a:r>
              <a:rPr lang="en-US" sz="1400" b="0" dirty="0"/>
              <a:t>Ngộ nhận thường gặp: rằng miễn phí nghĩa là chất lượng thấp. R được dùng bởi các chuyên gia thẩm định của FDA, EMA, và hầu hết các nhóm dịch tễ học lớn.</a:t>
            </a:r>
          </a:p>
          <a:p>
            <a:r>
              <a:rPr lang="en-US" sz="1400" b="0" dirty="0"/>
              <a:t>Diễn giải lâm sàng: khi một người thẩm định hỏi bạn đã tính ra một con số như thế nào, bạn chỉ vào một dòng mã, không phải trí nhớ của bạn.</a:t>
            </a:r>
          </a:p>
          <a:p>
            <a:r>
              <a:rPr lang="en-US" sz="1400" b="0" dirty="0"/>
              <a:t>Hỏi khán giả: điều gì xảy ra nếu bạn làm lại phân tích của năm ngoái trong Excel bằng tay? Câu trả lời mong đợi: bạn có thể thu được các con số hơi khác. Một tập lệnh loại bỏ rủi ro đó.</a:t>
            </a:r>
          </a:p>
          <a:p>
            <a:r>
              <a:rPr lang="en-US" sz="1400" b="0" dirty="0"/>
              <a:t>Mẹo trình diễn: nhắc rằng các hình trong nhiều bài báo NEJM và Lancet được tạo bằng 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R là động cơ, RStudio là bảng điều khiển. Bạn cần cả hai, và bạn cài R trước.</a:t>
            </a:r>
          </a:p>
          <a:p>
            <a:r>
              <a:rPr lang="en-US" sz="1400" b="0" dirty="0"/>
              <a:t>Lỗi thường gặp: người ta cố mở R trực tiếp và thấy một console trống trơn. Luôn mở RStudio thay vào đó.</a:t>
            </a:r>
          </a:p>
          <a:p>
            <a:r>
              <a:rPr lang="en-US" sz="1400" b="0" dirty="0"/>
              <a:t>Diễn giải lâm sàng: hãy hình dung R như máy phân tích trong phòng xét nghiệm và RStudio như giao diện của kỹ thuật viên với nó.</a:t>
            </a:r>
          </a:p>
          <a:p>
            <a:r>
              <a:rPr lang="en-US" sz="1400" b="0" dirty="0"/>
              <a:t>Hỏi khán giả: mỗi sáng bạn nhấp đúp vào cái nào? Câu trả lời mong đợi: RStudio.</a:t>
            </a:r>
          </a:p>
          <a:p>
            <a:r>
              <a:rPr lang="en-US" sz="1400" b="0" dirty="0"/>
              <a:t>Mẹo trình diễn: hiện cả hai biểu tượng trên màn hình nền để sự phân biệt trở nên cụ thể.</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chỉ bốn khung. Source và Console bên trái, Environment và các tab Files/Plots/Help bên phải.</a:t>
            </a:r>
          </a:p>
          <a:p>
            <a:r>
              <a:rPr lang="en-US" sz="1400" b="0" dirty="0"/>
              <a:t>Ngộ nhận thường gặp: rằng bố cục là cố định; nó có thể tùy chỉnh, nhưng cấu hình mặc định là ổn cho người mới.</a:t>
            </a:r>
          </a:p>
          <a:p>
            <a:r>
              <a:rPr lang="en-US" sz="1400" b="0" dirty="0"/>
              <a:t>Diễn giải lâm sàng: khung Environment là mặt bàn làm việc của bạn, nó cho thấy dữ liệu nào hiện đang được nạp.</a:t>
            </a:r>
          </a:p>
          <a:p>
            <a:r>
              <a:rPr lang="en-US" sz="1400" b="0" dirty="0"/>
              <a:t>Hỏi khán giả: đồ thị sẽ xuất hiện ở đâu? Câu trả lời mong đợi: dưới-phải, tab Plots.</a:t>
            </a:r>
          </a:p>
          <a:p>
            <a:r>
              <a:rPr lang="en-US" sz="1400" b="0" dirty="0"/>
              <a:t>Mẹo trình diễn: gõ một dòng trong Console và cùng dòng đó trong Source, rồi cho thấy chỉ Source đã lưu mới tồn tại lâu dài.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một Project của RStudio đặt thư mục làm việc giúp bạn và làm cho các đường dẫn có thể mang đi được.</a:t>
            </a:r>
          </a:p>
          <a:p>
            <a:r>
              <a:rPr lang="en-US" sz="1400" b="0" dirty="0"/>
              <a:t>Lỗi thường gặp: setwd("C:/Users/me/Desktop/...") ở đầu một tập lệnh. Nó chỉ chạy trên đúng một máy tính đó.</a:t>
            </a:r>
          </a:p>
          <a:p>
            <a:r>
              <a:rPr lang="en-US" sz="1400" b="0" dirty="0"/>
              <a:t>Diễn giải lâm sàng: tính di động quan trọng khi bạn chia sẻ một phân tích với một nhà thống kê hay một cộng tác viên ở cơ sở khác.</a:t>
            </a:r>
          </a:p>
          <a:p>
            <a:r>
              <a:rPr lang="en-US" sz="1400" b="0" dirty="0"/>
              <a:t>Hỏi khán giả: viết đường dẫn C: đầy đủ thì có gì sai? Câu trả lời mong đợi: không ai khác có đúng thư mục đó.</a:t>
            </a:r>
          </a:p>
          <a:p>
            <a:r>
              <a:rPr lang="en-US" sz="1400" b="0" dirty="0"/>
              <a:t>Mẹo trình diễn: chạy getwd() một lần để mọi người thấy thư mục hiện tại thực sự là gì, rồi mở Project của khóa học.</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tập lệnh là bản ghi có thể tái lập; console là chỗ nháp.</a:t>
            </a:r>
          </a:p>
          <a:p>
            <a:r>
              <a:rPr lang="en-US" sz="1400" b="0" dirty="0"/>
              <a:t>Ngộ nhận thường gặp: rằng gõ trong console là đủ. Nó biến mất khi đóng.</a:t>
            </a:r>
          </a:p>
          <a:p>
            <a:r>
              <a:rPr lang="en-US" sz="1400" b="0" dirty="0"/>
              <a:t>Diễn giải lâm sàng: tập lệnh đã lưu là dấu vết kiểm toán của phân tích, như một sổ tay phòng xét nghiệm đã ký.</a:t>
            </a:r>
          </a:p>
          <a:p>
            <a:r>
              <a:rPr lang="en-US" sz="1400" b="0" dirty="0"/>
              <a:t>Hỏi khán giả: phân tích thật nên nằm ở đâu? Câu trả lời mong đợi: trong một tập lệnh đã lưu.</a:t>
            </a:r>
          </a:p>
          <a:p>
            <a:r>
              <a:rPr lang="en-US" sz="1400" b="0" dirty="0"/>
              <a:t>Mẹo trình diễn: chạy một dòng bằng Ctrl+Enter từ tập lệnh và cho thấy kết quả xuất hiện trong console bên dưới.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mấu chốt: trước hết R là một máy tính bỏ túi - các hàm như sqrt() và số học (+, -, *, /) hoạt động đúng như bạn mong đợi.</a:t>
            </a:r>
          </a:p>
          <a:p>
            <a:r>
              <a:rPr lang="en-US" sz="1400" b="0" dirty="0"/>
              <a:t>Ngộ nhận thường gặp: rằng bạn phải học thuộc các lệnh trước khi có thể làm bất cứ điều gì. Bạn có thể khám phá bằng cách chỉ gõ các phép tính.</a:t>
            </a:r>
          </a:p>
          <a:p>
            <a:r>
              <a:rPr lang="en-US" sz="1400" b="0" dirty="0"/>
              <a:t>Diễn giải lâm sàng: một tỷ số huyết áp hay một giá trị trung bình nhanh của vài lần đo là công việc thật, hữu ích ngay ngày đầu tiên.</a:t>
            </a:r>
          </a:p>
          <a:p>
            <a:r>
              <a:rPr lang="en-US" sz="1400" b="0" dirty="0"/>
              <a:t>Câu hỏi cho khán giả: 140 / 90 cho ra gì, và nó có thể biểu thị điều gì? Câu trả lời mong đợi: khoảng 1.56 - một tỷ số tâm thu trên tâm trương thô sơ.</a:t>
            </a:r>
          </a:p>
          <a:p>
            <a:r>
              <a:rPr lang="en-US" sz="1400" b="0" dirty="0"/>
              <a:t>Mẹo trình diễn: để học viên đọc to các phép tính và gõ trực tiếp; xây dựng sự tự tin trước khi giới thiệu đối tượng.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&lt;- lưu một giá trị vào một đối tượng có tên; tên đó sau đó hành xử như chính giá trị.</a:t>
            </a:r>
          </a:p>
          <a:p>
            <a:r>
              <a:rPr lang="en-US" sz="1400" b="0" dirty="0"/>
              <a:t>Lỗi thường gặp: viết sbp = 152 (chạy được nhưng không được khuyến khích) hoặc gọi nó là Sbp về sau và gặp lỗi.</a:t>
            </a:r>
          </a:p>
          <a:p>
            <a:r>
              <a:rPr lang="en-US" sz="1400" b="0" dirty="0"/>
              <a:t>Diễn giải lâm sàng: một đối tượng chỉ là một hộp chứa có dán nhãn, như một ống đựng mẫu bệnh phẩm có dán nhãn.</a:t>
            </a:r>
          </a:p>
          <a:p>
            <a:r>
              <a:rPr lang="en-US" sz="1400" b="0" dirty="0"/>
              <a:t>Hỏi khán giả: Age có giống age trong R không? Câu trả lời mong đợi: không, R phân biệt chữ hoa chữ thường.</a:t>
            </a:r>
          </a:p>
          <a:p>
            <a:r>
              <a:rPr lang="en-US" sz="1400" b="0" dirty="0"/>
              <a:t>Mẹo trình diễn: gõ phím tắt Alt+- (Alt và dấu trừ) để chèn &lt;- tự động, và cho thấy lỗi phân biệt hoa-thường trực tiếp.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c() kết hợp các giá trị thành một vector; các hàm như length(), mean() và sd() tác động lên cả vector cùng một lúc.</a:t>
            </a:r>
          </a:p>
          <a:p>
            <a:r>
              <a:rPr lang="en-US" sz="1400" b="0" dirty="0"/>
              <a:t>Lỗi thường gặp: quên dấu phẩy bên trong c(), hoặc trộn lẫn văn bản và số trong một vector.</a:t>
            </a:r>
          </a:p>
          <a:p>
            <a:r>
              <a:rPr lang="en-US" sz="1400" b="0" dirty="0"/>
              <a:t>Diễn giải lâm sàng: một vector là một cột các lần đo, ở đây là sáu lần đo huyết áp tâm thu.</a:t>
            </a:r>
          </a:p>
          <a:p>
            <a:r>
              <a:rPr lang="en-US" sz="1400" b="0" dirty="0"/>
              <a:t>Hỏi khán giả: length() cho ta biết điều gì? Câu trả lời mong đợi: có bao nhiêu giá trị trong vector, ở đây là sáu.</a:t>
            </a:r>
          </a:p>
          <a:p>
            <a:r>
              <a:rPr lang="en-US" sz="1400" b="0" dirty="0"/>
              <a:t>Mẹo trình diễn: cũng chạy summary(sbp_readings) và max(sbp_readings) để họ thấy thêm nhiều hàm trên cùng một đối tượng.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numeric, character và logical là ba kiểu mà người mới cần. Mỗi cột dữ liệu là một kiểu.</a:t>
            </a:r>
          </a:p>
          <a:p>
            <a:r>
              <a:rPr lang="en-US" sz="1400" b="0" dirty="0"/>
              <a:t>Ngộ nhận thường gặp: rằng một số được lưu dưới dạng văn bản sẽ hành xử như một số; không phải vậy, bạn không thể lấy trung bình nó.</a:t>
            </a:r>
          </a:p>
          <a:p>
            <a:r>
              <a:rPr lang="en-US" sz="1400" b="0" dirty="0"/>
              <a:t>Diễn giải lâm sàng: nếu age được nhập dưới dạng văn bản (vì một giá trị lạc như 200 hay một chữ cái), việc tính trung bình sẽ thất bại cho tới khi được sửa.</a:t>
            </a:r>
          </a:p>
          <a:p>
            <a:r>
              <a:rPr lang="en-US" sz="1400" b="0" dirty="0"/>
              <a:t>Hỏi khán giả: "Yes"/"No" là kiểu gì? Câu trả lời mong đợi: văn bản character; ta sẽ mã hoá lại nó sau.</a:t>
            </a:r>
          </a:p>
          <a:p>
            <a:r>
              <a:rPr lang="en-US" sz="1400" b="0" dirty="0"/>
              <a:t>Mẹo trình diễn: tạo high_bp &lt;- sbp_readings &gt;= 140 và cho thấy vector logical TRUE/FALSE, rồi sum() nó để đếm.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một data frame (hay tibble) là bảng hình chữ nhật chứa nghiên cứu của bạn, hàng = bệnh nhân, cột = biến.</a:t>
            </a:r>
          </a:p>
          <a:p>
            <a:r>
              <a:rPr lang="en-US" sz="1400" b="0" dirty="0"/>
              <a:t>Ngộ nhận thường gặp: rằng dữ liệu trong R trông như bảng tính với các ô gộp và màu sắc; nó là các cột gọn gàng, thuần túy.</a:t>
            </a:r>
          </a:p>
          <a:p>
            <a:r>
              <a:rPr lang="en-US" sz="1400" b="0" dirty="0"/>
              <a:t>Diễn giải lâm sàng: bố cục hàng-là-bệnh-nhân, cột-là-biến này chính là cấu trúc gọn gàng mà các phân tích mong đợi.</a:t>
            </a:r>
          </a:p>
          <a:p>
            <a:r>
              <a:rPr lang="en-US" sz="1400" b="0" dirty="0"/>
              <a:t>Hỏi khán giả: trong dữ liệu của ta, một hàng đại diện cho điều gì? Câu trả lời mong đợi: một người lớn đến khám tại một cơ sở CSSKBĐ.</a:t>
            </a:r>
          </a:p>
          <a:p>
            <a:r>
              <a:rPr lang="en-US" sz="1400" b="0" dirty="0"/>
              <a:t>Mẹo trình diễn: đối chiếu bản in của một tibble (gọn, hiển thị kiểu) với bản in của data.frame cơ sở để họ trân trọng tibble.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cài một lần (tải từ internet), library() mỗi lần bạn khởi động R. Hai việc riêng biệt.</a:t>
            </a:r>
          </a:p>
          <a:p>
            <a:r>
              <a:rPr lang="en-US" sz="1400" b="0" dirty="0"/>
              <a:t>Lỗi thường gặp: đặt install.packages() ở đầu một tập lệnh chạy hằng ngày; nó tải lại một cách không cần thiết và thất bại khi ngoại tuyến.</a:t>
            </a:r>
          </a:p>
          <a:p>
            <a:r>
              <a:rPr lang="en-US" sz="1400" b="0" dirty="0"/>
              <a:t>Diễn giải lâm sàng: một gói là một hộp công cụ chứa các hàm bổ sung; tidyverse và readxl là những gói ta cần để nhập dữ liệu.</a:t>
            </a:r>
          </a:p>
          <a:p>
            <a:r>
              <a:rPr lang="en-US" sz="1400" b="0" dirty="0"/>
              <a:t>Hỏi khán giả: bạn có cài một gói mỗi phiên không? Câu trả lời mong đợi: không, bạn chỉ library() nó thôi.</a:t>
            </a:r>
          </a:p>
          <a:p>
            <a:r>
              <a:rPr lang="en-US" sz="1400" b="0" dirty="0"/>
              <a:t>Mẹo trình diễn: cho thấy library(tidyverse) in ra thông báo đính kèm của nó, và lưu ý rằng đó là bình thường, không phải lỗi.</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read_csv() đọc tệp CSV, read_excel() đọc tệp Excel; cả hai đều nằm trong một tibble. Các đường dẫn là tương đối vì ta đang ở trong một Project.</a:t>
            </a:r>
          </a:p>
          <a:p>
            <a:r>
              <a:rPr lang="en-US" sz="1400" b="0" dirty="0"/>
              <a:t>Lỗi thường gặp: quên library(readxl) trước read_excel, hoặc sai đường dẫn/tên tệp (hoa-thường và chính tả phải khớp chính xác).</a:t>
            </a:r>
          </a:p>
          <a:p>
            <a:r>
              <a:rPr lang="en-US" sz="1400" b="0" dirty="0"/>
              <a:t>Diễn giải lâm sàng: 1503 hàng nhưng nghiên cứu thu nhận 1.500, nên ba bản ghi trùng đang ẩn trong này.</a:t>
            </a:r>
          </a:p>
          <a:p>
            <a:r>
              <a:rPr lang="en-US" sz="1400" b="0" dirty="0"/>
              <a:t>Hỏi khán giả: vì sao 1503 chứ không phải 1500? Câu trả lời mong đợi: có 3 bản ghi trùng, mà ta sẽ sửa vào Ngày 2.</a:t>
            </a:r>
          </a:p>
          <a:p>
            <a:r>
              <a:rPr lang="en-US" sz="1400" b="0" dirty="0"/>
              <a:t>Mẹo trình diễn: chỉ ra thông báo đặc tả cột mà read_csv in ra; nó mang tính thông tin, không phải lỗi.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một quy trình xem-lần-đầu cố định, dim, names, glimpse, head, View, rồi $ để xem xét từng biến với summary và table.</a:t>
            </a:r>
          </a:p>
          <a:p>
            <a:r>
              <a:rPr lang="en-US" sz="1400" b="0" dirty="0"/>
              <a:t>Lỗi thường gặp: nhảy thẳng vào phân tích mà không xem; nhiều vấn đề dữ liệu có thể thấy được trong ba mươi giây đầu.</a:t>
            </a:r>
          </a:p>
          <a:p>
            <a:r>
              <a:rPr lang="en-US" sz="1400" b="0" dirty="0"/>
              <a:t>Diễn giải lâm sàng: summary() và table() là các xét nghiệm sàng lọc cho dữ liệu của bạn; chúng đánh dấu các giá trị bất khả và các phân loại lộn xộn.</a:t>
            </a:r>
          </a:p>
          <a:p>
            <a:r>
              <a:rPr lang="en-US" sz="1400" b="0" dirty="0"/>
              <a:t>Hỏi khán giả: htn$age trả về gì? Câu trả lời mong đợi: cột age dưới dạng một vector đơn.</a:t>
            </a:r>
          </a:p>
          <a:p>
            <a:r>
              <a:rPr lang="en-US" sz="1400" b="0" dirty="0"/>
              <a:t>Mẹo trình diễn: chạy View(htn) để mọi người thấy lưới bảng tính quen thuộc, rồi đóng nó và dựa vào glimpse().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summary() trên age và table() trên sex lập tức phơi bày các vấn đề, một giá trị max bất khả là 200 và nhiều cách viết của cùng một phân loại.</a:t>
            </a:r>
          </a:p>
          <a:p>
            <a:r>
              <a:rPr lang="en-US" sz="1400" b="0" dirty="0"/>
              <a:t>Ngộ nhận thường gặp: rằng dữ liệu được nhập vào là sạch; dữ liệu lâm sàng thô hầu như không bao giờ sạch.</a:t>
            </a:r>
          </a:p>
          <a:p>
            <a:r>
              <a:rPr lang="en-US" sz="1400" b="0" dirty="0"/>
              <a:t>Diễn giải lâm sàng: tuổi 200 (và một số 0) không thể là thật; Female/female/F/f đều là cùng một nhóm được ghi lại không nhất quán.</a:t>
            </a:r>
          </a:p>
          <a:p>
            <a:r>
              <a:rPr lang="en-US" sz="1400" b="0" dirty="0"/>
              <a:t>Hỏi khán giả: nên có bao nhiêu phân loại sex thật sự? Câu trả lời mong đợi: hai, nhưng bảng cho thấy tám nhãn.</a:t>
            </a:r>
          </a:p>
          <a:p>
            <a:r>
              <a:rPr lang="en-US" sz="1400" b="0" dirty="0"/>
              <a:t>Mẹo trình diễn: cũng chạy table(htn$facility) để lộ ra các khoảng trắng lạc, và nói với họ rằng Ngày 2 sẽ sửa tất cả những điều này.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hầu hết lỗi của người mới là một trong bốn thứ, thiếu library(), sai toán tử, một sơ suất hoa-thường/chính tả, hoặc một đường dẫn sai.</a:t>
            </a:r>
          </a:p>
          <a:p>
            <a:r>
              <a:rPr lang="en-US" sz="1400" b="0" dirty="0"/>
              <a:t>Lỗi thường gặp: hoảng loạn trước dòng chữ đỏ. Hãy đọc thông báo; nó thường nêu tên vấn đề.</a:t>
            </a:r>
          </a:p>
          <a:p>
            <a:r>
              <a:rPr lang="en-US" sz="1400" b="0" dirty="0"/>
              <a:t>Diễn giải lâm sàng: gỡ lỗi giống như chẩn đoán phân biệt, đọc dấu hiệu (lỗi), hình thành giả thuyết, thử cách sửa.</a:t>
            </a:r>
          </a:p>
          <a:p>
            <a:r>
              <a:rPr lang="en-US" sz="1400" b="0" dirty="0"/>
              <a:t>Hỏi khán giả: bạn gặp could not find function read_csv, sai ở đâu? Câu trả lời mong đợi: tidyverse chưa được nạp; hãy chạy library(tidyverse).</a:t>
            </a:r>
          </a:p>
          <a:p>
            <a:r>
              <a:rPr lang="en-US" sz="1400" b="0" dirty="0"/>
              <a:t>Mẹo trình diễn: cố ý kích hoạt một lỗi trực tiếp (gõ sai tên tệp) và đi qua việc đọc thông báo một cách bình tĩnh.</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lần xem đầu đã làm nổi lên ba vấn đề lớn, giá trị bất khả, phân loại không nhất quán, và các hàng trùng.</a:t>
            </a:r>
          </a:p>
          <a:p>
            <a:r>
              <a:rPr lang="en-US" sz="1400" b="0" dirty="0"/>
              <a:t>Ngộ nhận thường gặp: rằng phát hiện vấn đề nghĩa là bạn đã làm sai điều gì đó; phát hiện chúng sớm chính là mục tiêu.</a:t>
            </a:r>
          </a:p>
          <a:p>
            <a:r>
              <a:rPr lang="en-US" sz="1400" b="0" dirty="0"/>
              <a:t>Diễn giải lâm sàng: phân tích trước khi làm sạch sẽ làm sai lệch mọi kết quả, tuổi trung bình sẽ bị kéo lên bởi số 200.</a:t>
            </a:r>
          </a:p>
          <a:p>
            <a:r>
              <a:rPr lang="en-US" sz="1400" b="0" dirty="0"/>
              <a:t>Hỏi khán giả: ngay bây giờ ta có nên tính tuổi trung bình không? Câu trả lời mong đợi: không, hãy sửa các giá trị bất khả trước.</a:t>
            </a:r>
          </a:p>
          <a:p>
            <a:r>
              <a:rPr lang="en-US" sz="1400" b="0" dirty="0"/>
              <a:t>Mẹo trình diễn: báo trước Ngày 2 bằng cách cho thấy một số 200 duy nhất làm méo mean(htn$age) như thế nào; nó tạo động lực cho ngày làm sạch.</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bài thực hành là toàn bộ quy trình Ngày 1 từ đầu đến cuối, project, các gói, nhập cả hai định dạng, rồi xem xét.</a:t>
            </a:r>
          </a:p>
          <a:p>
            <a:r>
              <a:rPr lang="en-US" sz="1400" b="0" dirty="0"/>
              <a:t>Lỗi thường gặp: quên một lệnh library(), hoặc gõ sai đường dẫn; hãy đi vòng và kiểm tra những thứ này trước.</a:t>
            </a:r>
          </a:p>
          <a:p>
            <a:r>
              <a:rPr lang="en-US" sz="1400" b="0" dirty="0"/>
              <a:t>Diễn giải lâm sàng: bằng cách nhập và xem xét, học viên trải nghiệm chính những cờ đỏ về chất lượng dữ liệu mà ta vừa bàn.</a:t>
            </a:r>
          </a:p>
          <a:p>
            <a:r>
              <a:rPr lang="en-US" sz="1400" b="0" dirty="0"/>
              <a:t>Hỏi khán giả: sau table(sex), bạn thấy bao nhiêu nhãn khác nhau? Câu trả lời mong đợi: tám, cho hai phân loại thật.</a:t>
            </a:r>
          </a:p>
          <a:p>
            <a:r>
              <a:rPr lang="en-US" sz="1400" b="0" dirty="0"/>
              <a:t>Mẹo trình diễn: cho một thời gian cố định (khoảng 15 phút), rồi đúc kết bằng cách hỏi ai tìm ra tuổi 200 đầu tiên.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củng cố cả chặng đường, từ chỗ chưa từng mở R đến chỗ nhập và xem xét một bộ dữ liệu thật, rồi xem trước việc làm sạch.</a:t>
            </a:r>
          </a:p>
          <a:p>
            <a:r>
              <a:rPr lang="en-US" sz="1400" b="0" dirty="0"/>
              <a:t>Ngộ nhận thường gặp: rằng ta sẽ bắt đầu phân tích vào ngày mai; trước tiên ta làm sạch, vì phân tích đáng tin cần dữ liệu sạch.</a:t>
            </a:r>
          </a:p>
          <a:p>
            <a:r>
              <a:rPr lang="en-US" sz="1400" b="0" dirty="0"/>
              <a:t>Diễn giải lâm sàng: hôm nay là dữ liệu VÀO và một lần xem đầu; Ngày 2 biến tệp thô, lộn xộn thành một bộ dữ liệu sẵn sàng để phân tích.</a:t>
            </a:r>
          </a:p>
          <a:p>
            <a:r>
              <a:rPr lang="en-US" sz="1400" b="0" dirty="0"/>
              <a:t>Hỏi khán giả: ba vấn đề dữ liệu ta phải sửa ngày mai là gì? Câu trả lời mong đợi: giá trị bất khả, phân loại không nhất quán, các hàng trùng.</a:t>
            </a:r>
          </a:p>
          <a:p>
            <a:r>
              <a:rPr lang="en-US" sz="1400" b="0" dirty="0"/>
              <a:t>Mẹo trình diễn: kết thúc bằng cách mở lại tập lệnh của họ và chạy lại nó từ trên xuống dưới, chứng minh khả năng tái lập chỉ trong một lần gõ phím.</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hôm nay ta biến một tệp thô lộn xộn thành một bộ dữ liệu gọn gàng, sẵn sàng phân tích và lưu nó một lần cho cả tuần.</a:t>
            </a:r>
          </a:p>
          <a:p>
            <a:r>
              <a:rPr lang="en-US" sz="1400" b="0" dirty="0"/>
              <a:t>Ngộ nhận: làm sạch không phải một bước nhanh trước công việc 'thật'; nó CHÍNH LÀ phần lớn công việc.</a:t>
            </a:r>
          </a:p>
          <a:p>
            <a:r>
              <a:rPr lang="en-US" sz="1400" b="0" dirty="0"/>
              <a:t>Diễn giải lâm sàng: mọi kết quả về sau đều phụ thuộc vào các quyết định đưa ra hôm nay.</a:t>
            </a:r>
          </a:p>
          <a:p>
            <a:r>
              <a:rPr lang="en-US" sz="1400" b="0" dirty="0"/>
              <a:t>Hỏi: ai từng phát hiện lỗi trong dữ liệu của mình sau khi đã chạy phân tích? Mong đợi: hầu hết giơ tay, thường là sau khi đã nộp.</a:t>
            </a:r>
          </a:p>
          <a:p>
            <a:r>
              <a:rPr lang="en-US" sz="1400" b="0" dirty="0"/>
              <a:t>Mẹo trình diễn: để tệp thô mở bên cạnh tập lệnh để mọi người thấy mớ hỗn độn mà ta đang thuần hóa.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làm sạch là phần lớn thời gian phân tích thực tế và là phần mà người thẩm định soi kỹ nhất.</a:t>
            </a:r>
          </a:p>
          <a:p>
            <a:r>
              <a:rPr lang="en-US" sz="1400" b="0" dirty="0"/>
              <a:t>Ngộ nhận: 'người quản lý dữ liệu đã làm sạch rồi' - vẫn phải có ai đó đối chiếu nó với ý nghĩa lâm sàng.</a:t>
            </a:r>
          </a:p>
          <a:p>
            <a:r>
              <a:rPr lang="en-US" sz="1400" b="0" dirty="0"/>
              <a:t>Diễn giải lâm sàng: một SBP bằng 7 hay một tuổi 200 sẽ âm thầm làm méo các giá trị trung bình và mô hình.</a:t>
            </a:r>
          </a:p>
          <a:p>
            <a:r>
              <a:rPr lang="en-US" sz="1400" b="0" dirty="0"/>
              <a:t>Hỏi: khoảng SBP lúc nghỉ thực tế của một người lớn là bao nhiêu? Mong đợi: khoảng 90-180; chính trực giác này là thứ ta mã hoá thành các quy tắc kiểm định.</a:t>
            </a:r>
          </a:p>
          <a:p>
            <a:r>
              <a:rPr lang="en-US" sz="1400" b="0" dirty="0"/>
              <a:t>Mẹo trình diễn: hiện một giá trị bất khả và hỏi nó sẽ làm gì với một giá trị trung bình.</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chọn đúng kiểu ngay từ đầu chi phối mọi tóm tắt, đồ thị và mô hình về sau.</a:t>
            </a:r>
          </a:p>
          <a:p>
            <a:r>
              <a:rPr lang="en-US" sz="1400" b="0" dirty="0"/>
              <a:t>Ngộ nhận: 'một con số luôn là liên tục' - các phân loại được mã hoá (1=Yes) là số nhưng lại mang tính phân loại.</a:t>
            </a:r>
          </a:p>
          <a:p>
            <a:r>
              <a:rPr lang="en-US" sz="1400" b="0" dirty="0"/>
              <a:t>Diễn giải lâm sàng: education có thứ tự nên giữ nguyên thứ tự của nó; facility không nên bị coi là một thang đo có xếp hạng.</a:t>
            </a:r>
          </a:p>
          <a:p>
            <a:r>
              <a:rPr lang="en-US" sz="1400" b="0" dirty="0"/>
              <a:t>Hỏi: điểm đau Likert 0-10 là liên tục hay thứ tự? Mong đợi: có thể biện hộ theo cả hai cách; điểm mấu chốt là quyết định một cách có chủ đích.</a:t>
            </a:r>
          </a:p>
          <a:p>
            <a:r>
              <a:rPr lang="en-US" sz="1400" b="0" dirty="0"/>
              <a:t>Mẹo trình diễn: ánh xạ mỗi hàng tới một cột trong tệp thô đang mở.</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một phân loại chỉ tồn tại nếu nhãn của nó được viết giống hệt nhau mỗi lần.</a:t>
            </a:r>
          </a:p>
          <a:p>
            <a:r>
              <a:rPr lang="en-US" sz="1400" b="0" dirty="0"/>
              <a:t>Ngộ nhận: R đủ thông minh để biết 'Y' nghĩa là 'Yes' - không phải vậy.</a:t>
            </a:r>
          </a:p>
          <a:p>
            <a:r>
              <a:rPr lang="en-US" sz="1400" b="0" dirty="0"/>
              <a:t>Diễn giải lâm sàng: một biến sex bị chia tách sẽ làm sai lệch mọi ước lượng có hiệu chỉnh theo sex.</a:t>
            </a:r>
          </a:p>
          <a:p>
            <a:r>
              <a:rPr lang="en-US" sz="1400" b="0" dirty="0"/>
              <a:t>Hỏi: một trường văn bản tự do có thể tạo ra bao nhiêu giá trị khác nhau của sex? Mong đợi: nhiều đến bất ngờ; ta sẽ thấy tám.</a:t>
            </a:r>
          </a:p>
          <a:p>
            <a:r>
              <a:rPr lang="en-US" sz="1400" b="0" dirty="0"/>
              <a:t>Mẹo trình diễn: chạy table() trước khi làm sạch để lộ ra sự hỗn loạn.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định nghĩa tình trạng khuyết ngay khi nhập để các mã báo hiệu không bao giờ lọt vào phân tích dưới dạng số.</a:t>
            </a:r>
          </a:p>
          <a:p>
            <a:r>
              <a:rPr lang="en-US" sz="1400" b="0" dirty="0"/>
              <a:t>Ngộ nhận: ô trống là dạng khuyết duy nhất - các mã báo hiệu dạng số mới là loại nguy hiểm.</a:t>
            </a:r>
          </a:p>
          <a:p>
            <a:r>
              <a:rPr lang="en-US" sz="1400" b="0" dirty="0"/>
              <a:t>Diễn giải lâm sàng: một SBP 999 sẽ thổi phồng giá trị trung bình và làm tăng giả tạo tỷ lệ tăng huyết áp.</a:t>
            </a:r>
          </a:p>
          <a:p>
            <a:r>
              <a:rPr lang="en-US" sz="1400" b="0" dirty="0"/>
              <a:t>Hỏi: điều gì xảy ra với mean(sbp) nếu một số 999 được đọc như một giá trị thật? Mong đợi: nó nhảy vọt; ví dụ này thuyết phục cho đối số na=.</a:t>
            </a:r>
          </a:p>
          <a:p>
            <a:r>
              <a:rPr lang="en-US" sz="1400" b="0" dirty="0"/>
              <a:t>Mẹo trình diễn: nhập một lần không có na= và một lần có nó; so sánh summary().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bản ghi trùng là một sự tăng cỡ mẫu giả và phải bị loại trước khi đếm bất cứ thứ gì.</a:t>
            </a:r>
          </a:p>
          <a:p>
            <a:r>
              <a:rPr lang="en-US" sz="1400" b="0" dirty="0"/>
              <a:t>Ngộ nhận: distinct() bỏ đi những hàng bạn muốn giữ - ở đây nó chỉ loại các bản sao toàn-hàng chính xác.</a:t>
            </a:r>
          </a:p>
          <a:p>
            <a:r>
              <a:rPr lang="en-US" sz="1400" b="0" dirty="0"/>
              <a:t>Diễn giải lâm sàng: một bệnh nhân bị lặp sẽ đếm hai lần kết cục của họ, làm sai lệch tỷ lệ hiện mắc.</a:t>
            </a:r>
          </a:p>
          <a:p>
            <a:r>
              <a:rPr lang="en-US" sz="1400" b="0" dirty="0"/>
              <a:t>Hỏi: vì sao kiểm tra n_distinct(patient_id) cùng với nrow? Mong đợi: để bắt các lỗi nhập liệu cùng-ID-khác-hàng mà distinct() sẽ giữ lại.</a:t>
            </a:r>
          </a:p>
          <a:p>
            <a:r>
              <a:rPr lang="en-US" sz="1400" b="0" dirty="0"/>
              <a:t>Mẹo trình diễn: in nrow trước và sau để thấy được sự giảm từ 1503 xuống 1500.</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chuẩn hóa hoa-thường và khoảng trắng trước, rồi ánh xạ một tập nhỏ các giá trị đã biết.</a:t>
            </a:r>
          </a:p>
          <a:p>
            <a:r>
              <a:rPr lang="en-US" sz="1400" b="0" dirty="0"/>
              <a:t>Ngộ nhận: bạn phải liệt kê từng biến thể bằng tay - chuyển về chữ thường thu gọn phân nửa số đó ngay lập tức.</a:t>
            </a:r>
          </a:p>
          <a:p>
            <a:r>
              <a:rPr lang="en-US" sz="1400" b="0" dirty="0"/>
              <a:t>Diễn giải lâm sàng: đừng bao giờ bịa ra một giới tính cho một mục không đọc được; NA là trung thực.</a:t>
            </a:r>
          </a:p>
          <a:p>
            <a:r>
              <a:rPr lang="en-US" sz="1400" b="0" dirty="0"/>
              <a:t>Hỏi: vì sao đưa các giá trị chưa biết về NA thay vì về nhóm lớn hơn? Mong đợi: phỏng đoán tạo ra sai lệch; NA là minh bạch.</a:t>
            </a:r>
          </a:p>
          <a:p>
            <a:r>
              <a:rPr lang="en-US" sz="1400" b="0" dirty="0"/>
              <a:t>Mẹo trình diễn: cho thấy table(sex) trước và sau case_when.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một hàm trợ giúp làm cho cùng một quy tắc làm sạch trở nên nhất quán và có thể kiểm toán trên nhiều cột.</a:t>
            </a:r>
          </a:p>
          <a:p>
            <a:r>
              <a:rPr lang="en-US" sz="1400" b="0" dirty="0"/>
              <a:t>Ngộ nhận: bạn nên lặp lại case_when cho từng biến - across() tránh các lỗi sao-chép-dán.</a:t>
            </a:r>
          </a:p>
          <a:p>
            <a:r>
              <a:rPr lang="en-US" sz="1400" b="0" dirty="0"/>
              <a:t>Diễn giải lâm sàng: treatment_uptake phải là Yes/No sạch trước khi nó có thể là một kết cục.</a:t>
            </a:r>
          </a:p>
          <a:p>
            <a:r>
              <a:rPr lang="en-US" sz="1400" b="0" dirty="0"/>
              <a:t>Hỏi: vì sao ép về as.character trước? Mong đợi: một cột được đọc là numeric 0/1 sẽ không khớp các mẫu văn bản nếu không làm vậy.</a:t>
            </a:r>
          </a:p>
          <a:p>
            <a:r>
              <a:rPr lang="en-US" sz="1400" b="0" dirty="0"/>
              <a:t>Mẹo trình diễn: gọi to_yesno(c("Y"," no ",1)) riêng lẻ để cho thấy nó hoạt động.</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mã hoá tính hợp lý lâm sàng thành các khoảng rõ ràng và chuyển các vi phạm thành NA.</a:t>
            </a:r>
          </a:p>
          <a:p>
            <a:r>
              <a:rPr lang="en-US" sz="1400" b="0" dirty="0"/>
              <a:t>Ngộ nhận: giá trị ngoại lai và giá trị bất khả là như nhau - một SBP thật 185 là hợp lý và phải được giữ lại.</a:t>
            </a:r>
          </a:p>
          <a:p>
            <a:r>
              <a:rPr lang="en-US" sz="1400" b="0" dirty="0"/>
              <a:t>Diễn giải lâm sàng: các khoảng nên phản ánh dân số; một nghiên cứu ở người lớn biện minh cho age &gt;= 18.</a:t>
            </a:r>
          </a:p>
          <a:p>
            <a:r>
              <a:rPr lang="en-US" sz="1400" b="0" dirty="0"/>
              <a:t>Hỏi: có nên xóa cả hàng vì một chiều cao sai không? Mong đợi: không - chỉ để trống ô đó thôi để các trường hợp lệ khác còn được giữ.</a:t>
            </a:r>
          </a:p>
          <a:p>
            <a:r>
              <a:rPr lang="en-US" sz="1400" b="0" dirty="0"/>
              <a:t>Mẹo trình diễn: cho thấy summary() trước và sau; giá trị min và max sẽ khớp vào một khoảng hợp lý.</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tạo biến dẫn xuất từ các đầu vào đã làm sạch để giá trị dẫn xuất thừa hưởng việc làm sạch.</a:t>
            </a:r>
          </a:p>
          <a:p>
            <a:r>
              <a:rPr lang="en-US" sz="1400" b="0" dirty="0"/>
              <a:t>Ngộ nhận: tính lại BMI là thừa - cột được cung cấp có thể cũ hoặc sai.</a:t>
            </a:r>
          </a:p>
          <a:p>
            <a:r>
              <a:rPr lang="en-US" sz="1400" b="0" dirty="0"/>
              <a:t>Diễn giải lâm sàng: bp_category dùng các ngưỡng cắt theo hướng dẫn (&gt;=140/90 tăng huyết áp, &gt;=130/80 tăng cao).</a:t>
            </a:r>
          </a:p>
          <a:p>
            <a:r>
              <a:rPr lang="en-US" sz="1400" b="0" dirty="0"/>
              <a:t>Hỏi: vì sao tính lại BMI thay vì giữ cột của tệp? Mong đợi: nó bảo đảm tính nhất quán với height và weight đã được kiểm định.</a:t>
            </a:r>
          </a:p>
          <a:p>
            <a:r>
              <a:rPr lang="en-US" sz="1400" b="0" dirty="0"/>
              <a:t>Mẹo trình diễn: cho thấy một hàng mà BMI được cung cấp không khớp với giá trị được tính lại.</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sắp xếp case_when từ cụ thể nhất tới tổng quát nhất, và chặn NA trước nhánh TRUE.</a:t>
            </a:r>
          </a:p>
          <a:p>
            <a:r>
              <a:rPr lang="en-US" sz="1400" b="0" dirty="0"/>
              <a:t>Ngộ nhận: NA rơi xuống nhánh TRUE cuối - nên một BP khuyết sẽ bị dán nhãn sai là Normal.</a:t>
            </a:r>
          </a:p>
          <a:p>
            <a:r>
              <a:rPr lang="en-US" sz="1400" b="0" dirty="0"/>
              <a:t>Diễn giải lâm sàng: phân loại nhầm một BP khuyết thành Normal sẽ đánh giá thấp gánh nặng tăng huyết áp.</a:t>
            </a:r>
          </a:p>
          <a:p>
            <a:r>
              <a:rPr lang="en-US" sz="1400" b="0" dirty="0"/>
              <a:t>Hỏi: điều gì xảy ra nếu dòng is.na bị xóa? Mong đợi: bệnh nhân có BP khuyết bị dán nhãn Normal - một lỗi âm thầm.</a:t>
            </a:r>
          </a:p>
          <a:p>
            <a:r>
              <a:rPr lang="en-US" sz="1400" b="0" dirty="0"/>
              <a:t>Mẹo trình diễn: cố ý bỏ dòng is.na, chạy table(bp_category), rồi khôi phục nó.</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parse_date_time của lubridate thử từng định dạng lần lượt, thuần hóa các kiểu nhập liệu hỗn hợp.</a:t>
            </a:r>
          </a:p>
          <a:p>
            <a:r>
              <a:rPr lang="en-US" sz="1400" b="0" dirty="0"/>
              <a:t>Ngộ nhận: ngày tháng chỉ là văn bản - lưu dưới dạng văn bản thì không thể sắp xếp hay lấy hiệu.</a:t>
            </a:r>
          </a:p>
          <a:p>
            <a:r>
              <a:rPr lang="en-US" sz="1400" b="0" dirty="0"/>
              <a:t>Diễn giải lâm sàng: một Date thật cho phép bạn tính thời gian theo dõi và kiểm tra các cửa sổ thu nhận.</a:t>
            </a:r>
          </a:p>
          <a:p>
            <a:r>
              <a:rPr lang="en-US" sz="1400" b="0" dirty="0"/>
              <a:t>Hỏi: vì sao kiểm tra sum(is.na(enroll_date)) sau đó? Mong đợi: một sự tăng đột biến nghĩa là một định dạng ta chưa liệt kê và phải thêm vào.</a:t>
            </a:r>
          </a:p>
          <a:p>
            <a:r>
              <a:rPr lang="en-US" sz="1400" b="0" dirty="0"/>
              <a:t>Mẹo trình diễn: cho parse_date_time vài chuỗi mẫu để cho thấy mỗi order khớp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mức factor đầu tiên là mức tham chiếu, và nó quy định cách diễn giải mọi tỷ số chênh.</a:t>
            </a:r>
          </a:p>
          <a:p>
            <a:r>
              <a:rPr lang="en-US" sz="1400" b="0" dirty="0"/>
              <a:t>Ngộ nhận: thứ tự mức chỉ mang tính hình thức - nó âm thầm đảo ngược hướng của các ước lượng mô hình.</a:t>
            </a:r>
          </a:p>
          <a:p>
            <a:r>
              <a:rPr lang="en-US" sz="1400" b="0" dirty="0"/>
              <a:t>Diễn giải lâm sàng: với 'No' làm tham chiếu, OR &gt; 1 nghĩa là chênh lệch cao hơn của kết cục, đúng như bác sĩ mong đợi.</a:t>
            </a:r>
          </a:p>
          <a:p>
            <a:r>
              <a:rPr lang="en-US" sz="1400" b="0" dirty="0"/>
              <a:t>Hỏi: một OR bằng 3.56 cho diabetes nghĩa là gì khi 'No' làm tham chiếu? Mong đợi: người tiểu đường có chênh lệch tiếp nhận điều trị gấp 3.56 lần so với người không tiểu đường.</a:t>
            </a:r>
          </a:p>
          <a:p>
            <a:r>
              <a:rPr lang="en-US" sz="1400" b="0" dirty="0"/>
              <a:t>Mẹo trình diễn: khớp lại mô hình với các mức đảo ngược để cho thấy OR đảo thành 1/3.56.</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kiểm tra tình trạng khuyết theo từng cột và phân biệt NA có tính cấu trúc với các vấn đề dữ liệu.</a:t>
            </a:r>
          </a:p>
          <a:p>
            <a:r>
              <a:rPr lang="en-US" sz="1400" b="0" dirty="0"/>
              <a:t>Ngộ nhận: mọi NA đều xấu - adherence không được xác định với người không điều trị, nên NA của nó là điều mong đợi.</a:t>
            </a:r>
          </a:p>
          <a:p>
            <a:r>
              <a:rPr lang="en-US" sz="1400" b="0" dirty="0"/>
              <a:t>Diễn giải lâm sàng: chỉ bệnh nhân đang điều trị mới có thể có trạng thái adherence hoặc kiểm soát BP.</a:t>
            </a:r>
          </a:p>
          <a:p>
            <a:r>
              <a:rPr lang="en-US" sz="1400" b="0" dirty="0"/>
              <a:t>Hỏi: có nên quy nạp adherence cho bệnh nhân chưa điều trị không? Mong đợi: không - nó khuyết một cách cấu trúc, không phải chưa biết.</a:t>
            </a:r>
          </a:p>
          <a:p>
            <a:r>
              <a:rPr lang="en-US" sz="1400" b="0" dirty="0"/>
              <a:t>Mẹo trình diễn: lập bảng chéo tình trạng khuyết của adherence với treatment_uptake để cho thấy dạng khuyết theo-thiết-kế.</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tệp .rds đã lưu là nguồn chân lý duy nhất cho phần còn lại của khóa học.</a:t>
            </a:r>
          </a:p>
          <a:p>
            <a:r>
              <a:rPr lang="en-US" sz="1400" b="0" dirty="0"/>
              <a:t>Ngộ nhận: CSV giữ được mọi thứ - nó làm mất các mức factor và thứ tự, nên .rds mới là tệp phân tích.</a:t>
            </a:r>
          </a:p>
          <a:p>
            <a:r>
              <a:rPr lang="en-US" sz="1400" b="0" dirty="0"/>
              <a:t>Diễn giải lâm sàng: một bộ dữ liệu sạch cố định làm cho mọi kết quả về sau có thể tái lập và kiểm toán được.</a:t>
            </a:r>
          </a:p>
          <a:p>
            <a:r>
              <a:rPr lang="en-US" sz="1400" b="0" dirty="0"/>
              <a:t>Hỏi: vì sao ưu tiên .rds hơn .csv cho phân tích? Mong đợi: nó khôi phục các factor và các mức có thứ tự một cách chính xác, không cần làm sạch lại.</a:t>
            </a:r>
          </a:p>
          <a:p>
            <a:r>
              <a:rPr lang="en-US" sz="1400" b="0" dirty="0"/>
              <a:t>Mẹo trình diễn: lưu, xóa không gian làm việc, rồi readRDS để chứng minh các factor còn nguyên.</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hầu hết lỗi làm sạch đều âm thầm; hãy tạo thói quen xem xét sau mỗi bước.</a:t>
            </a:r>
          </a:p>
          <a:p>
            <a:r>
              <a:rPr lang="en-US" sz="1400" b="0" dirty="0"/>
              <a:t>Ngộ nhận: không có thông báo lỗi nghĩa là bước đó đã chạy đúng - kết quả sai thường chạy mà không phàn nàn.</a:t>
            </a:r>
          </a:p>
          <a:p>
            <a:r>
              <a:rPr lang="en-US" sz="1400" b="0" dirty="0"/>
              <a:t>Diễn giải lâm sàng: một kết cục bị mã hoá sai một cách âm thầm có thể thay đổi toàn bộ kết luận nghiên cứu.</a:t>
            </a:r>
          </a:p>
          <a:p>
            <a:r>
              <a:rPr lang="en-US" sz="1400" b="0" dirty="0"/>
              <a:t>Hỏi: bạn sẽ bắt một đối số na= bị quên như thế nào? Mong đợi: một giá trị max phi lý trong summary(), ví dụ một SBP bằng 999.</a:t>
            </a:r>
          </a:p>
          <a:p>
            <a:r>
              <a:rPr lang="en-US" sz="1400" b="0" dirty="0"/>
              <a:t>Mẹo trình diễn: kích hoạt từng lỗi trực tiếp, rồi cho thấy công cụ chẩn đoán bắt được nó.</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bài thực hành tái lập toàn bộ bản giao ước để mỗi học viên kết thúc với một tệp sạch giống hệt nhau.</a:t>
            </a:r>
          </a:p>
          <a:p>
            <a:r>
              <a:rPr lang="en-US" sz="1400" b="0" dirty="0"/>
              <a:t>Ngộ nhận: bỏ qua một bước cũng không sao nếu các con số 'trông ổn' - các ngày sau sẽ không nạp được một tệp sai kiểu.</a:t>
            </a:r>
          </a:p>
          <a:p>
            <a:r>
              <a:rPr lang="en-US" sz="1400" b="0" dirty="0"/>
              <a:t>Diễn giải lâm sàng: trạng thái kết thúc mong đợi là bộ dữ liệu đã được kiểm định dùng cho mọi phân tích về sau.</a:t>
            </a:r>
          </a:p>
          <a:p>
            <a:r>
              <a:rPr lang="en-US" sz="1400" b="0" dirty="0"/>
              <a:t>Hỏi: làm sao bạn biết tệp của mình đúng? Mong đợi: 1500 hàng, các factor sạch, và bản kiểm tra khớp với số đếm của phần trình diễn.</a:t>
            </a:r>
          </a:p>
          <a:p>
            <a:r>
              <a:rPr lang="en-US" sz="1400" b="0" dirty="0"/>
              <a:t>Mẹo trình diễn: cho họ readRDS tệp của chính mình và glimpse() nó để tự kiểm tra so với của bạn.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bộ dữ liệu sạch, đã lưu là nhịp cầu bước vào phân tích mô tả ở Ngày 3.</a:t>
            </a:r>
          </a:p>
          <a:p>
            <a:r>
              <a:rPr lang="en-US" sz="1400" b="0" dirty="0"/>
              <a:t>Ngộ nhận: làm sạch đã xong mãi mãi - hãy quay lại nó nếu các đồ thị Ngày 3 làm lộ ra các bất thường mới.</a:t>
            </a:r>
          </a:p>
          <a:p>
            <a:r>
              <a:rPr lang="en-US" sz="1400" b="0" dirty="0"/>
              <a:t>Diễn giải lâm sàng: mô tả đáng tin cậy đòi hỏi dữ liệu đã kiểm định mà ta đã xây hôm nay.</a:t>
            </a:r>
          </a:p>
          <a:p>
            <a:r>
              <a:rPr lang="en-US" sz="1400" b="0" dirty="0"/>
              <a:t>Hỏi: điều đầu tiên bạn làm vào Ngày 3 là gì? Mong đợi: readRDS tệp phân tích và glimpse nó, không phải nhập lại tệp CSV thô.</a:t>
            </a:r>
          </a:p>
          <a:p>
            <a:r>
              <a:rPr lang="en-US" sz="1400" b="0" dirty="0"/>
              <a:t>Mẹo trình diễn: mở phần đầu tập lệnh của ngày mai để cho thấy nó bắt đầu bằng readRDS.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Chào mừng đến với Ngày 3. Hôm nay chúng ta chuyển từ làm sạch dữ liệu sang mô tả dữ liệu.</a:t>
            </a:r>
          </a:p>
          <a:p>
            <a:r>
              <a:rPr lang="en-US" sz="1400" b="0" dirty="0"/>
              <a:t>Mục tiêu rất đơn giản: cho người đọc biết ai có trong nghiên cứu của chúng ta và họ trông như thế nào, bằng những con số và hình ảnh mà một tạp chí sẽ chấp nhận.</a:t>
            </a:r>
          </a:p>
          <a:p>
            <a:r>
              <a:rPr lang="en-US" sz="1400" b="0" dirty="0"/>
              <a:t>Điểm giảng dạy then chốt: thống kê mô tả đến TRƯỚC bất kỳ mô hình nào. Bạn không thể diễn giải một tỷ số chênh nếu trước tiên bạn không biết mẫu.</a:t>
            </a:r>
          </a:p>
          <a:p>
            <a:r>
              <a:rPr lang="en-US" sz="1400" b="0" dirty="0"/>
              <a:t>Bối cảnh lâm sàng: mọi thứ chúng ta xây dựng hôm nay đều đưa vào Bảng 1 và các hình của bản thảo về tiếp nhận điều trị tăng huyết áp.</a:t>
            </a:r>
          </a:p>
          <a:p>
            <a:r>
              <a:rPr lang="en-US" sz="1400" b="0" dirty="0"/>
              <a:t>Hỏi khán giả: bảng đầu tiên bạn nhìn thấy trong hầu hết mọi bài báo lâm sàng là gì? Câu trả lời mong đợi: đặc điểm nền, Bảng 1. Đó là đích đến của chúng ta.</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này đặt ra kỳ vọng. Hãy đọc mỗi kết quả như một lời hứa.</a:t>
            </a:r>
          </a:p>
          <a:p>
            <a:r>
              <a:rPr lang="en-US" sz="1400" b="0" dirty="0"/>
              <a:t>Điểm giảng dạy then chốt: đây là những kỹ năng thực hành, thực chiến, không phải lý thuyết. Mọi người sẽ tạo một Bảng 1 trong bài tập.</a:t>
            </a:r>
          </a:p>
          <a:p>
            <a:r>
              <a:rPr lang="en-US" sz="1400" b="0" dirty="0"/>
              <a:t>Quan niệm sai phổ biến: rằng thống kê đòi hỏi toán học nặng nề. Hôm nay là về việc chọn và báo cáo bản tóm tắt phù hợp, đó là sự phán đoán, không phải đại số.</a:t>
            </a:r>
          </a:p>
          <a:p>
            <a:r>
              <a:rPr lang="en-US" sz="1400" b="0" dirty="0"/>
              <a:t>Mẹo trình diễn: hãy để mở kịch bản demo bên cạnh các slide để học viên thấy điểm trên slide rồi thấy mã chạy trực tiếp.</a:t>
            </a:r>
          </a:p>
          <a:p>
            <a:r>
              <a:rPr lang="en-US" sz="1400" b="0" dirty="0"/>
              <a:t>Câu hỏi gợi ý: bạn đã làm điều nào trong số này trong công việc hiện tại của mình? Mong đợi: hầu hết báo cáo trung bình và số đếm nhưng ít người dùng công cụ Bảng 1 có thể tái lập.</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một cầu nối ngắn từ Ngày 2. Chúng ta không lặp lại việc làm sạch; chúng ta đọc tệp đã sẵn sàng để phân tích.</a:t>
            </a:r>
          </a:p>
          <a:p>
            <a:r>
              <a:rPr lang="en-US" sz="1400" b="0" dirty="0"/>
              <a:t>Điểm giảng dạy then chốt: readRDS khôi phục chính xác đối tượng R, bao gồm các mức của factor và kiểu dữ liệu, những thứ mà một tệp CSV sẽ làm mất.</a:t>
            </a:r>
          </a:p>
          <a:p>
            <a:r>
              <a:rPr lang="en-US" sz="1400" b="0" dirty="0"/>
              <a:t>Lỗi thường gặp: nhập lại tệp thô 1.503 hàng và làm sạch lại bằng tay mỗi buổi, điều này âm thầm tạo ra khác biệt.</a:t>
            </a:r>
          </a:p>
          <a:p>
            <a:r>
              <a:rPr lang="en-US" sz="1400" b="0" dirty="0"/>
              <a:t>Diễn giải lâm sàng: khả năng tái lập nghĩa là một đồng tác giả hoặc người phản biện có thể chạy lại và nhận được cùng một Bảng 1.</a:t>
            </a:r>
          </a:p>
          <a:p>
            <a:r>
              <a:rPr lang="en-US" sz="1400" b="0" dirty="0"/>
              <a:t>Mẹo trình diễn: chạy glimpse và chỉ ra rằng các kiểu dữ liệu đã đúng, nên chúng ta có thể đi thẳng vào việc mô tả.</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Xu hướng trung tâm trả lời: điểm giữa của dữ liệu ở đâu?</a:t>
            </a:r>
          </a:p>
          <a:p>
            <a:r>
              <a:rPr lang="en-US" sz="1400" b="0" dirty="0"/>
              <a:t>Điểm giảng dạy then chốt: trung bình và trung vị đồng thuận khi dữ liệu đối xứng và phân kỳ khi dữ liệu lệch.</a:t>
            </a:r>
          </a:p>
          <a:p>
            <a:r>
              <a:rPr lang="en-US" sz="1400" b="0" dirty="0"/>
              <a:t>Diễn giải lâm sàng: các biến lâm sàng bị lệch như khoảng cách đến cơ sở y tế, đường huyết lúc đói, và triglyceride có đuôi phải dài; một vài giá trị rất cao kéo trung bình lên, nên trung vị là bản tóm tắt công bằng hơn.</a:t>
            </a:r>
          </a:p>
          <a:p>
            <a:r>
              <a:rPr lang="en-US" sz="1400" b="0" dirty="0"/>
              <a:t>Quan niệm sai phổ biến: rằng trung bình luôn là bản tóm tắt đúng. Không phải vậy.</a:t>
            </a:r>
          </a:p>
          <a:p>
            <a:r>
              <a:rPr lang="en-US" sz="1400" b="0" dirty="0"/>
              <a:t>Câu hỏi gợi ý: nếu một bệnh nhân sống cách 200 km và những người còn lại trong vòng 5 km, bản tóm tắt nào mô tả một bệnh nhân điển hình? Câu trả lời mong đợi: trung vị.</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này biến lựa chọn trung bình-so với-trung vị thành một quy tắc quyết định mà học viên có thể áp dụng ngay tại chỗ.</a:t>
            </a:r>
          </a:p>
          <a:p>
            <a:r>
              <a:rPr lang="en-US" sz="1400" b="0" dirty="0"/>
              <a:t>Điểm giảng dạy then chốt: so sánh trung bình và trung vị trước, rồi quyết định báo cáo cái nào. Đừng mặc định chọn trung bình một cách mù quáng.</a:t>
            </a:r>
          </a:p>
          <a:p>
            <a:r>
              <a:rPr lang="en-US" sz="1400" b="0" dirty="0"/>
              <a:t>Diễn giải lâm sàng: trong nhóm thuần tập tăng huyết áp của chúng ta, huyết áp tâm thu và BMI lệch phải nhẹ; báo cáo trung vị với khoảng tứ phân vị tránh việc phóng đại giá trị điển hình.</a:t>
            </a:r>
          </a:p>
          <a:p>
            <a:r>
              <a:rPr lang="en-US" sz="1400" b="0" dirty="0"/>
              <a:t>Lỗi thường gặp: báo cáo trung bình (độ lệch chuẩn) cho một biến chi phí hoặc đường huyết rõ ràng bị lệch, điều này gây hiểu lầm cho người đọc.</a:t>
            </a:r>
          </a:p>
          <a:p>
            <a:r>
              <a:rPr lang="en-US" sz="1400" b="0" dirty="0"/>
              <a:t>Câu hỏi gợi ý: bạn sẽ kiểm tra độ lệch nhanh như thế nào? Câu trả lời mong đợi: so sánh trung bình và trung vị, hoặc nhìn vào một biểu đồ tần suất, điều chúng ta làm cuối ngày hôm nay.</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Độ phân tán cho người đọc biết bệnh nhân khác nhau như thế nào, chứ không chỉ giá trị trung bình.</a:t>
            </a:r>
          </a:p>
          <a:p>
            <a:r>
              <a:rPr lang="en-US" sz="1400" b="0" dirty="0"/>
              <a:t>Điểm giảng dạy then chốt: luôn ghép một trung tâm với một độ phân tán tương ứng. Trung bình đi với độ lệch chuẩn, trung vị đi với khoảng tứ phân vị.</a:t>
            </a:r>
          </a:p>
          <a:p>
            <a:r>
              <a:rPr lang="en-US" sz="1400" b="0" dirty="0"/>
              <a:t>Diễn giải lâm sàng: hai nhóm có thể có cùng huyết áp tâm thu trung bình nhưng khác nhau rất nhiều về độ phân tán; độ lệch chuẩn hoặc khoảng tứ phân vị bộc lộ sự biến thiên đó.</a:t>
            </a:r>
          </a:p>
          <a:p>
            <a:r>
              <a:rPr lang="en-US" sz="1400" b="0" dirty="0"/>
              <a:t>Quan niệm sai phổ biến: rằng phạm vi là một bản tóm tắt tốt về độ phân tán. Nó bị chi phối hoàn toàn bởi hai bệnh nhân cực trị nhất, nên khoảng tứ phân vị thường được ưa chuộng hơn.</a:t>
            </a:r>
          </a:p>
          <a:p>
            <a:r>
              <a:rPr lang="en-US" sz="1400" b="0" dirty="0"/>
              <a:t>Câu hỏi gợi ý: khoảng tứ phân vị 20 mmHg của huyết áp tâm thu nghĩa là gì? Câu trả lời mong đợi: một nửa số bệnh nhân ở giữa trải dài trong một khoảng 20 mmHg.</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nỗi bực bội phổ biến nhất đối với người dùng R mới, nên chúng ta dành cho nó một slide riêng.</a:t>
            </a:r>
          </a:p>
          <a:p>
            <a:r>
              <a:rPr lang="en-US" sz="1400" b="0" dirty="0"/>
              <a:t>Điểm giảng dạy then chốt: NA có tính lây lan. Một giá trị khuyết khiến toàn bộ bản tóm tắt thành NA trừ khi bạn bảo R bỏ qua các giá trị khuyết.</a:t>
            </a:r>
          </a:p>
          <a:p>
            <a:r>
              <a:rPr lang="en-US" sz="1400" b="0" dirty="0"/>
              <a:t>Lỗi thường gặp: giả định rằng dữ liệu bị hỏng trong khi thực ra na.rm chỉ đơn giản là bị bỏ sót.</a:t>
            </a:r>
          </a:p>
          <a:p>
            <a:r>
              <a:rPr lang="en-US" sz="1400" b="0" dirty="0"/>
              <a:t>Diễn giải lâm sàng: na.rm = TRUE thực hiện một bản tóm tắt trên các trường hợp đầy đủ cho biến đó; luôn ghi chú có bao nhiêu giá trị bị khuyết để người đọc biết mẫu số.</a:t>
            </a:r>
          </a:p>
          <a:p>
            <a:r>
              <a:rPr lang="en-US" sz="1400" b="0" dirty="0"/>
              <a:t>Mẹo trình diễn: trong demo trực tiếp, chạy mean(sbp) trước để cho thấy NA, rồi thêm na.rm = TRUE để cho thấy cách khắc phục. Cái trước-và-sau làm rõ điểm này.</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Điều này phản chiếu phần 2 của kịch bản demo.</a:t>
            </a:r>
          </a:p>
          <a:p>
            <a:r>
              <a:rPr lang="en-US" sz="1400" b="0" dirty="0"/>
              <a:t>Điểm giảng dạy then chốt: NA đầu tiên là có chủ đích. Hãy dừng lại ở đó trước khi khắc phục.</a:t>
            </a:r>
          </a:p>
          <a:p>
            <a:r>
              <a:rPr lang="en-US" sz="1400" b="0" dirty="0"/>
              <a:t>Diễn giải lâm sàng: tuổi trung vị 52 với khoảng tứ phân vị 23 năm mô tả một quần thể chăm sóc ban đầu ở tuổi trung niên; các phân vị cho bản tóm tắt năm số trong một lệnh.</a:t>
            </a:r>
          </a:p>
          <a:p>
            <a:r>
              <a:rPr lang="en-US" sz="1400" b="0" dirty="0"/>
              <a:t>Lỗi thường gặp: gõ probs mà không có na.rm và lại nhận được NA trên toàn bộ.</a:t>
            </a:r>
          </a:p>
          <a:p>
            <a:r>
              <a:rPr lang="en-US" sz="1400" b="0" dirty="0"/>
              <a:t>Mẹo trình diễn: hỏi cả phòng dự đoán dòng đầu tiên trước khi bạn chạy nó. Câu trả lời mong đợi: NA, vì sbp có giá trị khuyết.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Điều này phản chiếu phần 3 của demo. summary() là cách nhìn nhanh; bảng across() theo nhóm là phiên bản có thể tái sử dụng.</a:t>
            </a:r>
          </a:p>
          <a:p>
            <a:r>
              <a:rPr lang="en-US" sz="1400" b="0" dirty="0"/>
              <a:t>Điểm giảng dạy then chốt: across() áp dụng một bộ hàm cho nhiều cột cùng một lúc, và .names tạo ra các cột tự mô tả như age_mean.</a:t>
            </a:r>
          </a:p>
          <a:p>
            <a:r>
              <a:rPr lang="en-US" sz="1400" b="0" dirty="0"/>
              <a:t>Diễn giải lâm sàng: bệnh nhân được điều trị ở đây có tuổi và huyết áp tâm thu trung bình cao hơn, một gợi ý ban đầu rằng những bệnh nhân lớn tuổi hơn, bệnh nặng hơn là những người được bắt đầu điều trị. Chúng ta xác nhận điều này một cách chính thức trong Bảng 1.</a:t>
            </a:r>
          </a:p>
          <a:p>
            <a:r>
              <a:rPr lang="en-US" sz="1400" b="0" dirty="0"/>
              <a:t>Lỗi thường gặp: quên .groups = drop và ngạc nhiên khi kết quả vẫn còn được nhóm.</a:t>
            </a:r>
          </a:p>
          <a:p>
            <a:r>
              <a:rPr lang="en-US" sz="1400" b="0" dirty="0"/>
              <a:t>Câu hỏi gợi ý: tại sao nhóm theo treatment_uptake? Câu trả lời mong đợi: đó là kết cục chính của chúng ta, nên chúng ta so sánh hai nhóm.</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Các biến phân loại như giới tính, học vấn và bp_category được mô tả bằng số đếm và phần trăm.</a:t>
            </a:r>
          </a:p>
          <a:p>
            <a:r>
              <a:rPr lang="en-US" sz="1400" b="0" dirty="0"/>
              <a:t>Điểm giảng dạy then chốt: số đếm trả lời bao nhiêu, tỷ lệ trả lời chiếm bao nhiêu phần. Báo cáo cả hai.</a:t>
            </a:r>
          </a:p>
          <a:p>
            <a:r>
              <a:rPr lang="en-US" sz="1400" b="0" dirty="0"/>
              <a:t>Lỗi thường gặp: table() âm thầm loại bỏ các NA, nên phần trăm được tính trên một mẫu số nhỏ hơn so với người đọc giả định. useNA = ifany khắc phục điều này.</a:t>
            </a:r>
          </a:p>
          <a:p>
            <a:r>
              <a:rPr lang="en-US" sz="1400" b="0" dirty="0"/>
              <a:t>Diễn giải lâm sàng: một phần trăm chỉ có ý nghĩa nếu bạn biết mẫu số; luôn nêu rõ n.</a:t>
            </a:r>
          </a:p>
          <a:p>
            <a:r>
              <a:rPr lang="en-US" sz="1400" b="0" dirty="0"/>
              <a:t>Câu hỏi gợi ý: nếu 40 trong 50 bệnh nhân không khuyết là nữ nhưng có 10 giá trị giới tính bị khuyết, phần trăm nữ là bao nhiêu? Câu trả lời mong đợi: điều đó phụ thuộc vào việc bạn có tính các giá trị khuyết hay không, đó là lý do tại sao chúng ta làm cho chúng hiển thị.</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Điều này phản chiếu phần 4 của demo.</a:t>
            </a:r>
          </a:p>
          <a:p>
            <a:r>
              <a:rPr lang="en-US" sz="1400" b="0" dirty="0"/>
              <a:t>Điểm giảng dạy then chốt: prop.table trên một table cho các tỷ lệ; nhân với 100 và làm tròn để có phần trăm dễ đọc.</a:t>
            </a:r>
          </a:p>
          <a:p>
            <a:r>
              <a:rPr lang="en-US" sz="1400" b="0" dirty="0"/>
              <a:t>Diễn giải lâm sàng: một tỷ lệ nữ trên nam 54 trên 46 phần trăm là điển hình của một mẫu khám chăm sóc ban đầu.</a:t>
            </a:r>
          </a:p>
          <a:p>
            <a:r>
              <a:rPr lang="en-US" sz="1400" b="0" dirty="0"/>
              <a:t>Lỗi thường gặp: quên useNA = ifany trên education và báo cáo thiếu về sự khuyết thiếu.</a:t>
            </a:r>
          </a:p>
          <a:p>
            <a:r>
              <a:rPr lang="en-US" sz="1400" b="0" dirty="0"/>
              <a:t>Mẹo trình diễn: cho thấy kết quả của count() là một tibble bạn có thể chuyển qua pipe vào ggplot, không như kết quả của table() cơ bản.</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Bảng chéo là cách chúng ta liên hệ kết cục với một yếu tố dự báo phân loại trước bất kỳ mô hình hóa nào.</a:t>
            </a:r>
          </a:p>
          <a:p>
            <a:r>
              <a:rPr lang="en-US" sz="1400" b="0" dirty="0"/>
              <a:t>Điểm giảng dạy then chốt: đối số margin quyết định mẫu số, và mẫu số thay đổi hoàn toàn ý nghĩa.</a:t>
            </a:r>
          </a:p>
          <a:p>
            <a:r>
              <a:rPr lang="en-US" sz="1400" b="0" dirty="0"/>
              <a:t>Diễn giải lâm sàng: chọn phần trăm trả lời câu hỏi lâm sàng của bạn. Báo cáo sai margin là một trong những lỗi phổ biến nhất trong các bản thảo.</a:t>
            </a:r>
          </a:p>
          <a:p>
            <a:r>
              <a:rPr lang="en-US" sz="1400" b="0" dirty="0"/>
              <a:t>Lỗi thường gặp: đọc một phần trăm theo hàng như thể nó là một phần trăm theo cột.</a:t>
            </a:r>
          </a:p>
          <a:p>
            <a:r>
              <a:rPr lang="en-US" sz="1400" b="0" dirty="0"/>
              <a:t>Câu hỏi gợi ý: tỷ lệ người đái tháo đường đang điều trị dùng margin nào? Câu trả lời mong đợi: phần trăm theo cột, margin = 2.</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Điều này phản chiếu phần 5 của demo.</a:t>
            </a:r>
          </a:p>
          <a:p>
            <a:r>
              <a:rPr lang="en-US" sz="1400" b="0" dirty="0"/>
              <a:t>Điểm giảng dạy then chốt: lưu bảng vào một đối tượng một lần, rồi lấy tỷ lệ theo hai cách từ đó.</a:t>
            </a:r>
          </a:p>
          <a:p>
            <a:r>
              <a:rPr lang="en-US" sz="1400" b="0" dirty="0"/>
              <a:t>Diễn giải lâm sàng: với margin = 2 bạn có thể nói tỷ lệ người đái tháo đường đang điều trị là bao nhiêu, hỗ trợ cho phát hiện sau này rằng đái tháo đường liên quan mạnh với sự tiếp nhận, tỷ số chênh hiệu chỉnh khoảng 3.56.</a:t>
            </a:r>
          </a:p>
          <a:p>
            <a:r>
              <a:rPr lang="en-US" sz="1400" b="0" dirty="0"/>
              <a:t>Lỗi thường gặp: tính lại bảng hai lần thay vì tái sử dụng xtab.</a:t>
            </a:r>
          </a:p>
          <a:p>
            <a:r>
              <a:rPr lang="en-US" sz="1400" b="0" dirty="0"/>
              <a:t>Câu hỏi gợi ý: margin nào hỗ trợ câu trong số người đái tháo đường, X phần trăm đã nhận điều trị? Câu trả lời mong đợi: phần trăm theo cột, margin = 2.</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Bảng 1 là đích đến cho mọi thứ chúng ta học hôm nay; nó gom xu hướng trung tâm, độ phân tán và tần số vào một đối tượng có thể xuất bản.</a:t>
            </a:r>
          </a:p>
          <a:p>
            <a:r>
              <a:rPr lang="en-US" sz="1400" b="0" dirty="0"/>
              <a:t>Điểm giảng dạy then chốt: Bảng 1 mô tả mẫu; nó có tính mô tả, không phải một kiểm định nhân quả, ngay cả khi nó mang theo giá trị p.</a:t>
            </a:r>
          </a:p>
          <a:p>
            <a:r>
              <a:rPr lang="en-US" sz="1400" b="0" dirty="0"/>
              <a:t>Diễn giải lâm sàng: chia theo treatment_uptake cho phép người phản biện thấy bệnh nhân được điều trị và không điều trị khác nhau như thế nào tại thời điểm nền.</a:t>
            </a:r>
          </a:p>
          <a:p>
            <a:r>
              <a:rPr lang="en-US" sz="1400" b="0" dirty="0"/>
              <a:t>Quan niệm sai phổ biến: rằng một giá trị p nhỏ trong Bảng 1 chứng minh một tác động. Nó chỉ đánh dấu một khác biệt tại thời điểm nền.</a:t>
            </a:r>
          </a:p>
          <a:p>
            <a:r>
              <a:rPr lang="en-US" sz="1400" b="0" dirty="0"/>
              <a:t>Câu hỏi gợi ý: tại sao chúng ta báo cáo trung vị (khoảng tứ phân vị) cho một số hàng và trung bình (độ lệch chuẩn) cho những hàng khác? Câu trả lời mong đợi: các biến bị lệch nhận trung vị.</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Điều này phản chiếu phần 6 của demo và là sản phẩm cốt lõi của ngày hôm nay.</a:t>
            </a:r>
          </a:p>
          <a:p>
            <a:r>
              <a:rPr lang="en-US" sz="1400" b="0" dirty="0"/>
              <a:t>Điểm giảng dạy then chốt: tbl_summary tự động chọn trung bình (độ lệch chuẩn) hoặc trung vị (khoảng tứ phân vị) cho biến số và n (phần trăm) cho biến phân loại, và gắn nhãn dữ liệu khuyết cho bạn.</a:t>
            </a:r>
          </a:p>
          <a:p>
            <a:r>
              <a:rPr lang="en-US" sz="1400" b="0" dirty="0"/>
              <a:t>Diễn giải lâm sàng: cột giá trị p đánh dấu sự mất cân bằng nền giữa bệnh nhân được điều trị và không điều trị; các khác biệt có ý nghĩa về tuổi và đái tháo đường báo trước kết quả hồi quy.</a:t>
            </a:r>
          </a:p>
          <a:p>
            <a:r>
              <a:rPr lang="en-US" sz="1400" b="0" dirty="0"/>
              <a:t>Lỗi thường gặp: quên library(gtsummary), hoặc mong đợi tbl_summary khớp một mô hình. Nó chỉ mô tả.</a:t>
            </a:r>
          </a:p>
          <a:p>
            <a:r>
              <a:rPr lang="en-US" sz="1400" b="0" dirty="0"/>
              <a:t>Mẹo trình diễn: cho thấy bảng được kết xuất trong Viewer, rồi đề cập as_flex_table để xuất sang Word.</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Trước khi vẽ bất cứ thứ gì, hãy khớp biểu đồ với loại biến. Thói quen đơn lẻ này ngăn chặn hầu hết các hình xấu.</a:t>
            </a:r>
          </a:p>
          <a:p>
            <a:r>
              <a:rPr lang="en-US" sz="1400" b="0" dirty="0"/>
              <a:t>Điểm giảng dạy then chốt: biểu đồ tần suất bộc lộ hình dạng và độ lệch; biểu đồ hộp so sánh các nhóm; biểu đồ cột đếm các phân loại; biểu đồ phân tán cho thấy mối quan hệ.</a:t>
            </a:r>
          </a:p>
          <a:p>
            <a:r>
              <a:rPr lang="en-US" sz="1400" b="0" dirty="0"/>
              <a:t>Lỗi thường gặp: dùng biểu đồ cột của giá trị trung bình theo nhóm thay vì biểu đồ hộp, điều này che giấu độ phân tán và các giá trị ngoại lai.</a:t>
            </a:r>
          </a:p>
          <a:p>
            <a:r>
              <a:rPr lang="en-US" sz="1400" b="0" dirty="0"/>
              <a:t>Diễn giải lâm sàng: một biểu đồ tần suất của huyết áp tâm thu cho bạn biết ngay lập tức nên tóm tắt nó bằng trung bình hay trung vị.</a:t>
            </a:r>
          </a:p>
          <a:p>
            <a:r>
              <a:rPr lang="en-US" sz="1400" b="0" dirty="0"/>
              <a:t>Câu hỏi gợi ý: biểu đồ nào so sánh BMI giữa các nhóm huyết áp? Câu trả lời mong đợi: một biểu đồ hộp.</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hình thực được tạo bởi ggsave trong demo, phần 7a.</a:t>
            </a:r>
          </a:p>
          <a:p>
            <a:r>
              <a:rPr lang="en-US" sz="1400" b="0" dirty="0"/>
              <a:t>Điểm giảng dạy then chốt: một biểu đồ tần suất trả lời hai câu hỏi cùng một lúc: trung tâm ở đâu, và phân phối có bị lệch không?</a:t>
            </a:r>
          </a:p>
          <a:p>
            <a:r>
              <a:rPr lang="en-US" sz="1400" b="0" dirty="0"/>
              <a:t>Diễn giải lâm sàng: mẫu tập trung ở tuổi trung niên, phù hợp với một quần thể chăm sóc ban đầu tăng huyết áp; sự gần đối xứng biện minh cho việc báo cáo tuổi trung bình.</a:t>
            </a:r>
          </a:p>
          <a:p>
            <a:r>
              <a:rPr lang="en-US" sz="1400" b="0" dirty="0"/>
              <a:t>Lỗi thường gặp: chọn độ rộng cột (binwidth) rộng đến mức hình dạng biến mất hoặc hẹp đến mức trông nhiễu. Ở đây binwidth là 5 năm.</a:t>
            </a:r>
          </a:p>
          <a:p>
            <a:r>
              <a:rPr lang="en-US" sz="1400" b="0" dirty="0"/>
              <a:t>Câu hỏi gợi ý: từ hình dạng này, trung bình hay trung vị cho tuổi? Câu trả lời mong đợi: cả hai đều được vì nó gần đối xứng.</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Hình thực từ demo phần 7b, với một đường cong mật độ phủ lên biểu đồ tần suất.</a:t>
            </a:r>
          </a:p>
          <a:p>
            <a:r>
              <a:rPr lang="en-US" sz="1400" b="0" dirty="0"/>
              <a:t>Điểm giảng dạy then chốt: lớp phủ mật độ làm mượt các cột để dễ thấy hình dạng, và bất kỳ độ lệch phải nào.</a:t>
            </a:r>
          </a:p>
          <a:p>
            <a:r>
              <a:rPr lang="en-US" sz="1400" b="0" dirty="0"/>
              <a:t>Diễn giải lâm sàng: huyết áp tâm thu cho thấy một đuôi phải của các chỉ số cao, nên trung vị (khoảng tứ phân vị) là bản tóm tắt an toàn hơn; đây là bằng chứng trực quan đằng sau quy tắc kinh nghiệm đã nêu trước đó.</a:t>
            </a:r>
          </a:p>
          <a:p>
            <a:r>
              <a:rPr lang="en-US" sz="1400" b="0" dirty="0"/>
              <a:t>Lỗi thường gặp: quên aes(y = after_stat(density)) nên biểu đồ tần suất và mật độ ở các thang đo khác nhau và đường cong trông phẳng.</a:t>
            </a:r>
          </a:p>
          <a:p>
            <a:r>
              <a:rPr lang="en-US" sz="1400" b="0" dirty="0"/>
              <a:t>Câu hỏi gợi ý: đuôi phải có ý nghĩa lâm sàng gì? Câu trả lời mong đợi: một nhóm nhỏ bệnh nhân có huyết áp tăng cao rõ rệt.</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Hình thực từ demo phần 7c.</a:t>
            </a:r>
          </a:p>
          <a:p>
            <a:r>
              <a:rPr lang="en-US" sz="1400" b="0" dirty="0"/>
              <a:t>Điểm giảng dạy then chốt: geom_bar tự đếm các phân loại, nên bạn không cần tóm tắt trước dữ liệu.</a:t>
            </a:r>
          </a:p>
          <a:p>
            <a:r>
              <a:rPr lang="en-US" sz="1400" b="0" dirty="0"/>
              <a:t>Diễn giải lâm sàng: phân phối học vấn quan trọng vì học vấn cao hơn cho thấy một xu hướng tiếp nhận điều trị nhiều hơn, tỷ số chênh hiệu chỉnh khoảng 1.96; biểu đồ cột cho thấy có bao nhiêu bệnh nhân ở mỗi mức.</a:t>
            </a:r>
          </a:p>
          <a:p>
            <a:r>
              <a:rPr lang="en-US" sz="1400" b="0" dirty="0"/>
              <a:t>Lỗi thường gặp: tổng hợp trước rồi dùng geom_bar, điều này đếm trùng; chỉ dùng geom_col khi bạn đã có sẵn số đếm.</a:t>
            </a:r>
          </a:p>
          <a:p>
            <a:r>
              <a:rPr lang="en-US" sz="1400" b="0" dirty="0"/>
              <a:t>Câu hỏi gợi ý: tại sao trục y phải bắt đầu từ số không? Câu trả lời mong đợi: một trục bị cắt ngắn phóng đại các khác biệt giữa các cột.</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Hình thực từ demo phần 7d.</a:t>
            </a:r>
          </a:p>
          <a:p>
            <a:r>
              <a:rPr lang="en-US" sz="1400" b="0" dirty="0"/>
              <a:t>Điểm giảng dạy then chốt: một biểu đồ hộp nén cả một phân phối thành năm số cho mỗi nhóm, lý tưởng để so sánh bệnh nhân được điều trị và không điều trị.</a:t>
            </a:r>
          </a:p>
          <a:p>
            <a:r>
              <a:rPr lang="en-US" sz="1400" b="0" dirty="0"/>
              <a:t>Diễn giải lâm sàng: nếu nhóm được điều trị nằm cao hơn, điều đó gợi ý điều trị được bắt đầu ở những bệnh nhân có huyết áp tệ hơn, khớp với huyết áp tâm thu trung bình cao hơn mà chúng ta đã thấy trong bản tóm tắt theo nhóm.</a:t>
            </a:r>
          </a:p>
          <a:p>
            <a:r>
              <a:rPr lang="en-US" sz="1400" b="0" dirty="0"/>
              <a:t>Lỗi thường gặp: quên na.rm = TRUE, khiến ggplot loại bỏ các hàng kèm một cảnh báo.</a:t>
            </a:r>
          </a:p>
          <a:p>
            <a:r>
              <a:rPr lang="en-US" sz="1400" b="0" dirty="0"/>
              <a:t>Câu hỏi gợi ý: các chấm nằm ngoài râu đại diện cho điều gì? Câu trả lời mong đợi: những bệnh nhân ngoại lai, không phải lỗi để tự động xóa.</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Hình thực từ demo phần 7e.</a:t>
            </a:r>
          </a:p>
          <a:p>
            <a:r>
              <a:rPr lang="en-US" sz="1400" b="0" dirty="0"/>
              <a:t>Điểm giảng dạy then chốt: biểu đồ hộp qua một biến phân loại có thứ tự bộc lộ một gradient kiểu liều-đáp ứng trong nháy mắt.</a:t>
            </a:r>
          </a:p>
          <a:p>
            <a:r>
              <a:rPr lang="en-US" sz="1400" b="0" dirty="0"/>
              <a:t>Diễn giải lâm sàng: nếu BMI trung vị tăng từ nhóm bình thường đến nhóm tăng huyết áp, điều đó nhất quán với béo phì như một yếu tố nguy cơ tăng huyết áp.</a:t>
            </a:r>
          </a:p>
          <a:p>
            <a:r>
              <a:rPr lang="en-US" sz="1400" b="0" dirty="0"/>
              <a:t>Lỗi thường gặp: đọc chiều rộng hộp như cỡ mẫu; theo mặc định thì không phải vậy. Dùng varwidth = TRUE nếu bạn muốn điều đó.</a:t>
            </a:r>
          </a:p>
          <a:p>
            <a:r>
              <a:rPr lang="en-US" sz="1400" b="0" dirty="0"/>
              <a:t>Câu hỏi gợi ý: điều này có chứng minh béo phì gây tăng huyết áp không? Câu trả lời mong đợi: không, nó cho thấy mối liên quan qua các nhóm, không phải nhân quả.</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Hình thực từ demo phần 7f.</a:t>
            </a:r>
          </a:p>
          <a:p>
            <a:r>
              <a:rPr lang="en-US" sz="1400" b="0" dirty="0"/>
              <a:t>Điểm giảng dạy then chốt: một biểu đồ phân tán là biểu đồ đúng cho hai biến liên tục, và geom_smooth(method = lm) thêm đường xu hướng.</a:t>
            </a:r>
          </a:p>
          <a:p>
            <a:r>
              <a:rPr lang="en-US" sz="1400" b="0" dirty="0"/>
              <a:t>Diễn giải lâm sàng: một độ dốc đi lên gợi ý BMI cao hơn đi kèm huyết áp tâm thu cao hơn, nhất quán với béo phì như một yếu tố nguy cơ. Đây là mối liên quan, không phải bằng chứng về nhân quả.</a:t>
            </a:r>
          </a:p>
          <a:p>
            <a:r>
              <a:rPr lang="en-US" sz="1400" b="0" dirty="0"/>
              <a:t>Lỗi thường gặp: vẽ chồng chất đến mức đám mây đặc kín; chúng ta dùng độ trong suốt alpha = 0.3 để mật độ hiển thị được.</a:t>
            </a:r>
          </a:p>
          <a:p>
            <a:r>
              <a:rPr lang="en-US" sz="1400" b="0" dirty="0"/>
              <a:t>Câu hỏi gợi ý: một đường kẻ rõ ràng có nghĩa là BMI gây huyết áp cao không? Câu trả lời mong đợi: không, các yếu tố gây nhiễu có thể chi phối cả hai; cần một mô hình.</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Điều này phản chiếu mẫu xây dựng hình trong demo phần 7.</a:t>
            </a:r>
          </a:p>
          <a:p>
            <a:r>
              <a:rPr lang="en-US" sz="1400" b="0" dirty="0"/>
              <a:t>Điểm giảng dạy then chốt: xây dựng biểu đồ như một đối tượng, rồi ggsave đối tượng đó để tệp được lưu khớp với những gì bạn đã xem trên màn hình.</a:t>
            </a:r>
          </a:p>
          <a:p>
            <a:r>
              <a:rPr lang="en-US" sz="1400" b="0" dirty="0"/>
              <a:t>Diễn giải lâm sàng: 300 dpi đảm bảo hình vẫn sắc nét khi in; nhãn trục mang theo đơn vị nên hình tự giải thích được.</a:t>
            </a:r>
          </a:p>
          <a:p>
            <a:r>
              <a:rPr lang="en-US" sz="1400" b="0" dirty="0"/>
              <a:t>Lỗi thường gặp: dựa vào ggsave mà không có đối số plot, điều này lưu biểu đồ được in cuối cùng và có thể lấy nhầm biểu đồ.</a:t>
            </a:r>
          </a:p>
          <a:p>
            <a:r>
              <a:rPr lang="en-US" sz="1400" b="0" dirty="0"/>
              <a:t>Mẹo trình diễn: mở tệp PNG đã lưu từ thư mục Resources để học viên thấy tệp kết quả thực.</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Điều này phản chiếu demo phần 8 cộng với các chú thích xuất của gtsummary.</a:t>
            </a:r>
          </a:p>
          <a:p>
            <a:r>
              <a:rPr lang="en-US" sz="1400" b="0" dirty="0"/>
              <a:t>Điểm giảng dạy then chốt: kết quả nên được tạo ra bằng mã vào một thư mục, không bao giờ lắp ráp bằng tay, để chúng tái tạo giống hệt nhau mỗi lần.</a:t>
            </a:r>
          </a:p>
          <a:p>
            <a:r>
              <a:rPr lang="en-US" sz="1400" b="0" dirty="0"/>
              <a:t>Diễn giải lâm sàng: một người phản biện yêu cầu một n đã sửa có thể được đáp ứng bằng cách chạy lại một kịch bản, không phải chỉnh sửa lại một bảng Word từng ô một.</a:t>
            </a:r>
          </a:p>
          <a:p>
            <a:r>
              <a:rPr lang="en-US" sz="1400" b="0" dirty="0"/>
              <a:t>Lỗi thường gặp: dán các con số từ console vào bản thảo, điều này bị hỏng khi dữ liệu cập nhật.</a:t>
            </a:r>
          </a:p>
          <a:p>
            <a:r>
              <a:rPr lang="en-US" sz="1400" b="0" dirty="0"/>
              <a:t>Câu hỏi gợi ý: các hình và bảng của chúng ta được đưa vào đâu? Câu trả lời mong đợi: thư mục Resources, được ghi bởi ggsave và write_csv.</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phần củng cố thực hành của cả ngày.</a:t>
            </a:r>
          </a:p>
          <a:p>
            <a:r>
              <a:rPr lang="en-US" sz="1400" b="0" dirty="0"/>
              <a:t>Điểm giảng dạy then chốt: bài tập tái tạo các sản phẩm của bản thảo: một Bảng 1 và ít nhất hai hình.</a:t>
            </a:r>
          </a:p>
          <a:p>
            <a:r>
              <a:rPr lang="en-US" sz="1400" b="0" dirty="0"/>
              <a:t>Diễn giải lâm sàng: khuyến khích học viên viết một câu diễn giải Bảng 1 của họ, ví dụ nhóm nào khác nhau tại thời điểm nền.</a:t>
            </a:r>
          </a:p>
          <a:p>
            <a:r>
              <a:rPr lang="en-US" sz="1400" b="0" dirty="0"/>
              <a:t>Lỗi thường gặp: quên na.rm hoặc library(gtsummary); nhắc họ trước khi họ bắt đầu.</a:t>
            </a:r>
          </a:p>
          <a:p>
            <a:r>
              <a:rPr lang="en-US" sz="1400" b="0" dirty="0"/>
              <a:t>Mẹo trình diễn: đi vòng quanh khi học viên làm việc; trở ngại phổ biến nhất là một gói chưa được tải hoặc một lỗi gõ trong tên biến. Kết quả mong đợi là một bảng được kết xuất cộng với hai tệp PNG trong Resources.</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Khép lại vòng lặp và chuẩn bị cho Ngày 4.</a:t>
            </a:r>
          </a:p>
          <a:p>
            <a:r>
              <a:rPr lang="en-US" sz="1400" b="0" dirty="0"/>
              <a:t>Điểm giảng dạy then chốt: hôm nay là mô tả; ngày mai là suy luận. Bảng 1 cho chúng ta biết các nhóm khác nhau, nhưng không cho biết các khác biệt có độc lập hay không.</a:t>
            </a:r>
          </a:p>
          <a:p>
            <a:r>
              <a:rPr lang="en-US" sz="1400" b="0" dirty="0"/>
              <a:t>Diễn giải lâm sàng: Ngày 4 khớp hồi quy logistic cho tiếp nhận điều trị, nơi chúng ta sẽ diễn giải các tỷ số chênh hiệu chỉnh như đái tháo đường 3.56 và bảo hiểm y tế 2.05.</a:t>
            </a:r>
          </a:p>
          <a:p>
            <a:r>
              <a:rPr lang="en-US" sz="1400" b="0" dirty="0"/>
              <a:t>Quan niệm sai phổ biến: rằng một giá trị p nền đã trả lời câu hỏi nghiên cứu. Không phải vậy; cần hiệu chỉnh.</a:t>
            </a:r>
          </a:p>
          <a:p>
            <a:r>
              <a:rPr lang="en-US" sz="1400" b="0" dirty="0"/>
              <a:t>Câu hỏi gợi ý: tại sao vượt ra ngoài Bảng 1? Câu trả lời mong đợi: để hiệu chỉnh cho các yếu tố gây nhiễu và ước lượng các tác động độc lập, đó là Ngày 4.</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Chào mừng đến với Ngày 4. Hôm qua chúng ta MÔ TẢ dữ liệu; hôm nay chúng ta ĐẶT CÂU HỎI về dữ liệu bằng các kiểm định thống kê.</a:t>
            </a:r>
          </a:p>
          <a:p>
            <a:r>
              <a:rPr lang="en-US" sz="1400" b="0" dirty="0"/>
              <a:t>Ý chính: mỗi kiểm định trả lời một câu hỏi - hai nhóm có khác nhau không? hai biến có liên quan không?</a:t>
            </a:r>
          </a:p>
          <a:p>
            <a:r>
              <a:rPr lang="en-US" sz="1400" b="0" dirty="0"/>
              <a:t>Trấn an các bác sĩ lâm sàng: R tự động lo phần tính toán; nhiệm vụ của bạn là chọn đúng kiểm định và diễn giải nó.</a:t>
            </a:r>
          </a:p>
          <a:p>
            <a:r>
              <a:rPr lang="en-US" sz="1400" b="0" dirty="0"/>
              <a:t>Cầu nối: hôm nay là các kiểm định; tuần sau (Ngày 5) chúng ta giới thiệu hồi quy để mô hình hóa nhiều yếu tố dự báo cùng lúc.</a:t>
            </a:r>
          </a:p>
          <a:p>
            <a:r>
              <a:rPr lang="en-US" sz="1400" b="0" dirty="0"/>
              <a:t>Mẹo demo: mở sẵn script day4_demo.R và chạy trực tiếp từng khối khi đến mỗi slide.</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Lộ trình cho cả ngày: các kiểm định thống kê y học thường gặp, và cách chọn giữa chúng.</a:t>
            </a:r>
          </a:p>
          <a:p>
            <a:r>
              <a:rPr lang="en-US" sz="1400" b="0" dirty="0"/>
              <a:t>Nhấn mạnh mạch logic: loại biến kết cục + số nhóm + bắt cặp vs độc lập -&gt; đúng kiểm định.</a:t>
            </a:r>
          </a:p>
          <a:p>
            <a:r>
              <a:rPr lang="en-US" sz="1400" b="0" dirty="0"/>
              <a:t>Cầu nối: các kiểm định này so sánh từng cặp nhóm; Ngày 5 giới thiệu hồi quy để nghiên cứu nhiều yếu tố dự báo cùng nhau.</a:t>
            </a:r>
          </a:p>
          <a:p>
            <a:r>
              <a:rPr lang="en-US" sz="1400" b="0" dirty="0"/>
              <a:t>Câu hỏi cho học viên: điều gì quyết định kiểm định nào chúng ta dùng? Trả lời: loại biến kết cục và số nhóm cần so sánh.</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định nghĩa quần thể phân tích một cách rõ ràng và một lần duy nhất, trước mọi kiểm định.</a:t>
            </a:r>
          </a:p>
          <a:p>
            <a:r>
              <a:rPr lang="en-US" sz="1400" b="0" dirty="0"/>
              <a:t>Logic lâm sàng: bạn không thể tiếp nhận điều trị cho một bệnh mà bạn chưa được chẩn đoán.</a:t>
            </a:r>
          </a:p>
          <a:p>
            <a:r>
              <a:rPr lang="en-US" sz="1400" b="0" dirty="0"/>
              <a:t>Sai lầm thường gặp: chạy phân tích trên toàn bộ 1,500 người - nó trộn lẫn các biến kết cục không xác định và làm sai lệch ước lượng.</a:t>
            </a:r>
          </a:p>
          <a:p>
            <a:r>
              <a:rPr lang="en-US" sz="1400" b="0" dirty="0"/>
              <a:t>Mẹo demo: hiển thị dx &lt;- filter(analysis_data, htn_diagnosed == "Yes") rồi nrow(dx) và table(dx$treatment_uptake).</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giá trị p trả lời 'dữ liệu của tôi bất ngờ đến mức nào nếu không có gì xảy ra?'</a:t>
            </a:r>
          </a:p>
          <a:p>
            <a:r>
              <a:rPr lang="en-US" sz="1400" b="0" dirty="0"/>
              <a:t>Hiểu sai thường gặp: p KHÔNG PHẢI là khả năng giả thuyết không đúng, và (1 - p) KHÔNG PHẢI là khả năng H1 đúng.</a:t>
            </a:r>
          </a:p>
          <a:p>
            <a:r>
              <a:rPr lang="en-US" sz="1400" b="0" dirty="0"/>
              <a:t>Diễn giải lâm sàng: ý nghĩa thống kê là về bằng chứng chống lại H0, không phải về tầm quan trọng hay độ lớn hiệu ứng.</a:t>
            </a:r>
          </a:p>
          <a:p>
            <a:r>
              <a:rPr lang="en-US" sz="1400" b="0" dirty="0"/>
              <a:t>Câu hỏi cho học viên: p = 0.04 có chứng minh hiệu ứng là thật không? Trả lời: không - đó chỉ là một mảnh bằng chứng, cần xét cùng độ lớn hiệu ứng và bối cảnh.</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giá trị p là cần thiết nhưng chưa đủ - nó bỏ qua độ lớn hiệu ứng.</a:t>
            </a:r>
          </a:p>
          <a:p>
            <a:r>
              <a:rPr lang="en-US" sz="1400" b="0" dirty="0"/>
              <a:t>Sai lầm thường gặp: phân đôi tại 0.05 như thể 0.049 và 0.051 khác nhau về bản chất.</a:t>
            </a:r>
          </a:p>
          <a:p>
            <a:r>
              <a:rPr lang="en-US" sz="1400" b="0" dirty="0"/>
              <a:t>Diễn giải lâm sàng: một KTC thể hiện cả độ lớn lẫn độ chính xác; hãy ưu tiên nó hơn một giá trị p trần trụi.</a:t>
            </a:r>
          </a:p>
          <a:p>
            <a:r>
              <a:rPr lang="en-US" sz="1400" b="0" dirty="0"/>
              <a:t>Câu hỏi cho học viên: cái nào hữu ích hơn, 'p = 0.03' hay 'OR 3.6 (KTC 95% 1.5 đến 9.6)'? Trả lời: cái thứ hai - nó cho thấy hướng, độ lớn và độ bất định.</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vẽ đồ thị trước khi kiểm định - mắt bắt được những gì một giá trị p đơn lẻ che giấu.</a:t>
            </a:r>
          </a:p>
          <a:p>
            <a:r>
              <a:rPr lang="en-US" sz="1400" b="0" dirty="0"/>
              <a:t>Sai lầm thường gặp: chỉ tin vào Shapiro-Wilk trong mẫu lớn; với ~1,089 dòng nó gắn cờ những sai lệch không đáng kể là có ý nghĩa thống kê.</a:t>
            </a:r>
          </a:p>
          <a:p>
            <a:r>
              <a:rPr lang="en-US" sz="1400" b="0" dirty="0"/>
              <a:t>Diễn giải lâm sàng: một biểu đồ Q-Q gần thẳng và một histogram đối xứng quan trọng hơn giá trị p Shapiro ở đây.</a:t>
            </a:r>
          </a:p>
          <a:p>
            <a:r>
              <a:rPr lang="en-US" sz="1400" b="0" dirty="0"/>
              <a:t>Mẹo demo: chạy hist(dx$age), qqnorm/qqline, rồi shapiro.test(dx$age) và đối chiếu các kết luận.</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sức mạnh thống kê là con dao hai lưỡi - với n lớn kiểm định tính chuẩn gắn cờ quá mức.</a:t>
            </a:r>
          </a:p>
          <a:p>
            <a:r>
              <a:rPr lang="en-US" sz="1400" b="0" dirty="0"/>
              <a:t>Sai lầm thường gặp: chuyển sang kiểm định phi tham số chỉ vì Shapiro trả về p &lt; 0.05.</a:t>
            </a:r>
          </a:p>
          <a:p>
            <a:r>
              <a:rPr lang="en-US" sz="1400" b="0" dirty="0"/>
              <a:t>Diễn giải lâm sàng: đánh giá tính chuẩn qua hình dạng và độ thẳng của Q-Q; dành các kiểm định phi tham số cho trường hợp lệch rõ hoặc n nhỏ.</a:t>
            </a:r>
          </a:p>
          <a:p>
            <a:r>
              <a:rPr lang="en-US" sz="1400" b="0" dirty="0"/>
              <a:t>Câu hỏi cho học viên: Shapiro nói p &lt; 0.001 nhưng Q-Q thẳng - bạn làm gì? Trả lời: tin vào đồ thị và dùng kiểm định tham số.</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câu hỏi vẫn như nhau (hai nhóm có khác nhau không?); kiểm định phụ thuộc vào hình dạng dữ liệu.</a:t>
            </a:r>
          </a:p>
          <a:p>
            <a:r>
              <a:rPr lang="en-US" sz="1400" b="0" dirty="0"/>
              <a:t>Ví dụ diễn giải lâm sàng: tuổi trung bình cao hơn ở nhóm đang điều trị, phù hợp với việc bệnh nhân lớn tuổi tiếp nhận điều trị nhiều hơn.</a:t>
            </a:r>
          </a:p>
          <a:p>
            <a:r>
              <a:rPr lang="en-US" sz="1400" b="0" dirty="0"/>
              <a:t>Sai lầm thường gặp: mặc định dùng kiểm định t Student cổ điển - Welch an toàn hơn vì nó không giả định phương sai bằng nhau.</a:t>
            </a:r>
          </a:p>
          <a:p>
            <a:r>
              <a:rPr lang="en-US" sz="1400" b="0" dirty="0"/>
              <a:t>Mẹo demo: chạy cả t.test và wilcox.test trên age ~ treatment_uptake; lưu ý chúng thường nhất quán với dữ liệu lớn, đối xứng.</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đọc ba thứ - hai trung bình nhóm, KTC 95% cho khác biệt của chúng, và giá trị p.</a:t>
            </a:r>
          </a:p>
          <a:p>
            <a:r>
              <a:rPr lang="en-US" sz="1400" b="0" dirty="0"/>
              <a:t>Diễn giải lâm sàng: chênh lệch tuổi trung bình ~5 năm, với KTC không chứa số không, ủng hộ việc bệnh nhân lớn tuổi tiếp nhận nhiều hơn.</a:t>
            </a:r>
          </a:p>
          <a:p>
            <a:r>
              <a:rPr lang="en-US" sz="1400" b="0" dirty="0"/>
              <a:t>Sai lầm thường gặp: chỉ báo cáo giá trị p và bỏ qua các trung bình và KTC cho khác biệt.</a:t>
            </a:r>
          </a:p>
          <a:p>
            <a:r>
              <a:rPr lang="en-US" sz="1400" b="0" dirty="0"/>
              <a:t>Mẹo demo: chạy wilcox.test(age ~ treatment_uptake, data = dx) song song và cho thấy chúng nhất quán.</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khi các giả định về tính chuẩn hay cỡ mẫu của kiểm định t hoặc chi bình phương không thỏa, kiểm định Wilcoxon dựa trên hạng và kiểm định chính xác Fisher cho câu trả lời hợp lệ.</a:t>
            </a:r>
          </a:p>
          <a:p>
            <a:r>
              <a:rPr lang="en-US" sz="1400" b="0" dirty="0"/>
              <a:t>Diễn giải lâm sàng: các giá trị xét nghiệm và chi phí thường bị lệch - kiểm định Wilcoxon trên trung vị thường là lựa chọn trung thực.</a:t>
            </a:r>
          </a:p>
          <a:p>
            <a:r>
              <a:rPr lang="en-US" sz="1400" b="0" dirty="0"/>
              <a:t>Sai lầm thường gặp: ép dùng kiểm định t trên dữ liệu lệch rõ, hoặc dùng chi bình phương khi một ô có tần số kỳ vọng dưới 5.</a:t>
            </a:r>
          </a:p>
          <a:p>
            <a:r>
              <a:rPr lang="en-US" sz="1400" b="0" dirty="0"/>
              <a:t>Câu hỏi cho học viên: khi nào bạn ưu tiên kiểm định chính xác Fisher hơn chi bình phương? Trả lời mong đợi: mẫu nhỏ hoặc bảng thưa với tần số kỳ vọng thấp.</a:t>
            </a:r>
          </a:p>
          <a:p>
            <a:r>
              <a:rPr lang="en-US" sz="1400" b="0" dirty="0"/>
              <a:t>Mẹo demo: cho thấy Wilcoxon và kiểm định t nhất quán ở đây (mẫu lớn, gần đối xứng), rồi dựng một bảng nhỏ để làm động lực cho kiểm định chính xác Fisher.</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ANOVA là kiểm định t đa nhóm; nó kiểm soát sai số toàn cục mà một chồng kiểm định t sẽ không kiểm soát được.</a:t>
            </a:r>
          </a:p>
          <a:p>
            <a:r>
              <a:rPr lang="en-US" sz="1400" b="0" dirty="0"/>
              <a:t>Sai lầm thường gặp: chạy mọi kiểm định t từng cặp - làm tăng dương tính giả. Chạy ANOVA, rồi hậu kiểm chỉ khi nó có ý nghĩa thống kê.</a:t>
            </a:r>
          </a:p>
          <a:p>
            <a:r>
              <a:rPr lang="en-US" sz="1400" b="0" dirty="0"/>
              <a:t>Diễn giải lâm sàng: một bảng Tukey cho thấy những cặp trình độ học vấn cụ thể nào khác nhau về tuổi trung bình.</a:t>
            </a:r>
          </a:p>
          <a:p>
            <a:r>
              <a:rPr lang="en-US" sz="1400" b="0" dirty="0"/>
              <a:t>Câu hỏi cho học viên: p của ANOVA có ý nghĩa thống kê - có phải tất cả các nhóm đều khác nhau không? Trả lời: không, ít nhất một cặp khác nhau; Tukey cho biết cặp nào.</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chi bình phương hỏi liệu hai biến phân loại có biến động cùng nhau không; bảng cho thấy hướng.</a:t>
            </a:r>
          </a:p>
          <a:p>
            <a:r>
              <a:rPr lang="en-US" sz="1400" b="0" dirty="0"/>
              <a:t>Sai lầm thường gặp: áp dụng chi bình phương khi tần số kỳ vọng dưới 5 - chuyển sang kiểm định chính xác Fisher trong trường hợp đó.</a:t>
            </a:r>
          </a:p>
          <a:p>
            <a:r>
              <a:rPr lang="en-US" sz="1400" b="0" dirty="0"/>
              <a:t>Diễn giải lâm sàng: tỷ lệ người đái tháo đường đang điều trị cao hơn gợi ý một liên quan dương, được định lượng sau bằng OR.</a:t>
            </a:r>
          </a:p>
          <a:p>
            <a:r>
              <a:rPr lang="en-US" sz="1400" b="0" dirty="0"/>
              <a:t>Mẹo demo: hiển thị table(dx$treatment_uptake, dx$diabetes), rồi chisq.test, $expected của nó, và fisher.test.</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r nằm trong khoảng -1 đến +1; ~0-0.3 yếu, 0.3-0.7 trung bình, 0.7-1.0 mạnh; dấu cho biết hướng.</a:t>
            </a:r>
          </a:p>
          <a:p>
            <a:r>
              <a:rPr lang="en-US" sz="1400" b="0" dirty="0"/>
              <a:t>Sai lầm thường gặp: nhầm một giá trị p có ý nghĩa thống kê với một mối liên hệ mạnh - trong mẫu lớn một r nhỏ (0.08) vẫn có ý nghĩa thống kê nhưng không đáng kể.</a:t>
            </a:r>
          </a:p>
          <a:p>
            <a:r>
              <a:rPr lang="en-US" sz="1400" b="0" dirty="0"/>
              <a:t>Diễn giải lâm sàng: luôn báo cáo và đánh giá r, không chỉ giá trị p; nhớ rằng tương quan không phải là nhân quả.</a:t>
            </a:r>
          </a:p>
          <a:p>
            <a:r>
              <a:rPr lang="en-US" sz="1400" b="0" dirty="0"/>
              <a:t>Câu hỏi cho học viên: r = 0.1, p &lt; 0.001 - mối liên hệ mạnh? Trả lời: không, phát hiện được về mặt thống kê nhưng không đáng kể về mặt lâm sàng.</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giá trị p xác nhận mối liên hệ là thật; r cho bạn biết nó yếu.</a:t>
            </a:r>
          </a:p>
          <a:p>
            <a:r>
              <a:rPr lang="en-US" sz="1400" b="0" dirty="0"/>
              <a:t>Diễn giải lâm sàng: SBP và BMI tăng cùng nhau một chút, nhưng BMI giải thích rất ít biến thiên của SBP.</a:t>
            </a:r>
          </a:p>
          <a:p>
            <a:r>
              <a:rPr lang="en-US" sz="1400" b="0" dirty="0"/>
              <a:t>Sai lầm thường gặp: giật tít 'tương quan có ý nghĩa thống kê' trong khi che giấu rằng r chỉ là 0.18.</a:t>
            </a:r>
          </a:p>
          <a:p>
            <a:r>
              <a:rPr lang="en-US" sz="1400" b="0" dirty="0"/>
              <a:t>Mẹo demo: chạy lại với method = "spearman" và lưu ý hệ số tương quan hạng tương tự, xác nhận tính bền vững.</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kiểm định được quyết định bởi loại biến kết cục và loại yếu tố dự báo - không phải bởi thói quen.</a:t>
            </a:r>
          </a:p>
          <a:p>
            <a:r>
              <a:rPr lang="en-US" sz="1400" b="0" dirty="0"/>
              <a:t>Mẹo demo: giữ bảng này trên màn hình như một công cụ hỗ trợ quyết định cho bài tập.</a:t>
            </a:r>
          </a:p>
          <a:p>
            <a:r>
              <a:rPr lang="en-US" sz="1400" b="0" dirty="0"/>
              <a:t>Diễn giải lâm sàng: khi biến kết cục là nhị phân và chúng ta muốn xét nhiều yếu tố dự báo cùng lúc, chúng ta chuyển sang hồi quy logistic - đó là Ngày 5.</a:t>
            </a:r>
          </a:p>
          <a:p>
            <a:r>
              <a:rPr lang="en-US" sz="1400" b="0" dirty="0"/>
              <a:t>Câu hỏi cho học viên: biến kết cục là Có/Không và chúng ta muốn hiệu chỉnh cho nhiều yếu tố - dùng phương pháp nào? Trả lời: hồi quy logistic, buổi tiếp theo.</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sản phẩm bàn giao là lập luận - câu hỏi -&gt; loại biến -&gt; kiểm định -&gt; diễn giải.</a:t>
            </a:r>
          </a:p>
          <a:p>
            <a:r>
              <a:rPr lang="en-US" sz="1400" b="0" dirty="0"/>
              <a:t>Sai lầm thường gặp: dùng kiểm định t theo thói quen mà không kiểm tra loại biến kết cục hay phân phối.</a:t>
            </a:r>
          </a:p>
          <a:p>
            <a:r>
              <a:rPr lang="en-US" sz="1400" b="0" dirty="0"/>
              <a:t>Diễn giải lâm sàng: kỳ vọng tương quan SBP-BMI yếu nhưng có ý nghĩa thống kê; liên quan giới-tiếp nhận có thể khiêm tốn.</a:t>
            </a:r>
          </a:p>
          <a:p>
            <a:r>
              <a:rPr lang="en-US" sz="1400" b="0" dirty="0"/>
              <a:t>Mẹo demo: đi vòng quanh và kiểm tra rằng học viên báo cáo ước lượng và KTC, không chỉ giá trị p.</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hôm nay là về chọn và diễn giải từng kiểm định đơn lẻ; Ngày 5 giới thiệu hồi quy để xử lý nhiều yếu tố dự báo cùng nhau.</a:t>
            </a:r>
          </a:p>
          <a:p>
            <a:r>
              <a:rPr lang="en-US" sz="1400" b="0" dirty="0"/>
              <a:t>Diễn giải lâm sàng: các kiểm định so sánh hai thứ mỗi lần; hồi quy hiệu chỉnh cho nhiều yếu tố đồng thời.</a:t>
            </a:r>
          </a:p>
          <a:p>
            <a:r>
              <a:rPr lang="en-US" sz="1400" b="0" dirty="0"/>
              <a:t>Sai lầm thường gặp: dừng lại ở giá trị p; buổi tiếp theo chúng ta tập trung vào độ lớn hiệu ứng và báo cáo rõ ràng.</a:t>
            </a:r>
          </a:p>
          <a:p>
            <a:r>
              <a:rPr lang="en-US" sz="1400" b="0" dirty="0"/>
              <a:t>Câu hỏi cho học viên: nếu chúng ta muốn nghiên cứu nhiều yếu tố dự báo của một biến kết cục Có/Không cùng lúc thì sao? Trả lời: hồi quy logistic - đó là Ngày 5.</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Chào mừng đến với ngày tổng kết.</a:t>
            </a:r>
          </a:p>
          <a:p>
            <a:r>
              <a:rPr lang="en-US" sz="1400" b="0" dirty="0"/>
              <a:t>Ý chính: hôm nay chúng ta biến một mô hình đã khớp thành một kết quả có thể xuất bản và tái lập.</a:t>
            </a:r>
          </a:p>
          <a:p>
            <a:r>
              <a:rPr lang="en-US" sz="1400" b="0" dirty="0"/>
              <a:t>Điều này kết nối tất cả những gì từ Ngày 1-4: nhập, làm sạch, tóm tắt, và giờ là mô hình hóa và báo cáo.</a:t>
            </a:r>
          </a:p>
          <a:p>
            <a:r>
              <a:rPr lang="en-US" sz="1400" b="0" dirty="0"/>
              <a:t>Nói với lớp rằng mục tiêu không phải là thêm thống kê mà là phán đoán tốt hơn và báo cáo gọn gàng hơn.</a:t>
            </a:r>
          </a:p>
          <a:p>
            <a:r>
              <a:rPr lang="en-US" sz="1400" b="0" dirty="0"/>
              <a:t>Mẹo trình diễn: mở sẵn day5_demo.R trong RStudio suốt buổi.</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Đặt mục tiêu cụ thể, có thể kiểm chứng cho cả ngày.</a:t>
            </a:r>
          </a:p>
          <a:p>
            <a:r>
              <a:rPr lang="en-US" sz="1400" b="0" dirty="0"/>
              <a:t>Điểm dạy chính: các mục tiêu này khớp một-một với sản phẩm bàn giao của bài tập.</a:t>
            </a:r>
          </a:p>
          <a:p>
            <a:r>
              <a:rPr lang="en-US" sz="1400" b="0" dirty="0"/>
              <a:t>Diễn giải lâm sàng: mỗi kỹ năng là thứ họ sẽ dùng cho nghiên cứu của chính mình, không phải lý thuyết trừu tượng.</a:t>
            </a:r>
          </a:p>
          <a:p>
            <a:r>
              <a:rPr lang="en-US" sz="1400" b="0" dirty="0"/>
              <a:t>Câu hỏi cho học viên: cái nào cảm thấy ít quen thuộc nhất? Dùng việc giơ tay để điều chỉnh nhịp độ cho cả ngày.</a:t>
            </a:r>
          </a:p>
          <a:p>
            <a:r>
              <a:rPr lang="en-US" sz="1400" b="0" dirty="0"/>
              <a:t>Mẹo trình diễn: quay lại danh sách này lúc tổng kết và đánh dấu từng mục đã xong.</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Định hướng cho khán giả: đây là một quy trình mạch lạc, không phải các mẹo rời rạc.</a:t>
            </a:r>
          </a:p>
          <a:p>
            <a:r>
              <a:rPr lang="en-US" sz="1400" b="0" dirty="0"/>
              <a:t>Hiểu lầm thường gặp: rằng mô hình hóa là phần khó. Phán đoán (chọn biến nào, báo cáo thế nào) mới khó hơn.</a:t>
            </a:r>
          </a:p>
          <a:p>
            <a:r>
              <a:rPr lang="en-US" sz="1400" b="0" dirty="0"/>
              <a:t>Diễn giải lâm sàng: chỉ bệnh nhân đã chẩn đoán mới có thể tiếp nhận điều trị, nên chúng ta giới hạn ở họ.</a:t>
            </a:r>
          </a:p>
          <a:p>
            <a:r>
              <a:rPr lang="en-US" sz="1400" b="0" dirty="0"/>
              <a:t>Câu hỏi cho học viên: tại sao chỉ mô hình hóa 1,089 người đã chẩn đoán mà không phải cả 1,500? Trả lời mong đợi: người không có chẩn đoán không thể có quyết định tiếp nhận điều trị; bao gồm họ sẽ làm sai lệch ước lượng.</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hồi quy tuyến tính dành cho biến kết cục liên tục; độ dốc là thay đổi trên mỗi đơn vị.</a:t>
            </a:r>
          </a:p>
          <a:p>
            <a:r>
              <a:rPr lang="en-US" sz="1400" b="0" dirty="0"/>
              <a:t>Diễn giải lâm sàng: hệ số chặn hiếm khi có ý nghĩa; các độ dốc mới là thứ chúng ta báo cáo.</a:t>
            </a:r>
          </a:p>
          <a:p>
            <a:r>
              <a:rPr lang="en-US" sz="1400" b="0" dirty="0"/>
              <a:t>Sai lầm thường gặp: dùng hồi quy tuyến tính cho một biến kết cục Có/Không - điều đó cần hồi quy logistic (tiếp theo).</a:t>
            </a:r>
          </a:p>
          <a:p>
            <a:r>
              <a:rPr lang="en-US" sz="1400" b="0" dirty="0"/>
              <a:t>Câu hỏi cho học viên: biến kết cục là huyết áp tâm thu (một con số) và yếu tố dự báo là tuổi - dùng mô hình nào? Trả lời: hồi quy tuyến tính.</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đọc mỗi độ dốc như một thay đổi đã hiệu chỉnh trên mỗi đơn vị, cùng với KTC 95% của nó.</a:t>
            </a:r>
          </a:p>
          <a:p>
            <a:r>
              <a:rPr lang="en-US" sz="1400" b="0" dirty="0"/>
              <a:t>Diễn giải lâm sàng: tuổi và BMI liên quan độc lập với SBP; giới thì không (KTC vượt qua 0, p = 0.74).</a:t>
            </a:r>
          </a:p>
          <a:p>
            <a:r>
              <a:rPr lang="en-US" sz="1400" b="0" dirty="0"/>
              <a:t>Sai lầm thường gặp: báo cáo hệ số chặn như thể nó có ý nghĩa lâm sàng.</a:t>
            </a:r>
          </a:p>
          <a:p>
            <a:r>
              <a:rPr lang="en-US" sz="1400" b="0" dirty="0"/>
              <a:t>Mẹo demo: chạy summary(m1) trước (thô), rồi m2 đã hiệu chỉnh, và lưu ý độ dốc của tuổi gần như không đổi.</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một biến kết cục nhị phân cần hồi quy logistic, mô hình hóa số chênh thay vì một trung bình.</a:t>
            </a:r>
          </a:p>
          <a:p>
            <a:r>
              <a:rPr lang="en-US" sz="1400" b="0" dirty="0"/>
              <a:t>Diễn giải lâm sàng: tỷ số chênh là sản phẩm bàn giao - nó đi thẳng vào bản thảo và biểu đồ forest.</a:t>
            </a:r>
          </a:p>
          <a:p>
            <a:r>
              <a:rPr lang="en-US" sz="1400" b="0" dirty="0"/>
              <a:t>Sai lầm thường gặp: cố khớp một mô hình tuyến tính cho một biến kết cục Có/Không.</a:t>
            </a:r>
          </a:p>
          <a:p>
            <a:r>
              <a:rPr lang="en-US" sz="1400" b="0" dirty="0"/>
              <a:t>Câu hỏi cho học viên: số chênh là bao nhiêu nếu 3 trong 4 bệnh nhân tiếp nhận điều trị? Trả lời: 3 trên 1, tức số chênh = 3.</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đọc một OR theo hướng (so với 1) cộng với ý nghĩa thống kê (KTC có vượt qua 1 không?).</a:t>
            </a:r>
          </a:p>
          <a:p>
            <a:r>
              <a:rPr lang="en-US" sz="1400" b="0" dirty="0"/>
              <a:t>Sai lầm thường gặp: đọc hệ số thô (log số chênh) như thể nó là OR - luôn lấy lũy thừa (exponentiate) trước.</a:t>
            </a:r>
          </a:p>
          <a:p>
            <a:r>
              <a:rPr lang="en-US" sz="1400" b="0" dirty="0"/>
              <a:t>Diễn giải lâm sàng: 'OR không chứa 1' là tương đương hồi quy của p &lt; 0.05, nhưng có kèm độ lớn.</a:t>
            </a:r>
          </a:p>
          <a:p>
            <a:r>
              <a:rPr lang="en-US" sz="1400" b="0" dirty="0"/>
              <a:t>Câu hỏi cho học viên: OR 0.7 với KTC 0.5 đến 0.9 - nghĩa là gì? Trả lời: một hiệu ứng bảo vệ thật, số chênh thấp hơn 30%.</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family = binomial cho glm biết biến kết cục là 0/1; exp() biến log số chênh thành một OR có thể diễn giải.</a:t>
            </a:r>
          </a:p>
          <a:p>
            <a:r>
              <a:rPr lang="en-US" sz="1400" b="0" dirty="0"/>
              <a:t>Sai lầm thường gặp: báo cáo exp(coef) nhưng quên mức tham chiếu - ở đây diabetesYes được so sánh với No.</a:t>
            </a:r>
          </a:p>
          <a:p>
            <a:r>
              <a:rPr lang="en-US" sz="1400" b="0" dirty="0"/>
              <a:t>Diễn giải lâm sàng: OR chưa hiệu chỉnh sẽ co lại khi chúng ta hiệu chỉnh cho các yếu tố nhiễu như tuổi.</a:t>
            </a:r>
          </a:p>
          <a:p>
            <a:r>
              <a:rPr lang="en-US" sz="1400" b="0" dirty="0"/>
              <a:t>Mẹo demo: hiển thị summary(m_diab) trước để họ thấy log số chênh, rồi exp() để biến nó thành một OR thân thiện với bác sĩ lâm sàng.</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với một yếu tố dự báo liên tục, OR là trên mỗi thay đổi một đơn vị - chọn một đơn vị mà người ta quan tâm.</a:t>
            </a:r>
          </a:p>
          <a:p>
            <a:r>
              <a:rPr lang="en-US" sz="1400" b="0" dirty="0"/>
              <a:t>Sai lầm thường gặp: bỏ qua tuổi như không quan trọng vì OR ~1.03 trông tầm thường trên mỗi năm đơn lẻ.</a:t>
            </a:r>
          </a:p>
          <a:p>
            <a:r>
              <a:rPr lang="en-US" sz="1400" b="0" dirty="0"/>
              <a:t>Diễn giải lâm sàng: cách diễn đạt theo thập niên (khoảng 1.34) cho thấy tuổi là một yếu tố thúc đẩy đáng kể của tiếp nhận.</a:t>
            </a:r>
          </a:p>
          <a:p>
            <a:r>
              <a:rPr lang="en-US" sz="1400" b="0" dirty="0"/>
              <a:t>Mẹo demo: chạy exp(coef(m_age)['age'] * 10) trực tiếp để đổi từ mỗi năm sang mỗi thập niên.</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triết lý cốt lõi: lựa chọn dựa trên động cơ lâm sàng thắng tự động hóa mù quáng.</a:t>
            </a:r>
          </a:p>
          <a:p>
            <a:r>
              <a:rPr lang="en-US" sz="1400" b="0" dirty="0"/>
              <a:t>Điểm dạy chính: một mô hình đã định trước có thể bảo vệ trước người phản biện và có thể tái lập.</a:t>
            </a:r>
          </a:p>
          <a:p>
            <a:r>
              <a:rPr lang="en-US" sz="1400" b="0" dirty="0"/>
              <a:t>Sai lầm thường gặp: để máy tính chọn biến, rồi kể một câu chuyện lâm sàng quanh bất cứ cái gì còn sót lại.</a:t>
            </a:r>
          </a:p>
          <a:p>
            <a:r>
              <a:rPr lang="en-US" sz="1400" b="0" dirty="0"/>
              <a:t>Diễn giải lâm sàng: trong một nghiên cứu giải thích, chúng ta giữ các yếu tố nhiễu đã biết ngay cả khi không có ý nghĩa thống kê.</a:t>
            </a:r>
          </a:p>
          <a:p>
            <a:r>
              <a:rPr lang="en-US" sz="1400" b="0" dirty="0"/>
              <a:t>Câu hỏi cho học viên: có nên bỏ một biến chỉ vì p &gt; 0.05? Trả lời mong đợi: không, không nếu nó là một yếu tố nhiễu đã biết; bỏ nó có thể đưa lại nhiễu.</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Nhiễu là khái niệm mô hình hóa quan trọng nhất đối với bác sĩ lâm sàng.</a:t>
            </a:r>
          </a:p>
          <a:p>
            <a:r>
              <a:rPr lang="en-US" sz="1400" b="0" dirty="0"/>
              <a:t>Điểm dạy chính: hiệu chỉnh là cách các nghiên cứu quan sát xấp xỉ một so sánh công bằng.</a:t>
            </a:r>
          </a:p>
          <a:p>
            <a:r>
              <a:rPr lang="en-US" sz="1400" b="0" dirty="0"/>
              <a:t>Sai lầm thường gặp: báo cáo và diễn giải OR thô.</a:t>
            </a:r>
          </a:p>
          <a:p>
            <a:r>
              <a:rPr lang="en-US" sz="1400" b="0" dirty="0"/>
              <a:t>Diễn giải lâm sàng: hiệu ứng thành thị thô một phần được giải thích bởi tuổi và bảo hiểm; sau khi hiệu chỉnh, một lợi thế thành thị còn lại thực sự khoảng 1.87 vẫn tồn tại.</a:t>
            </a:r>
          </a:p>
          <a:p>
            <a:r>
              <a:rPr lang="en-US" sz="1400" b="0" dirty="0"/>
              <a:t>Mẹo trình diễn: trong slide tiếp theo chúng ta cho thấy các con số thô vs hiệu chỉnh từ R.</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Demo trực tiếp từ day5_demo.R, phần 2-3.</a:t>
            </a:r>
          </a:p>
          <a:p>
            <a:r>
              <a:rPr lang="en-US" sz="1400" b="0" dirty="0"/>
              <a:t>Điểm dạy chính: exp() biến log số chênh thành một tỷ số chênh.</a:t>
            </a:r>
          </a:p>
          <a:p>
            <a:r>
              <a:rPr lang="en-US" sz="1400" b="0" dirty="0"/>
              <a:t>Sai lầm thường gặp: quên rằng glm cần family = binomial cho một mô hình logistic.</a:t>
            </a:r>
          </a:p>
          <a:p>
            <a:r>
              <a:rPr lang="en-US" sz="1400" b="0" dirty="0"/>
              <a:t>Diễn giải lâm sàng: mức giảm &gt;10% xác nhận có nhiễu; con số 1.87 đã hiệu chỉnh là cái chúng ta báo cáo.</a:t>
            </a:r>
          </a:p>
          <a:p>
            <a:r>
              <a:rPr lang="en-US" sz="1400" b="0" dirty="0"/>
              <a:t>Câu hỏi cho học viên: tại sao hiệu ứng thành thị co lại? Trả lời mong đợi: vì cư dân thành thị khác nhau về tuổi và bảo hiểm, những yếu tố này làm tăng tiếp nhận một cách độc lập.</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Demo trực tiếp từ day5_demo.R, phần 7.</a:t>
            </a:r>
          </a:p>
          <a:p>
            <a:r>
              <a:rPr lang="en-US" sz="1400" b="0" dirty="0"/>
              <a:t>Điểm dạy chính: broom::tidy() biến một đối tượng mô hình thành một data frame sạch, sẵn sàng để vẽ hoặc xuất.</a:t>
            </a:r>
          </a:p>
          <a:p>
            <a:r>
              <a:rPr lang="en-US" sz="1400" b="0" dirty="0"/>
              <a:t>Sai lầm thường gặp: chép tay các con số từ summary() vào một bảng Word - dễ sai và không thể tái lập.</a:t>
            </a:r>
          </a:p>
          <a:p>
            <a:r>
              <a:rPr lang="en-US" sz="1400" b="0" dirty="0"/>
              <a:t>Diễn giải lâm sàng: mọi KTC được hiển thị đều không chứa 1, nên tất cả đều có ý nghĩa thống kê; đái tháo đường có OR lớn nhất nhưng KTC rộng nhất.</a:t>
            </a:r>
          </a:p>
          <a:p>
            <a:r>
              <a:rPr lang="en-US" sz="1400" b="0" dirty="0"/>
              <a:t>Câu hỏi cho học viên: tại sao KTC của đái tháo đường lại rộng như vậy? Trả lời mong đợi: người đái tháo đường là một phân nhóm nhỏ hơn, nên ước lượng kém chính xác hơn.</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các con số chuẩn từ key_findings.md - trích dẫn chúng chính xác.</a:t>
            </a:r>
          </a:p>
          <a:p>
            <a:r>
              <a:rPr lang="en-US" sz="1400" b="0" dirty="0"/>
              <a:t>Điểm dạy chính: đây là bảng kết quả chính của bản thảo.</a:t>
            </a:r>
          </a:p>
          <a:p>
            <a:r>
              <a:rPr lang="en-US" sz="1400" b="0" dirty="0"/>
              <a:t>Sai lầm thường gặp: bỏ sót KTC hoặc n; người phản biện luôn hỏi.</a:t>
            </a:r>
          </a:p>
          <a:p>
            <a:r>
              <a:rPr lang="en-US" sz="1400" b="0" dirty="0"/>
              <a:t>Diễn giải lâm sàng: khoảng cách theo hướng bảo vệ-chống-lại-tiếp nhận như kỳ vọng (OR 0.98) nhưng không có ý nghĩa thống kê - báo cáo đúng như vậy, đừng gọi nó là không có hiệu ứng.</a:t>
            </a:r>
          </a:p>
          <a:p>
            <a:r>
              <a:rPr lang="en-US" sz="1400" b="0" dirty="0"/>
              <a:t>Câu hỏi cho học viên: yếu tố dự báo nào quan trọng nhất? Trả lời mong đợi: đái tháo đường có OR lớn nhất (3.56), nhưng thận trọng - KTC của nó rộng nhất, nên độ chính xác thấp hơn.</a:t>
            </a:r>
          </a:p>
          <a:p>
            <a:r>
              <a:rPr lang="en-US" sz="1400" b="0" dirty="0"/>
              <a:t>Mẹo trình diễn: tiền sử gia đình và kiến thức được đưa vào chú thích để giữ bảng trong giới hạn số dòng.</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một biểu đồ forest truyền đạt toàn bộ mô hình trong một cái nhìn.</a:t>
            </a:r>
          </a:p>
          <a:p>
            <a:r>
              <a:rPr lang="en-US" sz="1400" b="0" dirty="0"/>
              <a:t>Trục x ở thang log nên các KTC trông đối xứng quanh mỗi điểm.</a:t>
            </a:r>
          </a:p>
          <a:p>
            <a:r>
              <a:rPr lang="en-US" sz="1400" b="0" dirty="0"/>
              <a:t>Sai lầm thường gặp: đặt trục OR ở thang tuyến tính, làm bẹp các OR nhỏ.</a:t>
            </a:r>
          </a:p>
          <a:p>
            <a:r>
              <a:rPr lang="en-US" sz="1400" b="0" dirty="0"/>
              <a:t>Diễn giải lâm sàng: bất kỳ râu KTC nào vượt qua đường đứt nét tại 1 đều không có ý nghĩa thống kê - ở đây chỉ có khoảng cách.</a:t>
            </a:r>
          </a:p>
          <a:p>
            <a:r>
              <a:rPr lang="en-US" sz="1400" b="0" dirty="0"/>
              <a:t>Câu hỏi cho học viên: tại sao khoảng cách trông khác các yếu tố khác? Trả lời mong đợi: khoảng của nó nằm vắt qua 1, nên chúng ta không thể loại trừ việc không có hiệu ứng.</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Demo trực tiếp từ day5_demo.R, phần 8-9.</a:t>
            </a:r>
          </a:p>
          <a:p>
            <a:r>
              <a:rPr lang="en-US" sz="1400" b="0" dirty="0"/>
              <a:t>Điểm dạy chính: bảng và hình nên được sinh ra từ code, không bao giờ gõ lại.</a:t>
            </a:r>
          </a:p>
          <a:p>
            <a:r>
              <a:rPr lang="en-US" sz="1400" b="0" dirty="0"/>
              <a:t>Sai lầm thường gặp: sửa các con số bằng tay trong Word, làm hỏng khả năng tái lập và gây ra lỗi sao chép.</a:t>
            </a:r>
          </a:p>
          <a:p>
            <a:r>
              <a:rPr lang="en-US" sz="1400" b="0" dirty="0"/>
              <a:t>Diễn giải lâm sàng: file PNG đã lưu là chính xác hình trên slide trước.</a:t>
            </a:r>
          </a:p>
          <a:p>
            <a:r>
              <a:rPr lang="en-US" sz="1400" b="0" dirty="0"/>
              <a:t>Mẹo trình diễn: hiển thị as_gt(tbl) |&gt; gtsave("Resources/regression_table.html") để xuất bảng nữa; đề cập một phương án dự phòng write_csv nếu không có gtsummary.</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kết quả là sản phẩm của code, không phải file dựng bằng tay.</a:t>
            </a:r>
          </a:p>
          <a:p>
            <a:r>
              <a:rPr lang="en-US" sz="1400" b="0" dirty="0"/>
              <a:t>Sai lầm thường gặp: chụp màn hình một đồ thị từ trình xem RStudio thay vì dùng ggsave - độ phân giải thấp và không tái lập được.</a:t>
            </a:r>
          </a:p>
          <a:p>
            <a:r>
              <a:rPr lang="en-US" sz="1400" b="0" dirty="0"/>
              <a:t>Diễn giải lâm sàng: một người phản biện yêu cầu chỉnh sửa sẽ nhận được nó bằng cách sửa một dòng và chạy lại.</a:t>
            </a:r>
          </a:p>
          <a:p>
            <a:r>
              <a:rPr lang="en-US" sz="1400" b="0" dirty="0"/>
              <a:t>Câu hỏi cho học viên: dpi bao nhiêu cho một hình in? Trả lời mong đợi: 300.</a:t>
            </a:r>
          </a:p>
          <a:p>
            <a:r>
              <a:rPr lang="en-US" sz="1400" b="0" dirty="0"/>
              <a:t>Mẹo trình diễn: chạy ggsave và gtsave trực tiếp, rồi mở thư mục Resources/ để cho thấy các file xuất hiện.</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một phần Kết quả là sự chuyển ngữ có cấu trúc, không phải bịa đặt.</a:t>
            </a:r>
          </a:p>
          <a:p>
            <a:r>
              <a:rPr lang="en-US" sz="1400" b="0" dirty="0"/>
              <a:t>Mỗi OR trở thành một mệnh đề rõ ràng: hướng, độ lớn, nhóm so sánh, độ chính xác.</a:t>
            </a:r>
          </a:p>
          <a:p>
            <a:r>
              <a:rPr lang="en-US" sz="1400" b="0" dirty="0"/>
              <a:t>Sai lầm thường gặp: viết 'X gây ra Y' từ một OR quan sát - hãy dùng 'có liên quan với'.</a:t>
            </a:r>
          </a:p>
          <a:p>
            <a:r>
              <a:rPr lang="en-US" sz="1400" b="0" dirty="0"/>
              <a:t>Diễn giải lâm sàng: một OR 0.74 cho giới nam nghĩa là nam có số chênh thấp hơn nữ khoảng 26%.</a:t>
            </a:r>
          </a:p>
          <a:p>
            <a:r>
              <a:rPr lang="en-US" sz="1400" b="0" dirty="0"/>
              <a:t>Câu hỏi cho học viên: làm sao diễn đạt một phát hiện không có ý nghĩa thống kê? Trả lời mong đợi: báo cáo ước lượng và KTC và nêu rằng nó không có ý nghĩa thống kê - đừng khẳng định 'không có hiệu ứng'.</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một câu trả lời mẫu mà lớp có thể chỉnh sửa cho bài tập.</a:t>
            </a:r>
          </a:p>
          <a:p>
            <a:r>
              <a:rPr lang="en-US" sz="1400" b="0" dirty="0"/>
              <a:t>Điểm dạy chính: mở đầu bằng n phân tích, liệt kê các yếu tố quyết định có ý nghĩa thống kê với OR và KTC, rồi báo cáo cái không có ý nghĩa thống kê và độ khớp tổng thể.</a:t>
            </a:r>
          </a:p>
          <a:p>
            <a:r>
              <a:rPr lang="en-US" sz="1400" b="0" dirty="0"/>
              <a:t>Sai lầm thường gặp: ngôn ngữ nhân quả ('đái tháo đường làm tăng tiếp nhận') từ một nghiên cứu cắt ngang.</a:t>
            </a:r>
          </a:p>
          <a:p>
            <a:r>
              <a:rPr lang="en-US" sz="1400" b="0" dirty="0"/>
              <a:t>Diễn giải lâm sàng: đoạn văn phản ánh chính xác các hướng trong key_findings.md.</a:t>
            </a:r>
          </a:p>
          <a:p>
            <a:r>
              <a:rPr lang="en-US" sz="1400" b="0" dirty="0"/>
              <a:t>Câu hỏi cho học viên: điều gì thuộc về câu đầu tiên? Trả lời mong đợi: cỡ mẫu và biến kết cục, để người đọc biết cơ sở của mọi con số theo sau.</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một kết quả bạn không thể tái lập là một kết quả bạn không thể bảo vệ.</a:t>
            </a:r>
          </a:p>
          <a:p>
            <a:r>
              <a:rPr lang="en-US" sz="1400" b="0" dirty="0"/>
              <a:t>Các phân tích bằng menu bấm chuột không để lại dấu vết; script thì có.</a:t>
            </a:r>
          </a:p>
          <a:p>
            <a:r>
              <a:rPr lang="en-US" sz="1400" b="0" dirty="0"/>
              <a:t>Sai lầm thường gặp: gán cứng một đường dẫn tuyệt đối chỉ chạy trên laptop của bạn - nó hỏng với mọi cộng tác viên.</a:t>
            </a:r>
          </a:p>
          <a:p>
            <a:r>
              <a:rPr lang="en-US" sz="1400" b="0" dirty="0"/>
              <a:t>Diễn giải lâm sàng: khả năng tái lập là một phần của liêm chính nghiên cứu, không phải một thứ tùy chọn.</a:t>
            </a:r>
          </a:p>
          <a:p>
            <a:r>
              <a:rPr lang="en-US" sz="1400" b="0" dirty="0"/>
              <a:t>Câu hỏi cho học viên: tại sao đặt seed nếu hồi quy logistic là tất định? Trả lời mong đợi: để toàn bộ script - bao gồm bất kỳ lấy mẫu lại hay mô phỏng nào - tái lập giống hệt từ đầu đến cuối.</a:t>
            </a:r>
          </a:p>
          <a:p>
            <a:r>
              <a:rPr lang="en-US" sz="1400" b="0" dirty="0"/>
              <a:t>Mẹo trình diễn: hiển thị cấu trúc thư mục Data/ Scripts/ Solutions/ Resources/ References/.</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Demo trực tiếp từ day5_demo.R, phần 0-1 và 10.</a:t>
            </a:r>
          </a:p>
          <a:p>
            <a:r>
              <a:rPr lang="en-US" sz="1400" b="0" dirty="0"/>
              <a:t>Điểm dạy chính: ba thói quen này - seed, đường dẫn tương đối, môi trường được ghi lại - bao phủ hầu hết các thất bại về khả năng tái lập.</a:t>
            </a:r>
          </a:p>
          <a:p>
            <a:r>
              <a:rPr lang="en-US" sz="1400" b="0" dirty="0"/>
              <a:t>Sai lầm thường gặp: làm sạch lại dữ liệu bên trong script phân tích; làm sạch nên thuộc về script riêng của nó (tách biệt trách nhiệm).</a:t>
            </a:r>
          </a:p>
          <a:p>
            <a:r>
              <a:rPr lang="en-US" sz="1400" b="0" dirty="0"/>
              <a:t>Diễn giải lâm sàng: readRDS nạp dữ liệu đã được làm sạch, sẵn sàng phân tích.</a:t>
            </a:r>
          </a:p>
          <a:p>
            <a:r>
              <a:rPr lang="en-US" sz="1400" b="0" dirty="0"/>
              <a:t>Mẹo trình diễn: mở References/session_info.txt sau khi chạy để cho thấy những gì đã được ghi lại.</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bài tập này tích hợp cả tuần thành một sản phẩm bàn giao.</a:t>
            </a:r>
          </a:p>
          <a:p>
            <a:r>
              <a:rPr lang="en-US" sz="1400" b="0" dirty="0"/>
              <a:t>Sai lầm thường gặp: quên giới hạn ở htn_diagnosed == 'Yes', hoặc báo cáo OR thô thay vì OR đã hiệu chỉnh.</a:t>
            </a:r>
          </a:p>
          <a:p>
            <a:r>
              <a:rPr lang="en-US" sz="1400" b="0" dirty="0"/>
              <a:t>Diễn giải lâm sàng: bảng chấm điểm (key_findings.md) thưởng cho phương pháp và diễn giải đúng, không phải khớp đến số thập phân thứ 2.</a:t>
            </a:r>
          </a:p>
          <a:p>
            <a:r>
              <a:rPr lang="en-US" sz="1400" b="0" dirty="0"/>
              <a:t>Câu hỏi cho học viên: đoạn Kết quả nên dài bao nhiêu? Trả lời mong đợi: gọn 4-6 câu - n và biến kết cục, các yếu tố quyết định có ý nghĩa thống kê với OR và KTC, cái không có ý nghĩa thống kê, rồi AUC.</a:t>
            </a:r>
          </a:p>
          <a:p>
            <a:r>
              <a:rPr lang="en-US" sz="1400" b="0" dirty="0"/>
              <a:t>Mẹo trình diễn: chỉ họ tới day5_demo.R như một khung sườn và đi vòng quanh trong lúc họ làm.</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chúc mừng chặng đường đã đi - họ bắt đầu mà không có nền tảng lập trình.</a:t>
            </a:r>
          </a:p>
          <a:p>
            <a:r>
              <a:rPr lang="en-US" sz="1400" b="0" dirty="0"/>
              <a:t>Trấn an họ rằng sự thành thạo đến cùng với luyện tập trên dữ liệu của chính họ.</a:t>
            </a:r>
          </a:p>
          <a:p>
            <a:r>
              <a:rPr lang="en-US" sz="1400" b="0" dirty="0"/>
              <a:t>Diễn giải lâm sàng: giờ họ sở hữu một quy trình có thể bảo vệ, có thể tái lập mà họ có thể mang tới các nghiên cứu của chính mình.</a:t>
            </a:r>
          </a:p>
          <a:p>
            <a:r>
              <a:rPr lang="en-US" sz="1400" b="0" dirty="0"/>
              <a:t>Câu hỏi cho học viên: thói quen giá trị nhất cần giữ là gì? Trả lời mong đợi: làm mọi thứ trong một script để nó có thể tái lập.</a:t>
            </a:r>
          </a:p>
          <a:p>
            <a:r>
              <a:rPr lang="en-US" sz="1400" b="0" dirty="0"/>
              <a:t>Mẹo trình diễn: mời một hoặc hai học viên chia sẻ điều gì khiến họ bất ngờ nhất.</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mô hình logistic hôm nay là nền tảng; Giai đoạn II tổng quát hóa nó.</a:t>
            </a:r>
          </a:p>
          <a:p>
            <a:r>
              <a:rPr lang="en-US" sz="1400" b="0" dirty="0"/>
              <a:t>Diễn giải lâm sàng: nghiên cứu 6 cơ sở của họ tự nhiên được phân cụm, điều này thúc đẩy các mô hình hỗn hợp trong Giai đoạn II.</a:t>
            </a:r>
          </a:p>
          <a:p>
            <a:r>
              <a:rPr lang="en-US" sz="1400" b="0" dirty="0"/>
              <a:t>Hiểu lầm thường gặp: rằng phân tích sống còn và hồi quy logistic không liên quan - cả hai đều là hồi quy, chỉ khác loại biến kết cục.</a:t>
            </a:r>
          </a:p>
          <a:p>
            <a:r>
              <a:rPr lang="en-US" sz="1400" b="0" dirty="0"/>
              <a:t>Câu hỏi cho học viên: chủ đề Giai đoạn II nào phù hợp với một nghiên cứu theo dõi bệnh nhân theo thời gian? Trả lời mong đợi: phân tích sống còn, vì biến kết cục là thời gian-đến-biến cố.</a:t>
            </a:r>
          </a:p>
          <a:p>
            <a:r>
              <a:rPr lang="en-US" sz="1400" b="0" dirty="0"/>
              <a:t>Mẹo trình diễn: cảm ơn lớp học, chỉ tới References/ để đọc thêm, và kết thúc bằng #ClearDataClearImpact.</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Giới thiệu bài đánh giá tổng kết.</a:t>
            </a:r>
          </a:p>
          <a:p>
            <a:r>
              <a:rPr lang="en-US" sz="1400" b="0" dirty="0"/>
              <a:t>Điểm giảng dạy chính: bài này củng cố toàn bộ năm ngày thành một phân tích độc lập.</a:t>
            </a:r>
          </a:p>
          <a:p>
            <a:r>
              <a:rPr lang="en-US" sz="1400" b="0" dirty="0"/>
              <a:t>Diễn giải lâm sàng: nó phản ánh việc viết phần phân tích cho một bài báo thực tế.</a:t>
            </a:r>
          </a:p>
          <a:p>
            <a:r>
              <a:rPr lang="en-US" sz="1400" b="0" dirty="0"/>
              <a:t>Câu hỏi cho học viên: nên dành bao nhiêu thời gian? Dự kiến: một vài buổi tập trung trải trong tuần.</a:t>
            </a:r>
          </a:p>
          <a:p>
            <a:r>
              <a:rPr lang="en-US" sz="1400" b="0" dirty="0"/>
              <a:t>Mẹo demo: khuyến khích bắt đầu từ script làm sạch đã lưu ở Buổi 2.</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Nêu rõ chính xác cần nộp những gì.</a:t>
            </a:r>
          </a:p>
          <a:p>
            <a:r>
              <a:rPr lang="en-US" sz="1400" b="0" dirty="0"/>
              <a:t>Điểm giảng dạy chính: khả năng tái lập được chấm điểm - script phải chạy được trên một máy sạch.</a:t>
            </a:r>
          </a:p>
          <a:p>
            <a:r>
              <a:rPr lang="en-US" sz="1400" b="0" dirty="0"/>
              <a:t>Lỗi phổ biến: chỉ nộp kết quả mà không có script, hoặc script với đường dẫn tuyệt đối cứng.</a:t>
            </a:r>
          </a:p>
          <a:p>
            <a:r>
              <a:rPr lang="en-US" sz="1400" b="0" dirty="0"/>
              <a:t>Diễn giải lâm sàng: mục Kết quả nên đọc như một bài nộp tạp chí.</a:t>
            </a:r>
          </a:p>
          <a:p>
            <a:r>
              <a:rPr lang="en-US" sz="1400" b="0" dirty="0"/>
              <a:t>Câu hỏi cho học viên: điều gì khiến một script có khả năng tái lập? Dự kiến: đường dẫn tương đối, các lệnh library(), set.seed, không có bước thủ công.</a:t>
            </a:r>
          </a:p>
          <a:p>
            <a:r>
              <a:rPr lang="en-US" sz="1400" b="0" dirty="0"/>
              <a:t>Mẹo demo: chỉ họ tới bản nháp kết quả Buổi 5 như một mẫu.</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Làm rõ cơ chế nộp bài.</a:t>
            </a:r>
          </a:p>
          <a:p>
            <a:r>
              <a:rPr lang="en-US" sz="1400" b="0" dirty="0"/>
              <a:t>Điểm giảng dạy chính: code rõ ràng, có chú thích là một phần của điểm số, không phải chuyện phụ.</a:t>
            </a:r>
          </a:p>
          <a:p>
            <a:r>
              <a:rPr lang="en-US" sz="1400" b="0" dirty="0"/>
              <a:t>Lỗi phổ biến: hình lưu ở độ phân giải màn hình - yêu cầu 300 dpi qua ggsave.</a:t>
            </a:r>
          </a:p>
          <a:p>
            <a:r>
              <a:rPr lang="en-US" sz="1400" b="0" dirty="0"/>
              <a:t>Diễn giải lâm sàng: một bài nộp gọn gàng phản ánh một nhà phân tích gọn gàng.</a:t>
            </a:r>
          </a:p>
          <a:p>
            <a:r>
              <a:rPr lang="en-US" sz="1400" b="0" dirty="0"/>
              <a:t>Câu hỏi cho học viên: script R hay Quarto? Dự kiến: cái nào cũng được - Quarto dễ đạt điểm khả năng tái lập.</a:t>
            </a:r>
          </a:p>
          <a:p>
            <a:r>
              <a:rPr lang="en-US" sz="1400" b="0" dirty="0"/>
              <a:t>Mẹo demo: cho xem cấu trúc thư mục bạn kỳ vọng.</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Làm cho việc chấm điểm minh bạch.</a:t>
            </a:r>
          </a:p>
          <a:p>
            <a:r>
              <a:rPr lang="en-US" sz="1400" b="0" dirty="0"/>
              <a:t>Điểm giảng dạy chính: làm sạch và hồi quy chiếm trọng số cao nhất (mỗi phần 20) - hãy dành thời gian cho chúng.</a:t>
            </a:r>
          </a:p>
          <a:p>
            <a:r>
              <a:rPr lang="en-US" sz="1400" b="0" dirty="0"/>
              <a:t>Diễn giải lâm sàng: diễn giải được khen thưởng một cách rõ ràng, không chỉ tính toán.</a:t>
            </a:r>
          </a:p>
          <a:p>
            <a:r>
              <a:rPr lang="en-US" sz="1400" b="0" dirty="0"/>
              <a:t>Lỗi phổ biến: code hoàn hảo, diễn giải sai - bạn mất 15 điểm diễn giải.</a:t>
            </a:r>
          </a:p>
          <a:p>
            <a:r>
              <a:rPr lang="en-US" sz="1400" b="0" dirty="0"/>
              <a:t>Câu hỏi cho học viên: bạn sẽ tập trung nỗ lực ở đâu? Dự kiến: làm sạch + mô hình hóa - chính xác.</a:t>
            </a:r>
          </a:p>
          <a:p>
            <a:r>
              <a:rPr lang="en-US" sz="1400" b="0" dirty="0"/>
              <a:t>Mẹo demo: hướng dẫn chấm điểm đầy đủ với tiêu chí từng điểm nằm trong gói tài liệu giảng viên.</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Cho học viên một hình dung cụ thể về bài xuất sắc so với bài yếu.</a:t>
            </a:r>
          </a:p>
          <a:p>
            <a:r>
              <a:rPr lang="en-US" sz="1400" b="0" dirty="0"/>
              <a:t>Điểm giảng dạy chính: đa số điểm bị mất do các lỗi làm sạch và diễn giải có thể tránh được.</a:t>
            </a:r>
          </a:p>
          <a:p>
            <a:r>
              <a:rPr lang="en-US" sz="1400" b="0" dirty="0"/>
              <a:t>Diễn giải lâm sàng: 'không có ý nghĩa thống kê' nghĩa là 'chưa đủ bằng chứng', không phải 'không có tác động'.</a:t>
            </a:r>
          </a:p>
          <a:p>
            <a:r>
              <a:rPr lang="en-US" sz="1400" b="0" dirty="0"/>
              <a:t>Lỗi phổ biến: quên giới hạn ở htn_diagnosed == Yes cho phân tích tiếp nhận điều trị.</a:t>
            </a:r>
          </a:p>
          <a:p>
            <a:r>
              <a:rPr lang="en-US" sz="1400" b="0" dirty="0"/>
              <a:t>Câu hỏi cho học viên: vì sao chỉ phân tích bệnh nhân đã được chẩn đoán? Dự kiến: tiếp nhận điều trị chỉ được xác định sau khi đã chẩn đoán.</a:t>
            </a:r>
          </a:p>
          <a:p>
            <a:r>
              <a:rPr lang="en-US" sz="1400" b="0" dirty="0"/>
              <a:t>Mẹo demo: phát slide này như một bảng tự kiểm trước khi nộp.</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Chỉ ra mọi thứ họ có thể mang về và nơi để phát triển tiếp.</a:t>
            </a:r>
          </a:p>
          <a:p>
            <a:r>
              <a:rPr lang="en-US" sz="1400" b="0" dirty="0"/>
              <a:t>Điểm giảng dạy chính: bảng tra cứu trả lời 80% câu hỏi hằng ngày.</a:t>
            </a:r>
          </a:p>
          <a:p>
            <a:r>
              <a:rPr lang="en-US" sz="1400" b="0" dirty="0"/>
              <a:t>Diễn giải lâm sàng: áp dụng R vào dữ liệu của CHÍNH họ là bài kiểm tra thực sự của việc học.</a:t>
            </a:r>
          </a:p>
          <a:p>
            <a:r>
              <a:rPr lang="en-US" sz="1400" b="0" dirty="0"/>
              <a:t>Câu hỏi cho học viên: sau khóa học bạn sẽ phân tích gì đầu tiên? Dự kiến: một cuộc kiểm toán hoặc một dự án đang dang dở.</a:t>
            </a:r>
          </a:p>
          <a:p>
            <a:r>
              <a:rPr lang="en-US" sz="1400" b="0" dirty="0"/>
              <a:t>Mẹo demo: nhắc đến Giai đoạn II (phân tích sống còn, mô hình hỗn hợp) như bước tiếp theo.</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Kết thúc ấm áp và mở lời cho thảo luận.</a:t>
            </a:r>
          </a:p>
          <a:p>
            <a:r>
              <a:rPr lang="en-US" sz="1400" b="0" dirty="0"/>
              <a:t>Điểm giảng dạy chính: chúc mừng rằng mọi người đã đi từ số không đến một phân tích hoàn chỉnh trong năm ngày.</a:t>
            </a:r>
          </a:p>
          <a:p>
            <a:r>
              <a:rPr lang="en-US" sz="1400" b="0" dirty="0"/>
              <a:t>Diễn giải lâm sàng: khuyến khích họ đưa phân tích có khả năng tái lập vào nhóm của mình.</a:t>
            </a:r>
          </a:p>
          <a:p>
            <a:r>
              <a:rPr lang="en-US" sz="1400" b="0" dirty="0"/>
              <a:t>Câu hỏi cho học viên: điều bạn thu nhận lớn nhất là gì? Dự kiến: khác nhau - khẳng định mỗi ý.</a:t>
            </a:r>
          </a:p>
          <a:p>
            <a:r>
              <a:rPr lang="en-US" sz="1400" b="0" dirty="0"/>
              <a:t>Mẹo demo: thu thập phản hồi và chia sẻ thông tin liên hệ để theo dõi tiếp.</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COPYRIGHT / CLOSING SLIDE.</a:t>
            </a:r>
          </a:p>
          <a:p>
            <a:r>
              <a:rPr lang="en-US" sz="1400" b="0" dirty="0"/>
              <a:t>Bản quyền chuẩn của Neudata. Cảm ơn học viên và đơn vị đăng cai.</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9/7/2026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8.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9.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7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0.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7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6.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10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768613" y="4410394"/>
            <a:ext cx="2566257" cy="2447606"/>
          </a:xfrm>
          <a:prstGeom prst="rect">
            <a:avLst/>
          </a:prstGeom>
        </p:spPr>
      </p:pic>
      <p:sp>
        <p:nvSpPr>
          <p:cNvPr id="3" name="Title"/>
          <p:cNvSpPr txBox="1"/>
          <p:nvPr/>
        </p:nvSpPr>
        <p:spPr>
          <a:xfrm>
            <a:off x="0" y="1500000"/>
            <a:ext cx="12192000" cy="1700000"/>
          </a:xfrm>
          <a:prstGeom prst="rect">
            <a:avLst/>
          </a:prstGeom>
          <a:noFill/>
          <a:ln>
            <a:noFill/>
          </a:ln>
        </p:spPr>
        <p:txBody>
          <a:bodyPr wrap="square" lIns="457200" tIns="0" rIns="457200" bIns="0" rtlCol="0" anchor="ctr"/>
          <a:lstStyle/>
          <a:p>
            <a:pPr marL="0" indent="0" algn="ctr">
              <a:buNone/>
            </a:pPr>
            <a:r>
              <a:rPr lang="en-US" sz="4000" b="1" dirty="0">
                <a:solidFill>
                  <a:srgbClr val="006666"/>
                </a:solidFill>
                <a:latin typeface="Segoe UI"/>
                <a:cs typeface="Segoe UI"/>
              </a:rPr>
              <a:t>Phân tích Dữ liệu Lâm sàng bằng R</a:t>
            </a:r>
          </a:p>
        </p:txBody>
      </p:sp>
      <p:sp>
        <p:nvSpPr>
          <p:cNvPr id="5" name="Subtitle"/>
          <p:cNvSpPr txBox="1"/>
          <p:nvPr/>
        </p:nvSpPr>
        <p:spPr>
          <a:xfrm>
            <a:off x="0" y="3250000"/>
            <a:ext cx="12192000" cy="1000000"/>
          </a:xfrm>
          <a:prstGeom prst="rect">
            <a:avLst/>
          </a:prstGeom>
          <a:noFill/>
          <a:ln>
            <a:noFill/>
          </a:ln>
        </p:spPr>
        <p:txBody>
          <a:bodyPr wrap="square" lIns="457200" tIns="45720" rIns="457200" bIns="45720" rtlCol="0" anchor="t"/>
          <a:lstStyle/>
          <a:p>
            <a:pPr marL="0" indent="0" algn="ctr">
              <a:spcBef>
                <a:spcPts val="440"/>
              </a:spcBef>
              <a:buNone/>
            </a:pPr>
            <a:r>
              <a:rPr lang="en-US" sz="2000" dirty="0">
                <a:solidFill>
                  <a:srgbClr val="000000"/>
                </a:solidFill>
                <a:latin typeface="Segoe UI"/>
                <a:cs typeface="Segoe UI"/>
              </a:rPr>
              <a:t>Giai đoạn I  -  Nhập môn R cho Nghiên cứu Lâm sàng</a:t>
            </a:r>
          </a:p>
          <a:p>
            <a:pPr marL="0" indent="0" algn="ctr">
              <a:spcBef>
                <a:spcPts val="440"/>
              </a:spcBef>
              <a:buNone/>
            </a:pPr>
            <a:r>
              <a:rPr lang="en-US" sz="2000" dirty="0">
                <a:solidFill>
                  <a:srgbClr val="000000"/>
                </a:solidFill>
                <a:latin typeface="Segoe UI"/>
                <a:cs typeface="Segoe UI"/>
              </a:rPr>
              <a:t>Khóa học ngắn buổi tối gồm năm buổi  -  các Thứ Ba, 20:00</a:t>
            </a:r>
          </a:p>
          <a:p>
            <a:pPr marL="0" indent="0" algn="ctr">
              <a:spcBef>
                <a:spcPts val="440"/>
              </a:spcBef>
              <a:buNone/>
            </a:pPr>
            <a:r>
              <a:rPr lang="en-US" sz="2000" dirty="0">
                <a:solidFill>
                  <a:srgbClr val="000000"/>
                </a:solidFill>
                <a:latin typeface="Segoe UI"/>
                <a:cs typeface="Segoe UI"/>
              </a:rPr>
              <a:t>Giảng viên: Bernard Osang'ir &amp; </a:t>
            </a:r>
            <a:r>
              <a:rPr lang="en-BE" sz="2000" dirty="0">
                <a:solidFill>
                  <a:srgbClr val="000000"/>
                </a:solidFill>
                <a:latin typeface="Segoe UI"/>
                <a:cs typeface="Segoe UI"/>
              </a:rPr>
              <a:t>Vương </a:t>
            </a:r>
            <a:r>
              <a:rPr lang="en-BE" sz="2000" dirty="0" err="1">
                <a:solidFill>
                  <a:srgbClr val="000000"/>
                </a:solidFill>
                <a:latin typeface="Segoe UI"/>
                <a:cs typeface="Segoe UI"/>
              </a:rPr>
              <a:t>Mỹ</a:t>
            </a:r>
            <a:r>
              <a:rPr lang="en-BE" sz="2000" dirty="0">
                <a:solidFill>
                  <a:srgbClr val="000000"/>
                </a:solidFill>
                <a:latin typeface="Segoe UI"/>
                <a:cs typeface="Segoe UI"/>
              </a:rPr>
              <a:t> </a:t>
            </a:r>
            <a:r>
              <a:rPr lang="en-BE" sz="2000" dirty="0" err="1">
                <a:solidFill>
                  <a:srgbClr val="000000"/>
                </a:solidFill>
                <a:latin typeface="Segoe UI"/>
                <a:cs typeface="Segoe UI"/>
              </a:rPr>
              <a:t>Lượng</a:t>
            </a:r>
            <a:endParaRPr lang="en-US" sz="2000" dirty="0">
              <a:solidFill>
                <a:srgbClr val="000000"/>
              </a:solidFill>
              <a:latin typeface="Segoe UI"/>
              <a:cs typeface="Segoe UI"/>
            </a:endParaRPr>
          </a:p>
        </p:txBody>
      </p:sp>
      <p:sp>
        <p:nvSpPr>
          <p:cNvPr id="6" name="Date"/>
          <p:cNvSpPr txBox="1"/>
          <p:nvPr/>
        </p:nvSpPr>
        <p:spPr>
          <a:xfrm>
            <a:off x="7902094" y="5833766"/>
            <a:ext cx="3465009" cy="326571"/>
          </a:xfrm>
          <a:prstGeom prst="rect">
            <a:avLst/>
          </a:prstGeom>
          <a:noFill/>
          <a:ln>
            <a:noFill/>
          </a:ln>
        </p:spPr>
        <p:txBody>
          <a:bodyPr wrap="square" lIns="0" tIns="0" rIns="0" bIns="0" rtlCol="0" anchor="b"/>
          <a:lstStyle/>
          <a:p>
            <a:pPr marL="0" indent="0" algn="r">
              <a:buNone/>
            </a:pPr>
            <a:r>
              <a:rPr lang="en-US" sz="1400" b="1" dirty="0">
                <a:solidFill>
                  <a:srgbClr val="000000"/>
                </a:solidFill>
                <a:latin typeface="Segoe UI"/>
                <a:cs typeface="Segoe UI"/>
              </a:rPr>
              <a:t>Date: 8 tháng 9 - 6 tháng 10 năm 2026</a:t>
            </a:r>
          </a:p>
        </p:txBody>
      </p:sp>
      <p:sp>
        <p:nvSpPr>
          <p:cNvPr id="7"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Chào mừng &amp; Mục tiêu Khóa học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Vì sao có khóa học này</a:t>
            </a:r>
          </a:p>
          <a:p>
            <a:pPr marL="0" indent="0" algn="l">
              <a:lnSpc>
                <a:spcPct val="108000"/>
              </a:lnSpc>
              <a:spcBef>
                <a:spcPts val="440"/>
              </a:spcBef>
              <a:buNone/>
            </a:pPr>
            <a:r>
              <a:rPr lang="en-US" sz="1800" dirty="0">
                <a:solidFill>
                  <a:srgbClr val="000000"/>
                </a:solidFill>
                <a:latin typeface="Segoe UI"/>
                <a:cs typeface="Segoe UI"/>
              </a:rPr>
              <a:t>Bác sĩ ngày càng cần tự phân tích dữ liệu của mình và đọc thống kê một cách phản biện.</a:t>
            </a:r>
          </a:p>
          <a:p>
            <a:pPr marL="0" indent="0" algn="l">
              <a:lnSpc>
                <a:spcPct val="108000"/>
              </a:lnSpc>
              <a:spcBef>
                <a:spcPts val="440"/>
              </a:spcBef>
              <a:buNone/>
            </a:pPr>
            <a:r>
              <a:rPr lang="en-US" sz="1800" dirty="0">
                <a:solidFill>
                  <a:srgbClr val="000000"/>
                </a:solidFill>
                <a:latin typeface="Segoe UI"/>
                <a:cs typeface="Segoe UI"/>
              </a:rPr>
              <a:t>R miễn phí, có khả năng tái lập và là công cụ chuẩn trong nghiên cứu lâm sàng hiện đại.</a:t>
            </a:r>
          </a:p>
          <a:p>
            <a:pPr>
              <a:buNone/>
            </a:pPr>
            <a:endParaRPr sz="1050"/>
          </a:p>
          <a:p>
            <a:pPr marL="0" indent="0" algn="l">
              <a:spcBef>
                <a:spcPts val="360"/>
              </a:spcBef>
              <a:buNone/>
            </a:pPr>
            <a:r>
              <a:rPr lang="en-US" sz="2050" b="1" dirty="0">
                <a:solidFill>
                  <a:srgbClr val="0D7377"/>
                </a:solidFill>
                <a:latin typeface="Segoe UI"/>
                <a:cs typeface="Segoe UI"/>
              </a:rPr>
              <a:t>Cam kết của chúng tôi</a:t>
            </a:r>
          </a:p>
          <a:p>
            <a:pPr marL="0" indent="0" algn="l">
              <a:lnSpc>
                <a:spcPct val="108000"/>
              </a:lnSpc>
              <a:spcBef>
                <a:spcPts val="440"/>
              </a:spcBef>
              <a:buNone/>
            </a:pPr>
            <a:r>
              <a:rPr lang="en-US" sz="1800" dirty="0">
                <a:solidFill>
                  <a:srgbClr val="000000"/>
                </a:solidFill>
                <a:latin typeface="Segoe UI"/>
                <a:cs typeface="Segoe UI"/>
              </a:rPr>
              <a:t>Bắt đầu từ số không - không đòi hỏi nền tảng lập trình.</a:t>
            </a:r>
          </a:p>
          <a:p>
            <a:pPr marL="0" indent="0" algn="l">
              <a:lnSpc>
                <a:spcPct val="108000"/>
              </a:lnSpc>
              <a:spcBef>
                <a:spcPts val="440"/>
              </a:spcBef>
              <a:buNone/>
            </a:pPr>
            <a:r>
              <a:rPr lang="en-US" sz="1800" dirty="0">
                <a:solidFill>
                  <a:srgbClr val="000000"/>
                </a:solidFill>
                <a:latin typeface="Segoe UI"/>
                <a:cs typeface="Segoe UI"/>
              </a:rPr>
              <a:t>Học qua thực hành, sử dụng MỘT bộ dữ liệu lâm sàng thực tế suốt cả tuần.</a:t>
            </a:r>
          </a:p>
          <a:p>
            <a:pPr marL="0" indent="0" algn="l">
              <a:lnSpc>
                <a:spcPct val="108000"/>
              </a:lnSpc>
              <a:spcBef>
                <a:spcPts val="440"/>
              </a:spcBef>
              <a:buNone/>
            </a:pPr>
            <a:r>
              <a:rPr lang="en-US" sz="1800" dirty="0">
                <a:solidFill>
                  <a:srgbClr val="000000"/>
                </a:solidFill>
                <a:latin typeface="Segoe UI"/>
                <a:cs typeface="Segoe UI"/>
              </a:rPr>
              <a:t>Kết thúc khóa, bạn có thể tạo bảng, hình và kết quả hồi quy sẵn sàng để công bố.</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Học qua phép so sánh</a:t>
            </a:r>
          </a:p>
          <a:p>
            <a:pPr marL="0" indent="0" algn="l">
              <a:spcBef>
                <a:spcPts val="100"/>
              </a:spcBef>
              <a:buNone/>
            </a:pPr>
            <a:r>
              <a:rPr lang="en-US" sz="1300" dirty="0">
                <a:solidFill>
                  <a:srgbClr val="000000"/>
                </a:solidFill>
                <a:latin typeface="Segoe UI"/>
                <a:cs typeface="Segoe UI"/>
              </a:rPr>
              <a:t>Hãy hình dung R như một trợ lý nghiên cứu rất chính xác: bạn viết hướng dẫn một lần, nó lặp lại hoàn hảo mãi mãi.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Khóa học này dành cho ai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Segoe UI"/>
                <a:cs typeface="Segoe UI"/>
              </a:rPr>
              <a:t>Thiết kế cho các chuyên gia lâm sàng bận rộn - không cần kinh nghiệm lập trình.</a:t>
            </a:r>
          </a:p>
          <a:p>
            <a:pPr>
              <a:buNone/>
            </a:pPr>
            <a:endParaRPr sz="950"/>
          </a:p>
          <a:p>
            <a:pPr marL="274320" indent="-274320" algn="l">
              <a:lnSpc>
                <a:spcPct val="106000"/>
              </a:lnSpc>
              <a:spcBef>
                <a:spcPts val="560"/>
              </a:spcBef>
              <a:buFont typeface="Arial"/>
              <a:buChar char="•"/>
            </a:pPr>
            <a:r>
              <a:rPr lang="en-US" sz="1950" dirty="0">
                <a:solidFill>
                  <a:srgbClr val="000000"/>
                </a:solidFill>
                <a:latin typeface="Segoe UI"/>
                <a:cs typeface="Segoe UI"/>
              </a:rPr>
              <a:t>Bác sĩ và bác sĩ nội trú</a:t>
            </a:r>
          </a:p>
          <a:p>
            <a:pPr marL="274320" indent="-274320" algn="l">
              <a:lnSpc>
                <a:spcPct val="106000"/>
              </a:lnSpc>
              <a:spcBef>
                <a:spcPts val="560"/>
              </a:spcBef>
              <a:buFont typeface="Arial"/>
              <a:buChar char="•"/>
            </a:pPr>
            <a:r>
              <a:rPr lang="en-US" sz="1950" dirty="0">
                <a:solidFill>
                  <a:srgbClr val="000000"/>
                </a:solidFill>
                <a:latin typeface="Segoe UI"/>
                <a:cs typeface="Segoe UI"/>
              </a:rPr>
              <a:t>Điều dưỡng và nhân viên nghiên cứu tại bệnh viện</a:t>
            </a:r>
          </a:p>
          <a:p>
            <a:pPr marL="274320" indent="-274320" algn="l">
              <a:lnSpc>
                <a:spcPct val="106000"/>
              </a:lnSpc>
              <a:spcBef>
                <a:spcPts val="560"/>
              </a:spcBef>
              <a:buFont typeface="Arial"/>
              <a:buChar char="•"/>
            </a:pPr>
            <a:r>
              <a:rPr lang="en-US" sz="1950" dirty="0">
                <a:solidFill>
                  <a:srgbClr val="000000"/>
                </a:solidFill>
                <a:latin typeface="Segoe UI"/>
                <a:cs typeface="Segoe UI"/>
              </a:rPr>
              <a:t>Dược sĩ lâm sàng và dược sĩ bệnh viện</a:t>
            </a:r>
          </a:p>
          <a:p>
            <a:pPr marL="274320" indent="-274320" algn="l">
              <a:lnSpc>
                <a:spcPct val="106000"/>
              </a:lnSpc>
              <a:spcBef>
                <a:spcPts val="560"/>
              </a:spcBef>
              <a:buFont typeface="Arial"/>
              <a:buChar char="•"/>
            </a:pPr>
            <a:r>
              <a:rPr lang="en-US" sz="1950" dirty="0">
                <a:solidFill>
                  <a:srgbClr val="000000"/>
                </a:solidFill>
                <a:latin typeface="Segoe UI"/>
                <a:cs typeface="Segoe UI"/>
              </a:rPr>
              <a:t>Nhà nghiên cứu lâm sàng và điều phối viên thử nghiệm</a:t>
            </a:r>
          </a:p>
          <a:p>
            <a:pPr marL="274320" indent="-274320" algn="l">
              <a:lnSpc>
                <a:spcPct val="106000"/>
              </a:lnSpc>
              <a:spcBef>
                <a:spcPts val="560"/>
              </a:spcBef>
              <a:buFont typeface="Arial"/>
              <a:buChar char="•"/>
            </a:pPr>
            <a:r>
              <a:rPr lang="en-US" sz="1950" dirty="0">
                <a:solidFill>
                  <a:srgbClr val="000000"/>
                </a:solidFill>
                <a:latin typeface="Segoe UI"/>
                <a:cs typeface="Segoe UI"/>
              </a:rPr>
              <a:t>Chuyên gia y tế công cộng</a:t>
            </a:r>
          </a:p>
          <a:p>
            <a:pPr marL="274320" indent="-274320" algn="l">
              <a:lnSpc>
                <a:spcPct val="106000"/>
              </a:lnSpc>
              <a:spcBef>
                <a:spcPts val="560"/>
              </a:spcBef>
              <a:buFont typeface="Arial"/>
              <a:buChar char="•"/>
            </a:pPr>
            <a:r>
              <a:rPr lang="en-US" sz="1950" dirty="0">
                <a:solidFill>
                  <a:srgbClr val="000000"/>
                </a:solidFill>
                <a:latin typeface="Segoe UI"/>
                <a:cs typeface="Segoe UI"/>
              </a:rPr>
              <a:t>Học viên cao học và nghiên cứu sinh tiến sĩ</a:t>
            </a:r>
          </a:p>
          <a:p>
            <a:pPr marL="274320" indent="-274320" algn="l">
              <a:lnSpc>
                <a:spcPct val="106000"/>
              </a:lnSpc>
              <a:spcBef>
                <a:spcPts val="560"/>
              </a:spcBef>
              <a:buFont typeface="Arial"/>
              <a:buChar char="•"/>
            </a:pPr>
            <a:r>
              <a:rPr lang="en-US" sz="1950" dirty="0">
                <a:solidFill>
                  <a:srgbClr val="000000"/>
                </a:solidFill>
                <a:latin typeface="Segoe UI"/>
                <a:cs typeface="Segoe UI"/>
              </a:rPr>
              <a:t>Bất kỳ ai thu thập hoặc diễn giải dữ liệu lâm sàng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Mục tiêu Học tập (1 trên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Segoe UI"/>
                <a:cs typeface="Segoe UI"/>
              </a:rPr>
              <a:t>Đến cuối tuần bạn sẽ có thể</a:t>
            </a:r>
          </a:p>
          <a:p>
            <a:pPr marL="274320" indent="-274320" algn="l">
              <a:lnSpc>
                <a:spcPct val="108000"/>
              </a:lnSpc>
              <a:spcBef>
                <a:spcPts val="440"/>
              </a:spcBef>
              <a:buFont typeface="Arial"/>
              <a:buChar char="•"/>
            </a:pPr>
            <a:r>
              <a:rPr lang="en-US" sz="1800" dirty="0">
                <a:solidFill>
                  <a:srgbClr val="000000"/>
                </a:solidFill>
                <a:latin typeface="Segoe UI"/>
                <a:cs typeface="Segoe UI"/>
              </a:rPr>
              <a:t>Sử dụng R và RStudio một cách tự tin.</a:t>
            </a:r>
          </a:p>
          <a:p>
            <a:pPr marL="274320" indent="-274320" algn="l">
              <a:lnSpc>
                <a:spcPct val="108000"/>
              </a:lnSpc>
              <a:spcBef>
                <a:spcPts val="440"/>
              </a:spcBef>
              <a:buFont typeface="Arial"/>
              <a:buChar char="•"/>
            </a:pPr>
            <a:r>
              <a:rPr lang="en-US" sz="1800" dirty="0">
                <a:solidFill>
                  <a:srgbClr val="000000"/>
                </a:solidFill>
                <a:latin typeface="Segoe UI"/>
                <a:cs typeface="Segoe UI"/>
              </a:rPr>
              <a:t>Hiểu cấu trúc của các bộ dữ liệu lâm sàng.</a:t>
            </a:r>
          </a:p>
          <a:p>
            <a:pPr marL="274320" indent="-274320" algn="l">
              <a:lnSpc>
                <a:spcPct val="108000"/>
              </a:lnSpc>
              <a:spcBef>
                <a:spcPts val="440"/>
              </a:spcBef>
              <a:buFont typeface="Arial"/>
              <a:buChar char="•"/>
            </a:pPr>
            <a:r>
              <a:rPr lang="en-US" sz="1800" dirty="0">
                <a:solidFill>
                  <a:srgbClr val="000000"/>
                </a:solidFill>
                <a:latin typeface="Segoe UI"/>
                <a:cs typeface="Segoe UI"/>
              </a:rPr>
              <a:t>Nhập dữ liệu từ tệp Excel và CSV.</a:t>
            </a:r>
          </a:p>
          <a:p>
            <a:pPr marL="274320" indent="-274320" algn="l">
              <a:lnSpc>
                <a:spcPct val="108000"/>
              </a:lnSpc>
              <a:spcBef>
                <a:spcPts val="440"/>
              </a:spcBef>
              <a:buFont typeface="Arial"/>
              <a:buChar char="•"/>
            </a:pPr>
            <a:r>
              <a:rPr lang="en-US" sz="1800" dirty="0">
                <a:solidFill>
                  <a:srgbClr val="000000"/>
                </a:solidFill>
                <a:latin typeface="Segoe UI"/>
                <a:cs typeface="Segoe UI"/>
              </a:rPr>
              <a:t>Làm sạch, kiểm định và mã hóa lại dữ liệu lâm sàng.</a:t>
            </a:r>
          </a:p>
          <a:p>
            <a:pPr marL="274320" indent="-274320" algn="l">
              <a:lnSpc>
                <a:spcPct val="108000"/>
              </a:lnSpc>
              <a:spcBef>
                <a:spcPts val="440"/>
              </a:spcBef>
              <a:buFont typeface="Arial"/>
              <a:buChar char="•"/>
            </a:pPr>
            <a:r>
              <a:rPr lang="en-US" sz="1800" dirty="0">
                <a:solidFill>
                  <a:srgbClr val="000000"/>
                </a:solidFill>
                <a:latin typeface="Segoe UI"/>
                <a:cs typeface="Segoe UI"/>
              </a:rPr>
              <a:t>Thực hiện và diễn giải thống kê mô tả.</a:t>
            </a:r>
          </a:p>
          <a:p>
            <a:pPr marL="274320" indent="-274320" algn="l">
              <a:lnSpc>
                <a:spcPct val="108000"/>
              </a:lnSpc>
              <a:spcBef>
                <a:spcPts val="440"/>
              </a:spcBef>
              <a:buFont typeface="Arial"/>
              <a:buChar char="•"/>
            </a:pPr>
            <a:r>
              <a:rPr lang="en-US" sz="1800" dirty="0">
                <a:solidFill>
                  <a:srgbClr val="000000"/>
                </a:solidFill>
                <a:latin typeface="Segoe UI"/>
                <a:cs typeface="Segoe UI"/>
              </a:rPr>
              <a:t>Tạo bảng chất lượng công bố (một Bảng 1 cho bản thảo).</a:t>
            </a:r>
          </a:p>
          <a:p>
            <a:pPr marL="274320" indent="-274320" algn="l">
              <a:lnSpc>
                <a:spcPct val="108000"/>
              </a:lnSpc>
              <a:spcBef>
                <a:spcPts val="440"/>
              </a:spcBef>
              <a:buFont typeface="Arial"/>
              <a:buChar char="•"/>
            </a:pPr>
            <a:r>
              <a:rPr lang="en-US" sz="1800" dirty="0">
                <a:solidFill>
                  <a:srgbClr val="000000"/>
                </a:solidFill>
                <a:latin typeface="Segoe UI"/>
                <a:cs typeface="Segoe UI"/>
              </a:rPr>
              <a:t>Tạo hình chất lượng công bố.</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Mục tiêu Học tập (2 trên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Segoe UI"/>
                <a:cs typeface="Segoe UI"/>
              </a:rPr>
              <a:t>Bạn cũng sẽ có thể</a:t>
            </a:r>
          </a:p>
          <a:p>
            <a:pPr marL="274320" indent="-274320" algn="l">
              <a:lnSpc>
                <a:spcPct val="108000"/>
              </a:lnSpc>
              <a:spcBef>
                <a:spcPts val="440"/>
              </a:spcBef>
              <a:buFont typeface="Arial"/>
              <a:buChar char="•"/>
            </a:pPr>
            <a:r>
              <a:rPr lang="en-US" sz="1800" dirty="0">
                <a:solidFill>
                  <a:srgbClr val="000000"/>
                </a:solidFill>
                <a:latin typeface="Segoe UI"/>
                <a:cs typeface="Segoe UI"/>
              </a:rPr>
              <a:t>Lựa chọn và thực hiện các kiểm định thống kê thông dụng.</a:t>
            </a:r>
          </a:p>
          <a:p>
            <a:pPr marL="274320" indent="-274320" algn="l">
              <a:lnSpc>
                <a:spcPct val="108000"/>
              </a:lnSpc>
              <a:spcBef>
                <a:spcPts val="440"/>
              </a:spcBef>
              <a:buFont typeface="Arial"/>
              <a:buChar char="•"/>
            </a:pPr>
            <a:r>
              <a:rPr lang="en-US" sz="1800" dirty="0">
                <a:solidFill>
                  <a:srgbClr val="000000"/>
                </a:solidFill>
                <a:latin typeface="Segoe UI"/>
                <a:cs typeface="Segoe UI"/>
              </a:rPr>
              <a:t>Diễn giải kết quả thống kê một cách chính xác.</a:t>
            </a:r>
          </a:p>
          <a:p>
            <a:pPr marL="274320" indent="-274320" algn="l">
              <a:lnSpc>
                <a:spcPct val="108000"/>
              </a:lnSpc>
              <a:spcBef>
                <a:spcPts val="440"/>
              </a:spcBef>
              <a:buFont typeface="Arial"/>
              <a:buChar char="•"/>
            </a:pPr>
            <a:r>
              <a:rPr lang="en-US" sz="1800" dirty="0">
                <a:solidFill>
                  <a:srgbClr val="000000"/>
                </a:solidFill>
                <a:latin typeface="Segoe UI"/>
                <a:cs typeface="Segoe UI"/>
              </a:rPr>
              <a:t>Thực hiện hồi quy logistic đơn biến và đa biến.</a:t>
            </a:r>
          </a:p>
          <a:p>
            <a:pPr marL="274320" indent="-274320" algn="l">
              <a:lnSpc>
                <a:spcPct val="108000"/>
              </a:lnSpc>
              <a:spcBef>
                <a:spcPts val="440"/>
              </a:spcBef>
              <a:buFont typeface="Arial"/>
              <a:buChar char="•"/>
            </a:pPr>
            <a:r>
              <a:rPr lang="en-US" sz="1800" dirty="0">
                <a:solidFill>
                  <a:srgbClr val="000000"/>
                </a:solidFill>
                <a:latin typeface="Segoe UI"/>
                <a:cs typeface="Segoe UI"/>
              </a:rPr>
              <a:t>Báo cáo tỷ số chênh (OR) kèm khoảng tin cậy.</a:t>
            </a:r>
          </a:p>
          <a:p>
            <a:pPr marL="274320" indent="-274320" algn="l">
              <a:lnSpc>
                <a:spcPct val="108000"/>
              </a:lnSpc>
              <a:spcBef>
                <a:spcPts val="440"/>
              </a:spcBef>
              <a:buFont typeface="Arial"/>
              <a:buChar char="•"/>
            </a:pPr>
            <a:r>
              <a:rPr lang="en-US" sz="1800" dirty="0">
                <a:solidFill>
                  <a:srgbClr val="000000"/>
                </a:solidFill>
                <a:latin typeface="Segoe UI"/>
                <a:cs typeface="Segoe UI"/>
              </a:rPr>
              <a:t>Viết các script phân tích có khả năng tái lập.</a:t>
            </a:r>
          </a:p>
          <a:p>
            <a:pPr marL="274320" indent="-274320" algn="l">
              <a:lnSpc>
                <a:spcPct val="108000"/>
              </a:lnSpc>
              <a:spcBef>
                <a:spcPts val="440"/>
              </a:spcBef>
              <a:buFont typeface="Arial"/>
              <a:buChar char="•"/>
            </a:pPr>
            <a:r>
              <a:rPr lang="en-US" sz="1800" dirty="0">
                <a:solidFill>
                  <a:srgbClr val="000000"/>
                </a:solidFill>
                <a:latin typeface="Segoe UI"/>
                <a:cs typeface="Segoe UI"/>
              </a:rPr>
              <a:t>Xuất các kết quả sẵn sàng để công bố.</a:t>
            </a:r>
          </a:p>
          <a:p>
            <a:pPr marL="274320" indent="-274320" algn="l">
              <a:lnSpc>
                <a:spcPct val="108000"/>
              </a:lnSpc>
              <a:spcBef>
                <a:spcPts val="440"/>
              </a:spcBef>
              <a:buFont typeface="Arial"/>
              <a:buChar char="•"/>
            </a:pPr>
            <a:r>
              <a:rPr lang="en-US" sz="1800" dirty="0">
                <a:solidFill>
                  <a:srgbClr val="000000"/>
                </a:solidFill>
                <a:latin typeface="Segoe UI"/>
                <a:cs typeface="Segoe UI"/>
              </a:rPr>
              <a:t>Diễn giải phát hiện cho các ấn phẩm y khoa.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Cấu trúc Khóa học - Năm Buổi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2458784"/>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gridCol w="2819400">
                  <a:extLst>
                    <a:ext uri="{9D8B030D-6E8A-4147-A177-3AD203B41FA5}">
                      <a16:colId xmlns:a16="http://schemas.microsoft.com/office/drawing/2014/main" val="20003"/>
                    </a:ext>
                  </a:extLst>
                </a:gridCol>
              </a:tblGrid>
              <a:tr h="380000">
                <a:tc>
                  <a:txBody>
                    <a:bodyPr/>
                    <a:lstStyle/>
                    <a:p>
                      <a:pPr algn="l"/>
                      <a:r>
                        <a:rPr lang="en-US" sz="1300" b="1" dirty="0">
                          <a:solidFill>
                            <a:srgbClr val="FFFFFF"/>
                          </a:solidFill>
                          <a:latin typeface="Segoe UI"/>
                        </a:rPr>
                        <a:t>Buổi</a:t>
                      </a:r>
                    </a:p>
                  </a:txBody>
                  <a:tcPr marL="73152" marR="73152" marT="36576" marB="36576" anchor="ctr">
                    <a:solidFill>
                      <a:srgbClr val="0D7377"/>
                    </a:solidFill>
                  </a:tcPr>
                </a:tc>
                <a:tc>
                  <a:txBody>
                    <a:bodyPr/>
                    <a:lstStyle/>
                    <a:p>
                      <a:pPr algn="l"/>
                      <a:r>
                        <a:rPr lang="en-US" sz="1300" b="1" dirty="0">
                          <a:solidFill>
                            <a:srgbClr val="FFFFFF"/>
                          </a:solidFill>
                          <a:latin typeface="Segoe UI"/>
                        </a:rPr>
                        <a:t>Chủ đề</a:t>
                      </a:r>
                    </a:p>
                  </a:txBody>
                  <a:tcPr marL="73152" marR="73152" marT="36576" marB="36576" anchor="ctr">
                    <a:solidFill>
                      <a:srgbClr val="0D7377"/>
                    </a:solidFill>
                  </a:tcPr>
                </a:tc>
                <a:tc>
                  <a:txBody>
                    <a:bodyPr/>
                    <a:lstStyle/>
                    <a:p>
                      <a:pPr algn="l"/>
                      <a:r>
                        <a:rPr lang="en-US" sz="1300" b="1" dirty="0">
                          <a:solidFill>
                            <a:srgbClr val="FFFFFF"/>
                          </a:solidFill>
                          <a:latin typeface="Segoe UI"/>
                        </a:rPr>
                        <a:t>Kỹ năng cốt lõi</a:t>
                      </a:r>
                    </a:p>
                  </a:txBody>
                  <a:tcPr marL="73152" marR="73152" marT="36576" marB="36576" anchor="ctr">
                    <a:solidFill>
                      <a:srgbClr val="0D7377"/>
                    </a:solidFill>
                  </a:tcPr>
                </a:tc>
                <a:tc>
                  <a:txBody>
                    <a:bodyPr/>
                    <a:lstStyle/>
                    <a:p>
                      <a:pPr algn="l"/>
                      <a:r>
                        <a:rPr lang="en-US" sz="1300" b="1" dirty="0">
                          <a:solidFill>
                            <a:srgbClr val="FFFFFF"/>
                          </a:solidFill>
                          <a:latin typeface="Segoe UI"/>
                        </a:rPr>
                        <a:t>Sản phẩm bài tập</a:t>
                      </a:r>
                    </a:p>
                  </a:txBody>
                  <a:tcPr marL="73152" marR="73152" marT="36576" marB="36576" anchor="ctr">
                    <a:solidFill>
                      <a:srgbClr val="0D7377"/>
                    </a:solidFill>
                  </a:tcPr>
                </a:tc>
                <a:extLst>
                  <a:ext uri="{0D108BD9-81ED-4DB2-BD59-A6C34878D82A}">
                    <a16:rowId xmlns:a16="http://schemas.microsoft.com/office/drawing/2014/main" val="10000"/>
                  </a:ext>
                </a:extLst>
              </a:tr>
              <a:tr h="380000">
                <a:tc>
                  <a:txBody>
                    <a:bodyPr/>
                    <a:lstStyle/>
                    <a:p>
                      <a:pPr algn="l"/>
                      <a:r>
                        <a:rPr lang="en-US" sz="1300" b="0" dirty="0">
                          <a:solidFill>
                            <a:srgbClr val="000000"/>
                          </a:solidFill>
                          <a:latin typeface="Segoe UI"/>
                        </a:rPr>
                        <a:t>1</a:t>
                      </a:r>
                    </a:p>
                  </a:txBody>
                  <a:tcPr marL="73152" marR="73152" marT="36576" marB="36576" anchor="ctr">
                    <a:solidFill>
                      <a:srgbClr val="FFFFFF"/>
                    </a:solidFill>
                  </a:tcPr>
                </a:tc>
                <a:tc>
                  <a:txBody>
                    <a:bodyPr/>
                    <a:lstStyle/>
                    <a:p>
                      <a:pPr algn="l"/>
                      <a:r>
                        <a:rPr lang="en-US" sz="1300" b="0" dirty="0">
                          <a:solidFill>
                            <a:srgbClr val="000000"/>
                          </a:solidFill>
                          <a:latin typeface="Segoe UI"/>
                        </a:rPr>
                        <a:t>Nhập môn R &amp; RStudio</a:t>
                      </a:r>
                    </a:p>
                  </a:txBody>
                  <a:tcPr marL="73152" marR="73152" marT="36576" marB="36576" anchor="ctr">
                    <a:solidFill>
                      <a:srgbClr val="FFFFFF"/>
                    </a:solidFill>
                  </a:tcPr>
                </a:tc>
                <a:tc>
                  <a:txBody>
                    <a:bodyPr/>
                    <a:lstStyle/>
                    <a:p>
                      <a:pPr algn="l"/>
                      <a:r>
                        <a:rPr lang="en-US" sz="1300" b="0" dirty="0">
                          <a:solidFill>
                            <a:srgbClr val="000000"/>
                          </a:solidFill>
                          <a:latin typeface="Segoe UI"/>
                        </a:rPr>
                        <a:t>Nhập dữ liệu</a:t>
                      </a:r>
                    </a:p>
                  </a:txBody>
                  <a:tcPr marL="73152" marR="73152" marT="36576" marB="36576" anchor="ctr">
                    <a:solidFill>
                      <a:srgbClr val="FFFFFF"/>
                    </a:solidFill>
                  </a:tcPr>
                </a:tc>
                <a:tc>
                  <a:txBody>
                    <a:bodyPr/>
                    <a:lstStyle/>
                    <a:p>
                      <a:pPr algn="l"/>
                      <a:r>
                        <a:rPr lang="en-US" sz="1300" b="0" dirty="0">
                          <a:solidFill>
                            <a:srgbClr val="000000"/>
                          </a:solidFill>
                          <a:latin typeface="Segoe UI"/>
                        </a:rPr>
                        <a:t>Đã nhập bộ dữ liệu</a:t>
                      </a:r>
                    </a:p>
                  </a:txBody>
                  <a:tcPr marL="73152" marR="73152" marT="36576" marB="36576" anchor="ctr">
                    <a:solidFill>
                      <a:srgbClr val="FFFFFF"/>
                    </a:solidFill>
                  </a:tcPr>
                </a:tc>
                <a:extLst>
                  <a:ext uri="{0D108BD9-81ED-4DB2-BD59-A6C34878D82A}">
                    <a16:rowId xmlns:a16="http://schemas.microsoft.com/office/drawing/2014/main" val="10001"/>
                  </a:ext>
                </a:extLst>
              </a:tr>
              <a:tr h="380000">
                <a:tc>
                  <a:txBody>
                    <a:bodyPr/>
                    <a:lstStyle/>
                    <a:p>
                      <a:pPr algn="l"/>
                      <a:r>
                        <a:rPr lang="en-US" sz="1300" b="0" dirty="0">
                          <a:solidFill>
                            <a:srgbClr val="000000"/>
                          </a:solidFill>
                          <a:latin typeface="Segoe UI"/>
                        </a:rPr>
                        <a:t>2</a:t>
                      </a:r>
                    </a:p>
                  </a:txBody>
                  <a:tcPr marL="73152" marR="73152" marT="36576" marB="36576" anchor="ctr">
                    <a:solidFill>
                      <a:srgbClr val="FFFFFF"/>
                    </a:solidFill>
                  </a:tcPr>
                </a:tc>
                <a:tc>
                  <a:txBody>
                    <a:bodyPr/>
                    <a:lstStyle/>
                    <a:p>
                      <a:pPr algn="l"/>
                      <a:r>
                        <a:rPr lang="en-US" sz="1300" b="0" dirty="0">
                          <a:solidFill>
                            <a:srgbClr val="000000"/>
                          </a:solidFill>
                          <a:latin typeface="Segoe UI"/>
                        </a:rPr>
                        <a:t>Hiểu &amp; Làm sạch Dữ liệu Lâm sàng</a:t>
                      </a:r>
                    </a:p>
                  </a:txBody>
                  <a:tcPr marL="73152" marR="73152" marT="36576" marB="36576" anchor="ctr">
                    <a:solidFill>
                      <a:srgbClr val="FFFFFF"/>
                    </a:solidFill>
                  </a:tcPr>
                </a:tc>
                <a:tc>
                  <a:txBody>
                    <a:bodyPr/>
                    <a:lstStyle/>
                    <a:p>
                      <a:pPr algn="l"/>
                      <a:r>
                        <a:rPr lang="en-US" sz="1300" b="0" dirty="0">
                          <a:solidFill>
                            <a:srgbClr val="000000"/>
                          </a:solidFill>
                          <a:latin typeface="Segoe UI"/>
                        </a:rPr>
                        <a:t>Làm sạch &amp; mã hóa lại</a:t>
                      </a:r>
                    </a:p>
                  </a:txBody>
                  <a:tcPr marL="73152" marR="73152" marT="36576" marB="36576" anchor="ctr">
                    <a:solidFill>
                      <a:srgbClr val="FFFFFF"/>
                    </a:solidFill>
                  </a:tcPr>
                </a:tc>
                <a:tc>
                  <a:txBody>
                    <a:bodyPr/>
                    <a:lstStyle/>
                    <a:p>
                      <a:pPr algn="l"/>
                      <a:r>
                        <a:rPr lang="en-US" sz="1300" b="0" dirty="0">
                          <a:solidFill>
                            <a:srgbClr val="000000"/>
                          </a:solidFill>
                          <a:latin typeface="Segoe UI"/>
                        </a:rPr>
                        <a:t>Dữ liệu sẵn sàng phân tích</a:t>
                      </a:r>
                    </a:p>
                  </a:txBody>
                  <a:tcPr marL="73152" marR="73152" marT="36576" marB="36576" anchor="ctr">
                    <a:solidFill>
                      <a:srgbClr val="FFFFFF"/>
                    </a:solidFill>
                  </a:tcPr>
                </a:tc>
                <a:extLst>
                  <a:ext uri="{0D108BD9-81ED-4DB2-BD59-A6C34878D82A}">
                    <a16:rowId xmlns:a16="http://schemas.microsoft.com/office/drawing/2014/main" val="10002"/>
                  </a:ext>
                </a:extLst>
              </a:tr>
              <a:tr h="380000">
                <a:tc>
                  <a:txBody>
                    <a:bodyPr/>
                    <a:lstStyle/>
                    <a:p>
                      <a:pPr algn="l"/>
                      <a:r>
                        <a:rPr lang="en-US" sz="1300" b="0" dirty="0">
                          <a:solidFill>
                            <a:srgbClr val="000000"/>
                          </a:solidFill>
                          <a:latin typeface="Segoe UI"/>
                        </a:rPr>
                        <a:t>3</a:t>
                      </a:r>
                    </a:p>
                  </a:txBody>
                  <a:tcPr marL="73152" marR="73152" marT="36576" marB="36576" anchor="ctr">
                    <a:solidFill>
                      <a:srgbClr val="FFFFFF"/>
                    </a:solidFill>
                  </a:tcPr>
                </a:tc>
                <a:tc>
                  <a:txBody>
                    <a:bodyPr/>
                    <a:lstStyle/>
                    <a:p>
                      <a:pPr algn="l"/>
                      <a:r>
                        <a:rPr lang="en-US" sz="1300" b="0" dirty="0">
                          <a:solidFill>
                            <a:srgbClr val="000000"/>
                          </a:solidFill>
                          <a:latin typeface="Segoe UI"/>
                        </a:rPr>
                        <a:t>Thống kê Mô tả, Bảng &amp; Hình</a:t>
                      </a:r>
                    </a:p>
                  </a:txBody>
                  <a:tcPr marL="73152" marR="73152" marT="36576" marB="36576" anchor="ctr">
                    <a:solidFill>
                      <a:srgbClr val="FFFFFF"/>
                    </a:solidFill>
                  </a:tcPr>
                </a:tc>
                <a:tc>
                  <a:txBody>
                    <a:bodyPr/>
                    <a:lstStyle/>
                    <a:p>
                      <a:pPr algn="l"/>
                      <a:r>
                        <a:rPr lang="en-US" sz="1300" b="0" dirty="0">
                          <a:solidFill>
                            <a:srgbClr val="000000"/>
                          </a:solidFill>
                          <a:latin typeface="Segoe UI"/>
                        </a:rPr>
                        <a:t>Bảng &amp; hình</a:t>
                      </a:r>
                    </a:p>
                  </a:txBody>
                  <a:tcPr marL="73152" marR="73152" marT="36576" marB="36576" anchor="ctr">
                    <a:solidFill>
                      <a:srgbClr val="FFFFFF"/>
                    </a:solidFill>
                  </a:tcPr>
                </a:tc>
                <a:tc>
                  <a:txBody>
                    <a:bodyPr/>
                    <a:lstStyle/>
                    <a:p>
                      <a:pPr algn="l"/>
                      <a:r>
                        <a:rPr lang="en-US" sz="1300" b="0" dirty="0">
                          <a:solidFill>
                            <a:srgbClr val="000000"/>
                          </a:solidFill>
                          <a:latin typeface="Segoe UI"/>
                        </a:rPr>
                        <a:t>Bảng 1 cho bản thảo</a:t>
                      </a:r>
                    </a:p>
                  </a:txBody>
                  <a:tcPr marL="73152" marR="73152" marT="36576" marB="36576" anchor="ctr">
                    <a:solidFill>
                      <a:srgbClr val="FFFFFF"/>
                    </a:solidFill>
                  </a:tcPr>
                </a:tc>
                <a:extLst>
                  <a:ext uri="{0D108BD9-81ED-4DB2-BD59-A6C34878D82A}">
                    <a16:rowId xmlns:a16="http://schemas.microsoft.com/office/drawing/2014/main" val="10003"/>
                  </a:ext>
                </a:extLst>
              </a:tr>
              <a:tr h="380000">
                <a:tc>
                  <a:txBody>
                    <a:bodyPr/>
                    <a:lstStyle/>
                    <a:p>
                      <a:pPr algn="l"/>
                      <a:r>
                        <a:rPr lang="en-US" sz="1300" b="0" dirty="0">
                          <a:solidFill>
                            <a:srgbClr val="000000"/>
                          </a:solidFill>
                          <a:latin typeface="Segoe UI"/>
                        </a:rPr>
                        <a:t>4</a:t>
                      </a:r>
                    </a:p>
                  </a:txBody>
                  <a:tcPr marL="73152" marR="73152" marT="36576" marB="36576" anchor="ctr">
                    <a:solidFill>
                      <a:srgbClr val="FFFFFF"/>
                    </a:solidFill>
                  </a:tcPr>
                </a:tc>
                <a:tc>
                  <a:txBody>
                    <a:bodyPr/>
                    <a:lstStyle/>
                    <a:p>
                      <a:pPr algn="l"/>
                      <a:r>
                        <a:rPr lang="en-US" sz="1300" b="0" dirty="0">
                          <a:solidFill>
                            <a:srgbClr val="000000"/>
                          </a:solidFill>
                          <a:latin typeface="Segoe UI"/>
                        </a:rPr>
                        <a:t>Các Kiểm định Thống kê Y khoa Thông dụng</a:t>
                      </a:r>
                    </a:p>
                  </a:txBody>
                  <a:tcPr marL="73152" marR="73152" marT="36576" marB="36576" anchor="ctr">
                    <a:solidFill>
                      <a:srgbClr val="FFFFFF"/>
                    </a:solidFill>
                  </a:tcPr>
                </a:tc>
                <a:tc>
                  <a:txBody>
                    <a:bodyPr/>
                    <a:lstStyle/>
                    <a:p>
                      <a:pPr algn="l"/>
                      <a:r>
                        <a:rPr lang="en-US" sz="1300" b="0" dirty="0">
                          <a:solidFill>
                            <a:srgbClr val="000000"/>
                          </a:solidFill>
                          <a:latin typeface="Segoe UI"/>
                        </a:rPr>
                        <a:t>Kiểm định t, Chi bình phương, Phi tham số</a:t>
                      </a:r>
                    </a:p>
                  </a:txBody>
                  <a:tcPr marL="73152" marR="73152" marT="36576" marB="36576" anchor="ctr">
                    <a:solidFill>
                      <a:srgbClr val="FFFFFF"/>
                    </a:solidFill>
                  </a:tcPr>
                </a:tc>
                <a:tc>
                  <a:txBody>
                    <a:bodyPr/>
                    <a:lstStyle/>
                    <a:p>
                      <a:pPr algn="l"/>
                      <a:r>
                        <a:rPr lang="en-US" sz="1300" b="0" dirty="0">
                          <a:solidFill>
                            <a:srgbClr val="000000"/>
                          </a:solidFill>
                          <a:latin typeface="Segoe UI"/>
                        </a:rPr>
                        <a:t>Chọn đúng kiểm định</a:t>
                      </a:r>
                    </a:p>
                  </a:txBody>
                  <a:tcPr marL="73152" marR="73152" marT="36576" marB="36576" anchor="ctr">
                    <a:solidFill>
                      <a:srgbClr val="FFFFFF"/>
                    </a:solidFill>
                  </a:tcPr>
                </a:tc>
                <a:extLst>
                  <a:ext uri="{0D108BD9-81ED-4DB2-BD59-A6C34878D82A}">
                    <a16:rowId xmlns:a16="http://schemas.microsoft.com/office/drawing/2014/main" val="10004"/>
                  </a:ext>
                </a:extLst>
              </a:tr>
              <a:tr h="380000">
                <a:tc>
                  <a:txBody>
                    <a:bodyPr/>
                    <a:lstStyle/>
                    <a:p>
                      <a:pPr algn="l"/>
                      <a:r>
                        <a:rPr lang="en-US" sz="1300" b="0" dirty="0">
                          <a:solidFill>
                            <a:srgbClr val="000000"/>
                          </a:solidFill>
                          <a:latin typeface="Segoe UI"/>
                        </a:rPr>
                        <a:t>5</a:t>
                      </a:r>
                    </a:p>
                  </a:txBody>
                  <a:tcPr marL="73152" marR="73152" marT="36576" marB="36576" anchor="ctr">
                    <a:solidFill>
                      <a:srgbClr val="FFFFFF"/>
                    </a:solidFill>
                  </a:tcPr>
                </a:tc>
                <a:tc>
                  <a:txBody>
                    <a:bodyPr/>
                    <a:lstStyle/>
                    <a:p>
                      <a:pPr algn="l"/>
                      <a:r>
                        <a:rPr lang="en-US" sz="1300" b="0" dirty="0">
                          <a:solidFill>
                            <a:srgbClr val="000000"/>
                          </a:solidFill>
                          <a:latin typeface="Segoe UI"/>
                        </a:rPr>
                        <a:t>Nhập môn Hồi quy &amp; Diễn giải Kết quả</a:t>
                      </a:r>
                    </a:p>
                  </a:txBody>
                  <a:tcPr marL="73152" marR="73152" marT="36576" marB="36576" anchor="ctr">
                    <a:solidFill>
                      <a:srgbClr val="FFFFFF"/>
                    </a:solidFill>
                  </a:tcPr>
                </a:tc>
                <a:tc>
                  <a:txBody>
                    <a:bodyPr/>
                    <a:lstStyle/>
                    <a:p>
                      <a:pPr algn="l"/>
                      <a:r>
                        <a:rPr lang="en-US" sz="1300" b="0" dirty="0">
                          <a:solidFill>
                            <a:srgbClr val="000000"/>
                          </a:solidFill>
                          <a:latin typeface="Segoe UI"/>
                        </a:rPr>
                        <a:t>Mô hình hóa &amp; báo cáo</a:t>
                      </a:r>
                    </a:p>
                  </a:txBody>
                  <a:tcPr marL="73152" marR="73152" marT="36576" marB="36576" anchor="ctr">
                    <a:solidFill>
                      <a:srgbClr val="FFFFFF"/>
                    </a:solidFill>
                  </a:tcPr>
                </a:tc>
                <a:tc>
                  <a:txBody>
                    <a:bodyPr/>
                    <a:lstStyle/>
                    <a:p>
                      <a:pPr algn="l"/>
                      <a:r>
                        <a:rPr lang="en-US" sz="1300" b="0" dirty="0">
                          <a:solidFill>
                            <a:srgbClr val="000000"/>
                          </a:solidFill>
                          <a:latin typeface="Segoe UI"/>
                        </a:rPr>
                        <a:t>Mục Kết quả ngắn</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31" name="Caption"/>
          <p:cNvSpPr txBox="1"/>
          <p:nvPr/>
        </p:nvSpPr>
        <p:spPr>
          <a:xfrm>
            <a:off x="457200" y="406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Segoe UI"/>
                <a:cs typeface="Segoe UI"/>
              </a:rPr>
              <a:t>Năm buổi học buổi tối (các Thứ Ba, mỗi buổi 90 phút); mỗi buổi xây dựng trên buổi trước.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Mỗi Buổi Diễn ra Thế nào (90 Phút)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Một nhịp điệu buổi tối có thể dự đoán</a:t>
            </a:r>
          </a:p>
          <a:p>
            <a:pPr marL="0" indent="0" algn="l">
              <a:lnSpc>
                <a:spcPct val="108000"/>
              </a:lnSpc>
              <a:spcBef>
                <a:spcPts val="440"/>
              </a:spcBef>
              <a:buNone/>
            </a:pPr>
            <a:r>
              <a:rPr lang="en-US" sz="1800" dirty="0">
                <a:solidFill>
                  <a:srgbClr val="000000"/>
                </a:solidFill>
                <a:latin typeface="Segoe UI"/>
                <a:cs typeface="Segoe UI"/>
              </a:rPr>
              <a:t>Ôn tập &amp; thiết lập - khoảng 10 phút: kết nối lại với tuần trước.</a:t>
            </a:r>
          </a:p>
          <a:p>
            <a:pPr marL="0" indent="0" algn="l">
              <a:lnSpc>
                <a:spcPct val="108000"/>
              </a:lnSpc>
              <a:spcBef>
                <a:spcPts val="440"/>
              </a:spcBef>
              <a:buNone/>
            </a:pPr>
            <a:r>
              <a:rPr lang="en-US" sz="1800" dirty="0">
                <a:solidFill>
                  <a:srgbClr val="000000"/>
                </a:solidFill>
                <a:latin typeface="Segoe UI"/>
                <a:cs typeface="Segoe UI"/>
              </a:rPr>
              <a:t>Bài giảng &amp; demo trực tiếp - khoảng 55 phút: khái niệm, rồi giảng viên viết code trong lúc bạn quan sát.</a:t>
            </a:r>
          </a:p>
          <a:p>
            <a:pPr marL="0" indent="0" algn="l">
              <a:lnSpc>
                <a:spcPct val="108000"/>
              </a:lnSpc>
              <a:spcBef>
                <a:spcPts val="440"/>
              </a:spcBef>
              <a:buNone/>
            </a:pPr>
            <a:r>
              <a:rPr lang="en-US" sz="1800" dirty="0">
                <a:solidFill>
                  <a:srgbClr val="000000"/>
                </a:solidFill>
                <a:latin typeface="Segoe UI"/>
                <a:cs typeface="Segoe UI"/>
              </a:rPr>
              <a:t>Bài tập có hướng dẫn - khoảng 20 phút: bạn viết code, chúng tôi hỗ trợ.</a:t>
            </a:r>
          </a:p>
          <a:p>
            <a:pPr marL="0" indent="0" algn="l">
              <a:lnSpc>
                <a:spcPct val="108000"/>
              </a:lnSpc>
              <a:spcBef>
                <a:spcPts val="440"/>
              </a:spcBef>
              <a:buNone/>
            </a:pPr>
            <a:r>
              <a:rPr lang="en-US" sz="1800" dirty="0">
                <a:solidFill>
                  <a:srgbClr val="000000"/>
                </a:solidFill>
                <a:latin typeface="Segoe UI"/>
                <a:cs typeface="Segoe UI"/>
              </a:rPr>
              <a:t>Tổng kết &amp; hỏi đáp - xuyên suốt và trong 5 phút cuối.</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Segoe UI"/>
                <a:cs typeface="Segoe UI"/>
              </a:rPr>
              <a:t>LƯU Ý  -  Mang theo</a:t>
            </a:r>
          </a:p>
          <a:p>
            <a:pPr marL="0" indent="0" algn="l">
              <a:spcBef>
                <a:spcPts val="100"/>
              </a:spcBef>
              <a:buNone/>
            </a:pPr>
            <a:r>
              <a:rPr lang="en-US" sz="1300" dirty="0">
                <a:solidFill>
                  <a:srgbClr val="000000"/>
                </a:solidFill>
                <a:latin typeface="Segoe UI"/>
                <a:cs typeface="Segoe UI"/>
              </a:rPr>
              <a:t>Một laptop đã cài R và RStudio (xem gói tài liệu trước khóa học), và thư mục dữ liệu của khóa học.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Nghiên cứu Tình huống - Một Bộ Dữ liệu Cả Tuần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Segoe UI"/>
                <a:cs typeface="Segoe UI"/>
              </a:rPr>
              <a:t>Nghiên cứu</a:t>
            </a:r>
          </a:p>
          <a:p>
            <a:pPr marL="0" indent="0" algn="l">
              <a:lnSpc>
                <a:spcPct val="108000"/>
              </a:lnSpc>
              <a:spcBef>
                <a:spcPts val="440"/>
              </a:spcBef>
              <a:buNone/>
            </a:pPr>
            <a:r>
              <a:rPr lang="en-US" sz="1800" dirty="0">
                <a:solidFill>
                  <a:srgbClr val="000000"/>
                </a:solidFill>
                <a:latin typeface="Segoe UI"/>
                <a:cs typeface="Segoe UI"/>
              </a:rPr>
              <a:t>Các Yếu tố Quyết định việc Tiếp nhận Điều trị Tăng huyết áp ở Người trưởng thành khám tại các Cơ sở Chăm sóc Sức khỏe Ban đầu.</a:t>
            </a:r>
          </a:p>
          <a:p>
            <a:pPr>
              <a:buNone/>
            </a:pPr>
            <a:endParaRPr sz="1050"/>
          </a:p>
          <a:p>
            <a:pPr marL="0" indent="0" algn="l">
              <a:spcBef>
                <a:spcPts val="360"/>
              </a:spcBef>
              <a:buNone/>
            </a:pPr>
            <a:r>
              <a:rPr lang="en-US" sz="2050" b="1" dirty="0">
                <a:solidFill>
                  <a:srgbClr val="0D7377"/>
                </a:solidFill>
                <a:latin typeface="Segoe UI"/>
                <a:cs typeface="Segoe UI"/>
              </a:rPr>
              <a:t>Thiết kế</a:t>
            </a:r>
          </a:p>
          <a:p>
            <a:pPr marL="0" indent="0" algn="l">
              <a:lnSpc>
                <a:spcPct val="108000"/>
              </a:lnSpc>
              <a:spcBef>
                <a:spcPts val="440"/>
              </a:spcBef>
              <a:buNone/>
            </a:pPr>
            <a:r>
              <a:rPr lang="en-US" sz="1800" dirty="0">
                <a:solidFill>
                  <a:srgbClr val="000000"/>
                </a:solidFill>
                <a:latin typeface="Segoe UI"/>
                <a:cs typeface="Segoe UI"/>
              </a:rPr>
              <a:t>Nghiên cứu cắt ngang đa trung tâm - 6 cơ sở chăm sóc sức khỏe ban đầu.</a:t>
            </a:r>
          </a:p>
          <a:p>
            <a:pPr marL="0" indent="0" algn="l">
              <a:lnSpc>
                <a:spcPct val="108000"/>
              </a:lnSpc>
              <a:spcBef>
                <a:spcPts val="440"/>
              </a:spcBef>
              <a:buNone/>
            </a:pPr>
            <a:r>
              <a:rPr lang="en-US" sz="1800" dirty="0">
                <a:solidFill>
                  <a:srgbClr val="000000"/>
                </a:solidFill>
                <a:latin typeface="Segoe UI"/>
                <a:cs typeface="Segoe UI"/>
              </a:rPr>
              <a:t>1,500 người trưởng thành đến khám được sàng lọc tăng huyết áp.</a:t>
            </a:r>
          </a:p>
          <a:p>
            <a:pPr marL="0" indent="0" algn="l">
              <a:lnSpc>
                <a:spcPct val="108000"/>
              </a:lnSpc>
              <a:spcBef>
                <a:spcPts val="440"/>
              </a:spcBef>
              <a:buNone/>
            </a:pPr>
            <a:r>
              <a:rPr lang="en-US" sz="1800" dirty="0">
                <a:solidFill>
                  <a:srgbClr val="000000"/>
                </a:solidFill>
                <a:latin typeface="Segoe UI"/>
                <a:cs typeface="Segoe UI"/>
              </a:rPr>
              <a:t>Cơ sở: Bugando PHC, Kisesa HC, Nyamagana PHC, Ilemela HC, Buzuruga PHC, Igoma HC.</a:t>
            </a:r>
          </a:p>
          <a:p>
            <a:pPr>
              <a:buNone/>
            </a:pPr>
            <a:endParaRPr sz="1050"/>
          </a:p>
          <a:p>
            <a:pPr marL="0" indent="0" algn="l">
              <a:spcBef>
                <a:spcPts val="360"/>
              </a:spcBef>
              <a:buNone/>
            </a:pPr>
            <a:r>
              <a:rPr lang="en-US" sz="2050" b="1" dirty="0">
                <a:solidFill>
                  <a:srgbClr val="0D7377"/>
                </a:solidFill>
                <a:latin typeface="Segoe UI"/>
                <a:cs typeface="Segoe UI"/>
              </a:rPr>
              <a:t>Biến kết cục chính</a:t>
            </a:r>
          </a:p>
          <a:p>
            <a:pPr marL="0" indent="0" algn="l">
              <a:lnSpc>
                <a:spcPct val="108000"/>
              </a:lnSpc>
              <a:spcBef>
                <a:spcPts val="440"/>
              </a:spcBef>
              <a:buNone/>
            </a:pPr>
            <a:r>
              <a:rPr lang="en-US" sz="1800" dirty="0">
                <a:solidFill>
                  <a:srgbClr val="000000"/>
                </a:solidFill>
                <a:latin typeface="Segoe UI"/>
                <a:cs typeface="Segoe UI"/>
              </a:rPr>
              <a:t>Tiếp nhận điều trị - liệu một bệnh nhân đã được chẩn đoán có đang dùng liệu pháp hạ huyết áp hay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Các Biến Chúng ta Sẽ Sử dụng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Nhân khẩu học &amp; xã hội</a:t>
            </a:r>
          </a:p>
          <a:p>
            <a:pPr marL="0" indent="0" algn="l">
              <a:lnSpc>
                <a:spcPct val="108000"/>
              </a:lnSpc>
              <a:spcBef>
                <a:spcPts val="440"/>
              </a:spcBef>
              <a:buNone/>
            </a:pPr>
            <a:r>
              <a:rPr lang="en-US" sz="1800" dirty="0">
                <a:solidFill>
                  <a:srgbClr val="000000"/>
                </a:solidFill>
                <a:latin typeface="Segoe UI"/>
                <a:cs typeface="Segoe UI"/>
              </a:rPr>
              <a:t>Tuổi, giới, nơi cư trú, học vấn, nghề nghiệp, tình trạng hôn nhân, bảo hiểm y tế.</a:t>
            </a:r>
          </a:p>
          <a:p>
            <a:pPr>
              <a:buNone/>
            </a:pPr>
            <a:endParaRPr sz="1050"/>
          </a:p>
          <a:p>
            <a:pPr marL="0" indent="0" algn="l">
              <a:spcBef>
                <a:spcPts val="360"/>
              </a:spcBef>
              <a:buNone/>
            </a:pPr>
            <a:r>
              <a:rPr lang="en-US" sz="2050" b="1" dirty="0">
                <a:solidFill>
                  <a:srgbClr val="0D7377"/>
                </a:solidFill>
                <a:latin typeface="Segoe UI"/>
                <a:cs typeface="Segoe UI"/>
              </a:rPr>
              <a:t>Hành vi &amp; lâm sàng</a:t>
            </a:r>
          </a:p>
          <a:p>
            <a:pPr marL="0" indent="0" algn="l">
              <a:lnSpc>
                <a:spcPct val="108000"/>
              </a:lnSpc>
              <a:spcBef>
                <a:spcPts val="440"/>
              </a:spcBef>
              <a:buNone/>
            </a:pPr>
            <a:r>
              <a:rPr lang="en-US" sz="1800" dirty="0">
                <a:solidFill>
                  <a:srgbClr val="000000"/>
                </a:solidFill>
                <a:latin typeface="Segoe UI"/>
                <a:cs typeface="Segoe UI"/>
              </a:rPr>
              <a:t>Hút thuốc, rượu bia, hoạt động thể chất, BMI, đái tháo đường, tiền sử gia đình, huyết áp.</a:t>
            </a:r>
          </a:p>
          <a:p>
            <a:pPr>
              <a:buNone/>
            </a:pPr>
            <a:endParaRPr sz="1050"/>
          </a:p>
          <a:p>
            <a:pPr marL="0" indent="0" algn="l">
              <a:spcBef>
                <a:spcPts val="360"/>
              </a:spcBef>
              <a:buNone/>
            </a:pPr>
            <a:r>
              <a:rPr lang="en-US" sz="2050" b="1" dirty="0">
                <a:solidFill>
                  <a:srgbClr val="0D7377"/>
                </a:solidFill>
                <a:latin typeface="Segoe UI"/>
                <a:cs typeface="Segoe UI"/>
              </a:rPr>
              <a:t>Xét nghiệm &amp; kết cục</a:t>
            </a:r>
          </a:p>
          <a:p>
            <a:pPr marL="0" indent="0" algn="l">
              <a:lnSpc>
                <a:spcPct val="108000"/>
              </a:lnSpc>
              <a:spcBef>
                <a:spcPts val="440"/>
              </a:spcBef>
              <a:buNone/>
            </a:pPr>
            <a:r>
              <a:rPr lang="en-US" sz="1800" dirty="0">
                <a:solidFill>
                  <a:srgbClr val="000000"/>
                </a:solidFill>
                <a:latin typeface="Segoe UI"/>
                <a:cs typeface="Segoe UI"/>
              </a:rPr>
              <a:t>Bảng lipid máu, đường huyết, creatinine, điện giải; tiếp nhận điều trị, tuân thủ, kiểm soát huyết áp.</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Từ điển dữ liệu</a:t>
            </a:r>
          </a:p>
          <a:p>
            <a:pPr marL="0" indent="0" algn="l">
              <a:spcBef>
                <a:spcPts val="100"/>
              </a:spcBef>
              <a:buNone/>
            </a:pPr>
            <a:r>
              <a:rPr lang="en-US" sz="1300" dirty="0">
                <a:solidFill>
                  <a:srgbClr val="000000"/>
                </a:solidFill>
                <a:latin typeface="Segoe UI"/>
                <a:cs typeface="Segoe UI"/>
              </a:rPr>
              <a:t>Một từ điển dữ liệu đầy đủ (36 biến) được cung cấp - hãy mở nó trong mọi bài tập.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Cả Tuần Dẫn tới một Kết quả Công bố Thế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Quy trình phân tích</a:t>
            </a:r>
          </a:p>
          <a:p>
            <a:pPr marL="0" indent="0" algn="l">
              <a:lnSpc>
                <a:spcPct val="108000"/>
              </a:lnSpc>
              <a:spcBef>
                <a:spcPts val="440"/>
              </a:spcBef>
              <a:buNone/>
            </a:pPr>
            <a:r>
              <a:rPr lang="en-US" sz="1800" dirty="0">
                <a:solidFill>
                  <a:srgbClr val="000000"/>
                </a:solidFill>
                <a:latin typeface="Segoe UI"/>
                <a:cs typeface="Segoe UI"/>
              </a:rPr>
              <a:t>Nhập (Buổi 1)  -&gt;  Làm sạch &amp; kiểm định (Buổi 2)  -&gt;  Mô tả (Buổi 3)</a:t>
            </a:r>
          </a:p>
          <a:p>
            <a:pPr marL="0" indent="0" algn="l">
              <a:lnSpc>
                <a:spcPct val="108000"/>
              </a:lnSpc>
              <a:spcBef>
                <a:spcPts val="440"/>
              </a:spcBef>
              <a:buNone/>
            </a:pPr>
            <a:r>
              <a:rPr lang="en-US" sz="1800" dirty="0">
                <a:solidFill>
                  <a:srgbClr val="000000"/>
                </a:solidFill>
                <a:latin typeface="Segoe UI"/>
                <a:cs typeface="Segoe UI"/>
              </a:rPr>
              <a:t>Kiểm định &amp; mô hình hóa (Buổi 4)  -&gt;  Mô hình cuối, diễn giải &amp; báo cáo (Buổi 5).</a:t>
            </a:r>
          </a:p>
          <a:p>
            <a:pPr>
              <a:buNone/>
            </a:pPr>
            <a:endParaRPr sz="1050"/>
          </a:p>
          <a:p>
            <a:pPr marL="0" indent="0" algn="l">
              <a:spcBef>
                <a:spcPts val="360"/>
              </a:spcBef>
              <a:buNone/>
            </a:pPr>
            <a:r>
              <a:rPr lang="en-US" sz="2050" b="1" dirty="0">
                <a:solidFill>
                  <a:srgbClr val="0D7377"/>
                </a:solidFill>
                <a:latin typeface="Segoe UI"/>
                <a:cs typeface="Segoe UI"/>
              </a:rPr>
              <a:t>Sản phẩm cuối cùng của bạn</a:t>
            </a:r>
          </a:p>
          <a:p>
            <a:pPr marL="0" indent="0" algn="l">
              <a:lnSpc>
                <a:spcPct val="108000"/>
              </a:lnSpc>
              <a:spcBef>
                <a:spcPts val="440"/>
              </a:spcBef>
              <a:buNone/>
            </a:pPr>
            <a:r>
              <a:rPr lang="en-US" sz="1800" dirty="0">
                <a:solidFill>
                  <a:srgbClr val="000000"/>
                </a:solidFill>
                <a:latin typeface="Segoe UI"/>
                <a:cs typeface="Segoe UI"/>
              </a:rPr>
              <a:t>Một mục Kết quả ngắn, có khả năng tái lập, xác định các yếu tố quyết định việc tiếp nhận điều trị -</a:t>
            </a:r>
          </a:p>
          <a:p>
            <a:pPr marL="0" indent="0" algn="l">
              <a:lnSpc>
                <a:spcPct val="108000"/>
              </a:lnSpc>
              <a:spcBef>
                <a:spcPts val="440"/>
              </a:spcBef>
              <a:buNone/>
            </a:pPr>
            <a:r>
              <a:rPr lang="en-US" sz="1800" dirty="0">
                <a:solidFill>
                  <a:srgbClr val="000000"/>
                </a:solidFill>
                <a:latin typeface="Segoe UI"/>
                <a:cs typeface="Segoe UI"/>
              </a:rPr>
              <a:t>đúng như một tạp chí sẽ kỳ vọng.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Segoe UI"/>
                <a:cs typeface="Segoe UI"/>
              </a:rPr>
              <a:t>DIỄN GIẢI LÂM SÀNG  -  Ý tưởng lớn</a:t>
            </a:r>
          </a:p>
          <a:p>
            <a:pPr marL="0" indent="0" algn="l">
              <a:spcBef>
                <a:spcPts val="100"/>
              </a:spcBef>
              <a:buNone/>
            </a:pPr>
            <a:r>
              <a:rPr lang="en-US" sz="1300" dirty="0">
                <a:solidFill>
                  <a:srgbClr val="000000"/>
                </a:solidFill>
                <a:latin typeface="Segoe UI"/>
                <a:cs typeface="Segoe UI"/>
              </a:rPr>
              <a:t>Mỗi ngày tạo ra một mảnh của một bản thảo thực tế; đến cuối tuần các mảnh ghép thành một phân tích hoàn chỉnh.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Lịch học, Giảng viên &amp; Cách Đăng ký</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Khi nào chúng ta gặp nhau</a:t>
            </a:r>
          </a:p>
          <a:p>
            <a:pPr marL="0" indent="0" algn="l">
              <a:lnSpc>
                <a:spcPct val="108000"/>
              </a:lnSpc>
              <a:spcBef>
                <a:spcPts val="440"/>
              </a:spcBef>
              <a:buNone/>
            </a:pPr>
            <a:r>
              <a:rPr lang="en-US" sz="1800" dirty="0">
                <a:solidFill>
                  <a:srgbClr val="000000"/>
                </a:solidFill>
                <a:latin typeface="Segoe UI"/>
                <a:cs typeface="Segoe UI"/>
              </a:rPr>
              <a:t>Năm buổi học buổi tối - mỗi Thứ Ba, 20:00, mỗi buổi 90 phút.</a:t>
            </a:r>
          </a:p>
          <a:p>
            <a:pPr marL="0" indent="0" algn="l">
              <a:lnSpc>
                <a:spcPct val="108000"/>
              </a:lnSpc>
              <a:spcBef>
                <a:spcPts val="440"/>
              </a:spcBef>
              <a:buNone/>
            </a:pPr>
            <a:r>
              <a:rPr lang="en-US" sz="1800" dirty="0">
                <a:solidFill>
                  <a:srgbClr val="000000"/>
                </a:solidFill>
                <a:latin typeface="Segoe UI"/>
                <a:cs typeface="Segoe UI"/>
              </a:rPr>
              <a:t>8 tháng 9 đến 6 tháng 10 năm 2026.</a:t>
            </a:r>
          </a:p>
          <a:p>
            <a:pPr marL="0" indent="0" algn="l">
              <a:lnSpc>
                <a:spcPct val="108000"/>
              </a:lnSpc>
              <a:spcBef>
                <a:spcPts val="440"/>
              </a:spcBef>
              <a:buNone/>
            </a:pPr>
            <a:r>
              <a:rPr lang="en-US" sz="1800" dirty="0">
                <a:solidFill>
                  <a:srgbClr val="000000"/>
                </a:solidFill>
                <a:latin typeface="Segoe UI"/>
                <a:cs typeface="Segoe UI"/>
              </a:rPr>
              <a:t>Giảng dạy trực tuyến - tham gia từ bất cứ đâu với một laptop.</a:t>
            </a:r>
          </a:p>
          <a:p>
            <a:pPr>
              <a:buNone/>
            </a:pPr>
            <a:endParaRPr sz="1050" dirty="0"/>
          </a:p>
          <a:p>
            <a:pPr marL="0" indent="0" algn="l">
              <a:spcBef>
                <a:spcPts val="360"/>
              </a:spcBef>
              <a:buNone/>
            </a:pPr>
            <a:r>
              <a:rPr lang="en-US" sz="2050" b="1" dirty="0">
                <a:solidFill>
                  <a:srgbClr val="0D7377"/>
                </a:solidFill>
                <a:latin typeface="Segoe UI"/>
                <a:cs typeface="Segoe UI"/>
              </a:rPr>
              <a:t>Giảng viên của bạn</a:t>
            </a:r>
          </a:p>
          <a:p>
            <a:pPr marL="0" indent="0" algn="l">
              <a:lnSpc>
                <a:spcPct val="108000"/>
              </a:lnSpc>
              <a:spcBef>
                <a:spcPts val="440"/>
              </a:spcBef>
              <a:buNone/>
            </a:pPr>
            <a:r>
              <a:rPr lang="en-US" sz="1800" dirty="0">
                <a:solidFill>
                  <a:srgbClr val="000000"/>
                </a:solidFill>
                <a:latin typeface="Segoe UI"/>
                <a:cs typeface="Segoe UI"/>
              </a:rPr>
              <a:t>Bernard Osang'ir - Chuyên gia Thống kê Sinh học Cao cấp (giảng viên chính).</a:t>
            </a:r>
          </a:p>
          <a:p>
            <a:pPr marL="0" indent="0" algn="l">
              <a:lnSpc>
                <a:spcPct val="108000"/>
              </a:lnSpc>
              <a:spcBef>
                <a:spcPts val="440"/>
              </a:spcBef>
              <a:buNone/>
            </a:pPr>
            <a:r>
              <a:rPr lang="en-BE" sz="1800" dirty="0">
                <a:solidFill>
                  <a:srgbClr val="000000"/>
                </a:solidFill>
                <a:latin typeface="Segoe UI"/>
                <a:cs typeface="Segoe UI"/>
              </a:rPr>
              <a:t>Vương </a:t>
            </a:r>
            <a:r>
              <a:rPr lang="en-BE" sz="1800" dirty="0" err="1">
                <a:solidFill>
                  <a:srgbClr val="000000"/>
                </a:solidFill>
                <a:latin typeface="Segoe UI"/>
                <a:cs typeface="Segoe UI"/>
              </a:rPr>
              <a:t>Mỹ</a:t>
            </a:r>
            <a:r>
              <a:rPr lang="en-BE" sz="1800" dirty="0">
                <a:solidFill>
                  <a:srgbClr val="000000"/>
                </a:solidFill>
                <a:latin typeface="Segoe UI"/>
                <a:cs typeface="Segoe UI"/>
              </a:rPr>
              <a:t> </a:t>
            </a:r>
            <a:r>
              <a:rPr lang="en-BE" sz="1800" dirty="0" err="1">
                <a:solidFill>
                  <a:srgbClr val="000000"/>
                </a:solidFill>
                <a:latin typeface="Segoe UI"/>
                <a:cs typeface="Segoe UI"/>
              </a:rPr>
              <a:t>Lượng</a:t>
            </a:r>
            <a:r>
              <a:rPr lang="en-US" sz="1800" dirty="0">
                <a:solidFill>
                  <a:srgbClr val="000000"/>
                </a:solidFill>
                <a:latin typeface="Segoe UI"/>
                <a:cs typeface="Segoe UI"/>
              </a:rPr>
              <a:t> – </a:t>
            </a:r>
            <a:r>
              <a:rPr lang="en-BE" sz="1800" dirty="0" err="1">
                <a:solidFill>
                  <a:srgbClr val="000000"/>
                </a:solidFill>
                <a:latin typeface="Segoe UI"/>
                <a:cs typeface="Segoe UI"/>
              </a:rPr>
              <a:t>Dược</a:t>
            </a:r>
            <a:r>
              <a:rPr lang="en-BE" sz="1800" dirty="0">
                <a:solidFill>
                  <a:srgbClr val="000000"/>
                </a:solidFill>
                <a:latin typeface="Segoe UI"/>
                <a:cs typeface="Segoe UI"/>
              </a:rPr>
              <a:t> </a:t>
            </a:r>
            <a:r>
              <a:rPr lang="en-BE" sz="1800" dirty="0" err="1">
                <a:solidFill>
                  <a:srgbClr val="000000"/>
                </a:solidFill>
                <a:latin typeface="Segoe UI"/>
                <a:cs typeface="Segoe UI"/>
              </a:rPr>
              <a:t>sĩ</a:t>
            </a:r>
            <a:r>
              <a:rPr lang="en-BE" sz="1800" dirty="0">
                <a:solidFill>
                  <a:srgbClr val="000000"/>
                </a:solidFill>
                <a:latin typeface="Segoe UI"/>
                <a:cs typeface="Segoe UI"/>
              </a:rPr>
              <a:t>, Chuyên </a:t>
            </a:r>
            <a:r>
              <a:rPr lang="en-BE" sz="1800" dirty="0" err="1">
                <a:solidFill>
                  <a:srgbClr val="000000"/>
                </a:solidFill>
                <a:latin typeface="Segoe UI"/>
                <a:cs typeface="Segoe UI"/>
              </a:rPr>
              <a:t>gia</a:t>
            </a:r>
            <a:r>
              <a:rPr lang="en-US" sz="1800" dirty="0">
                <a:solidFill>
                  <a:srgbClr val="000000"/>
                </a:solidFill>
                <a:latin typeface="Segoe UI"/>
                <a:cs typeface="Segoe UI"/>
              </a:rPr>
              <a:t> thống kê sinh học &amp; Dịch tễ học.</a:t>
            </a:r>
          </a:p>
          <a:p>
            <a:pPr>
              <a:buNone/>
            </a:pPr>
            <a:endParaRPr sz="1050" dirty="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Đăng ký / hỏi thông tin</a:t>
            </a:r>
          </a:p>
          <a:p>
            <a:pPr marL="0" indent="0" algn="l">
              <a:spcBef>
                <a:spcPts val="100"/>
              </a:spcBef>
              <a:buNone/>
            </a:pPr>
            <a:r>
              <a:rPr lang="en-US" sz="1300" dirty="0">
                <a:solidFill>
                  <a:srgbClr val="000000"/>
                </a:solidFill>
                <a:latin typeface="Segoe UI"/>
                <a:cs typeface="Segoe UI"/>
              </a:rPr>
              <a:t>My Luong Vuong  -  myluong1710@gmail.com  -  www.neu-data.com  -  quét mã QR trên poster để đăng ký.</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Segoe UI"/>
                <a:cs typeface="Segoe UI"/>
              </a:rPr>
              <a:t>Ngày 1: Giới thiệu về R &amp; RStudio</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Segoe UI"/>
                <a:cs typeface="Segoe UI"/>
              </a:rPr>
              <a:t>Kế hoạch hôm nay</a:t>
            </a:r>
          </a:p>
          <a:p>
            <a:pPr>
              <a:buNone/>
            </a:pPr>
            <a:endParaRPr sz="800"/>
          </a:p>
          <a:p>
            <a:pPr marL="274320" indent="-274320" algn="l">
              <a:spcBef>
                <a:spcPts val="440"/>
              </a:spcBef>
              <a:buFont typeface="Arial"/>
              <a:buChar char="•"/>
            </a:pPr>
            <a:r>
              <a:rPr lang="en-US" sz="1900" dirty="0">
                <a:solidFill>
                  <a:srgbClr val="000000"/>
                </a:solidFill>
                <a:latin typeface="Segoe UI"/>
                <a:cs typeface="Segoe UI"/>
              </a:rPr>
              <a:t>Vì sao dùng R cho nghiên cứu lâm sàng</a:t>
            </a:r>
          </a:p>
          <a:p>
            <a:pPr marL="274320" indent="-274320" algn="l">
              <a:spcBef>
                <a:spcPts val="440"/>
              </a:spcBef>
              <a:buFont typeface="Arial"/>
              <a:buChar char="•"/>
            </a:pPr>
            <a:r>
              <a:rPr lang="en-US" sz="1900" dirty="0">
                <a:solidFill>
                  <a:srgbClr val="000000"/>
                </a:solidFill>
                <a:latin typeface="Segoe UI"/>
                <a:cs typeface="Segoe UI"/>
              </a:rPr>
              <a:t>R và RStudio: cài đặt và giao diện</a:t>
            </a:r>
          </a:p>
          <a:p>
            <a:pPr marL="274320" indent="-274320" algn="l">
              <a:spcBef>
                <a:spcPts val="440"/>
              </a:spcBef>
              <a:buFont typeface="Arial"/>
              <a:buChar char="•"/>
            </a:pPr>
            <a:r>
              <a:rPr lang="en-US" sz="1900" dirty="0">
                <a:solidFill>
                  <a:srgbClr val="000000"/>
                </a:solidFill>
                <a:latin typeface="Segoe UI"/>
                <a:cs typeface="Segoe UI"/>
              </a:rPr>
              <a:t>Project, tập lệnh, đối tượng và vector</a:t>
            </a:r>
          </a:p>
          <a:p>
            <a:pPr marL="274320" indent="-274320" algn="l">
              <a:spcBef>
                <a:spcPts val="440"/>
              </a:spcBef>
              <a:buFont typeface="Arial"/>
              <a:buChar char="•"/>
            </a:pPr>
            <a:r>
              <a:rPr lang="en-US" sz="1900" dirty="0">
                <a:solidFill>
                  <a:srgbClr val="000000"/>
                </a:solidFill>
                <a:latin typeface="Segoe UI"/>
                <a:cs typeface="Segoe UI"/>
              </a:rPr>
              <a:t>Data frame và các gói (tidyverse)</a:t>
            </a:r>
          </a:p>
          <a:p>
            <a:pPr marL="274320" indent="-274320" algn="l">
              <a:spcBef>
                <a:spcPts val="440"/>
              </a:spcBef>
              <a:buFont typeface="Arial"/>
              <a:buChar char="•"/>
            </a:pPr>
            <a:r>
              <a:rPr lang="en-US" sz="1900" dirty="0">
                <a:solidFill>
                  <a:srgbClr val="000000"/>
                </a:solidFill>
                <a:latin typeface="Segoe UI"/>
                <a:cs typeface="Segoe UI"/>
              </a:rPr>
              <a:t>Nhập và xem qua dữ liệu nghiên cứu lần đầu</a:t>
            </a:r>
          </a:p>
          <a:p>
            <a:pPr marL="274320" indent="-274320" algn="l">
              <a:spcBef>
                <a:spcPts val="440"/>
              </a:spcBef>
              <a:buFont typeface="Arial"/>
              <a:buChar char="•"/>
            </a:pPr>
            <a:r>
              <a:rPr lang="en-US" sz="1900" dirty="0">
                <a:solidFill>
                  <a:srgbClr val="000000"/>
                </a:solidFill>
                <a:latin typeface="Segoe UI"/>
                <a:cs typeface="Segoe UI"/>
              </a:rPr>
              <a:t>Bài thực hành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Vì sao dùng R cho nghiên cứu lâm sàng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R mang lại điều gì cho bạn</a:t>
            </a:r>
          </a:p>
          <a:p>
            <a:pPr marL="0" indent="0" algn="l">
              <a:lnSpc>
                <a:spcPct val="108000"/>
              </a:lnSpc>
              <a:spcBef>
                <a:spcPts val="440"/>
              </a:spcBef>
              <a:buNone/>
            </a:pPr>
            <a:r>
              <a:rPr lang="en-US" sz="1800" dirty="0">
                <a:solidFill>
                  <a:srgbClr val="000000"/>
                </a:solidFill>
                <a:latin typeface="Segoe UI"/>
                <a:cs typeface="Segoe UI"/>
              </a:rPr>
              <a:t>Một ngôn ngữ miễn phí, mã nguồn mở cho thống kê và dữ liệu</a:t>
            </a:r>
          </a:p>
          <a:p>
            <a:pPr marL="0" indent="0" algn="l">
              <a:lnSpc>
                <a:spcPct val="108000"/>
              </a:lnSpc>
              <a:spcBef>
                <a:spcPts val="440"/>
              </a:spcBef>
              <a:buNone/>
            </a:pPr>
            <a:r>
              <a:rPr lang="en-US" sz="1800" dirty="0">
                <a:solidFill>
                  <a:srgbClr val="000000"/>
                </a:solidFill>
                <a:latin typeface="Segoe UI"/>
                <a:cs typeface="Segoe UI"/>
              </a:rPr>
              <a:t>Được dùng trong thử nghiệm lâm sàng, dịch tễ học và các tạp chí</a:t>
            </a:r>
          </a:p>
          <a:p>
            <a:pPr marL="0" indent="0" algn="l">
              <a:lnSpc>
                <a:spcPct val="108000"/>
              </a:lnSpc>
              <a:spcBef>
                <a:spcPts val="440"/>
              </a:spcBef>
              <a:buNone/>
            </a:pPr>
            <a:r>
              <a:rPr lang="en-US" sz="1800" dirty="0">
                <a:solidFill>
                  <a:srgbClr val="000000"/>
                </a:solidFill>
                <a:latin typeface="Segoe UI"/>
                <a:cs typeface="Segoe UI"/>
              </a:rPr>
              <a:t>Xử lý nhập, làm sạch, phân tích và vẽ đồ thị ở cùng một nơi</a:t>
            </a:r>
          </a:p>
          <a:p>
            <a:pPr>
              <a:buNone/>
            </a:pPr>
            <a:endParaRPr sz="1050"/>
          </a:p>
          <a:p>
            <a:pPr marL="0" indent="0" algn="l">
              <a:spcBef>
                <a:spcPts val="360"/>
              </a:spcBef>
              <a:buNone/>
            </a:pPr>
            <a:r>
              <a:rPr lang="en-US" sz="2050" b="1" dirty="0">
                <a:solidFill>
                  <a:srgbClr val="0D7377"/>
                </a:solidFill>
                <a:latin typeface="Segoe UI"/>
                <a:cs typeface="Segoe UI"/>
              </a:rPr>
              <a:t>Vì sao điều đó quan trọng</a:t>
            </a:r>
          </a:p>
          <a:p>
            <a:pPr marL="0" indent="0" algn="l">
              <a:lnSpc>
                <a:spcPct val="108000"/>
              </a:lnSpc>
              <a:spcBef>
                <a:spcPts val="440"/>
              </a:spcBef>
              <a:buNone/>
            </a:pPr>
            <a:r>
              <a:rPr lang="en-US" sz="1800" dirty="0">
                <a:solidFill>
                  <a:srgbClr val="000000"/>
                </a:solidFill>
                <a:latin typeface="Segoe UI"/>
                <a:cs typeface="Segoe UI"/>
              </a:rPr>
              <a:t>Mọi bước đều được ghi lại, nên phân tích có thể lặp lại được</a:t>
            </a:r>
          </a:p>
          <a:p>
            <a:pPr marL="0" indent="0" algn="l">
              <a:lnSpc>
                <a:spcPct val="108000"/>
              </a:lnSpc>
              <a:spcBef>
                <a:spcPts val="440"/>
              </a:spcBef>
              <a:buNone/>
            </a:pPr>
            <a:r>
              <a:rPr lang="en-US" sz="1800" dirty="0">
                <a:solidFill>
                  <a:srgbClr val="000000"/>
                </a:solidFill>
                <a:latin typeface="Segoe UI"/>
                <a:cs typeface="Segoe UI"/>
              </a:rPr>
              <a:t>Không tốn phí và không cần bản quyền: cài trên bất kỳ máy tính nào</a:t>
            </a:r>
          </a:p>
          <a:p>
            <a:pPr marL="0" indent="0" algn="l">
              <a:lnSpc>
                <a:spcPct val="108000"/>
              </a:lnSpc>
              <a:spcBef>
                <a:spcPts val="440"/>
              </a:spcBef>
              <a:buNone/>
            </a:pPr>
            <a:r>
              <a:rPr lang="en-US" sz="1800" dirty="0">
                <a:solidFill>
                  <a:srgbClr val="000000"/>
                </a:solidFill>
                <a:latin typeface="Segoe UI"/>
                <a:cs typeface="Segoe UI"/>
              </a:rPr>
              <a:t>Một cộng đồng khổng lồ và các gói dành cho nghiên cứu y học</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Segoe UI"/>
                <a:cs typeface="Segoe UI"/>
              </a:rPr>
              <a:t>DIỄN GIẢI LÂM SÀNG  -  Khả năng tái lập</a:t>
            </a:r>
          </a:p>
          <a:p>
            <a:pPr marL="0" indent="0" algn="l">
              <a:spcBef>
                <a:spcPts val="100"/>
              </a:spcBef>
              <a:buNone/>
            </a:pPr>
            <a:r>
              <a:rPr lang="en-US" sz="1300" dirty="0">
                <a:solidFill>
                  <a:srgbClr val="000000"/>
                </a:solidFill>
                <a:latin typeface="Segoe UI"/>
                <a:cs typeface="Segoe UI"/>
              </a:rPr>
              <a:t>Nếu bạn có thể chạy lại tập lệnh, bạn có thể bảo vệ kết quả.</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R và RStudio: Hai thứ khác nhau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R (động cơ)</a:t>
            </a:r>
          </a:p>
          <a:p>
            <a:pPr marL="274320" indent="-274320" algn="l">
              <a:lnSpc>
                <a:spcPct val="106000"/>
              </a:lnSpc>
              <a:spcBef>
                <a:spcPts val="520"/>
              </a:spcBef>
              <a:buFont typeface="Arial"/>
              <a:buChar char="•"/>
            </a:pPr>
            <a:r>
              <a:rPr lang="en-US" sz="1650" dirty="0">
                <a:solidFill>
                  <a:srgbClr val="000000"/>
                </a:solidFill>
                <a:latin typeface="Segoe UI"/>
                <a:cs typeface="Segoe UI"/>
              </a:rPr>
              <a:t>Ngôn ngữ thống kê thực sự</a:t>
            </a:r>
          </a:p>
          <a:p>
            <a:pPr marL="274320" indent="-274320" algn="l">
              <a:lnSpc>
                <a:spcPct val="106000"/>
              </a:lnSpc>
              <a:spcBef>
                <a:spcPts val="520"/>
              </a:spcBef>
              <a:buFont typeface="Arial"/>
              <a:buChar char="•"/>
            </a:pPr>
            <a:r>
              <a:rPr lang="en-US" sz="1650" dirty="0">
                <a:solidFill>
                  <a:srgbClr val="000000"/>
                </a:solidFill>
                <a:latin typeface="Segoe UI"/>
                <a:cs typeface="Segoe UI"/>
              </a:rPr>
              <a:t>Thực hiện việc tính toán</a:t>
            </a:r>
          </a:p>
          <a:p>
            <a:pPr marL="274320" indent="-274320" algn="l">
              <a:lnSpc>
                <a:spcPct val="106000"/>
              </a:lnSpc>
              <a:spcBef>
                <a:spcPts val="520"/>
              </a:spcBef>
              <a:buFont typeface="Arial"/>
              <a:buChar char="•"/>
            </a:pPr>
            <a:r>
              <a:rPr lang="en-US" sz="1650" dirty="0">
                <a:solidFill>
                  <a:srgbClr val="000000"/>
                </a:solidFill>
                <a:latin typeface="Segoe UI"/>
                <a:cs typeface="Segoe UI"/>
              </a:rPr>
              <a:t>Bạn cài nó trước</a:t>
            </a:r>
          </a:p>
          <a:p>
            <a:pPr marL="274320" indent="-274320" algn="l">
              <a:lnSpc>
                <a:spcPct val="106000"/>
              </a:lnSpc>
              <a:spcBef>
                <a:spcPts val="520"/>
              </a:spcBef>
              <a:buFont typeface="Arial"/>
              <a:buChar char="•"/>
            </a:pPr>
            <a:r>
              <a:rPr lang="en-US" sz="1650" dirty="0">
                <a:solidFill>
                  <a:srgbClr val="000000"/>
                </a:solidFill>
                <a:latin typeface="Segoe UI"/>
                <a:cs typeface="Segoe UI"/>
              </a:rPr>
              <a:t>Hiếm khi được mở riêng lẻ</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RStudio (bảng điều khiển)</a:t>
            </a:r>
          </a:p>
          <a:p>
            <a:pPr marL="274320" indent="-274320" algn="l">
              <a:lnSpc>
                <a:spcPct val="106000"/>
              </a:lnSpc>
              <a:spcBef>
                <a:spcPts val="520"/>
              </a:spcBef>
              <a:buFont typeface="Arial"/>
              <a:buChar char="•"/>
            </a:pPr>
            <a:r>
              <a:rPr lang="en-US" sz="1650" dirty="0">
                <a:solidFill>
                  <a:srgbClr val="000000"/>
                </a:solidFill>
                <a:latin typeface="Segoe UI"/>
                <a:cs typeface="Segoe UI"/>
              </a:rPr>
              <a:t>Một không gian làm việc thân thiện bao quanh R</a:t>
            </a:r>
          </a:p>
          <a:p>
            <a:pPr marL="274320" indent="-274320" algn="l">
              <a:lnSpc>
                <a:spcPct val="106000"/>
              </a:lnSpc>
              <a:spcBef>
                <a:spcPts val="520"/>
              </a:spcBef>
              <a:buFont typeface="Arial"/>
              <a:buChar char="•"/>
            </a:pPr>
            <a:r>
              <a:rPr lang="en-US" sz="1650" dirty="0">
                <a:solidFill>
                  <a:srgbClr val="000000"/>
                </a:solidFill>
                <a:latin typeface="Segoe UI"/>
                <a:cs typeface="Segoe UI"/>
              </a:rPr>
              <a:t>Trình soạn thảo, console, đồ thị, trợ giúp</a:t>
            </a:r>
          </a:p>
          <a:p>
            <a:pPr marL="274320" indent="-274320" algn="l">
              <a:lnSpc>
                <a:spcPct val="106000"/>
              </a:lnSpc>
              <a:spcBef>
                <a:spcPts val="520"/>
              </a:spcBef>
              <a:buFont typeface="Arial"/>
              <a:buChar char="•"/>
            </a:pPr>
            <a:r>
              <a:rPr lang="en-US" sz="1650" dirty="0">
                <a:solidFill>
                  <a:srgbClr val="000000"/>
                </a:solidFill>
                <a:latin typeface="Segoe UI"/>
                <a:cs typeface="Segoe UI"/>
              </a:rPr>
              <a:t>Cài nó thứ hai</a:t>
            </a:r>
          </a:p>
          <a:p>
            <a:pPr marL="274320" indent="-274320" algn="l">
              <a:lnSpc>
                <a:spcPct val="106000"/>
              </a:lnSpc>
              <a:spcBef>
                <a:spcPts val="520"/>
              </a:spcBef>
              <a:buFont typeface="Arial"/>
              <a:buChar char="•"/>
            </a:pPr>
            <a:r>
              <a:rPr lang="en-US" sz="1650" dirty="0">
                <a:solidFill>
                  <a:srgbClr val="000000"/>
                </a:solidFill>
                <a:latin typeface="Segoe UI"/>
                <a:cs typeface="Segoe UI"/>
              </a:rPr>
              <a:t>Đây là thứ bạn mở hằng ngày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Giao diện RStudio: Bốn khung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Trên-trái: Source (Trình soạn thảo tập lệnh)</a:t>
            </a:r>
          </a:p>
          <a:p>
            <a:pPr marL="0" indent="0" algn="l">
              <a:lnSpc>
                <a:spcPct val="108000"/>
              </a:lnSpc>
              <a:spcBef>
                <a:spcPts val="440"/>
              </a:spcBef>
              <a:buNone/>
            </a:pPr>
            <a:r>
              <a:rPr lang="en-US" sz="1800" dirty="0">
                <a:solidFill>
                  <a:srgbClr val="000000"/>
                </a:solidFill>
                <a:latin typeface="Segoe UI"/>
                <a:cs typeface="Segoe UI"/>
              </a:rPr>
              <a:t>Nơi bạn viết và lưu mã của mình</a:t>
            </a:r>
          </a:p>
          <a:p>
            <a:pPr>
              <a:buNone/>
            </a:pPr>
            <a:endParaRPr sz="1050"/>
          </a:p>
          <a:p>
            <a:pPr marL="0" indent="0" algn="l">
              <a:spcBef>
                <a:spcPts val="360"/>
              </a:spcBef>
              <a:buNone/>
            </a:pPr>
            <a:r>
              <a:rPr lang="en-US" sz="2050" b="1" dirty="0">
                <a:solidFill>
                  <a:srgbClr val="0D7377"/>
                </a:solidFill>
                <a:latin typeface="Segoe UI"/>
                <a:cs typeface="Segoe UI"/>
              </a:rPr>
              <a:t>Dưới-trái: Console (bảng điều khiển)</a:t>
            </a:r>
          </a:p>
          <a:p>
            <a:pPr marL="0" indent="0" algn="l">
              <a:lnSpc>
                <a:spcPct val="108000"/>
              </a:lnSpc>
              <a:spcBef>
                <a:spcPts val="440"/>
              </a:spcBef>
              <a:buNone/>
            </a:pPr>
            <a:r>
              <a:rPr lang="en-US" sz="1800" dirty="0">
                <a:solidFill>
                  <a:srgbClr val="000000"/>
                </a:solidFill>
                <a:latin typeface="Segoe UI"/>
                <a:cs typeface="Segoe UI"/>
              </a:rPr>
              <a:t>Nơi mã chạy và kết quả hiện ra</a:t>
            </a:r>
          </a:p>
          <a:p>
            <a:pPr>
              <a:buNone/>
            </a:pPr>
            <a:endParaRPr sz="1050"/>
          </a:p>
          <a:p>
            <a:pPr marL="0" indent="0" algn="l">
              <a:spcBef>
                <a:spcPts val="360"/>
              </a:spcBef>
              <a:buNone/>
            </a:pPr>
            <a:r>
              <a:rPr lang="en-US" sz="2050" b="1" dirty="0">
                <a:solidFill>
                  <a:srgbClr val="0D7377"/>
                </a:solidFill>
                <a:latin typeface="Segoe UI"/>
                <a:cs typeface="Segoe UI"/>
              </a:rPr>
              <a:t>Trên-phải: Environment (môi trường)</a:t>
            </a:r>
          </a:p>
          <a:p>
            <a:pPr marL="0" indent="0" algn="l">
              <a:lnSpc>
                <a:spcPct val="108000"/>
              </a:lnSpc>
              <a:spcBef>
                <a:spcPts val="440"/>
              </a:spcBef>
              <a:buNone/>
            </a:pPr>
            <a:r>
              <a:rPr lang="en-US" sz="1800" dirty="0">
                <a:solidFill>
                  <a:srgbClr val="000000"/>
                </a:solidFill>
                <a:latin typeface="Segoe UI"/>
                <a:cs typeface="Segoe UI"/>
              </a:rPr>
              <a:t>Các đối tượng và dữ liệu bạn đã tạo</a:t>
            </a:r>
          </a:p>
          <a:p>
            <a:pPr>
              <a:buNone/>
            </a:pPr>
            <a:endParaRPr sz="1050"/>
          </a:p>
          <a:p>
            <a:pPr marL="0" indent="0" algn="l">
              <a:spcBef>
                <a:spcPts val="360"/>
              </a:spcBef>
              <a:buNone/>
            </a:pPr>
            <a:r>
              <a:rPr lang="en-US" sz="2050" b="1" dirty="0">
                <a:solidFill>
                  <a:srgbClr val="0D7377"/>
                </a:solidFill>
                <a:latin typeface="Segoe UI"/>
                <a:cs typeface="Segoe UI"/>
              </a:rPr>
              <a:t>Dưới-phải: Files / Plots / Help (Tệp / Đồ thị / Trợ giúp)</a:t>
            </a:r>
          </a:p>
          <a:p>
            <a:pPr marL="0" indent="0" algn="l">
              <a:lnSpc>
                <a:spcPct val="108000"/>
              </a:lnSpc>
              <a:spcBef>
                <a:spcPts val="440"/>
              </a:spcBef>
              <a:buNone/>
            </a:pPr>
            <a:r>
              <a:rPr lang="en-US" sz="1800" dirty="0">
                <a:solidFill>
                  <a:srgbClr val="000000"/>
                </a:solidFill>
                <a:latin typeface="Segoe UI"/>
                <a:cs typeface="Segoe UI"/>
              </a:rPr>
              <a:t>Thư mục, đồ thị của bạn, và tài liệu</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Định hướng</a:t>
            </a:r>
          </a:p>
          <a:p>
            <a:pPr marL="0" indent="0" algn="l">
              <a:spcBef>
                <a:spcPts val="100"/>
              </a:spcBef>
              <a:buNone/>
            </a:pPr>
            <a:r>
              <a:rPr lang="en-US" sz="1300" dirty="0">
                <a:solidFill>
                  <a:srgbClr val="000000"/>
                </a:solidFill>
                <a:latin typeface="Segoe UI"/>
                <a:cs typeface="Segoe UI"/>
              </a:rPr>
              <a:t>Dành hai phút tìm từng khung trước khi bạn gõ.</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Project của RStudio và thư mục làm việc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Thư mục làm việc</a:t>
            </a:r>
          </a:p>
          <a:p>
            <a:pPr marL="0" indent="0" algn="l">
              <a:lnSpc>
                <a:spcPct val="108000"/>
              </a:lnSpc>
              <a:spcBef>
                <a:spcPts val="440"/>
              </a:spcBef>
              <a:buNone/>
            </a:pPr>
            <a:r>
              <a:rPr lang="en-US" sz="1800" dirty="0">
                <a:solidFill>
                  <a:srgbClr val="000000"/>
                </a:solidFill>
                <a:latin typeface="Segoe UI"/>
                <a:cs typeface="Segoe UI"/>
              </a:rPr>
              <a:t>Thư mục mà R tìm vào khi bạn mở một tệp</a:t>
            </a:r>
          </a:p>
          <a:p>
            <a:pPr marL="0" indent="0" algn="l">
              <a:lnSpc>
                <a:spcPct val="108000"/>
              </a:lnSpc>
              <a:spcBef>
                <a:spcPts val="440"/>
              </a:spcBef>
              <a:buNone/>
            </a:pPr>
            <a:r>
              <a:rPr lang="en-US" sz="1800" dirty="0">
                <a:solidFill>
                  <a:srgbClr val="000000"/>
                </a:solidFill>
                <a:latin typeface="Segoe UI"/>
                <a:cs typeface="Segoe UI"/>
              </a:rPr>
              <a:t>Kiểm tra nó bằng getwd()</a:t>
            </a:r>
          </a:p>
          <a:p>
            <a:pPr>
              <a:buNone/>
            </a:pPr>
            <a:endParaRPr sz="1050"/>
          </a:p>
          <a:p>
            <a:pPr marL="0" indent="0" algn="l">
              <a:spcBef>
                <a:spcPts val="360"/>
              </a:spcBef>
              <a:buNone/>
            </a:pPr>
            <a:r>
              <a:rPr lang="en-US" sz="2050" b="1" dirty="0">
                <a:solidFill>
                  <a:srgbClr val="0D7377"/>
                </a:solidFill>
                <a:latin typeface="Segoe UI"/>
                <a:cs typeface="Segoe UI"/>
              </a:rPr>
              <a:t>Dùng Project, không dùng setwd()</a:t>
            </a:r>
          </a:p>
          <a:p>
            <a:pPr marL="0" indent="0" algn="l">
              <a:lnSpc>
                <a:spcPct val="108000"/>
              </a:lnSpc>
              <a:spcBef>
                <a:spcPts val="440"/>
              </a:spcBef>
              <a:buNone/>
            </a:pPr>
            <a:r>
              <a:rPr lang="en-US" sz="1800" dirty="0">
                <a:solidFill>
                  <a:srgbClr val="000000"/>
                </a:solidFill>
                <a:latin typeface="Segoe UI"/>
                <a:cs typeface="Segoe UI"/>
              </a:rPr>
              <a:t>File &gt; New Project giữ mọi thứ trong một thư mục</a:t>
            </a:r>
          </a:p>
          <a:p>
            <a:pPr marL="0" indent="0" algn="l">
              <a:lnSpc>
                <a:spcPct val="108000"/>
              </a:lnSpc>
              <a:spcBef>
                <a:spcPts val="440"/>
              </a:spcBef>
              <a:buNone/>
            </a:pPr>
            <a:r>
              <a:rPr lang="en-US" sz="1800" dirty="0">
                <a:solidFill>
                  <a:srgbClr val="000000"/>
                </a:solidFill>
                <a:latin typeface="Segoe UI"/>
                <a:cs typeface="Segoe UI"/>
              </a:rPr>
              <a:t>Các đường dẫn trở nên tương đối, như Data/file.csv</a:t>
            </a:r>
          </a:p>
          <a:p>
            <a:pPr marL="0" indent="0" algn="l">
              <a:lnSpc>
                <a:spcPct val="108000"/>
              </a:lnSpc>
              <a:spcBef>
                <a:spcPts val="440"/>
              </a:spcBef>
              <a:buNone/>
            </a:pPr>
            <a:r>
              <a:rPr lang="en-US" sz="1800" dirty="0">
                <a:solidFill>
                  <a:srgbClr val="000000"/>
                </a:solidFill>
                <a:latin typeface="Segoe UI"/>
                <a:cs typeface="Segoe UI"/>
              </a:rPr>
              <a:t>Công việc chạy được trên mọi máy tính, không cần thay đổi</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Segoe UI"/>
                <a:cs typeface="Segoe UI"/>
              </a:rPr>
              <a:t>CẢNH BÁO  -  Tránh setwd()</a:t>
            </a:r>
          </a:p>
          <a:p>
            <a:pPr marL="0" indent="0" algn="l">
              <a:spcBef>
                <a:spcPts val="100"/>
              </a:spcBef>
              <a:buNone/>
            </a:pPr>
            <a:r>
              <a:rPr lang="en-US" sz="1300" dirty="0">
                <a:solidFill>
                  <a:srgbClr val="000000"/>
                </a:solidFill>
                <a:latin typeface="Segoe UI"/>
                <a:cs typeface="Segoe UI"/>
              </a:rPr>
              <a:t>Một đường dẫn cứng sẽ hỏng trên mọi máy khác.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Tập lệnh và Console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Console</a:t>
            </a:r>
          </a:p>
          <a:p>
            <a:pPr marL="274320" indent="-274320" algn="l">
              <a:lnSpc>
                <a:spcPct val="106000"/>
              </a:lnSpc>
              <a:spcBef>
                <a:spcPts val="520"/>
              </a:spcBef>
              <a:buFont typeface="Arial"/>
              <a:buChar char="•"/>
            </a:pPr>
            <a:r>
              <a:rPr lang="en-US" sz="1650" dirty="0">
                <a:solidFill>
                  <a:srgbClr val="000000"/>
                </a:solidFill>
                <a:latin typeface="Segoe UI"/>
                <a:cs typeface="Segoe UI"/>
              </a:rPr>
              <a:t>Gõ, nhấn Enter, nhận câu trả lời</a:t>
            </a:r>
          </a:p>
          <a:p>
            <a:pPr marL="274320" indent="-274320" algn="l">
              <a:lnSpc>
                <a:spcPct val="106000"/>
              </a:lnSpc>
              <a:spcBef>
                <a:spcPts val="520"/>
              </a:spcBef>
              <a:buFont typeface="Arial"/>
              <a:buChar char="•"/>
            </a:pPr>
            <a:r>
              <a:rPr lang="en-US" sz="1650" dirty="0">
                <a:solidFill>
                  <a:srgbClr val="000000"/>
                </a:solidFill>
                <a:latin typeface="Segoe UI"/>
                <a:cs typeface="Segoe UI"/>
              </a:rPr>
              <a:t>Tốt cho những lần thử nhanh</a:t>
            </a:r>
          </a:p>
          <a:p>
            <a:pPr marL="274320" indent="-274320" algn="l">
              <a:lnSpc>
                <a:spcPct val="106000"/>
              </a:lnSpc>
              <a:spcBef>
                <a:spcPts val="520"/>
              </a:spcBef>
              <a:buFont typeface="Arial"/>
              <a:buChar char="•"/>
            </a:pPr>
            <a:r>
              <a:rPr lang="en-US" sz="1650" dirty="0">
                <a:solidFill>
                  <a:srgbClr val="000000"/>
                </a:solidFill>
                <a:latin typeface="Segoe UI"/>
                <a:cs typeface="Segoe UI"/>
              </a:rPr>
              <a:t>Không được lưu khi bạn đóng</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Tập lệnh (Source)</a:t>
            </a:r>
          </a:p>
          <a:p>
            <a:pPr marL="274320" indent="-274320" algn="l">
              <a:lnSpc>
                <a:spcPct val="106000"/>
              </a:lnSpc>
              <a:spcBef>
                <a:spcPts val="520"/>
              </a:spcBef>
              <a:buFont typeface="Arial"/>
              <a:buChar char="•"/>
            </a:pPr>
            <a:r>
              <a:rPr lang="en-US" sz="1650" dirty="0">
                <a:solidFill>
                  <a:srgbClr val="000000"/>
                </a:solidFill>
                <a:latin typeface="Segoe UI"/>
                <a:cs typeface="Segoe UI"/>
              </a:rPr>
              <a:t>Bạn viết, rồi lưu thành tệp .R</a:t>
            </a:r>
          </a:p>
          <a:p>
            <a:pPr marL="274320" indent="-274320" algn="l">
              <a:lnSpc>
                <a:spcPct val="106000"/>
              </a:lnSpc>
              <a:spcBef>
                <a:spcPts val="520"/>
              </a:spcBef>
              <a:buFont typeface="Arial"/>
              <a:buChar char="•"/>
            </a:pPr>
            <a:r>
              <a:rPr lang="en-US" sz="1650" dirty="0">
                <a:solidFill>
                  <a:srgbClr val="000000"/>
                </a:solidFill>
                <a:latin typeface="Segoe UI"/>
                <a:cs typeface="Segoe UI"/>
              </a:rPr>
              <a:t>Chạy lại bất cứ lúc nào, từng dòng một</a:t>
            </a:r>
          </a:p>
          <a:p>
            <a:pPr marL="274320" indent="-274320" algn="l">
              <a:lnSpc>
                <a:spcPct val="106000"/>
              </a:lnSpc>
              <a:spcBef>
                <a:spcPts val="520"/>
              </a:spcBef>
              <a:buFont typeface="Arial"/>
              <a:buChar char="•"/>
            </a:pPr>
            <a:r>
              <a:rPr lang="en-US" sz="1650" dirty="0">
                <a:solidFill>
                  <a:srgbClr val="000000"/>
                </a:solidFill>
                <a:latin typeface="Segoe UI"/>
                <a:cs typeface="Segoe UI"/>
              </a:rPr>
              <a:t>Đây là bản ghi có thể tái lập của bạn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Những bước đầu: R như một máy tính bỏ túi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Cách đơn giản nhất để bắt đầu - chỉ cần gõ các phép tính vào Console.</a:t>
            </a:r>
          </a:p>
        </p:txBody>
      </p:sp>
      <p:sp>
        <p:nvSpPr>
          <p:cNvPr id="30" name="Code"/>
          <p:cNvSpPr/>
          <p:nvPr/>
        </p:nvSpPr>
        <p:spPr>
          <a:xfrm>
            <a:off x="457200" y="1640000"/>
            <a:ext cx="11277600" cy="102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2 + 2</a:t>
            </a:r>
          </a:p>
          <a:p>
            <a:pPr marL="0" indent="0" algn="l">
              <a:lnSpc>
                <a:spcPct val="100000"/>
              </a:lnSpc>
              <a:buNone/>
            </a:pPr>
            <a:r>
              <a:rPr lang="en-US" sz="1300" dirty="0">
                <a:solidFill>
                  <a:srgbClr val="1B3A4B"/>
                </a:solidFill>
                <a:latin typeface="Consolas"/>
                <a:cs typeface="Consolas"/>
              </a:rPr>
              <a:t>140 / 90        # a blood-pressure ratio</a:t>
            </a:r>
          </a:p>
          <a:p>
            <a:pPr marL="0" indent="0" algn="l">
              <a:lnSpc>
                <a:spcPct val="100000"/>
              </a:lnSpc>
              <a:buNone/>
            </a:pPr>
            <a:r>
              <a:rPr lang="en-US" sz="1300" dirty="0">
                <a:solidFill>
                  <a:srgbClr val="1B3A4B"/>
                </a:solidFill>
                <a:latin typeface="Consolas"/>
                <a:cs typeface="Consolas"/>
              </a:rPr>
              <a:t>sqrt(16)</a:t>
            </a:r>
          </a:p>
          <a:p>
            <a:pPr marL="0" indent="0" algn="l">
              <a:lnSpc>
                <a:spcPct val="100000"/>
              </a:lnSpc>
              <a:buNone/>
            </a:pPr>
            <a:r>
              <a:rPr lang="en-US" sz="1300" dirty="0">
                <a:solidFill>
                  <a:srgbClr val="1B3A4B"/>
                </a:solidFill>
                <a:latin typeface="Consolas"/>
                <a:cs typeface="Consolas"/>
              </a:rPr>
              <a:t>(120 + 130 + 145 + 150) / 4   # mean of four readings</a:t>
            </a:r>
          </a:p>
        </p:txBody>
      </p:sp>
      <p:sp>
        <p:nvSpPr>
          <p:cNvPr id="31" name="Output"/>
          <p:cNvSpPr/>
          <p:nvPr/>
        </p:nvSpPr>
        <p:spPr>
          <a:xfrm>
            <a:off x="457200" y="281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[1] 4</a:t>
            </a:r>
          </a:p>
          <a:p>
            <a:pPr marL="0" indent="0" algn="l">
              <a:lnSpc>
                <a:spcPct val="100000"/>
              </a:lnSpc>
              <a:buNone/>
            </a:pPr>
            <a:r>
              <a:rPr lang="en-US" sz="1250" dirty="0">
                <a:solidFill>
                  <a:srgbClr val="1A1A1A"/>
                </a:solidFill>
                <a:latin typeface="Consolas"/>
                <a:cs typeface="Consolas"/>
              </a:rPr>
              <a:t>[1] 1.555556</a:t>
            </a:r>
          </a:p>
          <a:p>
            <a:pPr marL="0" indent="0" algn="l">
              <a:lnSpc>
                <a:spcPct val="100000"/>
              </a:lnSpc>
              <a:buNone/>
            </a:pPr>
            <a:r>
              <a:rPr lang="en-US" sz="1250" dirty="0">
                <a:solidFill>
                  <a:srgbClr val="1A1A1A"/>
                </a:solidFill>
                <a:latin typeface="Consolas"/>
                <a:cs typeface="Consolas"/>
              </a:rPr>
              <a:t>[1] 4</a:t>
            </a:r>
          </a:p>
          <a:p>
            <a:pPr marL="0" indent="0" algn="l">
              <a:lnSpc>
                <a:spcPct val="100000"/>
              </a:lnSpc>
              <a:buNone/>
            </a:pPr>
            <a:r>
              <a:rPr lang="en-US" sz="1250" dirty="0">
                <a:solidFill>
                  <a:srgbClr val="1A1A1A"/>
                </a:solidFill>
                <a:latin typeface="Consolas"/>
                <a:cs typeface="Consolas"/>
              </a:rPr>
              <a:t>[1] 136.25</a:t>
            </a:r>
          </a:p>
        </p:txBody>
      </p:sp>
      <p:sp>
        <p:nvSpPr>
          <p:cNvPr id="32" name="Note"/>
          <p:cNvSpPr/>
          <p:nvPr/>
        </p:nvSpPr>
        <p:spPr>
          <a:xfrm>
            <a:off x="457200" y="405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Mọi thứ trong R đều được xây từ những bước nhỏ như thế này - bắt đầu đơn giản, rồi xây dần lên.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Đối tượng và mũi tên phép gán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Lưu một giá trị vào một đối tượng</a:t>
            </a:r>
          </a:p>
          <a:p>
            <a:pPr marL="0" indent="0" algn="l">
              <a:lnSpc>
                <a:spcPct val="108000"/>
              </a:lnSpc>
              <a:spcBef>
                <a:spcPts val="440"/>
              </a:spcBef>
              <a:buNone/>
            </a:pPr>
            <a:r>
              <a:rPr lang="en-US" sz="1800" dirty="0">
                <a:solidFill>
                  <a:srgbClr val="000000"/>
                </a:solidFill>
                <a:latin typeface="Segoe UI"/>
                <a:cs typeface="Segoe UI"/>
              </a:rPr>
              <a:t>sbp &lt;- 152 nghĩa là lưu 152 vào một đối tượng tên sbp</a:t>
            </a:r>
          </a:p>
          <a:p>
            <a:pPr marL="0" indent="0" algn="l">
              <a:lnSpc>
                <a:spcPct val="108000"/>
              </a:lnSpc>
              <a:spcBef>
                <a:spcPts val="440"/>
              </a:spcBef>
              <a:buNone/>
            </a:pPr>
            <a:r>
              <a:rPr lang="en-US" sz="1800" dirty="0">
                <a:solidFill>
                  <a:srgbClr val="000000"/>
                </a:solidFill>
                <a:latin typeface="Segoe UI"/>
                <a:cs typeface="Segoe UI"/>
              </a:rPr>
              <a:t>Gõ tên sbp để in nó ra lại</a:t>
            </a:r>
          </a:p>
          <a:p>
            <a:pPr marL="0" indent="0" algn="l">
              <a:lnSpc>
                <a:spcPct val="108000"/>
              </a:lnSpc>
              <a:spcBef>
                <a:spcPts val="440"/>
              </a:spcBef>
              <a:buNone/>
            </a:pPr>
            <a:r>
              <a:rPr lang="en-US" sz="1800" dirty="0">
                <a:solidFill>
                  <a:srgbClr val="000000"/>
                </a:solidFill>
                <a:latin typeface="Segoe UI"/>
                <a:cs typeface="Segoe UI"/>
              </a:rPr>
              <a:t>Mũi tên &lt;- là toán tử phép gán</a:t>
            </a:r>
          </a:p>
          <a:p>
            <a:pPr>
              <a:buNone/>
            </a:pPr>
            <a:endParaRPr sz="1050"/>
          </a:p>
          <a:p>
            <a:pPr marL="0" indent="0" algn="l">
              <a:spcBef>
                <a:spcPts val="360"/>
              </a:spcBef>
              <a:buNone/>
            </a:pPr>
            <a:r>
              <a:rPr lang="en-US" sz="2050" b="1" dirty="0">
                <a:solidFill>
                  <a:srgbClr val="0D7377"/>
                </a:solidFill>
                <a:latin typeface="Segoe UI"/>
                <a:cs typeface="Segoe UI"/>
              </a:rPr>
              <a:t>R phân biệt chữ hoa chữ thường</a:t>
            </a:r>
          </a:p>
          <a:p>
            <a:pPr marL="0" indent="0" algn="l">
              <a:lnSpc>
                <a:spcPct val="108000"/>
              </a:lnSpc>
              <a:spcBef>
                <a:spcPts val="440"/>
              </a:spcBef>
              <a:buNone/>
            </a:pPr>
            <a:r>
              <a:rPr lang="en-US" sz="1800" dirty="0">
                <a:solidFill>
                  <a:srgbClr val="000000"/>
                </a:solidFill>
                <a:latin typeface="Segoe UI"/>
                <a:cs typeface="Segoe UI"/>
              </a:rPr>
              <a:t>SBP và sbp là hai đối tượng khác nhau</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Segoe UI"/>
                <a:cs typeface="Segoe UI"/>
              </a:rPr>
              <a:t>LỖI THƯỜNG GẶP  -  Những sơ suất thường gặp</a:t>
            </a:r>
          </a:p>
          <a:p>
            <a:pPr marL="0" indent="0" algn="l">
              <a:spcBef>
                <a:spcPts val="100"/>
              </a:spcBef>
              <a:buNone/>
            </a:pPr>
            <a:r>
              <a:rPr lang="en-US" sz="1300" dirty="0">
                <a:solidFill>
                  <a:srgbClr val="000000"/>
                </a:solidFill>
                <a:latin typeface="Segoe UI"/>
                <a:cs typeface="Segoe UI"/>
              </a:rPr>
              <a:t>Dùng = thay cho &lt;-; nhầm lẫn giữa chữ hoa và chữ thường.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Đối tượng và vector trong thực tế</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Một vector chứa nhiều giá trị cùng kiểu.</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sbp &lt;- 152</a:t>
            </a:r>
          </a:p>
          <a:p>
            <a:pPr marL="0" indent="0" algn="l">
              <a:lnSpc>
                <a:spcPct val="100000"/>
              </a:lnSpc>
              <a:buNone/>
            </a:pPr>
            <a:r>
              <a:rPr lang="en-US" sz="1300" dirty="0">
                <a:solidFill>
                  <a:srgbClr val="1B3A4B"/>
                </a:solidFill>
                <a:latin typeface="Consolas"/>
                <a:cs typeface="Consolas"/>
              </a:rPr>
              <a:t>sbp</a:t>
            </a:r>
          </a:p>
          <a:p>
            <a:pPr marL="0" indent="0" algn="l">
              <a:lnSpc>
                <a:spcPct val="100000"/>
              </a:lnSpc>
              <a:buNone/>
            </a:pPr>
            <a:r>
              <a:rPr lang="en-US" sz="1300" dirty="0">
                <a:solidFill>
                  <a:srgbClr val="1B3A4B"/>
                </a:solidFill>
                <a:latin typeface="Consolas"/>
                <a:cs typeface="Consolas"/>
              </a:rPr>
              <a:t>sbp_readings &lt;- c(152, 138, 145, 160, 129, 142)</a:t>
            </a:r>
          </a:p>
          <a:p>
            <a:pPr marL="0" indent="0" algn="l">
              <a:lnSpc>
                <a:spcPct val="100000"/>
              </a:lnSpc>
              <a:buNone/>
            </a:pPr>
            <a:r>
              <a:rPr lang="en-US" sz="1300" dirty="0">
                <a:solidFill>
                  <a:srgbClr val="1B3A4B"/>
                </a:solidFill>
                <a:latin typeface="Consolas"/>
                <a:cs typeface="Consolas"/>
              </a:rPr>
              <a:t>length(sbp_readings)</a:t>
            </a:r>
          </a:p>
          <a:p>
            <a:pPr marL="0" indent="0" algn="l">
              <a:lnSpc>
                <a:spcPct val="100000"/>
              </a:lnSpc>
              <a:buNone/>
            </a:pPr>
            <a:r>
              <a:rPr lang="en-US" sz="1300" dirty="0">
                <a:solidFill>
                  <a:srgbClr val="1B3A4B"/>
                </a:solidFill>
                <a:latin typeface="Consolas"/>
                <a:cs typeface="Consolas"/>
              </a:rPr>
              <a:t>mean(sbp_readings)</a:t>
            </a:r>
          </a:p>
          <a:p>
            <a:pPr marL="0" indent="0" algn="l">
              <a:lnSpc>
                <a:spcPct val="100000"/>
              </a:lnSpc>
              <a:buNone/>
            </a:pPr>
            <a:r>
              <a:rPr lang="en-US" sz="1300" dirty="0">
                <a:solidFill>
                  <a:srgbClr val="1B3A4B"/>
                </a:solidFill>
                <a:latin typeface="Consolas"/>
                <a:cs typeface="Consolas"/>
              </a:rPr>
              <a:t>sd(sbp_readings)</a:t>
            </a:r>
          </a:p>
        </p:txBody>
      </p:sp>
      <p:sp>
        <p:nvSpPr>
          <p:cNvPr id="31" name="Output"/>
          <p:cNvSpPr/>
          <p:nvPr/>
        </p:nvSpPr>
        <p:spPr>
          <a:xfrm>
            <a:off x="457200" y="323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[1] 152</a:t>
            </a:r>
          </a:p>
          <a:p>
            <a:pPr marL="0" indent="0" algn="l">
              <a:lnSpc>
                <a:spcPct val="100000"/>
              </a:lnSpc>
              <a:buNone/>
            </a:pPr>
            <a:r>
              <a:rPr lang="en-US" sz="1250" dirty="0">
                <a:solidFill>
                  <a:srgbClr val="1A1A1A"/>
                </a:solidFill>
                <a:latin typeface="Consolas"/>
                <a:cs typeface="Consolas"/>
              </a:rPr>
              <a:t>[1] 6</a:t>
            </a:r>
          </a:p>
          <a:p>
            <a:pPr marL="0" indent="0" algn="l">
              <a:lnSpc>
                <a:spcPct val="100000"/>
              </a:lnSpc>
              <a:buNone/>
            </a:pPr>
            <a:r>
              <a:rPr lang="en-US" sz="1250" dirty="0">
                <a:solidFill>
                  <a:srgbClr val="1A1A1A"/>
                </a:solidFill>
                <a:latin typeface="Consolas"/>
                <a:cs typeface="Consolas"/>
              </a:rPr>
              <a:t>[1] 144.3333</a:t>
            </a:r>
          </a:p>
          <a:p>
            <a:pPr marL="0" indent="0" algn="l">
              <a:lnSpc>
                <a:spcPct val="100000"/>
              </a:lnSpc>
              <a:buNone/>
            </a:pPr>
            <a:r>
              <a:rPr lang="en-US" sz="1250" dirty="0">
                <a:solidFill>
                  <a:srgbClr val="1A1A1A"/>
                </a:solidFill>
                <a:latin typeface="Consolas"/>
                <a:cs typeface="Consolas"/>
              </a:rPr>
              <a:t>[1] 11.23239</a:t>
            </a:r>
          </a:p>
        </p:txBody>
      </p:sp>
      <p:sp>
        <p:nvSpPr>
          <p:cNvPr id="32" name="Note"/>
          <p:cNvSpPr/>
          <p:nvPr/>
        </p:nvSpPr>
        <p:spPr>
          <a:xfrm>
            <a:off x="457200" y="44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c() nghĩa là kết hợp; mean() và sd() tóm tắt toàn bộ vector.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Các kiểu dữ liệu bạn sẽ gặp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Ba kiểu thường ngày</a:t>
            </a:r>
          </a:p>
          <a:p>
            <a:pPr marL="0" indent="0" algn="l">
              <a:lnSpc>
                <a:spcPct val="108000"/>
              </a:lnSpc>
              <a:spcBef>
                <a:spcPts val="440"/>
              </a:spcBef>
              <a:buNone/>
            </a:pPr>
            <a:r>
              <a:rPr lang="en-US" sz="1800" dirty="0">
                <a:solidFill>
                  <a:srgbClr val="000000"/>
                </a:solidFill>
                <a:latin typeface="Segoe UI"/>
                <a:cs typeface="Segoe UI"/>
              </a:rPr>
              <a:t>numeric: số, như age hay sbp (60, 152)</a:t>
            </a:r>
          </a:p>
          <a:p>
            <a:pPr marL="0" indent="0" algn="l">
              <a:lnSpc>
                <a:spcPct val="108000"/>
              </a:lnSpc>
              <a:spcBef>
                <a:spcPts val="440"/>
              </a:spcBef>
              <a:buNone/>
            </a:pPr>
            <a:r>
              <a:rPr lang="en-US" sz="1800" dirty="0">
                <a:solidFill>
                  <a:srgbClr val="000000"/>
                </a:solidFill>
                <a:latin typeface="Segoe UI"/>
                <a:cs typeface="Segoe UI"/>
              </a:rPr>
              <a:t>character: văn bản trong dấu ngoặc kép, như "Female"</a:t>
            </a:r>
          </a:p>
          <a:p>
            <a:pPr marL="0" indent="0" algn="l">
              <a:lnSpc>
                <a:spcPct val="108000"/>
              </a:lnSpc>
              <a:spcBef>
                <a:spcPts val="440"/>
              </a:spcBef>
              <a:buNone/>
            </a:pPr>
            <a:r>
              <a:rPr lang="en-US" sz="1800" dirty="0">
                <a:solidFill>
                  <a:srgbClr val="000000"/>
                </a:solidFill>
                <a:latin typeface="Segoe UI"/>
                <a:cs typeface="Segoe UI"/>
              </a:rPr>
              <a:t>logical: TRUE hay FALSE, như sbp &gt;= 140</a:t>
            </a:r>
          </a:p>
          <a:p>
            <a:pPr>
              <a:buNone/>
            </a:pPr>
            <a:endParaRPr sz="1050"/>
          </a:p>
          <a:p>
            <a:pPr marL="0" indent="0" algn="l">
              <a:spcBef>
                <a:spcPts val="360"/>
              </a:spcBef>
              <a:buNone/>
            </a:pPr>
            <a:r>
              <a:rPr lang="en-US" sz="2050" b="1" dirty="0">
                <a:solidFill>
                  <a:srgbClr val="0D7377"/>
                </a:solidFill>
                <a:latin typeface="Segoe UI"/>
                <a:cs typeface="Segoe UI"/>
              </a:rPr>
              <a:t>Vì sao kiểu dữ liệu quan trọng</a:t>
            </a:r>
          </a:p>
          <a:p>
            <a:pPr marL="0" indent="0" algn="l">
              <a:lnSpc>
                <a:spcPct val="108000"/>
              </a:lnSpc>
              <a:spcBef>
                <a:spcPts val="440"/>
              </a:spcBef>
              <a:buNone/>
            </a:pPr>
            <a:r>
              <a:rPr lang="en-US" sz="1800" dirty="0">
                <a:solidFill>
                  <a:srgbClr val="000000"/>
                </a:solidFill>
                <a:latin typeface="Segoe UI"/>
                <a:cs typeface="Segoe UI"/>
              </a:rPr>
              <a:t>Bạn có thể lấy trung bình các số, chứ không phải văn bản</a:t>
            </a:r>
          </a:p>
          <a:p>
            <a:pPr marL="0" indent="0" algn="l">
              <a:lnSpc>
                <a:spcPct val="108000"/>
              </a:lnSpc>
              <a:spcBef>
                <a:spcPts val="440"/>
              </a:spcBef>
              <a:buNone/>
            </a:pPr>
            <a:r>
              <a:rPr lang="en-US" sz="1800" dirty="0">
                <a:solidFill>
                  <a:srgbClr val="000000"/>
                </a:solidFill>
                <a:latin typeface="Segoe UI"/>
                <a:cs typeface="Segoe UI"/>
              </a:rPr>
              <a:t>R chọn kiểu khi nó đọc dữ liệu của bạn</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Segoe UI"/>
                <a:cs typeface="Segoe UI"/>
              </a:rPr>
              <a:t>LƯU Ý  -  Mẹo</a:t>
            </a:r>
          </a:p>
          <a:p>
            <a:pPr marL="0" indent="0" algn="l">
              <a:spcBef>
                <a:spcPts val="100"/>
              </a:spcBef>
              <a:buNone/>
            </a:pPr>
            <a:r>
              <a:rPr lang="en-US" sz="1300" dirty="0">
                <a:solidFill>
                  <a:srgbClr val="000000"/>
                </a:solidFill>
                <a:latin typeface="Segoe UI"/>
                <a:cs typeface="Segoe UI"/>
              </a:rPr>
              <a:t>glimpse() cho thấy kiểu của từng cột trong nháy mắt.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Data frame và tibble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Hình dạng của một bộ dữ liệu</a:t>
            </a:r>
          </a:p>
          <a:p>
            <a:pPr marL="0" indent="0" algn="l">
              <a:lnSpc>
                <a:spcPct val="108000"/>
              </a:lnSpc>
              <a:spcBef>
                <a:spcPts val="440"/>
              </a:spcBef>
              <a:buNone/>
            </a:pPr>
            <a:r>
              <a:rPr lang="en-US" sz="1800" dirty="0">
                <a:solidFill>
                  <a:srgbClr val="000000"/>
                </a:solidFill>
                <a:latin typeface="Segoe UI"/>
                <a:cs typeface="Segoe UI"/>
              </a:rPr>
              <a:t>Một data frame là một bảng: các hàng và các cột</a:t>
            </a:r>
          </a:p>
          <a:p>
            <a:pPr marL="0" indent="0" algn="l">
              <a:lnSpc>
                <a:spcPct val="108000"/>
              </a:lnSpc>
              <a:spcBef>
                <a:spcPts val="440"/>
              </a:spcBef>
              <a:buNone/>
            </a:pPr>
            <a:r>
              <a:rPr lang="en-US" sz="1800" dirty="0">
                <a:solidFill>
                  <a:srgbClr val="000000"/>
                </a:solidFill>
                <a:latin typeface="Segoe UI"/>
                <a:cs typeface="Segoe UI"/>
              </a:rPr>
              <a:t>Mỗi hàng là một bệnh nhân (một quan sát)</a:t>
            </a:r>
          </a:p>
          <a:p>
            <a:pPr marL="0" indent="0" algn="l">
              <a:lnSpc>
                <a:spcPct val="108000"/>
              </a:lnSpc>
              <a:spcBef>
                <a:spcPts val="440"/>
              </a:spcBef>
              <a:buNone/>
            </a:pPr>
            <a:r>
              <a:rPr lang="en-US" sz="1800" dirty="0">
                <a:solidFill>
                  <a:srgbClr val="000000"/>
                </a:solidFill>
                <a:latin typeface="Segoe UI"/>
                <a:cs typeface="Segoe UI"/>
              </a:rPr>
              <a:t>Mỗi cột là một biến (age, sex, sbp)</a:t>
            </a:r>
          </a:p>
          <a:p>
            <a:pPr>
              <a:buNone/>
            </a:pPr>
            <a:endParaRPr sz="1050"/>
          </a:p>
          <a:p>
            <a:pPr marL="0" indent="0" algn="l">
              <a:spcBef>
                <a:spcPts val="360"/>
              </a:spcBef>
              <a:buNone/>
            </a:pPr>
            <a:r>
              <a:rPr lang="en-US" sz="2050" b="1" dirty="0">
                <a:solidFill>
                  <a:srgbClr val="0D7377"/>
                </a:solidFill>
                <a:latin typeface="Segoe UI"/>
                <a:cs typeface="Segoe UI"/>
              </a:rPr>
              <a:t>Tibble</a:t>
            </a:r>
          </a:p>
          <a:p>
            <a:pPr marL="0" indent="0" algn="l">
              <a:lnSpc>
                <a:spcPct val="108000"/>
              </a:lnSpc>
              <a:spcBef>
                <a:spcPts val="440"/>
              </a:spcBef>
              <a:buNone/>
            </a:pPr>
            <a:r>
              <a:rPr lang="en-US" sz="1800" dirty="0">
                <a:solidFill>
                  <a:srgbClr val="000000"/>
                </a:solidFill>
                <a:latin typeface="Segoe UI"/>
                <a:cs typeface="Segoe UI"/>
              </a:rPr>
              <a:t>Phiên bản data frame của tidyverse</a:t>
            </a:r>
          </a:p>
          <a:p>
            <a:pPr marL="0" indent="0" algn="l">
              <a:lnSpc>
                <a:spcPct val="108000"/>
              </a:lnSpc>
              <a:spcBef>
                <a:spcPts val="440"/>
              </a:spcBef>
              <a:buNone/>
            </a:pPr>
            <a:r>
              <a:rPr lang="en-US" sz="1800" dirty="0">
                <a:solidFill>
                  <a:srgbClr val="000000"/>
                </a:solidFill>
                <a:latin typeface="Segoe UI"/>
                <a:cs typeface="Segoe UI"/>
              </a:rPr>
              <a:t>In ra gọn gàng và hiển thị kiểu của cột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Segoe UI"/>
                <a:cs typeface="Segoe UI"/>
              </a:rPr>
              <a:t>DIỄN GIẢI LÂM SÀNG  -  Đọc nó như một phòng khám</a:t>
            </a:r>
          </a:p>
          <a:p>
            <a:pPr marL="0" indent="0" algn="l">
              <a:spcBef>
                <a:spcPts val="100"/>
              </a:spcBef>
              <a:buNone/>
            </a:pPr>
            <a:r>
              <a:rPr lang="en-US" sz="1300" dirty="0">
                <a:solidFill>
                  <a:srgbClr val="000000"/>
                </a:solidFill>
                <a:latin typeface="Segoe UI"/>
                <a:cs typeface="Segoe UI"/>
              </a:rPr>
              <a:t>Các hàng là người; các cột là những gì bạn đo được.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Gói: Cài một lần, nạp mỗi phiên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Hai lệnh khác nhau</a:t>
            </a:r>
          </a:p>
          <a:p>
            <a:pPr marL="0" indent="0" algn="l">
              <a:lnSpc>
                <a:spcPct val="108000"/>
              </a:lnSpc>
              <a:spcBef>
                <a:spcPts val="440"/>
              </a:spcBef>
              <a:buNone/>
            </a:pPr>
            <a:r>
              <a:rPr lang="en-US" sz="1800" dirty="0">
                <a:solidFill>
                  <a:srgbClr val="000000"/>
                </a:solidFill>
                <a:latin typeface="Segoe UI"/>
                <a:cs typeface="Segoe UI"/>
              </a:rPr>
              <a:t>install.packages("tidyverse") tải nó về một lần</a:t>
            </a:r>
          </a:p>
          <a:p>
            <a:pPr marL="0" indent="0" algn="l">
              <a:lnSpc>
                <a:spcPct val="108000"/>
              </a:lnSpc>
              <a:spcBef>
                <a:spcPts val="440"/>
              </a:spcBef>
              <a:buNone/>
            </a:pPr>
            <a:r>
              <a:rPr lang="en-US" sz="1800" dirty="0">
                <a:solidFill>
                  <a:srgbClr val="000000"/>
                </a:solidFill>
                <a:latin typeface="Segoe UI"/>
                <a:cs typeface="Segoe UI"/>
              </a:rPr>
              <a:t>library(tidyverse) nạp nó mỗi phiên mới</a:t>
            </a:r>
          </a:p>
          <a:p>
            <a:pPr>
              <a:buNone/>
            </a:pPr>
            <a:endParaRPr sz="1050"/>
          </a:p>
          <a:p>
            <a:pPr marL="0" indent="0" algn="l">
              <a:spcBef>
                <a:spcPts val="360"/>
              </a:spcBef>
              <a:buNone/>
            </a:pPr>
            <a:r>
              <a:rPr lang="en-US" sz="2050" b="1" dirty="0">
                <a:solidFill>
                  <a:srgbClr val="0D7377"/>
                </a:solidFill>
                <a:latin typeface="Segoe UI"/>
                <a:cs typeface="Segoe UI"/>
              </a:rPr>
              <a:t>Các gói ta dùng hôm nay</a:t>
            </a:r>
          </a:p>
          <a:p>
            <a:pPr marL="0" indent="0" algn="l">
              <a:lnSpc>
                <a:spcPct val="108000"/>
              </a:lnSpc>
              <a:spcBef>
                <a:spcPts val="440"/>
              </a:spcBef>
              <a:buNone/>
            </a:pPr>
            <a:r>
              <a:rPr lang="en-US" sz="1800" dirty="0">
                <a:solidFill>
                  <a:srgbClr val="000000"/>
                </a:solidFill>
                <a:latin typeface="Segoe UI"/>
                <a:cs typeface="Segoe UI"/>
              </a:rPr>
              <a:t>tidyverse: nhập, xử lý, vẽ đồ thị</a:t>
            </a:r>
          </a:p>
          <a:p>
            <a:pPr marL="0" indent="0" algn="l">
              <a:lnSpc>
                <a:spcPct val="108000"/>
              </a:lnSpc>
              <a:spcBef>
                <a:spcPts val="440"/>
              </a:spcBef>
              <a:buNone/>
            </a:pPr>
            <a:r>
              <a:rPr lang="en-US" sz="1800" dirty="0">
                <a:solidFill>
                  <a:srgbClr val="000000"/>
                </a:solidFill>
                <a:latin typeface="Segoe UI"/>
                <a:cs typeface="Segoe UI"/>
              </a:rPr>
              <a:t>readxl: đọc tệp Excel .xlsx</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Segoe UI"/>
                <a:cs typeface="Segoe UI"/>
              </a:rPr>
              <a:t>LỖI THƯỜNG GẶP  -  Lỗi thường gặp</a:t>
            </a:r>
          </a:p>
          <a:p>
            <a:pPr marL="0" indent="0" algn="l">
              <a:spcBef>
                <a:spcPts val="100"/>
              </a:spcBef>
              <a:buNone/>
            </a:pPr>
            <a:r>
              <a:rPr lang="en-US" sz="1300" dirty="0">
                <a:solidFill>
                  <a:srgbClr val="000000"/>
                </a:solidFill>
                <a:latin typeface="Segoe UI"/>
                <a:cs typeface="Segoe UI"/>
              </a:rPr>
              <a:t>Chạy install.packages() mỗi lần (chậm, cần internet).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Nhập dữ liệu nghiên cứu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Nạp các gói trước, rồi đọc tệp.</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library(tidyverse)</a:t>
            </a:r>
          </a:p>
          <a:p>
            <a:pPr marL="0" indent="0" algn="l">
              <a:lnSpc>
                <a:spcPct val="100000"/>
              </a:lnSpc>
              <a:buNone/>
            </a:pPr>
            <a:r>
              <a:rPr lang="en-US" sz="1300" dirty="0">
                <a:solidFill>
                  <a:srgbClr val="1B3A4B"/>
                </a:solidFill>
                <a:latin typeface="Consolas"/>
                <a:cs typeface="Consolas"/>
              </a:rPr>
              <a:t>library(readxl)</a:t>
            </a:r>
          </a:p>
          <a:p>
            <a:pPr marL="0" indent="0" algn="l">
              <a:lnSpc>
                <a:spcPct val="100000"/>
              </a:lnSpc>
              <a:buNone/>
            </a:pPr>
            <a:r>
              <a:rPr lang="en-US" sz="1300" dirty="0">
                <a:solidFill>
                  <a:srgbClr val="1B3A4B"/>
                </a:solidFill>
                <a:latin typeface="Consolas"/>
                <a:cs typeface="Consolas"/>
              </a:rPr>
              <a:t>htn &lt;- read_csv("Data/hypertension_phc_raw.csv")</a:t>
            </a:r>
          </a:p>
          <a:p>
            <a:pPr marL="0" indent="0" algn="l">
              <a:lnSpc>
                <a:spcPct val="100000"/>
              </a:lnSpc>
              <a:buNone/>
            </a:pPr>
            <a:r>
              <a:rPr lang="en-US" sz="1300" dirty="0">
                <a:solidFill>
                  <a:srgbClr val="1B3A4B"/>
                </a:solidFill>
                <a:latin typeface="Consolas"/>
                <a:cs typeface="Consolas"/>
              </a:rPr>
              <a:t>htn_xl &lt;- read_excel(</a:t>
            </a:r>
          </a:p>
          <a:p>
            <a:pPr marL="0" indent="0" algn="l">
              <a:lnSpc>
                <a:spcPct val="100000"/>
              </a:lnSpc>
              <a:buNone/>
            </a:pPr>
            <a:r>
              <a:rPr lang="en-US" sz="1300" dirty="0">
                <a:solidFill>
                  <a:srgbClr val="1B3A4B"/>
                </a:solidFill>
                <a:latin typeface="Consolas"/>
                <a:cs typeface="Consolas"/>
              </a:rPr>
              <a:t>  "Data/hypertension_phc_raw.xlsx", sheet = "data")</a:t>
            </a:r>
          </a:p>
          <a:p>
            <a:pPr marL="0" indent="0" algn="l">
              <a:lnSpc>
                <a:spcPct val="100000"/>
              </a:lnSpc>
              <a:buNone/>
            </a:pPr>
            <a:r>
              <a:rPr lang="en-US" sz="1300" dirty="0">
                <a:solidFill>
                  <a:srgbClr val="1B3A4B"/>
                </a:solidFill>
                <a:latin typeface="Consolas"/>
                <a:cs typeface="Consolas"/>
              </a:rPr>
              <a:t>dim(htn)</a:t>
            </a:r>
          </a:p>
        </p:txBody>
      </p:sp>
      <p:sp>
        <p:nvSpPr>
          <p:cNvPr id="31" name="Output"/>
          <p:cNvSpPr/>
          <p:nvPr/>
        </p:nvSpPr>
        <p:spPr>
          <a:xfrm>
            <a:off x="457200" y="3230000"/>
            <a:ext cx="11277600" cy="7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Rows: 1503  Columns: 36</a:t>
            </a:r>
          </a:p>
          <a:p>
            <a:pPr marL="0" indent="0" algn="l">
              <a:lnSpc>
                <a:spcPct val="100000"/>
              </a:lnSpc>
              <a:buNone/>
            </a:pPr>
            <a:r>
              <a:rPr lang="en-US" sz="1250" dirty="0">
                <a:solidFill>
                  <a:srgbClr val="1A1A1A"/>
                </a:solidFill>
                <a:latin typeface="Consolas"/>
                <a:cs typeface="Consolas"/>
              </a:rPr>
              <a:t>[1] 1503   36</a:t>
            </a:r>
          </a:p>
        </p:txBody>
      </p:sp>
      <p:sp>
        <p:nvSpPr>
          <p:cNvPr id="32" name="Note"/>
          <p:cNvSpPr/>
          <p:nvPr/>
        </p:nvSpPr>
        <p:spPr>
          <a:xfrm>
            <a:off x="457200" y="40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read_csv cho CSV, read_excel cho Excel. Lưu ý 1503, không phải 1500.</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Xem lần đầu: Hiểu dữ liệu của bạn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Segoe UI"/>
                <a:cs typeface="Segoe UI"/>
              </a:rPr>
              <a:t>Chạy những lệnh này ngay khoảnh khắc bất kỳ bộ dữ liệu nào được nhập.</a:t>
            </a:r>
          </a:p>
          <a:p>
            <a:pPr>
              <a:buNone/>
            </a:pPr>
            <a:endParaRPr sz="950"/>
          </a:p>
          <a:p>
            <a:pPr marL="274320" indent="-274320" algn="l">
              <a:lnSpc>
                <a:spcPct val="106000"/>
              </a:lnSpc>
              <a:spcBef>
                <a:spcPts val="560"/>
              </a:spcBef>
              <a:buFont typeface="Arial"/>
              <a:buChar char="•"/>
            </a:pPr>
            <a:r>
              <a:rPr lang="en-US" sz="1950" dirty="0">
                <a:solidFill>
                  <a:srgbClr val="000000"/>
                </a:solidFill>
                <a:latin typeface="Segoe UI"/>
                <a:cs typeface="Segoe UI"/>
              </a:rPr>
              <a:t>dim(htn): bao nhiêu hàng và cột</a:t>
            </a:r>
          </a:p>
          <a:p>
            <a:pPr marL="274320" indent="-274320" algn="l">
              <a:lnSpc>
                <a:spcPct val="106000"/>
              </a:lnSpc>
              <a:spcBef>
                <a:spcPts val="560"/>
              </a:spcBef>
              <a:buFont typeface="Arial"/>
              <a:buChar char="•"/>
            </a:pPr>
            <a:r>
              <a:rPr lang="en-US" sz="1950" dirty="0">
                <a:solidFill>
                  <a:srgbClr val="000000"/>
                </a:solidFill>
                <a:latin typeface="Segoe UI"/>
                <a:cs typeface="Segoe UI"/>
              </a:rPr>
              <a:t>names(htn): tên các biến</a:t>
            </a:r>
          </a:p>
          <a:p>
            <a:pPr marL="274320" indent="-274320" algn="l">
              <a:lnSpc>
                <a:spcPct val="106000"/>
              </a:lnSpc>
              <a:spcBef>
                <a:spcPts val="560"/>
              </a:spcBef>
              <a:buFont typeface="Arial"/>
              <a:buChar char="•"/>
            </a:pPr>
            <a:r>
              <a:rPr lang="en-US" sz="1950" dirty="0">
                <a:solidFill>
                  <a:srgbClr val="000000"/>
                </a:solidFill>
                <a:latin typeface="Segoe UI"/>
                <a:cs typeface="Segoe UI"/>
              </a:rPr>
              <a:t>glimpse(htn): mỗi cột cùng với kiểu của nó</a:t>
            </a:r>
          </a:p>
          <a:p>
            <a:pPr marL="274320" indent="-274320" algn="l">
              <a:lnSpc>
                <a:spcPct val="106000"/>
              </a:lnSpc>
              <a:spcBef>
                <a:spcPts val="560"/>
              </a:spcBef>
              <a:buFont typeface="Arial"/>
              <a:buChar char="•"/>
            </a:pPr>
            <a:r>
              <a:rPr lang="en-US" sz="1950" dirty="0">
                <a:solidFill>
                  <a:srgbClr val="000000"/>
                </a:solidFill>
                <a:latin typeface="Segoe UI"/>
                <a:cs typeface="Segoe UI"/>
              </a:rPr>
              <a:t>head(htn): vài hàng đầu tiên</a:t>
            </a:r>
          </a:p>
          <a:p>
            <a:pPr marL="274320" indent="-274320" algn="l">
              <a:lnSpc>
                <a:spcPct val="106000"/>
              </a:lnSpc>
              <a:spcBef>
                <a:spcPts val="560"/>
              </a:spcBef>
              <a:buFont typeface="Arial"/>
              <a:buChar char="•"/>
            </a:pPr>
            <a:r>
              <a:rPr lang="en-US" sz="1950" dirty="0">
                <a:solidFill>
                  <a:srgbClr val="000000"/>
                </a:solidFill>
                <a:latin typeface="Segoe UI"/>
                <a:cs typeface="Segoe UI"/>
              </a:rPr>
              <a:t>View(htn): mở trình xem dạng bảng tính</a:t>
            </a:r>
          </a:p>
          <a:p>
            <a:pPr marL="274320" indent="-274320" algn="l">
              <a:lnSpc>
                <a:spcPct val="106000"/>
              </a:lnSpc>
              <a:spcBef>
                <a:spcPts val="560"/>
              </a:spcBef>
              <a:buFont typeface="Arial"/>
              <a:buChar char="•"/>
            </a:pPr>
            <a:r>
              <a:rPr lang="en-US" sz="1950" dirty="0">
                <a:solidFill>
                  <a:srgbClr val="000000"/>
                </a:solidFill>
                <a:latin typeface="Segoe UI"/>
                <a:cs typeface="Segoe UI"/>
              </a:rPr>
              <a:t>htn$age: rút một cột ra bằng dấu đô-la</a:t>
            </a:r>
          </a:p>
          <a:p>
            <a:pPr marL="274320" indent="-274320" algn="l">
              <a:lnSpc>
                <a:spcPct val="106000"/>
              </a:lnSpc>
              <a:spcBef>
                <a:spcPts val="560"/>
              </a:spcBef>
              <a:buFont typeface="Arial"/>
              <a:buChar char="•"/>
            </a:pPr>
            <a:r>
              <a:rPr lang="en-US" sz="1950" dirty="0">
                <a:solidFill>
                  <a:srgbClr val="000000"/>
                </a:solidFill>
                <a:latin typeface="Segoe UI"/>
                <a:cs typeface="Segoe UI"/>
              </a:rPr>
              <a:t>summary(htn$age): min, trung bình, max của một biến</a:t>
            </a:r>
          </a:p>
          <a:p>
            <a:pPr marL="274320" indent="-274320" algn="l">
              <a:lnSpc>
                <a:spcPct val="106000"/>
              </a:lnSpc>
              <a:spcBef>
                <a:spcPts val="560"/>
              </a:spcBef>
              <a:buFont typeface="Arial"/>
              <a:buChar char="•"/>
            </a:pPr>
            <a:r>
              <a:rPr lang="en-US" sz="1950" dirty="0">
                <a:solidFill>
                  <a:srgbClr val="000000"/>
                </a:solidFill>
                <a:latin typeface="Segoe UI"/>
                <a:cs typeface="Segoe UI"/>
              </a:rPr>
              <a:t>table(htn$sex): số đếm của mỗi phân loại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Xem xét từng biến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Dấu $ rút một cột ra để tóm tắt.</a:t>
            </a:r>
          </a:p>
        </p:txBody>
      </p:sp>
      <p:sp>
        <p:nvSpPr>
          <p:cNvPr id="30" name="Code"/>
          <p:cNvSpPr/>
          <p:nvPr/>
        </p:nvSpPr>
        <p:spPr>
          <a:xfrm>
            <a:off x="457200" y="1640000"/>
            <a:ext cx="11277600" cy="60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summary(htn$age)</a:t>
            </a:r>
          </a:p>
          <a:p>
            <a:pPr marL="0" indent="0" algn="l">
              <a:lnSpc>
                <a:spcPct val="100000"/>
              </a:lnSpc>
              <a:buNone/>
            </a:pPr>
            <a:r>
              <a:rPr lang="en-US" sz="1300" dirty="0">
                <a:solidFill>
                  <a:srgbClr val="1B3A4B"/>
                </a:solidFill>
                <a:latin typeface="Consolas"/>
                <a:cs typeface="Consolas"/>
              </a:rPr>
              <a:t>table(htn$sex)</a:t>
            </a:r>
          </a:p>
        </p:txBody>
      </p:sp>
      <p:sp>
        <p:nvSpPr>
          <p:cNvPr id="31" name="Output"/>
          <p:cNvSpPr/>
          <p:nvPr/>
        </p:nvSpPr>
        <p:spPr>
          <a:xfrm>
            <a:off x="457200" y="239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   Min. 1st Qu.  Median    Mean 3rd Qu.    Max.</a:t>
            </a:r>
          </a:p>
          <a:p>
            <a:pPr marL="0" indent="0" algn="l">
              <a:lnSpc>
                <a:spcPct val="100000"/>
              </a:lnSpc>
              <a:buNone/>
            </a:pPr>
            <a:r>
              <a:rPr lang="en-US" sz="1250" dirty="0">
                <a:solidFill>
                  <a:srgbClr val="1A1A1A"/>
                </a:solidFill>
                <a:latin typeface="Consolas"/>
                <a:cs typeface="Consolas"/>
              </a:rPr>
              <a:t>   0.0    38.0    52.0    53.4    66.0   200.0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     f      F female Female      m ...</a:t>
            </a:r>
          </a:p>
          <a:p>
            <a:pPr marL="0" indent="0" algn="l">
              <a:lnSpc>
                <a:spcPct val="100000"/>
              </a:lnSpc>
              <a:buNone/>
            </a:pPr>
            <a:r>
              <a:rPr lang="en-US" sz="1250" dirty="0">
                <a:solidFill>
                  <a:srgbClr val="1A1A1A"/>
                </a:solidFill>
                <a:latin typeface="Consolas"/>
                <a:cs typeface="Consolas"/>
              </a:rPr>
              <a:t>    11     63    402    498     14 ...</a:t>
            </a:r>
          </a:p>
        </p:txBody>
      </p:sp>
      <p:sp>
        <p:nvSpPr>
          <p:cNvPr id="32" name="Note"/>
          <p:cNvSpPr/>
          <p:nvPr/>
        </p:nvSpPr>
        <p:spPr>
          <a:xfrm>
            <a:off x="457200" y="383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Tuổi cao nhất 200 và tám cách viết của sex: dữ liệu này cần được làm sạch.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Lỗi thường gặp và gỡ lỗi nhanh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Khi nó không chạy, hãy kiểm tra</a:t>
            </a:r>
          </a:p>
          <a:p>
            <a:pPr marL="0" indent="0" algn="l">
              <a:lnSpc>
                <a:spcPct val="108000"/>
              </a:lnSpc>
              <a:spcBef>
                <a:spcPts val="440"/>
              </a:spcBef>
              <a:buNone/>
            </a:pPr>
            <a:r>
              <a:rPr lang="en-US" sz="1800" dirty="0">
                <a:solidFill>
                  <a:srgbClr val="000000"/>
                </a:solidFill>
                <a:latin typeface="Segoe UI"/>
                <a:cs typeface="Segoe UI"/>
              </a:rPr>
              <a:t>Bạn đã chạy library() cho gói chưa?</a:t>
            </a:r>
          </a:p>
          <a:p>
            <a:pPr marL="0" indent="0" algn="l">
              <a:lnSpc>
                <a:spcPct val="108000"/>
              </a:lnSpc>
              <a:spcBef>
                <a:spcPts val="440"/>
              </a:spcBef>
              <a:buNone/>
            </a:pPr>
            <a:r>
              <a:rPr lang="en-US" sz="1800" dirty="0">
                <a:solidFill>
                  <a:srgbClr val="000000"/>
                </a:solidFill>
                <a:latin typeface="Segoe UI"/>
                <a:cs typeface="Segoe UI"/>
              </a:rPr>
              <a:t>Bạn đã dùng &lt;- chứ không phải = cho phép gán chưa?</a:t>
            </a:r>
          </a:p>
          <a:p>
            <a:pPr marL="0" indent="0" algn="l">
              <a:lnSpc>
                <a:spcPct val="108000"/>
              </a:lnSpc>
              <a:spcBef>
                <a:spcPts val="440"/>
              </a:spcBef>
              <a:buNone/>
            </a:pPr>
            <a:r>
              <a:rPr lang="en-US" sz="1800" dirty="0">
                <a:solidFill>
                  <a:srgbClr val="000000"/>
                </a:solidFill>
                <a:latin typeface="Segoe UI"/>
                <a:cs typeface="Segoe UI"/>
              </a:rPr>
              <a:t>Chính tả và HOA-thường có đúng chính xác không?</a:t>
            </a:r>
          </a:p>
          <a:p>
            <a:pPr marL="0" indent="0" algn="l">
              <a:lnSpc>
                <a:spcPct val="108000"/>
              </a:lnSpc>
              <a:spcBef>
                <a:spcPts val="440"/>
              </a:spcBef>
              <a:buNone/>
            </a:pPr>
            <a:r>
              <a:rPr lang="en-US" sz="1800" dirty="0">
                <a:solidFill>
                  <a:srgbClr val="000000"/>
                </a:solidFill>
                <a:latin typeface="Segoe UI"/>
                <a:cs typeface="Segoe UI"/>
              </a:rPr>
              <a:t>Đường dẫn và tên tệp có đúng không?</a:t>
            </a:r>
          </a:p>
          <a:p>
            <a:pPr>
              <a:buNone/>
            </a:pPr>
            <a:endParaRPr sz="1050"/>
          </a:p>
          <a:p>
            <a:pPr>
              <a:buNone/>
            </a:pPr>
            <a:endParaRPr sz="1050"/>
          </a:p>
        </p:txBody>
      </p:sp>
      <p:sp>
        <p:nvSpPr>
          <p:cNvPr id="40" name="Callout"/>
          <p:cNvSpPr/>
          <p:nvPr/>
        </p:nvSpPr>
        <p:spPr>
          <a:xfrm>
            <a:off x="457200" y="413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Segoe UI"/>
                <a:cs typeface="Segoe UI"/>
              </a:rPr>
              <a:t>CẢNH BÁO  -  could not find function</a:t>
            </a:r>
          </a:p>
          <a:p>
            <a:pPr marL="0" indent="0" algn="l">
              <a:spcBef>
                <a:spcPts val="100"/>
              </a:spcBef>
              <a:buNone/>
            </a:pPr>
            <a:r>
              <a:rPr lang="en-US" sz="1300" dirty="0">
                <a:solidFill>
                  <a:srgbClr val="000000"/>
                </a:solidFill>
                <a:latin typeface="Segoe UI"/>
                <a:cs typeface="Segoe UI"/>
              </a:rPr>
              <a:t>Thường nghĩa là gói chưa được nạp: hãy chạy library().</a:t>
            </a:r>
          </a:p>
        </p:txBody>
      </p:sp>
      <p:sp>
        <p:nvSpPr>
          <p:cNvPr id="41"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Segoe UI"/>
                <a:cs typeface="Segoe UI"/>
              </a:rPr>
              <a:t>LỖI THƯỜNG GẶP  -  cannot open file</a:t>
            </a:r>
          </a:p>
          <a:p>
            <a:pPr marL="0" indent="0" algn="l">
              <a:spcBef>
                <a:spcPts val="100"/>
              </a:spcBef>
              <a:buNone/>
            </a:pPr>
            <a:r>
              <a:rPr lang="en-US" sz="1300" dirty="0">
                <a:solidFill>
                  <a:srgbClr val="000000"/>
                </a:solidFill>
                <a:latin typeface="Segoe UI"/>
                <a:cs typeface="Segoe UI"/>
              </a:rPr>
              <a:t>Sai đường dẫn hoặc tên tệp; kiểm tra khung Files.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Dữ liệu đã cho ta biết điều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Các vấn đề nhìn thấy ngay lần xem đầu</a:t>
            </a:r>
          </a:p>
          <a:p>
            <a:pPr marL="0" indent="0" algn="l">
              <a:lnSpc>
                <a:spcPct val="108000"/>
              </a:lnSpc>
              <a:spcBef>
                <a:spcPts val="440"/>
              </a:spcBef>
              <a:buNone/>
            </a:pPr>
            <a:r>
              <a:rPr lang="en-US" sz="1800" dirty="0">
                <a:solidFill>
                  <a:srgbClr val="000000"/>
                </a:solidFill>
                <a:latin typeface="Segoe UI"/>
                <a:cs typeface="Segoe UI"/>
              </a:rPr>
              <a:t>Age = 200 và age = 0: giá trị bất khả</a:t>
            </a:r>
          </a:p>
          <a:p>
            <a:pPr marL="0" indent="0" algn="l">
              <a:lnSpc>
                <a:spcPct val="108000"/>
              </a:lnSpc>
              <a:spcBef>
                <a:spcPts val="440"/>
              </a:spcBef>
              <a:buNone/>
            </a:pPr>
            <a:r>
              <a:rPr lang="en-US" sz="1800" dirty="0">
                <a:solidFill>
                  <a:srgbClr val="000000"/>
                </a:solidFill>
                <a:latin typeface="Segoe UI"/>
                <a:cs typeface="Segoe UI"/>
              </a:rPr>
              <a:t>Sex được ghi theo tám cách khác nhau</a:t>
            </a:r>
          </a:p>
          <a:p>
            <a:pPr marL="0" indent="0" algn="l">
              <a:lnSpc>
                <a:spcPct val="108000"/>
              </a:lnSpc>
              <a:spcBef>
                <a:spcPts val="440"/>
              </a:spcBef>
              <a:buNone/>
            </a:pPr>
            <a:r>
              <a:rPr lang="en-US" sz="1800" dirty="0">
                <a:solidFill>
                  <a:srgbClr val="000000"/>
                </a:solidFill>
                <a:latin typeface="Segoe UI"/>
                <a:cs typeface="Segoe UI"/>
              </a:rPr>
              <a:t>1503 hàng cho 1.500 người: bản ghi trùng</a:t>
            </a:r>
          </a:p>
          <a:p>
            <a:pPr>
              <a:buNone/>
            </a:pPr>
            <a:endParaRPr sz="1050"/>
          </a:p>
          <a:p>
            <a:pPr marL="0" indent="0" algn="l">
              <a:spcBef>
                <a:spcPts val="360"/>
              </a:spcBef>
              <a:buNone/>
            </a:pPr>
            <a:r>
              <a:rPr lang="en-US" sz="2050" b="1" dirty="0">
                <a:solidFill>
                  <a:srgbClr val="0D7377"/>
                </a:solidFill>
                <a:latin typeface="Segoe UI"/>
                <a:cs typeface="Segoe UI"/>
              </a:rPr>
              <a:t>Vì sao đây là tin tốt</a:t>
            </a:r>
          </a:p>
          <a:p>
            <a:pPr marL="0" indent="0" algn="l">
              <a:lnSpc>
                <a:spcPct val="108000"/>
              </a:lnSpc>
              <a:spcBef>
                <a:spcPts val="440"/>
              </a:spcBef>
              <a:buNone/>
            </a:pPr>
            <a:r>
              <a:rPr lang="en-US" sz="1800" dirty="0">
                <a:solidFill>
                  <a:srgbClr val="000000"/>
                </a:solidFill>
                <a:latin typeface="Segoe UI"/>
                <a:cs typeface="Segoe UI"/>
              </a:rPr>
              <a:t>Ta phát hiện nó trong vài giây, trước mọi phân tích</a:t>
            </a:r>
          </a:p>
          <a:p>
            <a:pPr marL="0" indent="0" algn="l">
              <a:lnSpc>
                <a:spcPct val="108000"/>
              </a:lnSpc>
              <a:spcBef>
                <a:spcPts val="440"/>
              </a:spcBef>
              <a:buNone/>
            </a:pPr>
            <a:r>
              <a:rPr lang="en-US" sz="1800" dirty="0">
                <a:solidFill>
                  <a:srgbClr val="000000"/>
                </a:solidFill>
                <a:latin typeface="Segoe UI"/>
                <a:cs typeface="Segoe UI"/>
              </a:rPr>
              <a:t>Làm sạch là chủ đề của Ngày 2</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Segoe UI"/>
                <a:cs typeface="Segoe UI"/>
              </a:rPr>
              <a:t>DIỄN GIẢI LÂM SÀNG  -  Rác vào, rác ra</a:t>
            </a:r>
          </a:p>
          <a:p>
            <a:pPr marL="0" indent="0" algn="l">
              <a:spcBef>
                <a:spcPts val="100"/>
              </a:spcBef>
              <a:buNone/>
            </a:pPr>
            <a:r>
              <a:rPr lang="en-US" sz="1300" dirty="0">
                <a:solidFill>
                  <a:srgbClr val="000000"/>
                </a:solidFill>
                <a:latin typeface="Segoe UI"/>
                <a:cs typeface="Segoe UI"/>
              </a:rPr>
              <a:t>Không thống kê nào đáng tin trên dữ liệu chưa được làm sạch.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Bài thực hành Ngày 1: Nhập bộ dữ liệu lâm sàng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Nhiệm vụ của bạn</a:t>
            </a:r>
          </a:p>
          <a:p>
            <a:pPr marL="0" indent="0" algn="l">
              <a:lnSpc>
                <a:spcPct val="108000"/>
              </a:lnSpc>
              <a:spcBef>
                <a:spcPts val="440"/>
              </a:spcBef>
              <a:buNone/>
            </a:pPr>
            <a:r>
              <a:rPr lang="en-US" sz="1800" dirty="0">
                <a:solidFill>
                  <a:srgbClr val="000000"/>
                </a:solidFill>
                <a:latin typeface="Segoe UI"/>
                <a:cs typeface="Segoe UI"/>
              </a:rPr>
              <a:t>Mở Project RStudio của khóa học</a:t>
            </a:r>
          </a:p>
          <a:p>
            <a:pPr marL="0" indent="0" algn="l">
              <a:lnSpc>
                <a:spcPct val="108000"/>
              </a:lnSpc>
              <a:spcBef>
                <a:spcPts val="440"/>
              </a:spcBef>
              <a:buNone/>
            </a:pPr>
            <a:r>
              <a:rPr lang="en-US" sz="1800" dirty="0">
                <a:solidFill>
                  <a:srgbClr val="000000"/>
                </a:solidFill>
                <a:latin typeface="Segoe UI"/>
                <a:cs typeface="Segoe UI"/>
              </a:rPr>
              <a:t>library(tidyverse) và library(readxl)</a:t>
            </a:r>
          </a:p>
          <a:p>
            <a:pPr marL="0" indent="0" algn="l">
              <a:lnSpc>
                <a:spcPct val="108000"/>
              </a:lnSpc>
              <a:spcBef>
                <a:spcPts val="440"/>
              </a:spcBef>
              <a:buNone/>
            </a:pPr>
            <a:r>
              <a:rPr lang="en-US" sz="1800" dirty="0">
                <a:solidFill>
                  <a:srgbClr val="000000"/>
                </a:solidFill>
                <a:latin typeface="Segoe UI"/>
                <a:cs typeface="Segoe UI"/>
              </a:rPr>
              <a:t>Nhập tệp CSV bằng read_csv()</a:t>
            </a:r>
          </a:p>
          <a:p>
            <a:pPr marL="0" indent="0" algn="l">
              <a:lnSpc>
                <a:spcPct val="108000"/>
              </a:lnSpc>
              <a:spcBef>
                <a:spcPts val="440"/>
              </a:spcBef>
              <a:buNone/>
            </a:pPr>
            <a:r>
              <a:rPr lang="en-US" sz="1800" dirty="0">
                <a:solidFill>
                  <a:srgbClr val="000000"/>
                </a:solidFill>
                <a:latin typeface="Segoe UI"/>
                <a:cs typeface="Segoe UI"/>
              </a:rPr>
              <a:t>Nhập tệp Excel bằng read_excel()</a:t>
            </a:r>
          </a:p>
          <a:p>
            <a:pPr marL="0" indent="0" algn="l">
              <a:lnSpc>
                <a:spcPct val="108000"/>
              </a:lnSpc>
              <a:spcBef>
                <a:spcPts val="440"/>
              </a:spcBef>
              <a:buNone/>
            </a:pPr>
            <a:r>
              <a:rPr lang="en-US" sz="1800" dirty="0">
                <a:solidFill>
                  <a:srgbClr val="000000"/>
                </a:solidFill>
                <a:latin typeface="Segoe UI"/>
                <a:cs typeface="Segoe UI"/>
              </a:rPr>
              <a:t>Chạy glimpse() trên dữ liệu</a:t>
            </a:r>
          </a:p>
          <a:p>
            <a:pPr marL="0" indent="0" algn="l">
              <a:lnSpc>
                <a:spcPct val="108000"/>
              </a:lnSpc>
              <a:spcBef>
                <a:spcPts val="440"/>
              </a:spcBef>
              <a:buNone/>
            </a:pPr>
            <a:r>
              <a:rPr lang="en-US" sz="1800" dirty="0">
                <a:solidFill>
                  <a:srgbClr val="000000"/>
                </a:solidFill>
                <a:latin typeface="Segoe UI"/>
                <a:cs typeface="Segoe UI"/>
              </a:rPr>
              <a:t>summary() cột age, table() cột sex</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Cần chú ý điều gì</a:t>
            </a:r>
          </a:p>
          <a:p>
            <a:pPr marL="0" indent="0" algn="l">
              <a:spcBef>
                <a:spcPts val="100"/>
              </a:spcBef>
              <a:buNone/>
            </a:pPr>
            <a:r>
              <a:rPr lang="en-US" sz="1300" dirty="0">
                <a:solidFill>
                  <a:srgbClr val="000000"/>
                </a:solidFill>
                <a:latin typeface="Segoe UI"/>
                <a:cs typeface="Segoe UI"/>
              </a:rPr>
              <a:t>Phát hiện tuổi bất khả, nhiều cách viết của sex, 1503 hàng.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Ôn tập và bắc cầu sang Ngày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Hôm nay bạn đã học được cách</a:t>
            </a:r>
          </a:p>
          <a:p>
            <a:pPr marL="0" indent="0" algn="l">
              <a:lnSpc>
                <a:spcPct val="108000"/>
              </a:lnSpc>
              <a:spcBef>
                <a:spcPts val="440"/>
              </a:spcBef>
              <a:buNone/>
            </a:pPr>
            <a:r>
              <a:rPr lang="en-US" sz="1800" dirty="0">
                <a:solidFill>
                  <a:srgbClr val="000000"/>
                </a:solidFill>
                <a:latin typeface="Segoe UI"/>
                <a:cs typeface="Segoe UI"/>
              </a:rPr>
              <a:t>Phân biệt R với RStudio và tìm bốn khung</a:t>
            </a:r>
          </a:p>
          <a:p>
            <a:pPr marL="0" indent="0" algn="l">
              <a:lnSpc>
                <a:spcPct val="108000"/>
              </a:lnSpc>
              <a:spcBef>
                <a:spcPts val="440"/>
              </a:spcBef>
              <a:buNone/>
            </a:pPr>
            <a:r>
              <a:rPr lang="en-US" sz="1800" dirty="0">
                <a:solidFill>
                  <a:srgbClr val="000000"/>
                </a:solidFill>
                <a:latin typeface="Segoe UI"/>
                <a:cs typeface="Segoe UI"/>
              </a:rPr>
              <a:t>Làm việc trong một Project với một tập lệnh đã lưu</a:t>
            </a:r>
          </a:p>
          <a:p>
            <a:pPr marL="0" indent="0" algn="l">
              <a:lnSpc>
                <a:spcPct val="108000"/>
              </a:lnSpc>
              <a:spcBef>
                <a:spcPts val="440"/>
              </a:spcBef>
              <a:buNone/>
            </a:pPr>
            <a:r>
              <a:rPr lang="en-US" sz="1800" dirty="0">
                <a:solidFill>
                  <a:srgbClr val="000000"/>
                </a:solidFill>
                <a:latin typeface="Segoe UI"/>
                <a:cs typeface="Segoe UI"/>
              </a:rPr>
              <a:t>Tạo đối tượng (&lt;-) và vector (c())</a:t>
            </a:r>
          </a:p>
          <a:p>
            <a:pPr marL="0" indent="0" algn="l">
              <a:lnSpc>
                <a:spcPct val="108000"/>
              </a:lnSpc>
              <a:spcBef>
                <a:spcPts val="440"/>
              </a:spcBef>
              <a:buNone/>
            </a:pPr>
            <a:r>
              <a:rPr lang="en-US" sz="1800" dirty="0">
                <a:solidFill>
                  <a:srgbClr val="000000"/>
                </a:solidFill>
                <a:latin typeface="Segoe UI"/>
                <a:cs typeface="Segoe UI"/>
              </a:rPr>
              <a:t>Nạp các gói và nhập dữ liệu CSV và Excel</a:t>
            </a:r>
          </a:p>
          <a:p>
            <a:pPr marL="0" indent="0" algn="l">
              <a:lnSpc>
                <a:spcPct val="108000"/>
              </a:lnSpc>
              <a:spcBef>
                <a:spcPts val="440"/>
              </a:spcBef>
              <a:buNone/>
            </a:pPr>
            <a:r>
              <a:rPr lang="en-US" sz="1800" dirty="0">
                <a:solidFill>
                  <a:srgbClr val="000000"/>
                </a:solidFill>
                <a:latin typeface="Segoe UI"/>
                <a:cs typeface="Segoe UI"/>
              </a:rPr>
              <a:t>Xem xét dữ liệu với glimpse, summary và table</a:t>
            </a:r>
          </a:p>
          <a:p>
            <a:pPr>
              <a:buNone/>
            </a:pPr>
            <a:endParaRPr sz="1050"/>
          </a:p>
          <a:p>
            <a:pPr marL="0" indent="0" algn="l">
              <a:spcBef>
                <a:spcPts val="360"/>
              </a:spcBef>
              <a:buNone/>
            </a:pPr>
            <a:r>
              <a:rPr lang="en-US" sz="2050" b="1" dirty="0">
                <a:solidFill>
                  <a:srgbClr val="0D7377"/>
                </a:solidFill>
                <a:latin typeface="Segoe UI"/>
                <a:cs typeface="Segoe UI"/>
              </a:rPr>
              <a:t>Ngày mai: Ngày 2</a:t>
            </a:r>
          </a:p>
          <a:p>
            <a:pPr marL="0" indent="0" algn="l">
              <a:lnSpc>
                <a:spcPct val="108000"/>
              </a:lnSpc>
              <a:spcBef>
                <a:spcPts val="440"/>
              </a:spcBef>
              <a:buNone/>
            </a:pPr>
            <a:r>
              <a:rPr lang="en-US" sz="1800" dirty="0">
                <a:solidFill>
                  <a:srgbClr val="000000"/>
                </a:solidFill>
                <a:latin typeface="Segoe UI"/>
                <a:cs typeface="Segoe UI"/>
              </a:rPr>
              <a:t>Làm sạch mớ hỗn độn: sửa tuổi, hợp nhất các phân loại</a:t>
            </a:r>
          </a:p>
          <a:p>
            <a:pPr marL="0" indent="0" algn="l">
              <a:lnSpc>
                <a:spcPct val="108000"/>
              </a:lnSpc>
              <a:spcBef>
                <a:spcPts val="440"/>
              </a:spcBef>
              <a:buNone/>
            </a:pPr>
            <a:r>
              <a:rPr lang="en-US" sz="1800" dirty="0">
                <a:solidFill>
                  <a:srgbClr val="000000"/>
                </a:solidFill>
                <a:latin typeface="Segoe UI"/>
                <a:cs typeface="Segoe UI"/>
              </a:rPr>
              <a:t>Loại bỏ bản ghi trùng và xử lý giá trị khuyết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Segoe UI"/>
                <a:cs typeface="Segoe UI"/>
              </a:rPr>
              <a:t>LƯU Ý  -  Làm tốt lắm</a:t>
            </a:r>
          </a:p>
          <a:p>
            <a:pPr marL="0" indent="0" algn="l">
              <a:spcBef>
                <a:spcPts val="100"/>
              </a:spcBef>
              <a:buNone/>
            </a:pPr>
            <a:r>
              <a:rPr lang="en-US" sz="1300" dirty="0">
                <a:solidFill>
                  <a:srgbClr val="000000"/>
                </a:solidFill>
                <a:latin typeface="Segoe UI"/>
                <a:cs typeface="Segoe UI"/>
              </a:rPr>
              <a:t>Bạn đã nhập dữ liệu lâm sàng thật ngay ngày đầu tiên.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Segoe UI"/>
                <a:cs typeface="Segoe UI"/>
              </a:rPr>
              <a:t>Ngày 2: Hiểu &amp; Làm sạch dữ liệu lâm sàng</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Segoe UI"/>
                <a:cs typeface="Segoe UI"/>
              </a:rPr>
              <a:t>Kế hoạch</a:t>
            </a:r>
          </a:p>
          <a:p>
            <a:pPr>
              <a:buNone/>
            </a:pPr>
            <a:endParaRPr sz="800"/>
          </a:p>
          <a:p>
            <a:pPr marL="274320" indent="-274320" algn="l">
              <a:spcBef>
                <a:spcPts val="440"/>
              </a:spcBef>
              <a:buFont typeface="Arial"/>
              <a:buChar char="•"/>
            </a:pPr>
            <a:r>
              <a:rPr lang="en-US" sz="1900" dirty="0">
                <a:solidFill>
                  <a:srgbClr val="000000"/>
                </a:solidFill>
                <a:latin typeface="Segoe UI"/>
                <a:cs typeface="Segoe UI"/>
              </a:rPr>
              <a:t>Vì sao làm sạch quan trọng: rác vào, rác ra</a:t>
            </a:r>
          </a:p>
          <a:p>
            <a:pPr marL="274320" indent="-274320" algn="l">
              <a:spcBef>
                <a:spcPts val="440"/>
              </a:spcBef>
              <a:buFont typeface="Arial"/>
              <a:buChar char="•"/>
            </a:pPr>
            <a:r>
              <a:rPr lang="en-US" sz="1900" dirty="0">
                <a:solidFill>
                  <a:srgbClr val="000000"/>
                </a:solidFill>
                <a:latin typeface="Segoe UI"/>
                <a:cs typeface="Segoe UI"/>
              </a:rPr>
              <a:t>Các kiểu biến và mã hoá lâm sàng</a:t>
            </a:r>
          </a:p>
          <a:p>
            <a:pPr marL="274320" indent="-274320" algn="l">
              <a:spcBef>
                <a:spcPts val="440"/>
              </a:spcBef>
              <a:buFont typeface="Arial"/>
              <a:buChar char="•"/>
            </a:pPr>
            <a:r>
              <a:rPr lang="en-US" sz="1900" dirty="0">
                <a:solidFill>
                  <a:srgbClr val="000000"/>
                </a:solidFill>
                <a:latin typeface="Segoe UI"/>
                <a:cs typeface="Segoe UI"/>
              </a:rPr>
              <a:t>Dữ liệu khuyết, bản ghi trùng, phân loại không nhất quán</a:t>
            </a:r>
          </a:p>
          <a:p>
            <a:pPr marL="274320" indent="-274320" algn="l">
              <a:spcBef>
                <a:spcPts val="440"/>
              </a:spcBef>
              <a:buFont typeface="Arial"/>
              <a:buChar char="•"/>
            </a:pPr>
            <a:r>
              <a:rPr lang="en-US" sz="1900" dirty="0">
                <a:solidFill>
                  <a:srgbClr val="000000"/>
                </a:solidFill>
                <a:latin typeface="Segoe UI"/>
                <a:cs typeface="Segoe UI"/>
              </a:rPr>
              <a:t>Kiểm định, mã hoá lại, ngày tháng và biến phân loại (factor)</a:t>
            </a:r>
          </a:p>
          <a:p>
            <a:pPr marL="274320" indent="-274320" algn="l">
              <a:spcBef>
                <a:spcPts val="440"/>
              </a:spcBef>
              <a:buFont typeface="Arial"/>
              <a:buChar char="•"/>
            </a:pPr>
            <a:r>
              <a:rPr lang="en-US" sz="1900" dirty="0">
                <a:solidFill>
                  <a:srgbClr val="000000"/>
                </a:solidFill>
                <a:latin typeface="Segoe UI"/>
                <a:cs typeface="Segoe UI"/>
              </a:rPr>
              <a:t>Lưu bộ dữ liệu sạch: bản giao ước cho các Ngày 3-5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Vì sao làm sạch dữ liệu quan trọng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Rác vào, rác ra</a:t>
            </a:r>
          </a:p>
          <a:p>
            <a:pPr marL="0" indent="0" algn="l">
              <a:lnSpc>
                <a:spcPct val="108000"/>
              </a:lnSpc>
              <a:spcBef>
                <a:spcPts val="440"/>
              </a:spcBef>
              <a:buNone/>
            </a:pPr>
            <a:r>
              <a:rPr lang="en-US" sz="1800" dirty="0">
                <a:solidFill>
                  <a:srgbClr val="000000"/>
                </a:solidFill>
                <a:latin typeface="Segoe UI"/>
                <a:cs typeface="Segoe UI"/>
              </a:rPr>
              <a:t>Một giá trị p không thể cứu một huyết áp gõ nhầm.</a:t>
            </a:r>
          </a:p>
          <a:p>
            <a:pPr marL="0" indent="0" algn="l">
              <a:lnSpc>
                <a:spcPct val="108000"/>
              </a:lnSpc>
              <a:spcBef>
                <a:spcPts val="440"/>
              </a:spcBef>
              <a:buNone/>
            </a:pPr>
            <a:r>
              <a:rPr lang="en-US" sz="1800" dirty="0">
                <a:solidFill>
                  <a:srgbClr val="000000"/>
                </a:solidFill>
                <a:latin typeface="Segoe UI"/>
                <a:cs typeface="Segoe UI"/>
              </a:rPr>
              <a:t>Lỗi không tự thông báo; chúng ẩn trong những con số hợp lý.</a:t>
            </a:r>
          </a:p>
          <a:p>
            <a:pPr marL="0" indent="0" algn="l">
              <a:lnSpc>
                <a:spcPct val="108000"/>
              </a:lnSpc>
              <a:spcBef>
                <a:spcPts val="440"/>
              </a:spcBef>
              <a:buNone/>
            </a:pPr>
            <a:r>
              <a:rPr lang="en-US" sz="1800" dirty="0">
                <a:solidFill>
                  <a:srgbClr val="000000"/>
                </a:solidFill>
                <a:latin typeface="Segoe UI"/>
                <a:cs typeface="Segoe UI"/>
              </a:rPr>
              <a:t>Dữ liệu sạch là nền tảng của một kết quả đáng tin.</a:t>
            </a:r>
          </a:p>
          <a:p>
            <a:pPr>
              <a:buNone/>
            </a:pPr>
            <a:endParaRPr sz="1050"/>
          </a:p>
          <a:p>
            <a:pPr marL="0" indent="0" algn="l">
              <a:spcBef>
                <a:spcPts val="360"/>
              </a:spcBef>
              <a:buNone/>
            </a:pPr>
            <a:r>
              <a:rPr lang="en-US" sz="2050" b="1" dirty="0">
                <a:solidFill>
                  <a:srgbClr val="0D7377"/>
                </a:solidFill>
                <a:latin typeface="Segoe UI"/>
                <a:cs typeface="Segoe UI"/>
              </a:rPr>
              <a:t>Làm sạch chiếm bao nhiêu phần của một dự án?</a:t>
            </a:r>
          </a:p>
          <a:p>
            <a:pPr marL="0" indent="0" algn="l">
              <a:lnSpc>
                <a:spcPct val="108000"/>
              </a:lnSpc>
              <a:spcBef>
                <a:spcPts val="440"/>
              </a:spcBef>
              <a:buNone/>
            </a:pPr>
            <a:r>
              <a:rPr lang="en-US" sz="1800" dirty="0">
                <a:solidFill>
                  <a:srgbClr val="000000"/>
                </a:solidFill>
                <a:latin typeface="Segoe UI"/>
                <a:cs typeface="Segoe UI"/>
              </a:rPr>
              <a:t>Thường là 60-80% tổng thời gian phân tích.</a:t>
            </a:r>
          </a:p>
          <a:p>
            <a:pPr marL="0" indent="0" algn="l">
              <a:lnSpc>
                <a:spcPct val="108000"/>
              </a:lnSpc>
              <a:spcBef>
                <a:spcPts val="440"/>
              </a:spcBef>
              <a:buNone/>
            </a:pPr>
            <a:r>
              <a:rPr lang="en-US" sz="1800" dirty="0">
                <a:solidFill>
                  <a:srgbClr val="000000"/>
                </a:solidFill>
                <a:latin typeface="Segoe UI"/>
                <a:cs typeface="Segoe UI"/>
              </a:rPr>
              <a:t>Bỏ qua nó không tiết kiệm thời gian; nó chuyển chi phí sang khâu bình duyệt.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Segoe UI"/>
                <a:cs typeface="Segoe UI"/>
              </a:rPr>
              <a:t>DIỄN GIẢI LÂM SÀNG  -  Vì sao bác sĩ lâm sàng nên quan tâm</a:t>
            </a:r>
          </a:p>
          <a:p>
            <a:pPr marL="0" indent="0" algn="l">
              <a:spcBef>
                <a:spcPts val="100"/>
              </a:spcBef>
              <a:buNone/>
            </a:pPr>
            <a:r>
              <a:rPr lang="en-US" sz="1300" dirty="0">
                <a:solidFill>
                  <a:srgbClr val="000000"/>
                </a:solidFill>
                <a:latin typeface="Segoe UI"/>
                <a:cs typeface="Segoe UI"/>
              </a:rPr>
              <a:t>Một ngưỡng cắt hay đơn vị sai có thể lật ngược một kết luận lâm sàng.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Các kiểu biến trong dữ liệu lâm sàng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2280000"/>
        </p:xfrm>
        <a:graphic>
          <a:graphicData uri="http://schemas.openxmlformats.org/drawingml/2006/table">
            <a:tbl>
              <a:tblPr firstRow="1" bandRow="1">
                <a:tableStyleId>{5C22544A-7EE6-4342-B048-85BDC9FD1C3A}</a:tableStyleId>
              </a:tblPr>
              <a:tblGrid>
                <a:gridCol w="3759200">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3759200">
                  <a:extLst>
                    <a:ext uri="{9D8B030D-6E8A-4147-A177-3AD203B41FA5}">
                      <a16:colId xmlns:a16="http://schemas.microsoft.com/office/drawing/2014/main" val="20002"/>
                    </a:ext>
                  </a:extLst>
                </a:gridCol>
              </a:tblGrid>
              <a:tr h="380000">
                <a:tc>
                  <a:txBody>
                    <a:bodyPr/>
                    <a:lstStyle/>
                    <a:p>
                      <a:pPr algn="l"/>
                      <a:r>
                        <a:rPr lang="en-US" sz="1300" b="1" dirty="0">
                          <a:solidFill>
                            <a:srgbClr val="FFFFFF"/>
                          </a:solidFill>
                          <a:latin typeface="Segoe UI"/>
                        </a:rPr>
                        <a:t>Kiểu</a:t>
                      </a:r>
                    </a:p>
                  </a:txBody>
                  <a:tcPr marL="73152" marR="73152" marT="36576" marB="36576" anchor="ctr">
                    <a:solidFill>
                      <a:srgbClr val="0D7377"/>
                    </a:solidFill>
                  </a:tcPr>
                </a:tc>
                <a:tc>
                  <a:txBody>
                    <a:bodyPr/>
                    <a:lstStyle/>
                    <a:p>
                      <a:pPr algn="l"/>
                      <a:r>
                        <a:rPr lang="en-US" sz="1300" b="1" dirty="0">
                          <a:solidFill>
                            <a:srgbClr val="FFFFFF"/>
                          </a:solidFill>
                          <a:latin typeface="Segoe UI"/>
                        </a:rPr>
                        <a:t>Nó là gì</a:t>
                      </a:r>
                    </a:p>
                  </a:txBody>
                  <a:tcPr marL="73152" marR="73152" marT="36576" marB="36576" anchor="ctr">
                    <a:solidFill>
                      <a:srgbClr val="0D7377"/>
                    </a:solidFill>
                  </a:tcPr>
                </a:tc>
                <a:tc>
                  <a:txBody>
                    <a:bodyPr/>
                    <a:lstStyle/>
                    <a:p>
                      <a:pPr algn="l"/>
                      <a:r>
                        <a:rPr lang="en-US" sz="1300" b="1" dirty="0">
                          <a:solidFill>
                            <a:srgbClr val="FFFFFF"/>
                          </a:solidFill>
                          <a:latin typeface="Segoe UI"/>
                        </a:rPr>
                        <a:t>Ví dụ trong dữ liệu của ta</a:t>
                      </a:r>
                    </a:p>
                  </a:txBody>
                  <a:tcPr marL="73152" marR="73152" marT="36576" marB="36576" anchor="ctr">
                    <a:solidFill>
                      <a:srgbClr val="0D7377"/>
                    </a:solidFill>
                  </a:tcPr>
                </a:tc>
                <a:extLst>
                  <a:ext uri="{0D108BD9-81ED-4DB2-BD59-A6C34878D82A}">
                    <a16:rowId xmlns:a16="http://schemas.microsoft.com/office/drawing/2014/main" val="10000"/>
                  </a:ext>
                </a:extLst>
              </a:tr>
              <a:tr h="380000">
                <a:tc>
                  <a:txBody>
                    <a:bodyPr/>
                    <a:lstStyle/>
                    <a:p>
                      <a:pPr algn="l"/>
                      <a:r>
                        <a:rPr lang="en-US" sz="1300" b="0" dirty="0">
                          <a:solidFill>
                            <a:srgbClr val="000000"/>
                          </a:solidFill>
                          <a:latin typeface="Segoe UI"/>
                        </a:rPr>
                        <a:t>Liên tục</a:t>
                      </a:r>
                    </a:p>
                  </a:txBody>
                  <a:tcPr marL="73152" marR="73152" marT="36576" marB="36576" anchor="ctr">
                    <a:solidFill>
                      <a:srgbClr val="FFFFFF"/>
                    </a:solidFill>
                  </a:tcPr>
                </a:tc>
                <a:tc>
                  <a:txBody>
                    <a:bodyPr/>
                    <a:lstStyle/>
                    <a:p>
                      <a:pPr algn="l"/>
                      <a:r>
                        <a:rPr lang="en-US" sz="1300" b="0" dirty="0">
                          <a:solidFill>
                            <a:srgbClr val="000000"/>
                          </a:solidFill>
                          <a:latin typeface="Segoe UI"/>
                        </a:rPr>
                        <a:t>Số trên một thang đo</a:t>
                      </a:r>
                    </a:p>
                  </a:txBody>
                  <a:tcPr marL="73152" marR="73152" marT="36576" marB="36576" anchor="ctr">
                    <a:solidFill>
                      <a:srgbClr val="FFFFFF"/>
                    </a:solidFill>
                  </a:tcPr>
                </a:tc>
                <a:tc>
                  <a:txBody>
                    <a:bodyPr/>
                    <a:lstStyle/>
                    <a:p>
                      <a:pPr algn="l"/>
                      <a:r>
                        <a:rPr lang="en-US" sz="1300" b="0" dirty="0">
                          <a:solidFill>
                            <a:srgbClr val="000000"/>
                          </a:solidFill>
                          <a:latin typeface="Segoe UI"/>
                        </a:rPr>
                        <a:t>age, sbp_mmhg, weight_kg</a:t>
                      </a:r>
                    </a:p>
                  </a:txBody>
                  <a:tcPr marL="73152" marR="73152" marT="36576" marB="36576" anchor="ctr">
                    <a:solidFill>
                      <a:srgbClr val="FFFFFF"/>
                    </a:solidFill>
                  </a:tcPr>
                </a:tc>
                <a:extLst>
                  <a:ext uri="{0D108BD9-81ED-4DB2-BD59-A6C34878D82A}">
                    <a16:rowId xmlns:a16="http://schemas.microsoft.com/office/drawing/2014/main" val="10001"/>
                  </a:ext>
                </a:extLst>
              </a:tr>
              <a:tr h="380000">
                <a:tc>
                  <a:txBody>
                    <a:bodyPr/>
                    <a:lstStyle/>
                    <a:p>
                      <a:pPr algn="l"/>
                      <a:r>
                        <a:rPr lang="en-US" sz="1300" b="0" dirty="0">
                          <a:solidFill>
                            <a:srgbClr val="000000"/>
                          </a:solidFill>
                          <a:latin typeface="Segoe UI"/>
                        </a:rPr>
                        <a:t>Nhị phân</a:t>
                      </a:r>
                    </a:p>
                  </a:txBody>
                  <a:tcPr marL="73152" marR="73152" marT="36576" marB="36576" anchor="ctr">
                    <a:solidFill>
                      <a:srgbClr val="FFFFFF"/>
                    </a:solidFill>
                  </a:tcPr>
                </a:tc>
                <a:tc>
                  <a:txBody>
                    <a:bodyPr/>
                    <a:lstStyle/>
                    <a:p>
                      <a:pPr algn="l"/>
                      <a:r>
                        <a:rPr lang="en-US" sz="1300" b="0" dirty="0">
                          <a:solidFill>
                            <a:srgbClr val="000000"/>
                          </a:solidFill>
                          <a:latin typeface="Segoe UI"/>
                        </a:rPr>
                        <a:t>Hai phân loại</a:t>
                      </a:r>
                    </a:p>
                  </a:txBody>
                  <a:tcPr marL="73152" marR="73152" marT="36576" marB="36576" anchor="ctr">
                    <a:solidFill>
                      <a:srgbClr val="FFFFFF"/>
                    </a:solidFill>
                  </a:tcPr>
                </a:tc>
                <a:tc>
                  <a:txBody>
                    <a:bodyPr/>
                    <a:lstStyle/>
                    <a:p>
                      <a:pPr algn="l"/>
                      <a:r>
                        <a:rPr lang="en-US" sz="1300" b="0" dirty="0">
                          <a:solidFill>
                            <a:srgbClr val="000000"/>
                          </a:solidFill>
                          <a:latin typeface="Segoe UI"/>
                        </a:rPr>
                        <a:t>diabetes (Yes/No)</a:t>
                      </a:r>
                    </a:p>
                  </a:txBody>
                  <a:tcPr marL="73152" marR="73152" marT="36576" marB="36576" anchor="ctr">
                    <a:solidFill>
                      <a:srgbClr val="FFFFFF"/>
                    </a:solidFill>
                  </a:tcPr>
                </a:tc>
                <a:extLst>
                  <a:ext uri="{0D108BD9-81ED-4DB2-BD59-A6C34878D82A}">
                    <a16:rowId xmlns:a16="http://schemas.microsoft.com/office/drawing/2014/main" val="10002"/>
                  </a:ext>
                </a:extLst>
              </a:tr>
              <a:tr h="380000">
                <a:tc>
                  <a:txBody>
                    <a:bodyPr/>
                    <a:lstStyle/>
                    <a:p>
                      <a:pPr algn="l"/>
                      <a:r>
                        <a:rPr lang="en-US" sz="1300" b="0" dirty="0">
                          <a:solidFill>
                            <a:srgbClr val="000000"/>
                          </a:solidFill>
                          <a:latin typeface="Segoe UI"/>
                        </a:rPr>
                        <a:t>Phân loại</a:t>
                      </a:r>
                    </a:p>
                  </a:txBody>
                  <a:tcPr marL="73152" marR="73152" marT="36576" marB="36576" anchor="ctr">
                    <a:solidFill>
                      <a:srgbClr val="FFFFFF"/>
                    </a:solidFill>
                  </a:tcPr>
                </a:tc>
                <a:tc>
                  <a:txBody>
                    <a:bodyPr/>
                    <a:lstStyle/>
                    <a:p>
                      <a:pPr algn="l"/>
                      <a:r>
                        <a:rPr lang="en-US" sz="1300" b="0" dirty="0">
                          <a:solidFill>
                            <a:srgbClr val="000000"/>
                          </a:solidFill>
                          <a:latin typeface="Segoe UI"/>
                        </a:rPr>
                        <a:t>Các nhóm không thứ tự</a:t>
                      </a:r>
                    </a:p>
                  </a:txBody>
                  <a:tcPr marL="73152" marR="73152" marT="36576" marB="36576" anchor="ctr">
                    <a:solidFill>
                      <a:srgbClr val="FFFFFF"/>
                    </a:solidFill>
                  </a:tcPr>
                </a:tc>
                <a:tc>
                  <a:txBody>
                    <a:bodyPr/>
                    <a:lstStyle/>
                    <a:p>
                      <a:pPr algn="l"/>
                      <a:r>
                        <a:rPr lang="en-US" sz="1300" b="0" dirty="0">
                          <a:solidFill>
                            <a:srgbClr val="000000"/>
                          </a:solidFill>
                          <a:latin typeface="Segoe UI"/>
                        </a:rPr>
                        <a:t>facility, occupation</a:t>
                      </a:r>
                    </a:p>
                  </a:txBody>
                  <a:tcPr marL="73152" marR="73152" marT="36576" marB="36576" anchor="ctr">
                    <a:solidFill>
                      <a:srgbClr val="FFFFFF"/>
                    </a:solidFill>
                  </a:tcPr>
                </a:tc>
                <a:extLst>
                  <a:ext uri="{0D108BD9-81ED-4DB2-BD59-A6C34878D82A}">
                    <a16:rowId xmlns:a16="http://schemas.microsoft.com/office/drawing/2014/main" val="10003"/>
                  </a:ext>
                </a:extLst>
              </a:tr>
              <a:tr h="380000">
                <a:tc>
                  <a:txBody>
                    <a:bodyPr/>
                    <a:lstStyle/>
                    <a:p>
                      <a:pPr algn="l"/>
                      <a:r>
                        <a:rPr lang="en-US" sz="1300" b="0" dirty="0">
                          <a:solidFill>
                            <a:srgbClr val="000000"/>
                          </a:solidFill>
                          <a:latin typeface="Segoe UI"/>
                        </a:rPr>
                        <a:t>Thứ tự</a:t>
                      </a:r>
                    </a:p>
                  </a:txBody>
                  <a:tcPr marL="73152" marR="73152" marT="36576" marB="36576" anchor="ctr">
                    <a:solidFill>
                      <a:srgbClr val="FFFFFF"/>
                    </a:solidFill>
                  </a:tcPr>
                </a:tc>
                <a:tc>
                  <a:txBody>
                    <a:bodyPr/>
                    <a:lstStyle/>
                    <a:p>
                      <a:pPr algn="l"/>
                      <a:r>
                        <a:rPr lang="en-US" sz="1300" b="0" dirty="0">
                          <a:solidFill>
                            <a:srgbClr val="000000"/>
                          </a:solidFill>
                          <a:latin typeface="Segoe UI"/>
                        </a:rPr>
                        <a:t>Các nhóm có thứ tự</a:t>
                      </a:r>
                    </a:p>
                  </a:txBody>
                  <a:tcPr marL="73152" marR="73152" marT="36576" marB="36576" anchor="ctr">
                    <a:solidFill>
                      <a:srgbClr val="FFFFFF"/>
                    </a:solidFill>
                  </a:tcPr>
                </a:tc>
                <a:tc>
                  <a:txBody>
                    <a:bodyPr/>
                    <a:lstStyle/>
                    <a:p>
                      <a:pPr algn="l"/>
                      <a:r>
                        <a:rPr lang="en-US" sz="1300" b="0" dirty="0">
                          <a:solidFill>
                            <a:srgbClr val="000000"/>
                          </a:solidFill>
                          <a:latin typeface="Segoe UI"/>
                        </a:rPr>
                        <a:t>education (None to Tertiary)</a:t>
                      </a:r>
                    </a:p>
                  </a:txBody>
                  <a:tcPr marL="73152" marR="73152" marT="36576" marB="36576" anchor="ctr">
                    <a:solidFill>
                      <a:srgbClr val="FFFFFF"/>
                    </a:solidFill>
                  </a:tcPr>
                </a:tc>
                <a:extLst>
                  <a:ext uri="{0D108BD9-81ED-4DB2-BD59-A6C34878D82A}">
                    <a16:rowId xmlns:a16="http://schemas.microsoft.com/office/drawing/2014/main" val="10004"/>
                  </a:ext>
                </a:extLst>
              </a:tr>
              <a:tr h="380000">
                <a:tc>
                  <a:txBody>
                    <a:bodyPr/>
                    <a:lstStyle/>
                    <a:p>
                      <a:pPr algn="l"/>
                      <a:r>
                        <a:rPr lang="en-US" sz="1300" b="0" dirty="0">
                          <a:solidFill>
                            <a:srgbClr val="000000"/>
                          </a:solidFill>
                          <a:latin typeface="Segoe UI"/>
                        </a:rPr>
                        <a:t>Ngày tháng</a:t>
                      </a:r>
                    </a:p>
                  </a:txBody>
                  <a:tcPr marL="73152" marR="73152" marT="36576" marB="36576" anchor="ctr">
                    <a:solidFill>
                      <a:srgbClr val="FFFFFF"/>
                    </a:solidFill>
                  </a:tcPr>
                </a:tc>
                <a:tc>
                  <a:txBody>
                    <a:bodyPr/>
                    <a:lstStyle/>
                    <a:p>
                      <a:pPr algn="l"/>
                      <a:r>
                        <a:rPr lang="en-US" sz="1300" b="0" dirty="0">
                          <a:solidFill>
                            <a:srgbClr val="000000"/>
                          </a:solidFill>
                          <a:latin typeface="Segoe UI"/>
                        </a:rPr>
                        <a:t>Thời gian theo lịch</a:t>
                      </a:r>
                    </a:p>
                  </a:txBody>
                  <a:tcPr marL="73152" marR="73152" marT="36576" marB="36576" anchor="ctr">
                    <a:solidFill>
                      <a:srgbClr val="FFFFFF"/>
                    </a:solidFill>
                  </a:tcPr>
                </a:tc>
                <a:tc>
                  <a:txBody>
                    <a:bodyPr/>
                    <a:lstStyle/>
                    <a:p>
                      <a:pPr algn="l"/>
                      <a:r>
                        <a:rPr lang="en-US" sz="1300" b="0" dirty="0">
                          <a:solidFill>
                            <a:srgbClr val="000000"/>
                          </a:solidFill>
                          <a:latin typeface="Segoe UI"/>
                        </a:rPr>
                        <a:t>enroll_date</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31" name="Caption"/>
          <p:cNvSpPr txBox="1"/>
          <p:nvPr/>
        </p:nvSpPr>
        <p:spPr>
          <a:xfrm>
            <a:off x="457200" y="406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Segoe UI"/>
                <a:cs typeface="Segoe UI"/>
              </a:rPr>
              <a:t>Kiểu quyết định cách R lưu trữ, tóm tắt và mô hình hóa một biến.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Mã hoá lâm sàng: Các mã nhất quán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Mã hoá nghĩa là gì</a:t>
            </a:r>
          </a:p>
          <a:p>
            <a:pPr marL="0" indent="0" algn="l">
              <a:lnSpc>
                <a:spcPct val="108000"/>
              </a:lnSpc>
              <a:spcBef>
                <a:spcPts val="440"/>
              </a:spcBef>
              <a:buNone/>
            </a:pPr>
            <a:r>
              <a:rPr lang="en-US" sz="1800" dirty="0">
                <a:solidFill>
                  <a:srgbClr val="000000"/>
                </a:solidFill>
                <a:latin typeface="Segoe UI"/>
                <a:cs typeface="Segoe UI"/>
              </a:rPr>
              <a:t>Thống nhất một giá trị viết duy nhất cho mỗi phân loại ngoài đời.</a:t>
            </a:r>
          </a:p>
          <a:p>
            <a:pPr marL="0" indent="0" algn="l">
              <a:lnSpc>
                <a:spcPct val="108000"/>
              </a:lnSpc>
              <a:spcBef>
                <a:spcPts val="440"/>
              </a:spcBef>
              <a:buNone/>
            </a:pPr>
            <a:r>
              <a:rPr lang="en-US" sz="1800" dirty="0">
                <a:solidFill>
                  <a:srgbClr val="000000"/>
                </a:solidFill>
                <a:latin typeface="Segoe UI"/>
                <a:cs typeface="Segoe UI"/>
              </a:rPr>
              <a:t>Sex được lưu là Female / Male, không phải F / f / female.</a:t>
            </a:r>
          </a:p>
          <a:p>
            <a:pPr marL="0" indent="0" algn="l">
              <a:lnSpc>
                <a:spcPct val="108000"/>
              </a:lnSpc>
              <a:spcBef>
                <a:spcPts val="440"/>
              </a:spcBef>
              <a:buNone/>
            </a:pPr>
            <a:r>
              <a:rPr lang="en-US" sz="1800" dirty="0">
                <a:solidFill>
                  <a:srgbClr val="000000"/>
                </a:solidFill>
                <a:latin typeface="Segoe UI"/>
                <a:cs typeface="Segoe UI"/>
              </a:rPr>
              <a:t>Các biến nhị phân được lưu là Yes / No, không phải một mớ lẫn lộn Y, 1, true.</a:t>
            </a:r>
          </a:p>
          <a:p>
            <a:pPr>
              <a:buNone/>
            </a:pPr>
            <a:endParaRPr sz="1050"/>
          </a:p>
          <a:p>
            <a:pPr marL="0" indent="0" algn="l">
              <a:spcBef>
                <a:spcPts val="360"/>
              </a:spcBef>
              <a:buNone/>
            </a:pPr>
            <a:r>
              <a:rPr lang="en-US" sz="2050" b="1" dirty="0">
                <a:solidFill>
                  <a:srgbClr val="0D7377"/>
                </a:solidFill>
                <a:latin typeface="Segoe UI"/>
                <a:cs typeface="Segoe UI"/>
              </a:rPr>
              <a:t>Vì sao điều đó quan trọng</a:t>
            </a:r>
          </a:p>
          <a:p>
            <a:pPr marL="0" indent="0" algn="l">
              <a:lnSpc>
                <a:spcPct val="108000"/>
              </a:lnSpc>
              <a:spcBef>
                <a:spcPts val="440"/>
              </a:spcBef>
              <a:buNone/>
            </a:pPr>
            <a:r>
              <a:rPr lang="en-US" sz="1800" dirty="0">
                <a:solidFill>
                  <a:srgbClr val="000000"/>
                </a:solidFill>
                <a:latin typeface="Segoe UI"/>
                <a:cs typeface="Segoe UI"/>
              </a:rPr>
              <a:t>R coi 'Yes' và 'yes' là hai nhóm khác nhau.</a:t>
            </a:r>
          </a:p>
          <a:p>
            <a:pPr marL="0" indent="0" algn="l">
              <a:lnSpc>
                <a:spcPct val="108000"/>
              </a:lnSpc>
              <a:spcBef>
                <a:spcPts val="440"/>
              </a:spcBef>
              <a:buNone/>
            </a:pPr>
            <a:r>
              <a:rPr lang="en-US" sz="1800" dirty="0">
                <a:solidFill>
                  <a:srgbClr val="000000"/>
                </a:solidFill>
                <a:latin typeface="Segoe UI"/>
                <a:cs typeface="Segoe UI"/>
              </a:rPr>
              <a:t>Các mã không nhất quán chia một phân loại thành nhiều phân loại.</a:t>
            </a:r>
          </a:p>
          <a:p>
            <a:pPr marL="0" indent="0" algn="l">
              <a:lnSpc>
                <a:spcPct val="108000"/>
              </a:lnSpc>
              <a:spcBef>
                <a:spcPts val="440"/>
              </a:spcBef>
              <a:buNone/>
            </a:pPr>
            <a:r>
              <a:rPr lang="en-US" sz="1800" dirty="0">
                <a:solidFill>
                  <a:srgbClr val="000000"/>
                </a:solidFill>
                <a:latin typeface="Segoe UI"/>
                <a:cs typeface="Segoe UI"/>
              </a:rPr>
              <a:t>Các mã nhất quán làm cho bảng và mô hình đáng tin cậy.</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Segoe UI"/>
                <a:cs typeface="Segoe UI"/>
              </a:rPr>
              <a:t>CẢNH BÁO  -  Cái bẫy thường gặp</a:t>
            </a:r>
          </a:p>
          <a:p>
            <a:pPr marL="0" indent="0" algn="l">
              <a:spcBef>
                <a:spcPts val="100"/>
              </a:spcBef>
              <a:buNone/>
            </a:pPr>
            <a:r>
              <a:rPr lang="en-US" sz="1300" dirty="0">
                <a:solidFill>
                  <a:srgbClr val="000000"/>
                </a:solidFill>
                <a:latin typeface="Segoe UI"/>
                <a:cs typeface="Segoe UI"/>
              </a:rPr>
              <a:t>Tám cách viết của sex trở thành tám phân loại ma.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Dữ liệu khuyết: Nó ẩn mình ra sao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Nó hiếm khi trông giống một thứ</a:t>
            </a:r>
          </a:p>
          <a:p>
            <a:pPr marL="0" indent="0" algn="l">
              <a:lnSpc>
                <a:spcPct val="108000"/>
              </a:lnSpc>
              <a:spcBef>
                <a:spcPts val="440"/>
              </a:spcBef>
              <a:buNone/>
            </a:pPr>
            <a:r>
              <a:rPr lang="en-US" sz="1800" dirty="0">
                <a:solidFill>
                  <a:srgbClr val="000000"/>
                </a:solidFill>
                <a:latin typeface="Segoe UI"/>
                <a:cs typeface="Segoe UI"/>
              </a:rPr>
              <a:t>Ô trống, chữ NA, và các mã báo hiệu 999 hay -99.</a:t>
            </a:r>
          </a:p>
          <a:p>
            <a:pPr marL="0" indent="0" algn="l">
              <a:lnSpc>
                <a:spcPct val="108000"/>
              </a:lnSpc>
              <a:spcBef>
                <a:spcPts val="440"/>
              </a:spcBef>
              <a:buNone/>
            </a:pPr>
            <a:r>
              <a:rPr lang="en-US" sz="1800" dirty="0">
                <a:solidFill>
                  <a:srgbClr val="000000"/>
                </a:solidFill>
                <a:latin typeface="Segoe UI"/>
                <a:cs typeface="Segoe UI"/>
              </a:rPr>
              <a:t>Nếu R không nhận ra chúng, 999 bị coi là một giá trị thật.</a:t>
            </a:r>
          </a:p>
          <a:p>
            <a:pPr marL="0" indent="0" algn="l">
              <a:lnSpc>
                <a:spcPct val="108000"/>
              </a:lnSpc>
              <a:spcBef>
                <a:spcPts val="440"/>
              </a:spcBef>
              <a:buNone/>
            </a:pPr>
            <a:r>
              <a:rPr lang="en-US" sz="1800" dirty="0">
                <a:solidFill>
                  <a:srgbClr val="000000"/>
                </a:solidFill>
                <a:latin typeface="Segoe UI"/>
                <a:cs typeface="Segoe UI"/>
              </a:rPr>
              <a:t>Chỉ một số 999 có thể phá hỏng một giá trị trung bình hay một hồi quy.</a:t>
            </a:r>
          </a:p>
          <a:p>
            <a:pPr>
              <a:buNone/>
            </a:pPr>
            <a:endParaRPr sz="1050"/>
          </a:p>
          <a:p>
            <a:pPr marL="0" indent="0" algn="l">
              <a:spcBef>
                <a:spcPts val="360"/>
              </a:spcBef>
              <a:buNone/>
            </a:pPr>
            <a:r>
              <a:rPr lang="en-US" sz="2050" b="1" dirty="0">
                <a:solidFill>
                  <a:srgbClr val="0D7377"/>
                </a:solidFill>
                <a:latin typeface="Segoe UI"/>
                <a:cs typeface="Segoe UI"/>
              </a:rPr>
              <a:t>Đọc nó cho đúng ngay khi nhập</a:t>
            </a:r>
          </a:p>
          <a:p>
            <a:pPr marL="0" indent="0" algn="l">
              <a:lnSpc>
                <a:spcPct val="108000"/>
              </a:lnSpc>
              <a:spcBef>
                <a:spcPts val="440"/>
              </a:spcBef>
              <a:buNone/>
            </a:pPr>
            <a:r>
              <a:rPr lang="en-US" sz="1800" dirty="0">
                <a:solidFill>
                  <a:srgbClr val="000000"/>
                </a:solidFill>
                <a:latin typeface="Segoe UI"/>
                <a:cs typeface="Segoe UI"/>
              </a:rPr>
              <a:t>Nói cho read_csv biết chuỗi nào nghĩa là khuyết.</a:t>
            </a:r>
          </a:p>
          <a:p>
            <a:pPr marL="0" indent="0" algn="l">
              <a:lnSpc>
                <a:spcPct val="108000"/>
              </a:lnSpc>
              <a:spcBef>
                <a:spcPts val="440"/>
              </a:spcBef>
              <a:buNone/>
            </a:pPr>
            <a:r>
              <a:rPr lang="en-US" sz="1800" dirty="0">
                <a:solidFill>
                  <a:srgbClr val="000000"/>
                </a:solidFill>
                <a:latin typeface="Segoe UI"/>
                <a:cs typeface="Segoe UI"/>
              </a:rPr>
              <a:t>na = c("", "NA", "999", "-99")</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Segoe UI"/>
                <a:cs typeface="Segoe UI"/>
              </a:rPr>
              <a:t>LƯU Ý  -  Các dạng khuyết (tóm tắt)</a:t>
            </a:r>
          </a:p>
          <a:p>
            <a:pPr marL="0" indent="0" algn="l">
              <a:spcBef>
                <a:spcPts val="100"/>
              </a:spcBef>
              <a:buNone/>
            </a:pPr>
            <a:r>
              <a:rPr lang="en-US" sz="1300" dirty="0">
                <a:solidFill>
                  <a:srgbClr val="000000"/>
                </a:solidFill>
                <a:latin typeface="Segoe UI"/>
                <a:cs typeface="Segoe UI"/>
              </a:rPr>
              <a:t>MCAR, MAR, MNAR - dạng khuyết ảnh hưởng đến cách ta xử lý nó về sau.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Bản ghi trùng: 1503 so với 1500</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Câu chuyện</a:t>
            </a:r>
          </a:p>
          <a:p>
            <a:pPr marL="0" indent="0" algn="l">
              <a:lnSpc>
                <a:spcPct val="108000"/>
              </a:lnSpc>
              <a:spcBef>
                <a:spcPts val="440"/>
              </a:spcBef>
              <a:buNone/>
            </a:pPr>
            <a:r>
              <a:rPr lang="en-US" sz="1800" dirty="0">
                <a:solidFill>
                  <a:srgbClr val="000000"/>
                </a:solidFill>
                <a:latin typeface="Segoe UI"/>
                <a:cs typeface="Segoe UI"/>
              </a:rPr>
              <a:t>Tệp thô có 1503 hàng nhưng chỉ 1500 bệnh nhân.</a:t>
            </a:r>
          </a:p>
          <a:p>
            <a:pPr marL="0" indent="0" algn="l">
              <a:lnSpc>
                <a:spcPct val="108000"/>
              </a:lnSpc>
              <a:spcBef>
                <a:spcPts val="440"/>
              </a:spcBef>
              <a:buNone/>
            </a:pPr>
            <a:r>
              <a:rPr lang="en-US" sz="1800" dirty="0">
                <a:solidFill>
                  <a:srgbClr val="000000"/>
                </a:solidFill>
                <a:latin typeface="Segoe UI"/>
                <a:cs typeface="Segoe UI"/>
              </a:rPr>
              <a:t>Ba bản ghi bị nhập hai lần - trùng hoàn toàn.</a:t>
            </a:r>
          </a:p>
          <a:p>
            <a:pPr marL="0" indent="0" algn="l">
              <a:lnSpc>
                <a:spcPct val="108000"/>
              </a:lnSpc>
              <a:spcBef>
                <a:spcPts val="440"/>
              </a:spcBef>
              <a:buNone/>
            </a:pPr>
            <a:r>
              <a:rPr lang="en-US" sz="1800" dirty="0">
                <a:solidFill>
                  <a:srgbClr val="000000"/>
                </a:solidFill>
                <a:latin typeface="Segoe UI"/>
                <a:cs typeface="Segoe UI"/>
              </a:rPr>
              <a:t>Bản ghi trùng thổi phồng cỡ mẫu và làm méo ước lượng.</a:t>
            </a:r>
          </a:p>
          <a:p>
            <a:pPr>
              <a:buNone/>
            </a:pPr>
            <a:endParaRPr sz="1050"/>
          </a:p>
          <a:p>
            <a:pPr marL="0" indent="0" algn="l">
              <a:spcBef>
                <a:spcPts val="360"/>
              </a:spcBef>
              <a:buNone/>
            </a:pPr>
            <a:r>
              <a:rPr lang="en-US" sz="2050" b="1" dirty="0">
                <a:solidFill>
                  <a:srgbClr val="0D7377"/>
                </a:solidFill>
                <a:latin typeface="Segoe UI"/>
                <a:cs typeface="Segoe UI"/>
              </a:rPr>
              <a:t>Phát hiện và loại bỏ</a:t>
            </a:r>
          </a:p>
          <a:p>
            <a:pPr marL="0" indent="0" algn="l">
              <a:lnSpc>
                <a:spcPct val="108000"/>
              </a:lnSpc>
              <a:spcBef>
                <a:spcPts val="440"/>
              </a:spcBef>
              <a:buNone/>
            </a:pPr>
            <a:r>
              <a:rPr lang="en-US" sz="1800" dirty="0">
                <a:solidFill>
                  <a:srgbClr val="000000"/>
                </a:solidFill>
                <a:latin typeface="Segoe UI"/>
                <a:cs typeface="Segoe UI"/>
              </a:rPr>
              <a:t>sum(duplicated(raw)) cho thấy có bao nhiêu bản ghi trùng toàn phần.</a:t>
            </a:r>
          </a:p>
          <a:p>
            <a:pPr marL="0" indent="0" algn="l">
              <a:lnSpc>
                <a:spcPct val="108000"/>
              </a:lnSpc>
              <a:spcBef>
                <a:spcPts val="440"/>
              </a:spcBef>
              <a:buNone/>
            </a:pPr>
            <a:r>
              <a:rPr lang="en-US" sz="1800" dirty="0">
                <a:solidFill>
                  <a:srgbClr val="000000"/>
                </a:solidFill>
                <a:latin typeface="Segoe UI"/>
                <a:cs typeface="Segoe UI"/>
              </a:rPr>
              <a:t>distinct(raw) giữ lại một bản của mỗi hàng duy nhất.</a:t>
            </a:r>
          </a:p>
          <a:p>
            <a:pPr marL="0" indent="0" algn="l">
              <a:lnSpc>
                <a:spcPct val="108000"/>
              </a:lnSpc>
              <a:spcBef>
                <a:spcPts val="440"/>
              </a:spcBef>
              <a:buNone/>
            </a:pPr>
            <a:r>
              <a:rPr lang="en-US" sz="1800" dirty="0">
                <a:solidFill>
                  <a:srgbClr val="000000"/>
                </a:solidFill>
                <a:latin typeface="Segoe UI"/>
                <a:cs typeface="Segoe UI"/>
              </a:rPr>
              <a:t>n_distinct(raw$patient_id) khi đó phải bằng nrow(raw).</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Luôn kiểm tra lại</a:t>
            </a:r>
          </a:p>
          <a:p>
            <a:pPr marL="0" indent="0" algn="l">
              <a:spcBef>
                <a:spcPts val="100"/>
              </a:spcBef>
              <a:buNone/>
            </a:pPr>
            <a:r>
              <a:rPr lang="en-US" sz="1300" dirty="0">
                <a:solidFill>
                  <a:srgbClr val="000000"/>
                </a:solidFill>
                <a:latin typeface="Segoe UI"/>
                <a:cs typeface="Segoe UI"/>
              </a:rPr>
              <a:t>Xác nhận số hàng là 1500 sau distinct().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Phân loại không nhất quán: 8 cách viết của Sex</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Mớ hỗn độn</a:t>
            </a:r>
          </a:p>
          <a:p>
            <a:pPr marL="0" indent="0" algn="l">
              <a:lnSpc>
                <a:spcPct val="108000"/>
              </a:lnSpc>
              <a:spcBef>
                <a:spcPts val="440"/>
              </a:spcBef>
              <a:buNone/>
            </a:pPr>
            <a:r>
              <a:rPr lang="en-US" sz="1800" dirty="0">
                <a:solidFill>
                  <a:srgbClr val="000000"/>
                </a:solidFill>
                <a:latin typeface="Segoe UI"/>
                <a:cs typeface="Segoe UI"/>
              </a:rPr>
              <a:t>Female, F, female, f và Male, M, male, m.</a:t>
            </a:r>
          </a:p>
          <a:p>
            <a:pPr marL="0" indent="0" algn="l">
              <a:lnSpc>
                <a:spcPct val="108000"/>
              </a:lnSpc>
              <a:spcBef>
                <a:spcPts val="440"/>
              </a:spcBef>
              <a:buNone/>
            </a:pPr>
            <a:r>
              <a:rPr lang="en-US" sz="1800" dirty="0">
                <a:solidFill>
                  <a:srgbClr val="000000"/>
                </a:solidFill>
                <a:latin typeface="Segoe UI"/>
                <a:cs typeface="Segoe UI"/>
              </a:rPr>
              <a:t>Các khoảng trắng lạc tạo ra thêm nhiều biến thể.</a:t>
            </a:r>
          </a:p>
          <a:p>
            <a:pPr marL="0" indent="0" algn="l">
              <a:lnSpc>
                <a:spcPct val="108000"/>
              </a:lnSpc>
              <a:spcBef>
                <a:spcPts val="440"/>
              </a:spcBef>
              <a:buNone/>
            </a:pPr>
            <a:r>
              <a:rPr lang="en-US" sz="1800" dirty="0">
                <a:solidFill>
                  <a:srgbClr val="000000"/>
                </a:solidFill>
                <a:latin typeface="Segoe UI"/>
                <a:cs typeface="Segoe UI"/>
              </a:rPr>
              <a:t>Tám nhãn cho hai nhóm thật.</a:t>
            </a:r>
          </a:p>
          <a:p>
            <a:pPr>
              <a:buNone/>
            </a:pPr>
            <a:endParaRPr sz="1050"/>
          </a:p>
          <a:p>
            <a:pPr marL="0" indent="0" algn="l">
              <a:spcBef>
                <a:spcPts val="360"/>
              </a:spcBef>
              <a:buNone/>
            </a:pPr>
            <a:r>
              <a:rPr lang="en-US" sz="2050" b="1" dirty="0">
                <a:solidFill>
                  <a:srgbClr val="0D7377"/>
                </a:solidFill>
                <a:latin typeface="Segoe UI"/>
                <a:cs typeface="Segoe UI"/>
              </a:rPr>
              <a:t>Cách sửa</a:t>
            </a:r>
          </a:p>
          <a:p>
            <a:pPr marL="0" indent="0" algn="l">
              <a:lnSpc>
                <a:spcPct val="108000"/>
              </a:lnSpc>
              <a:spcBef>
                <a:spcPts val="440"/>
              </a:spcBef>
              <a:buNone/>
            </a:pPr>
            <a:r>
              <a:rPr lang="en-US" sz="1800" dirty="0">
                <a:solidFill>
                  <a:srgbClr val="000000"/>
                </a:solidFill>
                <a:latin typeface="Segoe UI"/>
                <a:cs typeface="Segoe UI"/>
              </a:rPr>
              <a:t>str_trim() loại bỏ khoảng trắng đầu và cuối.</a:t>
            </a:r>
          </a:p>
          <a:p>
            <a:pPr marL="0" indent="0" algn="l">
              <a:lnSpc>
                <a:spcPct val="108000"/>
              </a:lnSpc>
              <a:spcBef>
                <a:spcPts val="440"/>
              </a:spcBef>
              <a:buNone/>
            </a:pPr>
            <a:r>
              <a:rPr lang="en-US" sz="1800" dirty="0">
                <a:solidFill>
                  <a:srgbClr val="000000"/>
                </a:solidFill>
                <a:latin typeface="Segoe UI"/>
                <a:cs typeface="Segoe UI"/>
              </a:rPr>
              <a:t>str_to_lower() làm cho hoa-thường không còn quan trọng.</a:t>
            </a:r>
          </a:p>
          <a:p>
            <a:pPr marL="0" indent="0" algn="l">
              <a:lnSpc>
                <a:spcPct val="108000"/>
              </a:lnSpc>
              <a:spcBef>
                <a:spcPts val="440"/>
              </a:spcBef>
              <a:buNone/>
            </a:pPr>
            <a:r>
              <a:rPr lang="en-US" sz="1800" dirty="0">
                <a:solidFill>
                  <a:srgbClr val="000000"/>
                </a:solidFill>
                <a:latin typeface="Segoe UI"/>
                <a:cs typeface="Segoe UI"/>
              </a:rPr>
              <a:t>case_when() ánh xạ mọi biến thể sang Female hoặc Male.</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Segoe UI"/>
                <a:cs typeface="Segoe UI"/>
              </a:rPr>
              <a:t>DIỄN GIẢI LÂM SÀNG  -  Ý nghĩa lâm sàng</a:t>
            </a:r>
          </a:p>
          <a:p>
            <a:pPr marL="0" indent="0" algn="l">
              <a:spcBef>
                <a:spcPts val="100"/>
              </a:spcBef>
              <a:buNone/>
            </a:pPr>
            <a:r>
              <a:rPr lang="en-US" sz="1300" dirty="0">
                <a:solidFill>
                  <a:srgbClr val="000000"/>
                </a:solidFill>
                <a:latin typeface="Segoe UI"/>
                <a:cs typeface="Segoe UI"/>
              </a:rPr>
              <a:t>Bất cứ điều gì ngoài dự kiến đều thành NA, không phải một phỏng đoán.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Chuẩn hóa biến nhị phân bằng một hàm trợ giúp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Một hàm tái sử dụng sửa mọi biến Yes/No.</a:t>
            </a:r>
          </a:p>
        </p:txBody>
      </p:sp>
      <p:sp>
        <p:nvSpPr>
          <p:cNvPr id="30" name="Code"/>
          <p:cNvSpPr/>
          <p:nvPr/>
        </p:nvSpPr>
        <p:spPr>
          <a:xfrm>
            <a:off x="457200" y="1640000"/>
            <a:ext cx="11277600" cy="228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to_yesno &lt;- function(x) {</a:t>
            </a:r>
          </a:p>
          <a:p>
            <a:pPr marL="0" indent="0" algn="l">
              <a:lnSpc>
                <a:spcPct val="100000"/>
              </a:lnSpc>
              <a:buNone/>
            </a:pPr>
            <a:r>
              <a:rPr lang="en-US" sz="1300" dirty="0">
                <a:solidFill>
                  <a:srgbClr val="1B3A4B"/>
                </a:solidFill>
                <a:latin typeface="Consolas"/>
                <a:cs typeface="Consolas"/>
              </a:rPr>
              <a:t>  x &lt;- str_to_lower(str_trim(as.character(x)))</a:t>
            </a:r>
          </a:p>
          <a:p>
            <a:pPr marL="0" indent="0" algn="l">
              <a:lnSpc>
                <a:spcPct val="100000"/>
              </a:lnSpc>
              <a:buNone/>
            </a:pPr>
            <a:r>
              <a:rPr lang="en-US" sz="1300" dirty="0">
                <a:solidFill>
                  <a:srgbClr val="1B3A4B"/>
                </a:solidFill>
                <a:latin typeface="Consolas"/>
                <a:cs typeface="Consolas"/>
              </a:rPr>
              <a:t>  case_when(</a:t>
            </a:r>
          </a:p>
          <a:p>
            <a:pPr marL="0" indent="0" algn="l">
              <a:lnSpc>
                <a:spcPct val="100000"/>
              </a:lnSpc>
              <a:buNone/>
            </a:pPr>
            <a:r>
              <a:rPr lang="en-US" sz="1300" dirty="0">
                <a:solidFill>
                  <a:srgbClr val="1B3A4B"/>
                </a:solidFill>
                <a:latin typeface="Consolas"/>
                <a:cs typeface="Consolas"/>
              </a:rPr>
              <a:t>    x %in% c("yes","y","1","true") ~ "Yes",</a:t>
            </a:r>
          </a:p>
          <a:p>
            <a:pPr marL="0" indent="0" algn="l">
              <a:lnSpc>
                <a:spcPct val="100000"/>
              </a:lnSpc>
              <a:buNone/>
            </a:pPr>
            <a:r>
              <a:rPr lang="en-US" sz="1300" dirty="0">
                <a:solidFill>
                  <a:srgbClr val="1B3A4B"/>
                </a:solidFill>
                <a:latin typeface="Consolas"/>
                <a:cs typeface="Consolas"/>
              </a:rPr>
              <a:t>    x %in% c("no","n","0","false") ~ "No",</a:t>
            </a:r>
          </a:p>
          <a:p>
            <a:pPr marL="0" indent="0" algn="l">
              <a:lnSpc>
                <a:spcPct val="100000"/>
              </a:lnSpc>
              <a:buNone/>
            </a:pPr>
            <a:r>
              <a:rPr lang="en-US" sz="1300" dirty="0">
                <a:solidFill>
                  <a:srgbClr val="1B3A4B"/>
                </a:solidFill>
                <a:latin typeface="Consolas"/>
                <a:cs typeface="Consolas"/>
              </a:rPr>
              <a:t>    TRUE ~ NA_character_)</a:t>
            </a:r>
          </a:p>
          <a:p>
            <a:pPr marL="0" indent="0" algn="l">
              <a:lnSpc>
                <a:spcPct val="100000"/>
              </a:lnSpc>
              <a:buNone/>
            </a:pPr>
            <a:r>
              <a:rPr lang="en-US" sz="1300" dirty="0">
                <a:solidFill>
                  <a:srgbClr val="1B3A4B"/>
                </a:solidFill>
                <a:latin typeface="Consolas"/>
                <a:cs typeface="Consolas"/>
              </a:rPr>
              <a:t>}</a:t>
            </a:r>
          </a:p>
          <a:p>
            <a:pPr marL="0" indent="0" algn="l">
              <a:lnSpc>
                <a:spcPct val="100000"/>
              </a:lnSpc>
              <a:buNone/>
            </a:pPr>
            <a:r>
              <a:rPr lang="en-US" sz="1300" dirty="0">
                <a:solidFill>
                  <a:srgbClr val="1B3A4B"/>
                </a:solidFill>
                <a:latin typeface="Consolas"/>
                <a:cs typeface="Consolas"/>
              </a:rPr>
              <a:t>raw &lt;- raw |&gt; mutate(across(</a:t>
            </a:r>
          </a:p>
          <a:p>
            <a:pPr marL="0" indent="0" algn="l">
              <a:lnSpc>
                <a:spcPct val="100000"/>
              </a:lnSpc>
              <a:buNone/>
            </a:pPr>
            <a:r>
              <a:rPr lang="en-US" sz="1300" dirty="0">
                <a:solidFill>
                  <a:srgbClr val="1B3A4B"/>
                </a:solidFill>
                <a:latin typeface="Consolas"/>
                <a:cs typeface="Consolas"/>
              </a:rPr>
              <a:t>  c(diabetes, family_history_htn, health_insurance,</a:t>
            </a:r>
          </a:p>
          <a:p>
            <a:pPr marL="0" indent="0" algn="l">
              <a:lnSpc>
                <a:spcPct val="100000"/>
              </a:lnSpc>
              <a:buNone/>
            </a:pPr>
            <a:r>
              <a:rPr lang="en-US" sz="1300" dirty="0">
                <a:solidFill>
                  <a:srgbClr val="1B3A4B"/>
                </a:solidFill>
                <a:latin typeface="Consolas"/>
                <a:cs typeface="Consolas"/>
              </a:rPr>
              <a:t>    htn_diagnosed, treatment_uptake), to_yesno))</a:t>
            </a:r>
          </a:p>
        </p:txBody>
      </p:sp>
      <p:sp>
        <p:nvSpPr>
          <p:cNvPr id="32" name="Note"/>
          <p:cNvSpPr/>
          <p:nvPr/>
        </p:nvSpPr>
        <p:spPr>
          <a:xfrm>
            <a:off x="457200" y="40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Viết quy tắc một lần, áp dụng nó cho nhiều cột bằng across().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Kiểm định: Các giá trị sinh lý bất khả</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Phát hiện điều bất khả</a:t>
            </a:r>
          </a:p>
          <a:p>
            <a:pPr marL="0" indent="0" algn="l">
              <a:lnSpc>
                <a:spcPct val="108000"/>
              </a:lnSpc>
              <a:spcBef>
                <a:spcPts val="440"/>
              </a:spcBef>
              <a:buNone/>
            </a:pPr>
            <a:r>
              <a:rPr lang="en-US" sz="1800" dirty="0">
                <a:solidFill>
                  <a:srgbClr val="000000"/>
                </a:solidFill>
                <a:latin typeface="Segoe UI"/>
                <a:cs typeface="Segoe UI"/>
              </a:rPr>
              <a:t>age 200 và age 0; sbp 0 và sbp 700.</a:t>
            </a:r>
          </a:p>
          <a:p>
            <a:pPr marL="0" indent="0" algn="l">
              <a:lnSpc>
                <a:spcPct val="108000"/>
              </a:lnSpc>
              <a:spcBef>
                <a:spcPts val="440"/>
              </a:spcBef>
              <a:buNone/>
            </a:pPr>
            <a:r>
              <a:rPr lang="en-US" sz="1800" dirty="0">
                <a:solidFill>
                  <a:srgbClr val="000000"/>
                </a:solidFill>
                <a:latin typeface="Segoe UI"/>
                <a:cs typeface="Segoe UI"/>
              </a:rPr>
              <a:t>weight 7 kg; height 17 cm.</a:t>
            </a:r>
          </a:p>
          <a:p>
            <a:pPr marL="0" indent="0" algn="l">
              <a:lnSpc>
                <a:spcPct val="108000"/>
              </a:lnSpc>
              <a:spcBef>
                <a:spcPts val="440"/>
              </a:spcBef>
              <a:buNone/>
            </a:pPr>
            <a:r>
              <a:rPr lang="en-US" sz="1800" dirty="0">
                <a:solidFill>
                  <a:srgbClr val="000000"/>
                </a:solidFill>
                <a:latin typeface="Segoe UI"/>
                <a:cs typeface="Segoe UI"/>
              </a:rPr>
              <a:t>Đây là lỗi nhập liệu, không phải bệnh nhân thật.</a:t>
            </a:r>
          </a:p>
          <a:p>
            <a:pPr>
              <a:buNone/>
            </a:pPr>
            <a:endParaRPr sz="1050"/>
          </a:p>
          <a:p>
            <a:pPr marL="0" indent="0" algn="l">
              <a:spcBef>
                <a:spcPts val="360"/>
              </a:spcBef>
              <a:buNone/>
            </a:pPr>
            <a:r>
              <a:rPr lang="en-US" sz="2050" b="1" dirty="0">
                <a:solidFill>
                  <a:srgbClr val="0D7377"/>
                </a:solidFill>
                <a:latin typeface="Segoe UI"/>
                <a:cs typeface="Segoe UI"/>
              </a:rPr>
              <a:t>Sửa bằng các khoảng giá trị hợp lý</a:t>
            </a:r>
          </a:p>
          <a:p>
            <a:pPr marL="0" indent="0" algn="l">
              <a:lnSpc>
                <a:spcPct val="108000"/>
              </a:lnSpc>
              <a:spcBef>
                <a:spcPts val="440"/>
              </a:spcBef>
              <a:buNone/>
            </a:pPr>
            <a:r>
              <a:rPr lang="en-US" sz="1800" dirty="0">
                <a:solidFill>
                  <a:srgbClr val="000000"/>
                </a:solidFill>
                <a:latin typeface="Segoe UI"/>
                <a:cs typeface="Segoe UI"/>
              </a:rPr>
              <a:t>if_else(age &gt;= 18 &amp; age &lt;= 110, age, NA_real_)</a:t>
            </a:r>
          </a:p>
          <a:p>
            <a:pPr marL="0" indent="0" algn="l">
              <a:lnSpc>
                <a:spcPct val="108000"/>
              </a:lnSpc>
              <a:spcBef>
                <a:spcPts val="440"/>
              </a:spcBef>
              <a:buNone/>
            </a:pPr>
            <a:r>
              <a:rPr lang="en-US" sz="1800" dirty="0">
                <a:solidFill>
                  <a:srgbClr val="000000"/>
                </a:solidFill>
                <a:latin typeface="Segoe UI"/>
                <a:cs typeface="Segoe UI"/>
              </a:rPr>
              <a:t>Ngoài khoảng thì thành NA, không phải xóa cả hàng.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Segoe UI"/>
                <a:cs typeface="Segoe UI"/>
              </a:rPr>
              <a:t>DIỄN GIẢI LÂM SÀNG  -  Chọn các khoảng</a:t>
            </a:r>
          </a:p>
          <a:p>
            <a:pPr marL="0" indent="0" algn="l">
              <a:spcBef>
                <a:spcPts val="100"/>
              </a:spcBef>
              <a:buNone/>
            </a:pPr>
            <a:r>
              <a:rPr lang="en-US" sz="1300" dirty="0">
                <a:solidFill>
                  <a:srgbClr val="000000"/>
                </a:solidFill>
                <a:latin typeface="Segoe UI"/>
                <a:cs typeface="Segoe UI"/>
              </a:rPr>
              <a:t>Đặt giới hạn từ kiến thức lâm sàng và dân số nghiên cứu của bạn, không phải chỉ từ dữ liệu.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Mã hoá lại và tạo biến dẫn xuất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Tính lại BMI từ nguồn</a:t>
            </a:r>
          </a:p>
          <a:p>
            <a:pPr marL="274320" indent="-274320" algn="l">
              <a:lnSpc>
                <a:spcPct val="106000"/>
              </a:lnSpc>
              <a:spcBef>
                <a:spcPts val="520"/>
              </a:spcBef>
              <a:buFont typeface="Arial"/>
              <a:buChar char="•"/>
            </a:pPr>
            <a:r>
              <a:rPr lang="en-US" sz="1650" dirty="0">
                <a:solidFill>
                  <a:srgbClr val="000000"/>
                </a:solidFill>
                <a:latin typeface="Segoe UI"/>
                <a:cs typeface="Segoe UI"/>
              </a:rPr>
              <a:t>bmi = weight_kg / (height_cm/100)^2</a:t>
            </a:r>
          </a:p>
          <a:p>
            <a:pPr marL="274320" indent="-274320" algn="l">
              <a:lnSpc>
                <a:spcPct val="106000"/>
              </a:lnSpc>
              <a:spcBef>
                <a:spcPts val="520"/>
              </a:spcBef>
              <a:buFont typeface="Arial"/>
              <a:buChar char="•"/>
            </a:pPr>
            <a:r>
              <a:rPr lang="en-US" sz="1650" dirty="0">
                <a:solidFill>
                  <a:srgbClr val="000000"/>
                </a:solidFill>
                <a:latin typeface="Segoe UI"/>
                <a:cs typeface="Segoe UI"/>
              </a:rPr>
              <a:t>Tạo biến dẫn xuất sau khi làm sạch height và weight.</a:t>
            </a:r>
          </a:p>
          <a:p>
            <a:pPr marL="274320" indent="-274320" algn="l">
              <a:lnSpc>
                <a:spcPct val="106000"/>
              </a:lnSpc>
              <a:spcBef>
                <a:spcPts val="520"/>
              </a:spcBef>
              <a:buFont typeface="Arial"/>
              <a:buChar char="•"/>
            </a:pPr>
            <a:r>
              <a:rPr lang="en-US" sz="1650" dirty="0">
                <a:solidFill>
                  <a:srgbClr val="000000"/>
                </a:solidFill>
                <a:latin typeface="Segoe UI"/>
                <a:cs typeface="Segoe UI"/>
              </a:rPr>
              <a:t>Đừng bao giờ tin một BMI đã tính sẵn một cách mù quáng.</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Tạo các phân loại lâm sàng</a:t>
            </a:r>
          </a:p>
          <a:p>
            <a:pPr marL="274320" indent="-274320" algn="l">
              <a:lnSpc>
                <a:spcPct val="106000"/>
              </a:lnSpc>
              <a:spcBef>
                <a:spcPts val="520"/>
              </a:spcBef>
              <a:buFont typeface="Arial"/>
              <a:buChar char="•"/>
            </a:pPr>
            <a:r>
              <a:rPr lang="en-US" sz="1650" dirty="0">
                <a:solidFill>
                  <a:srgbClr val="000000"/>
                </a:solidFill>
                <a:latin typeface="Segoe UI"/>
                <a:cs typeface="Segoe UI"/>
              </a:rPr>
              <a:t>bmi_cat bằng cut(): từ Underweight tới Obese.</a:t>
            </a:r>
          </a:p>
          <a:p>
            <a:pPr marL="274320" indent="-274320" algn="l">
              <a:lnSpc>
                <a:spcPct val="106000"/>
              </a:lnSpc>
              <a:spcBef>
                <a:spcPts val="520"/>
              </a:spcBef>
              <a:buFont typeface="Arial"/>
              <a:buChar char="•"/>
            </a:pPr>
            <a:r>
              <a:rPr lang="en-US" sz="1650" dirty="0">
                <a:solidFill>
                  <a:srgbClr val="000000"/>
                </a:solidFill>
                <a:latin typeface="Segoe UI"/>
                <a:cs typeface="Segoe UI"/>
              </a:rPr>
              <a:t>bp_category bằng case_when().</a:t>
            </a:r>
          </a:p>
          <a:p>
            <a:pPr marL="274320" indent="-274320" algn="l">
              <a:lnSpc>
                <a:spcPct val="106000"/>
              </a:lnSpc>
              <a:spcBef>
                <a:spcPts val="520"/>
              </a:spcBef>
              <a:buFont typeface="Arial"/>
              <a:buChar char="•"/>
            </a:pPr>
            <a:r>
              <a:rPr lang="en-US" sz="1650" dirty="0">
                <a:solidFill>
                  <a:srgbClr val="000000"/>
                </a:solidFill>
                <a:latin typeface="Segoe UI"/>
                <a:cs typeface="Segoe UI"/>
              </a:rPr>
              <a:t>Normal, Elevated, Hypertension.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Trình diễn: Tính lại BMI và phân loại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30" name="Code"/>
          <p:cNvSpPr/>
          <p:nvPr/>
        </p:nvSpPr>
        <p:spPr>
          <a:xfrm>
            <a:off x="457200" y="1080000"/>
            <a:ext cx="11277600" cy="249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raw &lt;- raw |&gt; mutate(</a:t>
            </a:r>
          </a:p>
          <a:p>
            <a:pPr marL="0" indent="0" algn="l">
              <a:lnSpc>
                <a:spcPct val="100000"/>
              </a:lnSpc>
              <a:buNone/>
            </a:pPr>
            <a:r>
              <a:rPr lang="en-US" sz="1300" dirty="0">
                <a:solidFill>
                  <a:srgbClr val="1B3A4B"/>
                </a:solidFill>
                <a:latin typeface="Consolas"/>
                <a:cs typeface="Consolas"/>
              </a:rPr>
              <a:t>  bmi = round(weight_kg / (height_cm/100)^2, 1),</a:t>
            </a:r>
          </a:p>
          <a:p>
            <a:pPr marL="0" indent="0" algn="l">
              <a:lnSpc>
                <a:spcPct val="100000"/>
              </a:lnSpc>
              <a:buNone/>
            </a:pPr>
            <a:r>
              <a:rPr lang="en-US" sz="1300" dirty="0">
                <a:solidFill>
                  <a:srgbClr val="1B3A4B"/>
                </a:solidFill>
                <a:latin typeface="Consolas"/>
                <a:cs typeface="Consolas"/>
              </a:rPr>
              <a:t>  bmi_cat = cut(bmi,</a:t>
            </a:r>
          </a:p>
          <a:p>
            <a:pPr marL="0" indent="0" algn="l">
              <a:lnSpc>
                <a:spcPct val="100000"/>
              </a:lnSpc>
              <a:buNone/>
            </a:pPr>
            <a:r>
              <a:rPr lang="en-US" sz="1300" dirty="0">
                <a:solidFill>
                  <a:srgbClr val="1B3A4B"/>
                </a:solidFill>
                <a:latin typeface="Consolas"/>
                <a:cs typeface="Consolas"/>
              </a:rPr>
              <a:t>    breaks = c(-Inf, 18.5, 25, 30, Inf),</a:t>
            </a:r>
          </a:p>
          <a:p>
            <a:pPr marL="0" indent="0" algn="l">
              <a:lnSpc>
                <a:spcPct val="100000"/>
              </a:lnSpc>
              <a:buNone/>
            </a:pPr>
            <a:r>
              <a:rPr lang="en-US" sz="1300" dirty="0">
                <a:solidFill>
                  <a:srgbClr val="1B3A4B"/>
                </a:solidFill>
                <a:latin typeface="Consolas"/>
                <a:cs typeface="Consolas"/>
              </a:rPr>
              <a:t>    labels = c("Underweight","Normal",</a:t>
            </a:r>
          </a:p>
          <a:p>
            <a:pPr marL="0" indent="0" algn="l">
              <a:lnSpc>
                <a:spcPct val="100000"/>
              </a:lnSpc>
              <a:buNone/>
            </a:pPr>
            <a:r>
              <a:rPr lang="en-US" sz="1300" dirty="0">
                <a:solidFill>
                  <a:srgbClr val="1B3A4B"/>
                </a:solidFill>
                <a:latin typeface="Consolas"/>
                <a:cs typeface="Consolas"/>
              </a:rPr>
              <a:t>               "Overweight","Obese")),</a:t>
            </a:r>
          </a:p>
          <a:p>
            <a:pPr marL="0" indent="0" algn="l">
              <a:lnSpc>
                <a:spcPct val="100000"/>
              </a:lnSpc>
              <a:buNone/>
            </a:pPr>
            <a:r>
              <a:rPr lang="en-US" sz="1300" dirty="0">
                <a:solidFill>
                  <a:srgbClr val="1B3A4B"/>
                </a:solidFill>
                <a:latin typeface="Consolas"/>
                <a:cs typeface="Consolas"/>
              </a:rPr>
              <a:t>  bp_category = case_when(</a:t>
            </a:r>
          </a:p>
          <a:p>
            <a:pPr marL="0" indent="0" algn="l">
              <a:lnSpc>
                <a:spcPct val="100000"/>
              </a:lnSpc>
              <a:buNone/>
            </a:pPr>
            <a:r>
              <a:rPr lang="en-US" sz="1300" dirty="0">
                <a:solidFill>
                  <a:srgbClr val="1B3A4B"/>
                </a:solidFill>
                <a:latin typeface="Consolas"/>
                <a:cs typeface="Consolas"/>
              </a:rPr>
              <a:t>    is.na(sbp_mmhg) | is.na(dbp_mmhg) ~ NA_character_,</a:t>
            </a:r>
          </a:p>
          <a:p>
            <a:pPr marL="0" indent="0" algn="l">
              <a:lnSpc>
                <a:spcPct val="100000"/>
              </a:lnSpc>
              <a:buNone/>
            </a:pPr>
            <a:r>
              <a:rPr lang="en-US" sz="1300" dirty="0">
                <a:solidFill>
                  <a:srgbClr val="1B3A4B"/>
                </a:solidFill>
                <a:latin typeface="Consolas"/>
                <a:cs typeface="Consolas"/>
              </a:rPr>
              <a:t>    sbp_mmhg &gt;= 140 | dbp_mmhg &gt;= 90 ~ "Hypertension",</a:t>
            </a:r>
          </a:p>
          <a:p>
            <a:pPr marL="0" indent="0" algn="l">
              <a:lnSpc>
                <a:spcPct val="100000"/>
              </a:lnSpc>
              <a:buNone/>
            </a:pPr>
            <a:r>
              <a:rPr lang="en-US" sz="1300" dirty="0">
                <a:solidFill>
                  <a:srgbClr val="1B3A4B"/>
                </a:solidFill>
                <a:latin typeface="Consolas"/>
                <a:cs typeface="Consolas"/>
              </a:rPr>
              <a:t>    sbp_mmhg &gt;= 130 | dbp_mmhg &gt;= 80 ~ "Elevated",</a:t>
            </a:r>
          </a:p>
          <a:p>
            <a:pPr marL="0" indent="0" algn="l">
              <a:lnSpc>
                <a:spcPct val="100000"/>
              </a:lnSpc>
              <a:buNone/>
            </a:pPr>
            <a:r>
              <a:rPr lang="en-US" sz="1300" dirty="0">
                <a:solidFill>
                  <a:srgbClr val="1B3A4B"/>
                </a:solidFill>
                <a:latin typeface="Consolas"/>
                <a:cs typeface="Consolas"/>
              </a:rPr>
              <a:t>    TRUE ~ "Normal"))</a:t>
            </a:r>
          </a:p>
        </p:txBody>
      </p:sp>
      <p:sp>
        <p:nvSpPr>
          <p:cNvPr id="32" name="Note"/>
          <p:cNvSpPr/>
          <p:nvPr/>
        </p:nvSpPr>
        <p:spPr>
          <a:xfrm>
            <a:off x="457200" y="372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Xử lý NA một cách tường minh trước để một BP khuyết không bao giờ bị đọc là Normal.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Trình diễn: Phân tích các định dạng ngày hỗn hợp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enroll_date đến với vài định dạng khác nhau.</a:t>
            </a:r>
          </a:p>
        </p:txBody>
      </p:sp>
      <p:sp>
        <p:nvSpPr>
          <p:cNvPr id="30" name="Code"/>
          <p:cNvSpPr/>
          <p:nvPr/>
        </p:nvSpPr>
        <p:spPr>
          <a:xfrm>
            <a:off x="457200" y="1640000"/>
            <a:ext cx="11277600" cy="165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library(lubridate)</a:t>
            </a:r>
          </a:p>
          <a:p>
            <a:pPr marL="0" indent="0" algn="l">
              <a:lnSpc>
                <a:spcPct val="100000"/>
              </a:lnSpc>
              <a:buNone/>
            </a:pPr>
            <a:r>
              <a:rPr lang="en-US" sz="1300" dirty="0">
                <a:solidFill>
                  <a:srgbClr val="1B3A4B"/>
                </a:solidFill>
                <a:latin typeface="Consolas"/>
                <a:cs typeface="Consolas"/>
              </a:rPr>
              <a:t>raw &lt;- raw |&gt; mutate(</a:t>
            </a:r>
          </a:p>
          <a:p>
            <a:pPr marL="0" indent="0" algn="l">
              <a:lnSpc>
                <a:spcPct val="100000"/>
              </a:lnSpc>
              <a:buNone/>
            </a:pPr>
            <a:r>
              <a:rPr lang="en-US" sz="1300" dirty="0">
                <a:solidFill>
                  <a:srgbClr val="1B3A4B"/>
                </a:solidFill>
                <a:latin typeface="Consolas"/>
                <a:cs typeface="Consolas"/>
              </a:rPr>
              <a:t>  enroll_date = parse_date_time(</a:t>
            </a:r>
          </a:p>
          <a:p>
            <a:pPr marL="0" indent="0" algn="l">
              <a:lnSpc>
                <a:spcPct val="100000"/>
              </a:lnSpc>
              <a:buNone/>
            </a:pPr>
            <a:r>
              <a:rPr lang="en-US" sz="1300" dirty="0">
                <a:solidFill>
                  <a:srgbClr val="1B3A4B"/>
                </a:solidFill>
                <a:latin typeface="Consolas"/>
                <a:cs typeface="Consolas"/>
              </a:rPr>
              <a:t>    enroll_date,</a:t>
            </a:r>
          </a:p>
          <a:p>
            <a:pPr marL="0" indent="0" algn="l">
              <a:lnSpc>
                <a:spcPct val="100000"/>
              </a:lnSpc>
              <a:buNone/>
            </a:pPr>
            <a:r>
              <a:rPr lang="en-US" sz="1300" dirty="0">
                <a:solidFill>
                  <a:srgbClr val="1B3A4B"/>
                </a:solidFill>
                <a:latin typeface="Consolas"/>
                <a:cs typeface="Consolas"/>
              </a:rPr>
              <a:t>    orders = c("ymd","dmy","d-b-Y")) |&gt;</a:t>
            </a:r>
          </a:p>
          <a:p>
            <a:pPr marL="0" indent="0" algn="l">
              <a:lnSpc>
                <a:spcPct val="100000"/>
              </a:lnSpc>
              <a:buNone/>
            </a:pPr>
            <a:r>
              <a:rPr lang="en-US" sz="1300" dirty="0">
                <a:solidFill>
                  <a:srgbClr val="1B3A4B"/>
                </a:solidFill>
                <a:latin typeface="Consolas"/>
                <a:cs typeface="Consolas"/>
              </a:rPr>
              <a:t>  as_date())</a:t>
            </a:r>
          </a:p>
          <a:p>
            <a:pPr marL="0" indent="0" algn="l">
              <a:lnSpc>
                <a:spcPct val="100000"/>
              </a:lnSpc>
              <a:buNone/>
            </a:pPr>
            <a:r>
              <a:rPr lang="en-US" sz="1300" dirty="0">
                <a:solidFill>
                  <a:srgbClr val="1B3A4B"/>
                </a:solidFill>
                <a:latin typeface="Consolas"/>
                <a:cs typeface="Consolas"/>
              </a:rPr>
              <a:t>sum(is.na(raw$enroll_date))</a:t>
            </a:r>
          </a:p>
        </p:txBody>
      </p:sp>
      <p:sp>
        <p:nvSpPr>
          <p:cNvPr id="31" name="Output"/>
          <p:cNvSpPr/>
          <p:nvPr/>
        </p:nvSpPr>
        <p:spPr>
          <a:xfrm>
            <a:off x="457200" y="3440000"/>
            <a:ext cx="11277600" cy="5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[1] 0</a:t>
            </a:r>
          </a:p>
        </p:txBody>
      </p:sp>
      <p:sp>
        <p:nvSpPr>
          <p:cNvPr id="32" name="Note"/>
          <p:cNvSpPr/>
          <p:nvPr/>
        </p:nvSpPr>
        <p:spPr>
          <a:xfrm>
            <a:off x="457200" y="40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orders liệt kê các định dạng để thử, theo thứ tự ưu tiên.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Biến phân loại (factor) và mức tham chiếu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Factor cho các phân loại một cấu trúc</a:t>
            </a:r>
          </a:p>
          <a:p>
            <a:pPr marL="0" indent="0" algn="l">
              <a:lnSpc>
                <a:spcPct val="108000"/>
              </a:lnSpc>
              <a:spcBef>
                <a:spcPts val="440"/>
              </a:spcBef>
              <a:buNone/>
            </a:pPr>
            <a:r>
              <a:rPr lang="en-US" sz="1800" dirty="0">
                <a:solidFill>
                  <a:srgbClr val="000000"/>
                </a:solidFill>
                <a:latin typeface="Segoe UI"/>
                <a:cs typeface="Segoe UI"/>
              </a:rPr>
              <a:t>factor() lưu các phân loại với các mức được định nghĩa.</a:t>
            </a:r>
          </a:p>
          <a:p>
            <a:pPr marL="0" indent="0" algn="l">
              <a:lnSpc>
                <a:spcPct val="108000"/>
              </a:lnSpc>
              <a:spcBef>
                <a:spcPts val="440"/>
              </a:spcBef>
              <a:buNone/>
            </a:pPr>
            <a:r>
              <a:rPr lang="en-US" sz="1800" dirty="0">
                <a:solidFill>
                  <a:srgbClr val="000000"/>
                </a:solidFill>
                <a:latin typeface="Segoe UI"/>
                <a:cs typeface="Segoe UI"/>
              </a:rPr>
              <a:t>Factor có thứ tự giữ nguyên ý nghĩa thứ tự (education, activity).</a:t>
            </a:r>
          </a:p>
          <a:p>
            <a:pPr marL="0" indent="0" algn="l">
              <a:lnSpc>
                <a:spcPct val="108000"/>
              </a:lnSpc>
              <a:spcBef>
                <a:spcPts val="440"/>
              </a:spcBef>
              <a:buNone/>
            </a:pPr>
            <a:r>
              <a:rPr lang="en-US" sz="1800" dirty="0">
                <a:solidFill>
                  <a:srgbClr val="000000"/>
                </a:solidFill>
                <a:latin typeface="Segoe UI"/>
                <a:cs typeface="Segoe UI"/>
              </a:rPr>
              <a:t>Các mức chi phối thứ tự trong bảng và đồ thị.</a:t>
            </a:r>
          </a:p>
          <a:p>
            <a:pPr>
              <a:buNone/>
            </a:pPr>
            <a:endParaRPr sz="1050"/>
          </a:p>
          <a:p>
            <a:pPr marL="0" indent="0" algn="l">
              <a:spcBef>
                <a:spcPts val="360"/>
              </a:spcBef>
              <a:buNone/>
            </a:pPr>
            <a:r>
              <a:rPr lang="en-US" sz="2050" b="1" dirty="0">
                <a:solidFill>
                  <a:srgbClr val="0D7377"/>
                </a:solidFill>
                <a:latin typeface="Segoe UI"/>
                <a:cs typeface="Segoe UI"/>
              </a:rPr>
              <a:t>Đặt mức tham chiếu một cách có chủ đích</a:t>
            </a:r>
          </a:p>
          <a:p>
            <a:pPr marL="0" indent="0" algn="l">
              <a:lnSpc>
                <a:spcPct val="108000"/>
              </a:lnSpc>
              <a:spcBef>
                <a:spcPts val="440"/>
              </a:spcBef>
              <a:buNone/>
            </a:pPr>
            <a:r>
              <a:rPr lang="en-US" sz="1800" dirty="0">
                <a:solidFill>
                  <a:srgbClr val="000000"/>
                </a:solidFill>
                <a:latin typeface="Segoe UI"/>
                <a:cs typeface="Segoe UI"/>
              </a:rPr>
              <a:t>Với các kết cục nhị phân, liệt kê 'No' trước.</a:t>
            </a:r>
          </a:p>
          <a:p>
            <a:pPr marL="0" indent="0" algn="l">
              <a:lnSpc>
                <a:spcPct val="108000"/>
              </a:lnSpc>
              <a:spcBef>
                <a:spcPts val="440"/>
              </a:spcBef>
              <a:buNone/>
            </a:pPr>
            <a:r>
              <a:rPr lang="en-US" sz="1800" dirty="0">
                <a:solidFill>
                  <a:srgbClr val="000000"/>
                </a:solidFill>
                <a:latin typeface="Segoe UI"/>
                <a:cs typeface="Segoe UI"/>
              </a:rPr>
              <a:t>factor(treatment_uptake, levels = c("No","Yes"))</a:t>
            </a:r>
          </a:p>
          <a:p>
            <a:pPr marL="0" indent="0" algn="l">
              <a:lnSpc>
                <a:spcPct val="108000"/>
              </a:lnSpc>
              <a:spcBef>
                <a:spcPts val="440"/>
              </a:spcBef>
              <a:buNone/>
            </a:pPr>
            <a:r>
              <a:rPr lang="en-US" sz="1800" dirty="0">
                <a:solidFill>
                  <a:srgbClr val="000000"/>
                </a:solidFill>
                <a:latin typeface="Segoe UI"/>
                <a:cs typeface="Segoe UI"/>
              </a:rPr>
              <a:t>Mức đầu tiên là mốc so sánh cơ sở trong các mô hình.</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Segoe UI"/>
                <a:cs typeface="Segoe UI"/>
              </a:rPr>
              <a:t>DIỄN GIẢI LÂM SÀNG  -  Vì sao 'No' trước</a:t>
            </a:r>
          </a:p>
          <a:p>
            <a:pPr marL="0" indent="0" algn="l">
              <a:spcBef>
                <a:spcPts val="100"/>
              </a:spcBef>
              <a:buNone/>
            </a:pPr>
            <a:r>
              <a:rPr lang="en-US" sz="1300" dirty="0">
                <a:solidFill>
                  <a:srgbClr val="000000"/>
                </a:solidFill>
                <a:latin typeface="Segoe UI"/>
                <a:cs typeface="Segoe UI"/>
              </a:rPr>
              <a:t>Tỷ số chênh khi đó đọc là chênh lệch của Yes so với No - hướng lâm sàng tự nhiên.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Trình diễn: Kiểm tra dữ liệu khuyết cuối cùng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30" name="Code"/>
          <p:cNvSpPr/>
          <p:nvPr/>
        </p:nvSpPr>
        <p:spPr>
          <a:xfrm>
            <a:off x="457200" y="1080000"/>
            <a:ext cx="11277600" cy="81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colSums(is.na(analysis_data)) |&gt;</a:t>
            </a:r>
          </a:p>
          <a:p>
            <a:pPr marL="0" indent="0" algn="l">
              <a:lnSpc>
                <a:spcPct val="100000"/>
              </a:lnSpc>
              <a:buNone/>
            </a:pPr>
            <a:r>
              <a:rPr lang="en-US" sz="1300" dirty="0">
                <a:solidFill>
                  <a:srgbClr val="1B3A4B"/>
                </a:solidFill>
                <a:latin typeface="Consolas"/>
                <a:cs typeface="Consolas"/>
              </a:rPr>
              <a:t>  sort(decreasing = TRUE) |&gt;</a:t>
            </a:r>
          </a:p>
          <a:p>
            <a:pPr marL="0" indent="0" algn="l">
              <a:lnSpc>
                <a:spcPct val="100000"/>
              </a:lnSpc>
              <a:buNone/>
            </a:pPr>
            <a:r>
              <a:rPr lang="en-US" sz="1300" dirty="0">
                <a:solidFill>
                  <a:srgbClr val="1B3A4B"/>
                </a:solidFill>
                <a:latin typeface="Consolas"/>
                <a:cs typeface="Consolas"/>
              </a:rPr>
              <a:t>  head(12)</a:t>
            </a:r>
          </a:p>
        </p:txBody>
      </p:sp>
      <p:sp>
        <p:nvSpPr>
          <p:cNvPr id="31" name="Output"/>
          <p:cNvSpPr/>
          <p:nvPr/>
        </p:nvSpPr>
        <p:spPr>
          <a:xfrm>
            <a:off x="457200" y="204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adherence        411</a:t>
            </a:r>
          </a:p>
          <a:p>
            <a:pPr marL="0" indent="0" algn="l">
              <a:lnSpc>
                <a:spcPct val="100000"/>
              </a:lnSpc>
              <a:buNone/>
            </a:pPr>
            <a:r>
              <a:rPr lang="en-US" sz="1250" dirty="0">
                <a:solidFill>
                  <a:srgbClr val="1A1A1A"/>
                </a:solidFill>
                <a:latin typeface="Consolas"/>
                <a:cs typeface="Consolas"/>
              </a:rPr>
              <a:t>bp_controlled    411</a:t>
            </a:r>
          </a:p>
          <a:p>
            <a:pPr marL="0" indent="0" algn="l">
              <a:lnSpc>
                <a:spcPct val="100000"/>
              </a:lnSpc>
              <a:buNone/>
            </a:pPr>
            <a:r>
              <a:rPr lang="en-US" sz="1250" dirty="0">
                <a:solidFill>
                  <a:srgbClr val="1A1A1A"/>
                </a:solidFill>
                <a:latin typeface="Consolas"/>
                <a:cs typeface="Consolas"/>
              </a:rPr>
              <a:t>bmi               18</a:t>
            </a:r>
          </a:p>
          <a:p>
            <a:pPr marL="0" indent="0" algn="l">
              <a:lnSpc>
                <a:spcPct val="100000"/>
              </a:lnSpc>
              <a:buNone/>
            </a:pPr>
            <a:r>
              <a:rPr lang="en-US" sz="1250" dirty="0">
                <a:solidFill>
                  <a:srgbClr val="1A1A1A"/>
                </a:solidFill>
                <a:latin typeface="Consolas"/>
                <a:cs typeface="Consolas"/>
              </a:rPr>
              <a:t>sbp_mmhg          12</a:t>
            </a:r>
          </a:p>
          <a:p>
            <a:pPr marL="0" indent="0" algn="l">
              <a:lnSpc>
                <a:spcPct val="100000"/>
              </a:lnSpc>
              <a:buNone/>
            </a:pPr>
            <a:r>
              <a:rPr lang="en-US" sz="1250" dirty="0">
                <a:solidFill>
                  <a:srgbClr val="1A1A1A"/>
                </a:solidFill>
                <a:latin typeface="Consolas"/>
                <a:cs typeface="Consolas"/>
              </a:rPr>
              <a:t>age                9</a:t>
            </a:r>
          </a:p>
        </p:txBody>
      </p:sp>
      <p:sp>
        <p:nvSpPr>
          <p:cNvPr id="32" name="Note"/>
          <p:cNvSpPr/>
          <p:nvPr/>
        </p:nvSpPr>
        <p:spPr>
          <a:xfrm>
            <a:off x="457200" y="34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adherence và bp_controlled là NA theo thiết kế đối với bệnh nhân chưa điều trị.</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Lưu dữ liệu sạch: bản giao ước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Lưu một lần, dùng lại cả tuần</a:t>
            </a:r>
          </a:p>
          <a:p>
            <a:pPr marL="0" indent="0" algn="l">
              <a:lnSpc>
                <a:spcPct val="108000"/>
              </a:lnSpc>
              <a:spcBef>
                <a:spcPts val="440"/>
              </a:spcBef>
              <a:buNone/>
            </a:pPr>
            <a:r>
              <a:rPr lang="en-US" sz="1800" dirty="0">
                <a:solidFill>
                  <a:srgbClr val="000000"/>
                </a:solidFill>
                <a:latin typeface="Segoe UI"/>
                <a:cs typeface="Segoe UI"/>
              </a:rPr>
              <a:t>saveRDS giữ nguyên các kiểu factor và mức của chúng.</a:t>
            </a:r>
          </a:p>
          <a:p>
            <a:pPr marL="0" indent="0" algn="l">
              <a:lnSpc>
                <a:spcPct val="108000"/>
              </a:lnSpc>
              <a:spcBef>
                <a:spcPts val="440"/>
              </a:spcBef>
              <a:buNone/>
            </a:pPr>
            <a:r>
              <a:rPr lang="en-US" sz="1800" dirty="0">
                <a:solidFill>
                  <a:srgbClr val="000000"/>
                </a:solidFill>
                <a:latin typeface="Segoe UI"/>
                <a:cs typeface="Segoe UI"/>
              </a:rPr>
              <a:t>write_csv cho một bản sao lưu con người đọc được.</a:t>
            </a:r>
          </a:p>
          <a:p>
            <a:pPr marL="0" indent="0" algn="l">
              <a:lnSpc>
                <a:spcPct val="108000"/>
              </a:lnSpc>
              <a:spcBef>
                <a:spcPts val="440"/>
              </a:spcBef>
              <a:buNone/>
            </a:pPr>
            <a:r>
              <a:rPr lang="en-US" sz="1800" dirty="0">
                <a:solidFill>
                  <a:srgbClr val="000000"/>
                </a:solidFill>
                <a:latin typeface="Segoe UI"/>
                <a:cs typeface="Segoe UI"/>
              </a:rPr>
              <a:t>Các Ngày 3, 4 và 5 đều bắt đầu từ một tệp này.</a:t>
            </a:r>
          </a:p>
          <a:p>
            <a:pPr>
              <a:buNone/>
            </a:pPr>
            <a:endParaRPr sz="1050"/>
          </a:p>
          <a:p>
            <a:pPr marL="0" indent="0" algn="l">
              <a:spcBef>
                <a:spcPts val="360"/>
              </a:spcBef>
              <a:buNone/>
            </a:pPr>
            <a:r>
              <a:rPr lang="en-US" sz="2050" b="1" dirty="0">
                <a:solidFill>
                  <a:srgbClr val="0D7377"/>
                </a:solidFill>
                <a:latin typeface="Segoe UI"/>
                <a:cs typeface="Segoe UI"/>
              </a:rPr>
              <a:t>Các lệnh</a:t>
            </a:r>
          </a:p>
          <a:p>
            <a:pPr marL="0" indent="0" algn="l">
              <a:lnSpc>
                <a:spcPct val="108000"/>
              </a:lnSpc>
              <a:spcBef>
                <a:spcPts val="440"/>
              </a:spcBef>
              <a:buNone/>
            </a:pPr>
            <a:r>
              <a:rPr lang="en-US" sz="1800" dirty="0">
                <a:solidFill>
                  <a:srgbClr val="000000"/>
                </a:solidFill>
                <a:latin typeface="Segoe UI"/>
                <a:cs typeface="Segoe UI"/>
              </a:rPr>
              <a:t>saveRDS(analysis_data, "Data/analysis_data.rds")</a:t>
            </a:r>
          </a:p>
          <a:p>
            <a:pPr marL="0" indent="0" algn="l">
              <a:lnSpc>
                <a:spcPct val="108000"/>
              </a:lnSpc>
              <a:spcBef>
                <a:spcPts val="440"/>
              </a:spcBef>
              <a:buNone/>
            </a:pPr>
            <a:r>
              <a:rPr lang="en-US" sz="1800" dirty="0">
                <a:solidFill>
                  <a:srgbClr val="000000"/>
                </a:solidFill>
                <a:latin typeface="Segoe UI"/>
                <a:cs typeface="Segoe UI"/>
              </a:rPr>
              <a:t>write_csv(analysis_data, "Data/analysis_data.csv")</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Nạp lại về sau</a:t>
            </a:r>
          </a:p>
          <a:p>
            <a:pPr marL="0" indent="0" algn="l">
              <a:spcBef>
                <a:spcPts val="100"/>
              </a:spcBef>
              <a:buNone/>
            </a:pPr>
            <a:r>
              <a:rPr lang="en-US" sz="1300" dirty="0">
                <a:solidFill>
                  <a:srgbClr val="000000"/>
                </a:solidFill>
                <a:latin typeface="Segoe UI"/>
                <a:cs typeface="Segoe UI"/>
              </a:rPr>
              <a:t>analysis_data &lt;- readRDS("Data/analysis_data.rds")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Lỗi thường gặp và gỡ lỗi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Hãy để ý những điều này</a:t>
            </a:r>
          </a:p>
          <a:p>
            <a:pPr marL="0" indent="0" algn="l">
              <a:lnSpc>
                <a:spcPct val="108000"/>
              </a:lnSpc>
              <a:spcBef>
                <a:spcPts val="440"/>
              </a:spcBef>
              <a:buNone/>
            </a:pPr>
            <a:r>
              <a:rPr lang="en-US" sz="1800" dirty="0">
                <a:solidFill>
                  <a:srgbClr val="000000"/>
                </a:solidFill>
                <a:latin typeface="Segoe UI"/>
                <a:cs typeface="Segoe UI"/>
              </a:rPr>
              <a:t>Quên na= nên 999 lọt vào như một số thật.</a:t>
            </a:r>
          </a:p>
          <a:p>
            <a:pPr marL="0" indent="0" algn="l">
              <a:lnSpc>
                <a:spcPct val="108000"/>
              </a:lnSpc>
              <a:spcBef>
                <a:spcPts val="440"/>
              </a:spcBef>
              <a:buNone/>
            </a:pPr>
            <a:r>
              <a:rPr lang="en-US" sz="1800" dirty="0">
                <a:solidFill>
                  <a:srgbClr val="000000"/>
                </a:solidFill>
                <a:latin typeface="Segoe UI"/>
                <a:cs typeface="Segoe UI"/>
              </a:rPr>
              <a:t>Sai thứ tự mức factor làm đảo mọi tỷ số chênh.</a:t>
            </a:r>
          </a:p>
          <a:p>
            <a:pPr marL="0" indent="0" algn="l">
              <a:lnSpc>
                <a:spcPct val="108000"/>
              </a:lnSpc>
              <a:spcBef>
                <a:spcPts val="440"/>
              </a:spcBef>
              <a:buNone/>
            </a:pPr>
            <a:r>
              <a:rPr lang="en-US" sz="1800" dirty="0">
                <a:solidFill>
                  <a:srgbClr val="000000"/>
                </a:solidFill>
                <a:latin typeface="Segoe UI"/>
                <a:cs typeface="Segoe UI"/>
              </a:rPr>
              <a:t>Để NA rơi qua case_when xuống nhầm nhóm.</a:t>
            </a:r>
          </a:p>
          <a:p>
            <a:pPr>
              <a:buNone/>
            </a:pPr>
            <a:endParaRPr sz="1050"/>
          </a:p>
          <a:p>
            <a:pPr>
              <a:buNone/>
            </a:pPr>
            <a:endParaRPr sz="1050"/>
          </a:p>
        </p:txBody>
      </p:sp>
      <p:sp>
        <p:nvSpPr>
          <p:cNvPr id="40" name="Callout"/>
          <p:cNvSpPr/>
          <p:nvPr/>
        </p:nvSpPr>
        <p:spPr>
          <a:xfrm>
            <a:off x="457200" y="413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Segoe UI"/>
                <a:cs typeface="Segoe UI"/>
              </a:rPr>
              <a:t>LỖI THƯỜNG GẶP  -  Lan truyền NA</a:t>
            </a:r>
          </a:p>
          <a:p>
            <a:pPr marL="0" indent="0" algn="l">
              <a:spcBef>
                <a:spcPts val="100"/>
              </a:spcBef>
              <a:buNone/>
            </a:pPr>
            <a:r>
              <a:rPr lang="en-US" sz="1300" dirty="0">
                <a:solidFill>
                  <a:srgbClr val="000000"/>
                </a:solidFill>
                <a:latin typeface="Segoe UI"/>
                <a:cs typeface="Segoe UI"/>
              </a:rPr>
              <a:t>Bất kỳ phép số học nào với NA đều trả về NA; kiểm tra is.na trước khi tính.</a:t>
            </a:r>
          </a:p>
        </p:txBody>
      </p:sp>
      <p:sp>
        <p:nvSpPr>
          <p:cNvPr id="41"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Thói quen gỡ lỗi</a:t>
            </a:r>
          </a:p>
          <a:p>
            <a:pPr marL="0" indent="0" algn="l">
              <a:spcBef>
                <a:spcPts val="100"/>
              </a:spcBef>
              <a:buNone/>
            </a:pPr>
            <a:r>
              <a:rPr lang="en-US" sz="1300" dirty="0">
                <a:solidFill>
                  <a:srgbClr val="000000"/>
                </a:solidFill>
                <a:latin typeface="Segoe UI"/>
                <a:cs typeface="Segoe UI"/>
              </a:rPr>
              <a:t>Sau mỗi bước hãy chạy summary() hoặc table(..., useNA = "ifany").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Bài thực hành Ngày 2: Làm sạch bộ dữ liệu mô phỏng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Segoe UI"/>
                <a:cs typeface="Segoe UI"/>
              </a:rPr>
              <a:t>Làm việc trong Practicals/day2_exercise.R và mô phỏng lại quy trình hôm nay.</a:t>
            </a:r>
          </a:p>
          <a:p>
            <a:pPr>
              <a:buNone/>
            </a:pPr>
            <a:endParaRPr sz="950"/>
          </a:p>
          <a:p>
            <a:pPr marL="274320" indent="-274320" algn="l">
              <a:lnSpc>
                <a:spcPct val="106000"/>
              </a:lnSpc>
              <a:spcBef>
                <a:spcPts val="560"/>
              </a:spcBef>
              <a:buFont typeface="Arial"/>
              <a:buChar char="•"/>
            </a:pPr>
            <a:r>
              <a:rPr lang="en-US" sz="1950" dirty="0">
                <a:solidFill>
                  <a:srgbClr val="000000"/>
                </a:solidFill>
                <a:latin typeface="Segoe UI"/>
                <a:cs typeface="Segoe UI"/>
              </a:rPr>
              <a:t>Nhập tệp CSV thô với các mã báo hiệu na= đúng.</a:t>
            </a:r>
          </a:p>
          <a:p>
            <a:pPr marL="274320" indent="-274320" algn="l">
              <a:lnSpc>
                <a:spcPct val="106000"/>
              </a:lnSpc>
              <a:spcBef>
                <a:spcPts val="560"/>
              </a:spcBef>
              <a:buFont typeface="Arial"/>
              <a:buChar char="•"/>
            </a:pPr>
            <a:r>
              <a:rPr lang="en-US" sz="1950" dirty="0">
                <a:solidFill>
                  <a:srgbClr val="000000"/>
                </a:solidFill>
                <a:latin typeface="Segoe UI"/>
                <a:cs typeface="Segoe UI"/>
              </a:rPr>
              <a:t>Loại bỏ bản ghi trùng bằng distinct(); xác nhận 1500 hàng.</a:t>
            </a:r>
          </a:p>
          <a:p>
            <a:pPr marL="274320" indent="-274320" algn="l">
              <a:lnSpc>
                <a:spcPct val="106000"/>
              </a:lnSpc>
              <a:spcBef>
                <a:spcPts val="560"/>
              </a:spcBef>
              <a:buFont typeface="Arial"/>
              <a:buChar char="•"/>
            </a:pPr>
            <a:r>
              <a:rPr lang="en-US" sz="1950" dirty="0">
                <a:solidFill>
                  <a:srgbClr val="000000"/>
                </a:solidFill>
                <a:latin typeface="Segoe UI"/>
                <a:cs typeface="Segoe UI"/>
              </a:rPr>
              <a:t>Mã hoá lại sex thành Female/Male; chuẩn hóa các biến nhị phân Yes/No.</a:t>
            </a:r>
          </a:p>
          <a:p>
            <a:pPr marL="274320" indent="-274320" algn="l">
              <a:lnSpc>
                <a:spcPct val="106000"/>
              </a:lnSpc>
              <a:spcBef>
                <a:spcPts val="560"/>
              </a:spcBef>
              <a:buFont typeface="Arial"/>
              <a:buChar char="•"/>
            </a:pPr>
            <a:r>
              <a:rPr lang="en-US" sz="1950" dirty="0">
                <a:solidFill>
                  <a:srgbClr val="000000"/>
                </a:solidFill>
                <a:latin typeface="Segoe UI"/>
                <a:cs typeface="Segoe UI"/>
              </a:rPr>
              <a:t>Áp dụng các khoảng hợp lý; đặt các giá trị bất khả thành NA.</a:t>
            </a:r>
          </a:p>
          <a:p>
            <a:pPr marL="274320" indent="-274320" algn="l">
              <a:lnSpc>
                <a:spcPct val="106000"/>
              </a:lnSpc>
              <a:spcBef>
                <a:spcPts val="560"/>
              </a:spcBef>
              <a:buFont typeface="Arial"/>
              <a:buChar char="•"/>
            </a:pPr>
            <a:r>
              <a:rPr lang="en-US" sz="1950" dirty="0">
                <a:solidFill>
                  <a:srgbClr val="000000"/>
                </a:solidFill>
                <a:latin typeface="Segoe UI"/>
                <a:cs typeface="Segoe UI"/>
              </a:rPr>
              <a:t>Tính lại BMI; tạo bmi_cat và bp_category.</a:t>
            </a:r>
          </a:p>
          <a:p>
            <a:pPr marL="274320" indent="-274320" algn="l">
              <a:lnSpc>
                <a:spcPct val="106000"/>
              </a:lnSpc>
              <a:spcBef>
                <a:spcPts val="560"/>
              </a:spcBef>
              <a:buFont typeface="Arial"/>
              <a:buChar char="•"/>
            </a:pPr>
            <a:r>
              <a:rPr lang="en-US" sz="1950" dirty="0">
                <a:solidFill>
                  <a:srgbClr val="000000"/>
                </a:solidFill>
                <a:latin typeface="Segoe UI"/>
                <a:cs typeface="Segoe UI"/>
              </a:rPr>
              <a:t>Phân tích enroll_date; đặt các factor và mức tham chiếu.</a:t>
            </a:r>
          </a:p>
          <a:p>
            <a:pPr marL="274320" indent="-274320" algn="l">
              <a:lnSpc>
                <a:spcPct val="106000"/>
              </a:lnSpc>
              <a:spcBef>
                <a:spcPts val="560"/>
              </a:spcBef>
              <a:buFont typeface="Arial"/>
              <a:buChar char="•"/>
            </a:pPr>
            <a:r>
              <a:rPr lang="en-US" sz="1950" dirty="0">
                <a:solidFill>
                  <a:srgbClr val="000000"/>
                </a:solidFill>
                <a:latin typeface="Segoe UI"/>
                <a:cs typeface="Segoe UI"/>
              </a:rPr>
              <a:t>Chạy kiểm tra dữ liệu khuyết cuối cùng và giải thích từng NA.</a:t>
            </a:r>
          </a:p>
          <a:p>
            <a:pPr marL="274320" indent="-274320" algn="l">
              <a:lnSpc>
                <a:spcPct val="106000"/>
              </a:lnSpc>
              <a:spcBef>
                <a:spcPts val="560"/>
              </a:spcBef>
              <a:buFont typeface="Arial"/>
              <a:buChar char="•"/>
            </a:pPr>
            <a:r>
              <a:rPr lang="en-US" sz="1950" dirty="0">
                <a:solidFill>
                  <a:srgbClr val="000000"/>
                </a:solidFill>
                <a:latin typeface="Segoe UI"/>
                <a:cs typeface="Segoe UI"/>
              </a:rPr>
              <a:t>Lưu kết quả vào Data/analysis_data.rds.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Ôn tập và bắc cầu sang Ngày 3</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Hôm nay ta đạt được gì</a:t>
            </a:r>
          </a:p>
          <a:p>
            <a:pPr marL="0" indent="0" algn="l">
              <a:lnSpc>
                <a:spcPct val="108000"/>
              </a:lnSpc>
              <a:spcBef>
                <a:spcPts val="440"/>
              </a:spcBef>
              <a:buNone/>
            </a:pPr>
            <a:r>
              <a:rPr lang="en-US" sz="1800" dirty="0">
                <a:solidFill>
                  <a:srgbClr val="000000"/>
                </a:solidFill>
                <a:latin typeface="Segoe UI"/>
                <a:cs typeface="Segoe UI"/>
              </a:rPr>
              <a:t>Đã nhập, khử trùng lặp và chuẩn hóa dữ liệu thô.</a:t>
            </a:r>
          </a:p>
          <a:p>
            <a:pPr marL="0" indent="0" algn="l">
              <a:lnSpc>
                <a:spcPct val="108000"/>
              </a:lnSpc>
              <a:spcBef>
                <a:spcPts val="440"/>
              </a:spcBef>
              <a:buNone/>
            </a:pPr>
            <a:r>
              <a:rPr lang="en-US" sz="1800" dirty="0">
                <a:solidFill>
                  <a:srgbClr val="000000"/>
                </a:solidFill>
                <a:latin typeface="Segoe UI"/>
                <a:cs typeface="Segoe UI"/>
              </a:rPr>
              <a:t>Đã kiểm định các giá trị, tạo biến dẫn xuất, phân tích ngày tháng.</a:t>
            </a:r>
          </a:p>
          <a:p>
            <a:pPr marL="0" indent="0" algn="l">
              <a:lnSpc>
                <a:spcPct val="108000"/>
              </a:lnSpc>
              <a:spcBef>
                <a:spcPts val="440"/>
              </a:spcBef>
              <a:buNone/>
            </a:pPr>
            <a:r>
              <a:rPr lang="en-US" sz="1800" dirty="0">
                <a:solidFill>
                  <a:srgbClr val="000000"/>
                </a:solidFill>
                <a:latin typeface="Segoe UI"/>
                <a:cs typeface="Segoe UI"/>
              </a:rPr>
              <a:t>Đã đặt các factor và lưu analysis_data.rds.</a:t>
            </a:r>
          </a:p>
          <a:p>
            <a:pPr>
              <a:buNone/>
            </a:pPr>
            <a:endParaRPr sz="1050"/>
          </a:p>
          <a:p>
            <a:pPr marL="0" indent="0" algn="l">
              <a:spcBef>
                <a:spcPts val="360"/>
              </a:spcBef>
              <a:buNone/>
            </a:pPr>
            <a:r>
              <a:rPr lang="en-US" sz="2050" b="1" dirty="0">
                <a:solidFill>
                  <a:srgbClr val="0D7377"/>
                </a:solidFill>
                <a:latin typeface="Segoe UI"/>
                <a:cs typeface="Segoe UI"/>
              </a:rPr>
              <a:t>Ngày mai: Ngày 3</a:t>
            </a:r>
          </a:p>
          <a:p>
            <a:pPr marL="0" indent="0" algn="l">
              <a:lnSpc>
                <a:spcPct val="108000"/>
              </a:lnSpc>
              <a:spcBef>
                <a:spcPts val="440"/>
              </a:spcBef>
              <a:buNone/>
            </a:pPr>
            <a:r>
              <a:rPr lang="en-US" sz="1800" dirty="0">
                <a:solidFill>
                  <a:srgbClr val="000000"/>
                </a:solidFill>
                <a:latin typeface="Segoe UI"/>
                <a:cs typeface="Segoe UI"/>
              </a:rPr>
              <a:t>Khám phá và mô tả dữ liệu sạch.</a:t>
            </a:r>
          </a:p>
          <a:p>
            <a:pPr marL="0" indent="0" algn="l">
              <a:lnSpc>
                <a:spcPct val="108000"/>
              </a:lnSpc>
              <a:spcBef>
                <a:spcPts val="440"/>
              </a:spcBef>
              <a:buNone/>
            </a:pPr>
            <a:r>
              <a:rPr lang="en-US" sz="1800" dirty="0">
                <a:solidFill>
                  <a:srgbClr val="000000"/>
                </a:solidFill>
                <a:latin typeface="Segoe UI"/>
                <a:cs typeface="Segoe UI"/>
              </a:rPr>
              <a:t>Bảng tóm tắt, phân phối và các đồ thị đầu tiên.</a:t>
            </a:r>
          </a:p>
          <a:p>
            <a:pPr marL="0" indent="0" algn="l">
              <a:lnSpc>
                <a:spcPct val="108000"/>
              </a:lnSpc>
              <a:spcBef>
                <a:spcPts val="440"/>
              </a:spcBef>
              <a:buNone/>
            </a:pPr>
            <a:r>
              <a:rPr lang="en-US" sz="1800" dirty="0">
                <a:solidFill>
                  <a:srgbClr val="000000"/>
                </a:solidFill>
                <a:latin typeface="Segoe UI"/>
                <a:cs typeface="Segoe UI"/>
              </a:rPr>
              <a:t>Ta bắt đầu từ analysis_data.rds - không làm sạch lại.</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Segoe UI"/>
                <a:cs typeface="Segoe UI"/>
              </a:rPr>
              <a:t>LƯU Ý  -  Ghi nhớ</a:t>
            </a:r>
          </a:p>
          <a:p>
            <a:pPr marL="0" indent="0" algn="l">
              <a:spcBef>
                <a:spcPts val="100"/>
              </a:spcBef>
              <a:buNone/>
            </a:pPr>
            <a:r>
              <a:rPr lang="en-US" sz="1300" dirty="0">
                <a:solidFill>
                  <a:srgbClr val="000000"/>
                </a:solidFill>
                <a:latin typeface="Segoe UI"/>
                <a:cs typeface="Segoe UI"/>
              </a:rPr>
              <a:t>Dữ liệu sạch tác động rõ ràng - mọi thứ ở hạ nguồn đều dựa trên hôm nay.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Segoe UI"/>
                <a:cs typeface="Segoe UI"/>
              </a:rPr>
              <a:t>Ngày 3: Thống kê mô tả, Bảng và Hình</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Segoe UI"/>
                <a:cs typeface="Segoe UI"/>
              </a:rPr>
              <a:t>Kế hoạch</a:t>
            </a:r>
          </a:p>
          <a:p>
            <a:pPr>
              <a:buNone/>
            </a:pPr>
            <a:endParaRPr sz="800"/>
          </a:p>
          <a:p>
            <a:pPr marL="274320" indent="-274320" algn="l">
              <a:spcBef>
                <a:spcPts val="440"/>
              </a:spcBef>
              <a:buFont typeface="Arial"/>
              <a:buChar char="•"/>
            </a:pPr>
            <a:r>
              <a:rPr lang="en-US" sz="1900" dirty="0">
                <a:solidFill>
                  <a:srgbClr val="000000"/>
                </a:solidFill>
                <a:latin typeface="Segoe UI"/>
                <a:cs typeface="Segoe UI"/>
              </a:rPr>
              <a:t>Xu hướng trung tâm và độ phân tán</a:t>
            </a:r>
          </a:p>
          <a:p>
            <a:pPr marL="274320" indent="-274320" algn="l">
              <a:spcBef>
                <a:spcPts val="440"/>
              </a:spcBef>
              <a:buFont typeface="Arial"/>
              <a:buChar char="•"/>
            </a:pPr>
            <a:r>
              <a:rPr lang="en-US" sz="1900" dirty="0">
                <a:solidFill>
                  <a:srgbClr val="000000"/>
                </a:solidFill>
                <a:latin typeface="Segoe UI"/>
                <a:cs typeface="Segoe UI"/>
              </a:rPr>
              <a:t>Bảng tần số và bảng chéo</a:t>
            </a:r>
          </a:p>
          <a:p>
            <a:pPr marL="274320" indent="-274320" algn="l">
              <a:spcBef>
                <a:spcPts val="440"/>
              </a:spcBef>
              <a:buFont typeface="Arial"/>
              <a:buChar char="•"/>
            </a:pPr>
            <a:r>
              <a:rPr lang="en-US" sz="1900" dirty="0">
                <a:solidFill>
                  <a:srgbClr val="000000"/>
                </a:solidFill>
                <a:latin typeface="Segoe UI"/>
                <a:cs typeface="Segoe UI"/>
              </a:rPr>
              <a:t>Bảng 1 chất lượng xuất bản với gtsummary</a:t>
            </a:r>
          </a:p>
          <a:p>
            <a:pPr marL="274320" indent="-274320" algn="l">
              <a:spcBef>
                <a:spcPts val="440"/>
              </a:spcBef>
              <a:buFont typeface="Arial"/>
              <a:buChar char="•"/>
            </a:pPr>
            <a:r>
              <a:rPr lang="en-US" sz="1900" dirty="0">
                <a:solidFill>
                  <a:srgbClr val="000000"/>
                </a:solidFill>
                <a:latin typeface="Segoe UI"/>
                <a:cs typeface="Segoe UI"/>
              </a:rPr>
              <a:t>Lựa chọn và xây dựng hình</a:t>
            </a:r>
          </a:p>
          <a:p>
            <a:pPr marL="274320" indent="-274320" algn="l">
              <a:spcBef>
                <a:spcPts val="440"/>
              </a:spcBef>
              <a:buFont typeface="Arial"/>
              <a:buChar char="•"/>
            </a:pPr>
            <a:r>
              <a:rPr lang="en-US" sz="1900" dirty="0">
                <a:solidFill>
                  <a:srgbClr val="000000"/>
                </a:solidFill>
                <a:latin typeface="Segoe UI"/>
                <a:cs typeface="Segoe UI"/>
              </a:rPr>
              <a:t>Xuất kết quả có thể tái lập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Những gì chúng ta sẽ đạt được hôm nay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Segoe UI"/>
                <a:cs typeface="Segoe UI"/>
              </a:rPr>
              <a:t>Đến cuối buổi học này bạn sẽ có thể:</a:t>
            </a:r>
          </a:p>
          <a:p>
            <a:pPr>
              <a:buNone/>
            </a:pPr>
            <a:endParaRPr sz="950"/>
          </a:p>
          <a:p>
            <a:pPr marL="274320" indent="-274320" algn="l">
              <a:lnSpc>
                <a:spcPct val="106000"/>
              </a:lnSpc>
              <a:spcBef>
                <a:spcPts val="560"/>
              </a:spcBef>
              <a:buFont typeface="Arial"/>
              <a:buChar char="•"/>
            </a:pPr>
            <a:r>
              <a:rPr lang="en-US" sz="1950" dirty="0">
                <a:solidFill>
                  <a:srgbClr val="000000"/>
                </a:solidFill>
                <a:latin typeface="Segoe UI"/>
                <a:cs typeface="Segoe UI"/>
              </a:rPr>
              <a:t>Tóm tắt một biến số bằng trung bình, trung vị, độ lệch chuẩn và khoảng tứ phân vị</a:t>
            </a:r>
          </a:p>
          <a:p>
            <a:pPr marL="274320" indent="-274320" algn="l">
              <a:lnSpc>
                <a:spcPct val="106000"/>
              </a:lnSpc>
              <a:spcBef>
                <a:spcPts val="560"/>
              </a:spcBef>
              <a:buFont typeface="Arial"/>
              <a:buChar char="•"/>
            </a:pPr>
            <a:r>
              <a:rPr lang="en-US" sz="1950" dirty="0">
                <a:solidFill>
                  <a:srgbClr val="000000"/>
                </a:solidFill>
                <a:latin typeface="Segoe UI"/>
                <a:cs typeface="Segoe UI"/>
              </a:rPr>
              <a:t>Tránh cái bẫy số một của người mới bắt đầu khiến kết quả trả về NA</a:t>
            </a:r>
          </a:p>
          <a:p>
            <a:pPr marL="274320" indent="-274320" algn="l">
              <a:lnSpc>
                <a:spcPct val="106000"/>
              </a:lnSpc>
              <a:spcBef>
                <a:spcPts val="560"/>
              </a:spcBef>
              <a:buFont typeface="Arial"/>
              <a:buChar char="•"/>
            </a:pPr>
            <a:r>
              <a:rPr lang="en-US" sz="1950" dirty="0">
                <a:solidFill>
                  <a:srgbClr val="000000"/>
                </a:solidFill>
                <a:latin typeface="Segoe UI"/>
                <a:cs typeface="Segoe UI"/>
              </a:rPr>
              <a:t>Xây dựng bảng tần số và bảng chéo</a:t>
            </a:r>
          </a:p>
          <a:p>
            <a:pPr marL="274320" indent="-274320" algn="l">
              <a:lnSpc>
                <a:spcPct val="106000"/>
              </a:lnSpc>
              <a:spcBef>
                <a:spcPts val="560"/>
              </a:spcBef>
              <a:buFont typeface="Arial"/>
              <a:buChar char="•"/>
            </a:pPr>
            <a:r>
              <a:rPr lang="en-US" sz="1950" dirty="0">
                <a:solidFill>
                  <a:srgbClr val="000000"/>
                </a:solidFill>
                <a:latin typeface="Segoe UI"/>
                <a:cs typeface="Segoe UI"/>
              </a:rPr>
              <a:t>Đọc đúng phần trăm theo hàng so với theo cột</a:t>
            </a:r>
          </a:p>
          <a:p>
            <a:pPr marL="274320" indent="-274320" algn="l">
              <a:lnSpc>
                <a:spcPct val="106000"/>
              </a:lnSpc>
              <a:spcBef>
                <a:spcPts val="560"/>
              </a:spcBef>
              <a:buFont typeface="Arial"/>
              <a:buChar char="•"/>
            </a:pPr>
            <a:r>
              <a:rPr lang="en-US" sz="1950" dirty="0">
                <a:solidFill>
                  <a:srgbClr val="000000"/>
                </a:solidFill>
                <a:latin typeface="Segoe UI"/>
                <a:cs typeface="Segoe UI"/>
              </a:rPr>
              <a:t>Tạo một Bảng 1 sẵn sàng cho bản thảo</a:t>
            </a:r>
          </a:p>
          <a:p>
            <a:pPr marL="274320" indent="-274320" algn="l">
              <a:lnSpc>
                <a:spcPct val="106000"/>
              </a:lnSpc>
              <a:spcBef>
                <a:spcPts val="560"/>
              </a:spcBef>
              <a:buFont typeface="Arial"/>
              <a:buChar char="•"/>
            </a:pPr>
            <a:r>
              <a:rPr lang="en-US" sz="1950" dirty="0">
                <a:solidFill>
                  <a:srgbClr val="000000"/>
                </a:solidFill>
                <a:latin typeface="Segoe UI"/>
                <a:cs typeface="Segoe UI"/>
              </a:rPr>
              <a:t>Chọn đúng biểu đồ cho từng loại biến</a:t>
            </a:r>
          </a:p>
          <a:p>
            <a:pPr marL="274320" indent="-274320" algn="l">
              <a:lnSpc>
                <a:spcPct val="106000"/>
              </a:lnSpc>
              <a:spcBef>
                <a:spcPts val="560"/>
              </a:spcBef>
              <a:buFont typeface="Arial"/>
              <a:buChar char="•"/>
            </a:pPr>
            <a:r>
              <a:rPr lang="en-US" sz="1950" dirty="0">
                <a:solidFill>
                  <a:srgbClr val="000000"/>
                </a:solidFill>
                <a:latin typeface="Segoe UI"/>
                <a:cs typeface="Segoe UI"/>
              </a:rPr>
              <a:t>Lưu hình ở 300 dpi để xuất bản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Cầu nối: tải lại dữ liệu sạch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Luôn bắt đầu từ tệp sạch đã lưu, không bao giờ làm sạch lại bằng tay.</a:t>
            </a:r>
          </a:p>
        </p:txBody>
      </p:sp>
      <p:sp>
        <p:nvSpPr>
          <p:cNvPr id="30" name="Code"/>
          <p:cNvSpPr/>
          <p:nvPr/>
        </p:nvSpPr>
        <p:spPr>
          <a:xfrm>
            <a:off x="457200" y="1640000"/>
            <a:ext cx="11277600" cy="165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library(tidyverse)</a:t>
            </a:r>
          </a:p>
          <a:p>
            <a:pPr marL="0" indent="0" algn="l">
              <a:lnSpc>
                <a:spcPct val="100000"/>
              </a:lnSpc>
              <a:buNone/>
            </a:pPr>
            <a:r>
              <a:rPr lang="en-US" sz="1300" dirty="0">
                <a:solidFill>
                  <a:srgbClr val="1B3A4B"/>
                </a:solidFill>
                <a:latin typeface="Consolas"/>
                <a:cs typeface="Consolas"/>
              </a:rPr>
              <a:t>library(gtsummary)</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analysis_data &lt;- readRDS("Data/analysis_data.rds")</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glimpse(analysis_data)</a:t>
            </a:r>
          </a:p>
          <a:p>
            <a:pPr marL="0" indent="0" algn="l">
              <a:lnSpc>
                <a:spcPct val="100000"/>
              </a:lnSpc>
              <a:buNone/>
            </a:pPr>
            <a:r>
              <a:rPr lang="en-US" sz="1300" dirty="0">
                <a:solidFill>
                  <a:srgbClr val="1B3A4B"/>
                </a:solidFill>
                <a:latin typeface="Consolas"/>
                <a:cs typeface="Consolas"/>
              </a:rPr>
              <a:t>nrow(analysis_data)</a:t>
            </a:r>
          </a:p>
        </p:txBody>
      </p:sp>
      <p:sp>
        <p:nvSpPr>
          <p:cNvPr id="31" name="Output"/>
          <p:cNvSpPr/>
          <p:nvPr/>
        </p:nvSpPr>
        <p:spPr>
          <a:xfrm>
            <a:off x="457200" y="3440000"/>
            <a:ext cx="11277600" cy="9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Rows: 1,500</a:t>
            </a:r>
          </a:p>
          <a:p>
            <a:pPr marL="0" indent="0" algn="l">
              <a:lnSpc>
                <a:spcPct val="100000"/>
              </a:lnSpc>
              <a:buNone/>
            </a:pPr>
            <a:r>
              <a:rPr lang="en-US" sz="1250" dirty="0">
                <a:solidFill>
                  <a:srgbClr val="1A1A1A"/>
                </a:solidFill>
                <a:latin typeface="Consolas"/>
                <a:cs typeface="Consolas"/>
              </a:rPr>
              <a:t>Columns: 36</a:t>
            </a:r>
          </a:p>
          <a:p>
            <a:pPr marL="0" indent="0" algn="l">
              <a:lnSpc>
                <a:spcPct val="100000"/>
              </a:lnSpc>
              <a:buNone/>
            </a:pPr>
            <a:r>
              <a:rPr lang="en-US" sz="1250" dirty="0">
                <a:solidFill>
                  <a:srgbClr val="1A1A1A"/>
                </a:solidFill>
                <a:latin typeface="Consolas"/>
                <a:cs typeface="Consolas"/>
              </a:rPr>
              <a:t>[1] 1500</a:t>
            </a:r>
          </a:p>
        </p:txBody>
      </p:sp>
      <p:sp>
        <p:nvSpPr>
          <p:cNvPr id="32" name="Note"/>
          <p:cNvSpPr/>
          <p:nvPr/>
        </p:nvSpPr>
        <p:spPr>
          <a:xfrm>
            <a:off x="457200" y="44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Tải lại kết quả của Ngày 2 đảm bảo Ngày 3, 4 và 5 đều dùng dữ liệu giống hệt nhau.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Xu hướng trung tâm: trung bình so với trung vị</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Trung bình</a:t>
            </a:r>
          </a:p>
          <a:p>
            <a:pPr marL="274320" indent="-274320" algn="l">
              <a:lnSpc>
                <a:spcPct val="106000"/>
              </a:lnSpc>
              <a:spcBef>
                <a:spcPts val="520"/>
              </a:spcBef>
              <a:buFont typeface="Arial"/>
              <a:buChar char="•"/>
            </a:pPr>
            <a:r>
              <a:rPr lang="en-US" sz="1650" dirty="0">
                <a:solidFill>
                  <a:srgbClr val="000000"/>
                </a:solidFill>
                <a:latin typeface="Segoe UI"/>
                <a:cs typeface="Segoe UI"/>
              </a:rPr>
              <a:t>Số bình quân cộng</a:t>
            </a:r>
          </a:p>
          <a:p>
            <a:pPr marL="274320" indent="-274320" algn="l">
              <a:lnSpc>
                <a:spcPct val="106000"/>
              </a:lnSpc>
              <a:spcBef>
                <a:spcPts val="520"/>
              </a:spcBef>
              <a:buFont typeface="Arial"/>
              <a:buChar char="•"/>
            </a:pPr>
            <a:r>
              <a:rPr lang="en-US" sz="1650" dirty="0">
                <a:solidFill>
                  <a:srgbClr val="000000"/>
                </a:solidFill>
                <a:latin typeface="Segoe UI"/>
                <a:cs typeface="Segoe UI"/>
              </a:rPr>
              <a:t>Sử dụng mọi giá trị</a:t>
            </a:r>
          </a:p>
          <a:p>
            <a:pPr marL="274320" indent="-274320" algn="l">
              <a:lnSpc>
                <a:spcPct val="106000"/>
              </a:lnSpc>
              <a:spcBef>
                <a:spcPts val="520"/>
              </a:spcBef>
              <a:buFont typeface="Arial"/>
              <a:buChar char="•"/>
            </a:pPr>
            <a:r>
              <a:rPr lang="en-US" sz="1650" dirty="0">
                <a:solidFill>
                  <a:srgbClr val="000000"/>
                </a:solidFill>
                <a:latin typeface="Segoe UI"/>
                <a:cs typeface="Segoe UI"/>
              </a:rPr>
              <a:t>Bị kéo bởi các giá trị cực trị</a:t>
            </a:r>
          </a:p>
          <a:p>
            <a:pPr marL="274320" indent="-274320" algn="l">
              <a:lnSpc>
                <a:spcPct val="106000"/>
              </a:lnSpc>
              <a:spcBef>
                <a:spcPts val="520"/>
              </a:spcBef>
              <a:buFont typeface="Arial"/>
              <a:buChar char="•"/>
            </a:pPr>
            <a:r>
              <a:rPr lang="en-US" sz="1650" dirty="0">
                <a:solidFill>
                  <a:srgbClr val="000000"/>
                </a:solidFill>
                <a:latin typeface="Segoe UI"/>
                <a:cs typeface="Segoe UI"/>
              </a:rPr>
              <a:t>Tốt nhất cho dữ liệu đối xứng</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Trung vị</a:t>
            </a:r>
          </a:p>
          <a:p>
            <a:pPr marL="274320" indent="-274320" algn="l">
              <a:lnSpc>
                <a:spcPct val="106000"/>
              </a:lnSpc>
              <a:spcBef>
                <a:spcPts val="520"/>
              </a:spcBef>
              <a:buFont typeface="Arial"/>
              <a:buChar char="•"/>
            </a:pPr>
            <a:r>
              <a:rPr lang="en-US" sz="1650" dirty="0">
                <a:solidFill>
                  <a:srgbClr val="000000"/>
                </a:solidFill>
                <a:latin typeface="Segoe UI"/>
                <a:cs typeface="Segoe UI"/>
              </a:rPr>
              <a:t>Giá trị ở giữa</a:t>
            </a:r>
          </a:p>
          <a:p>
            <a:pPr marL="274320" indent="-274320" algn="l">
              <a:lnSpc>
                <a:spcPct val="106000"/>
              </a:lnSpc>
              <a:spcBef>
                <a:spcPts val="520"/>
              </a:spcBef>
              <a:buFont typeface="Arial"/>
              <a:buChar char="•"/>
            </a:pPr>
            <a:r>
              <a:rPr lang="en-US" sz="1650" dirty="0">
                <a:solidFill>
                  <a:srgbClr val="000000"/>
                </a:solidFill>
                <a:latin typeface="Segoe UI"/>
                <a:cs typeface="Segoe UI"/>
              </a:rPr>
              <a:t>Một nửa ở trên, một nửa ở dưới</a:t>
            </a:r>
          </a:p>
          <a:p>
            <a:pPr marL="274320" indent="-274320" algn="l">
              <a:lnSpc>
                <a:spcPct val="106000"/>
              </a:lnSpc>
              <a:spcBef>
                <a:spcPts val="520"/>
              </a:spcBef>
              <a:buFont typeface="Arial"/>
              <a:buChar char="•"/>
            </a:pPr>
            <a:r>
              <a:rPr lang="en-US" sz="1650" dirty="0">
                <a:solidFill>
                  <a:srgbClr val="000000"/>
                </a:solidFill>
                <a:latin typeface="Segoe UI"/>
                <a:cs typeface="Segoe UI"/>
              </a:rPr>
              <a:t>Bền vững với giá trị ngoại lai</a:t>
            </a:r>
          </a:p>
          <a:p>
            <a:pPr marL="274320" indent="-274320" algn="l">
              <a:lnSpc>
                <a:spcPct val="106000"/>
              </a:lnSpc>
              <a:spcBef>
                <a:spcPts val="520"/>
              </a:spcBef>
              <a:buFont typeface="Arial"/>
              <a:buChar char="•"/>
            </a:pPr>
            <a:r>
              <a:rPr lang="en-US" sz="1650" dirty="0">
                <a:solidFill>
                  <a:srgbClr val="000000"/>
                </a:solidFill>
                <a:latin typeface="Segoe UI"/>
                <a:cs typeface="Segoe UI"/>
              </a:rPr>
              <a:t>Tốt nhất cho dữ liệu lệch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Khi trung vị là bản tóm tắt trung thực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Quy tắc kinh nghiệm</a:t>
            </a:r>
          </a:p>
          <a:p>
            <a:pPr marL="0" indent="0" algn="l">
              <a:lnSpc>
                <a:spcPct val="108000"/>
              </a:lnSpc>
              <a:spcBef>
                <a:spcPts val="440"/>
              </a:spcBef>
              <a:buNone/>
            </a:pPr>
            <a:r>
              <a:rPr lang="en-US" sz="1800" dirty="0">
                <a:solidFill>
                  <a:srgbClr val="000000"/>
                </a:solidFill>
                <a:latin typeface="Segoe UI"/>
                <a:cs typeface="Segoe UI"/>
              </a:rPr>
              <a:t>Trung bình gần trung vị nghĩa là gần đối xứng: báo cáo trung bình (độ lệch chuẩn)</a:t>
            </a:r>
          </a:p>
          <a:p>
            <a:pPr marL="0" indent="0" algn="l">
              <a:lnSpc>
                <a:spcPct val="108000"/>
              </a:lnSpc>
              <a:spcBef>
                <a:spcPts val="440"/>
              </a:spcBef>
              <a:buNone/>
            </a:pPr>
            <a:r>
              <a:rPr lang="en-US" sz="1800" dirty="0">
                <a:solidFill>
                  <a:srgbClr val="000000"/>
                </a:solidFill>
                <a:latin typeface="Segoe UI"/>
                <a:cs typeface="Segoe UI"/>
              </a:rPr>
              <a:t>Trung bình cao hơn nhiều so với trung vị nghĩa là lệch phải: báo cáo trung vị (khoảng tứ phân vị)</a:t>
            </a:r>
          </a:p>
          <a:p>
            <a:pPr>
              <a:buNone/>
            </a:pPr>
            <a:endParaRPr sz="1050"/>
          </a:p>
          <a:p>
            <a:pPr marL="0" indent="0" algn="l">
              <a:spcBef>
                <a:spcPts val="360"/>
              </a:spcBef>
              <a:buNone/>
            </a:pPr>
            <a:r>
              <a:rPr lang="en-US" sz="2050" b="1" dirty="0">
                <a:solidFill>
                  <a:srgbClr val="0D7377"/>
                </a:solidFill>
                <a:latin typeface="Segoe UI"/>
                <a:cs typeface="Segoe UI"/>
              </a:rPr>
              <a:t>Các biến lâm sàng lệch phải điển hình</a:t>
            </a:r>
          </a:p>
          <a:p>
            <a:pPr marL="0" indent="0" algn="l">
              <a:lnSpc>
                <a:spcPct val="108000"/>
              </a:lnSpc>
              <a:spcBef>
                <a:spcPts val="440"/>
              </a:spcBef>
              <a:buNone/>
            </a:pPr>
            <a:r>
              <a:rPr lang="en-US" sz="1800" dirty="0">
                <a:solidFill>
                  <a:srgbClr val="000000"/>
                </a:solidFill>
                <a:latin typeface="Segoe UI"/>
                <a:cs typeface="Segoe UI"/>
              </a:rPr>
              <a:t>Khoảng cách đến cơ sở y tế, đường huyết lúc đói, triglyceride</a:t>
            </a:r>
          </a:p>
          <a:p>
            <a:pPr marL="0" indent="0" algn="l">
              <a:lnSpc>
                <a:spcPct val="108000"/>
              </a:lnSpc>
              <a:spcBef>
                <a:spcPts val="440"/>
              </a:spcBef>
              <a:buNone/>
            </a:pPr>
            <a:r>
              <a:rPr lang="en-US" sz="1800" dirty="0">
                <a:solidFill>
                  <a:srgbClr val="000000"/>
                </a:solidFill>
                <a:latin typeface="Segoe UI"/>
                <a:cs typeface="Segoe UI"/>
              </a:rPr>
              <a:t>Thời gian nằm viện, chi phí, nồng độ dấu ấn sinh học</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Segoe UI"/>
                <a:cs typeface="Segoe UI"/>
              </a:rPr>
              <a:t>DIỄN GIẢI LÂM SÀNG  -  Tại sao điều này quan trọng</a:t>
            </a:r>
          </a:p>
          <a:p>
            <a:pPr marL="0" indent="0" algn="l">
              <a:spcBef>
                <a:spcPts val="100"/>
              </a:spcBef>
              <a:buNone/>
            </a:pPr>
            <a:r>
              <a:rPr lang="en-US" sz="1300" dirty="0">
                <a:solidFill>
                  <a:srgbClr val="000000"/>
                </a:solidFill>
                <a:latin typeface="Segoe UI"/>
                <a:cs typeface="Segoe UI"/>
              </a:rPr>
              <a:t>Đối với huyết áp và BMI, trung bình thường nằm trên trung vị.</a:t>
            </a:r>
          </a:p>
          <a:p>
            <a:pPr marL="0" indent="0" algn="l">
              <a:spcBef>
                <a:spcPts val="100"/>
              </a:spcBef>
              <a:buNone/>
            </a:pPr>
            <a:r>
              <a:rPr lang="en-US" sz="1300" dirty="0">
                <a:solidFill>
                  <a:srgbClr val="000000"/>
                </a:solidFill>
                <a:latin typeface="Segoe UI"/>
                <a:cs typeface="Segoe UI"/>
              </a:rPr>
              <a:t>Một vài giá trị cao làm phồng trung bình, nên trung vị (khoảng tứ phân vị) an toàn hơn.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Các thước đo độ phân tán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Các giá trị phân tán như thế nào?</a:t>
            </a:r>
          </a:p>
          <a:p>
            <a:pPr marL="0" indent="0" algn="l">
              <a:lnSpc>
                <a:spcPct val="108000"/>
              </a:lnSpc>
              <a:spcBef>
                <a:spcPts val="440"/>
              </a:spcBef>
              <a:buNone/>
            </a:pPr>
            <a:r>
              <a:rPr lang="en-US" sz="1800" dirty="0">
                <a:solidFill>
                  <a:srgbClr val="000000"/>
                </a:solidFill>
                <a:latin typeface="Segoe UI"/>
                <a:cs typeface="Segoe UI"/>
              </a:rPr>
              <a:t>Độ lệch chuẩn (SD): khoảng cách điển hình so với trung bình</a:t>
            </a:r>
          </a:p>
          <a:p>
            <a:pPr marL="0" indent="0" algn="l">
              <a:lnSpc>
                <a:spcPct val="108000"/>
              </a:lnSpc>
              <a:spcBef>
                <a:spcPts val="440"/>
              </a:spcBef>
              <a:buNone/>
            </a:pPr>
            <a:r>
              <a:rPr lang="en-US" sz="1800" dirty="0">
                <a:solidFill>
                  <a:srgbClr val="000000"/>
                </a:solidFill>
                <a:latin typeface="Segoe UI"/>
                <a:cs typeface="Segoe UI"/>
              </a:rPr>
              <a:t>Khoảng tứ phân vị (IQR): phạm vi của 50 phần trăm ở giữa (Q3 trừ Q1)</a:t>
            </a:r>
          </a:p>
          <a:p>
            <a:pPr marL="0" indent="0" algn="l">
              <a:lnSpc>
                <a:spcPct val="108000"/>
              </a:lnSpc>
              <a:spcBef>
                <a:spcPts val="440"/>
              </a:spcBef>
              <a:buNone/>
            </a:pPr>
            <a:r>
              <a:rPr lang="en-US" sz="1800" dirty="0">
                <a:solidFill>
                  <a:srgbClr val="000000"/>
                </a:solidFill>
                <a:latin typeface="Segoe UI"/>
                <a:cs typeface="Segoe UI"/>
              </a:rPr>
              <a:t>Phạm vi: từ nhỏ nhất đến lớn nhất, nhạy cảm với giá trị ngoại lai</a:t>
            </a:r>
          </a:p>
          <a:p>
            <a:pPr marL="0" indent="0" algn="l">
              <a:lnSpc>
                <a:spcPct val="108000"/>
              </a:lnSpc>
              <a:spcBef>
                <a:spcPts val="440"/>
              </a:spcBef>
              <a:buNone/>
            </a:pPr>
            <a:r>
              <a:rPr lang="en-US" sz="1800" dirty="0">
                <a:solidFill>
                  <a:srgbClr val="000000"/>
                </a:solidFill>
                <a:latin typeface="Segoe UI"/>
                <a:cs typeface="Segoe UI"/>
              </a:rPr>
              <a:t>Phân vị: các điểm cắt như bản tóm tắt năm số</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Ghép độ phân tán với trung tâm</a:t>
            </a:r>
          </a:p>
          <a:p>
            <a:pPr marL="0" indent="0" algn="l">
              <a:spcBef>
                <a:spcPts val="100"/>
              </a:spcBef>
              <a:buNone/>
            </a:pPr>
            <a:r>
              <a:rPr lang="en-US" sz="1300" dirty="0">
                <a:solidFill>
                  <a:srgbClr val="000000"/>
                </a:solidFill>
                <a:latin typeface="Segoe UI"/>
                <a:cs typeface="Segoe UI"/>
              </a:rPr>
              <a:t>Báo cáo độ lệch chuẩn cùng trung bình; báo cáo khoảng tứ phân vị cùng trung vị.</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Cái bẫy số một của người mới bắt đầu: na.rm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Điều gì xảy ra</a:t>
            </a:r>
          </a:p>
          <a:p>
            <a:pPr marL="0" indent="0" algn="l">
              <a:lnSpc>
                <a:spcPct val="108000"/>
              </a:lnSpc>
              <a:spcBef>
                <a:spcPts val="440"/>
              </a:spcBef>
              <a:buNone/>
            </a:pPr>
            <a:r>
              <a:rPr lang="en-US" sz="1800" dirty="0">
                <a:solidFill>
                  <a:srgbClr val="000000"/>
                </a:solidFill>
                <a:latin typeface="Segoe UI"/>
                <a:cs typeface="Segoe UI"/>
              </a:rPr>
              <a:t>Nếu một cột có BẤT KỲ giá trị khuyết nào, mean() và sd() trả về NA.</a:t>
            </a:r>
          </a:p>
          <a:p>
            <a:pPr marL="0" indent="0" algn="l">
              <a:lnSpc>
                <a:spcPct val="108000"/>
              </a:lnSpc>
              <a:spcBef>
                <a:spcPts val="440"/>
              </a:spcBef>
              <a:buNone/>
            </a:pPr>
            <a:r>
              <a:rPr lang="en-US" sz="1800" dirty="0">
                <a:solidFill>
                  <a:srgbClr val="000000"/>
                </a:solidFill>
                <a:latin typeface="Segoe UI"/>
                <a:cs typeface="Segoe UI"/>
              </a:rPr>
              <a:t>R từ chối đoán; nó cho bạn biết câu trả lời là không xác định.</a:t>
            </a:r>
          </a:p>
          <a:p>
            <a:pPr>
              <a:buNone/>
            </a:pPr>
            <a:endParaRPr sz="1050"/>
          </a:p>
          <a:p>
            <a:pPr marL="0" indent="0" algn="l">
              <a:spcBef>
                <a:spcPts val="360"/>
              </a:spcBef>
              <a:buNone/>
            </a:pPr>
            <a:r>
              <a:rPr lang="en-US" sz="2050" b="1" dirty="0">
                <a:solidFill>
                  <a:srgbClr val="0D7377"/>
                </a:solidFill>
                <a:latin typeface="Segoe UI"/>
                <a:cs typeface="Segoe UI"/>
              </a:rPr>
              <a:t>Cách khắc phục</a:t>
            </a:r>
          </a:p>
          <a:p>
            <a:pPr marL="0" indent="0" algn="l">
              <a:lnSpc>
                <a:spcPct val="108000"/>
              </a:lnSpc>
              <a:spcBef>
                <a:spcPts val="440"/>
              </a:spcBef>
              <a:buNone/>
            </a:pPr>
            <a:r>
              <a:rPr lang="en-US" sz="1800" dirty="0">
                <a:solidFill>
                  <a:srgbClr val="000000"/>
                </a:solidFill>
                <a:latin typeface="Segoe UI"/>
                <a:cs typeface="Segoe UI"/>
              </a:rPr>
              <a:t>Thêm na.rm = TRUE để bỏ qua các giá trị khuyết.</a:t>
            </a:r>
          </a:p>
          <a:p>
            <a:pPr marL="0" indent="0" algn="l">
              <a:lnSpc>
                <a:spcPct val="108000"/>
              </a:lnSpc>
              <a:spcBef>
                <a:spcPts val="440"/>
              </a:spcBef>
              <a:buNone/>
            </a:pPr>
            <a:r>
              <a:rPr lang="en-US" sz="1800" dirty="0">
                <a:solidFill>
                  <a:srgbClr val="000000"/>
                </a:solidFill>
                <a:latin typeface="Segoe UI"/>
                <a:cs typeface="Segoe UI"/>
              </a:rPr>
              <a:t>mean(x, na.rm = TRUE) thay vì mean(x).</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Segoe UI"/>
                <a:cs typeface="Segoe UI"/>
              </a:rPr>
              <a:t>LỖI THƯỜNG GẶP  -  Nguyên nhân phổ biến nhất của một NA bất ngờ</a:t>
            </a:r>
          </a:p>
          <a:p>
            <a:pPr marL="0" indent="0" algn="l">
              <a:spcBef>
                <a:spcPts val="100"/>
              </a:spcBef>
              <a:buNone/>
            </a:pPr>
            <a:r>
              <a:rPr lang="en-US" sz="1300" dirty="0">
                <a:solidFill>
                  <a:srgbClr val="000000"/>
                </a:solidFill>
                <a:latin typeface="Segoe UI"/>
                <a:cs typeface="Segoe UI"/>
              </a:rPr>
              <a:t>Một bản tóm tắt trả về NA -&gt; có một giá trị khuyết ẩn.</a:t>
            </a:r>
          </a:p>
          <a:p>
            <a:pPr marL="0" indent="0" algn="l">
              <a:spcBef>
                <a:spcPts val="100"/>
              </a:spcBef>
              <a:buNone/>
            </a:pPr>
            <a:r>
              <a:rPr lang="en-US" sz="1300" dirty="0">
                <a:solidFill>
                  <a:srgbClr val="000000"/>
                </a:solidFill>
                <a:latin typeface="Segoe UI"/>
                <a:cs typeface="Segoe UI"/>
              </a:rPr>
              <a:t>Điều đầu tiên cần kiểm tra: bạn đã đặt na.rm = TRUE chưa?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Demo: xu hướng trung tâm và độ phân tán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Cho thấy cái bẫy trước, rồi cách khắc phục, trên huyết áp tâm thu.</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mean(analysis_data$sbp_mmhg)</a:t>
            </a:r>
          </a:p>
          <a:p>
            <a:pPr marL="0" indent="0" algn="l">
              <a:lnSpc>
                <a:spcPct val="100000"/>
              </a:lnSpc>
              <a:buNone/>
            </a:pPr>
            <a:r>
              <a:rPr lang="en-US" sz="1300" dirty="0">
                <a:solidFill>
                  <a:srgbClr val="1B3A4B"/>
                </a:solidFill>
                <a:latin typeface="Consolas"/>
                <a:cs typeface="Consolas"/>
              </a:rPr>
              <a:t>mean(analysis_data$sbp_mmhg, na.rm = TRUE)</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median(analysis_data$age, na.rm = TRUE)</a:t>
            </a:r>
          </a:p>
          <a:p>
            <a:pPr marL="0" indent="0" algn="l">
              <a:lnSpc>
                <a:spcPct val="100000"/>
              </a:lnSpc>
              <a:buNone/>
            </a:pPr>
            <a:r>
              <a:rPr lang="en-US" sz="1300" dirty="0">
                <a:solidFill>
                  <a:srgbClr val="1B3A4B"/>
                </a:solidFill>
                <a:latin typeface="Consolas"/>
                <a:cs typeface="Consolas"/>
              </a:rPr>
              <a:t>sd(analysis_data$age, na.rm = TRUE)</a:t>
            </a:r>
          </a:p>
          <a:p>
            <a:pPr marL="0" indent="0" algn="l">
              <a:lnSpc>
                <a:spcPct val="100000"/>
              </a:lnSpc>
              <a:buNone/>
            </a:pPr>
            <a:r>
              <a:rPr lang="en-US" sz="1300" dirty="0">
                <a:solidFill>
                  <a:srgbClr val="1B3A4B"/>
                </a:solidFill>
                <a:latin typeface="Consolas"/>
                <a:cs typeface="Consolas"/>
              </a:rPr>
              <a:t>IQR(analysis_data$age, na.rm = TRUE)</a:t>
            </a:r>
          </a:p>
          <a:p>
            <a:pPr marL="0" indent="0" algn="l">
              <a:lnSpc>
                <a:spcPct val="100000"/>
              </a:lnSpc>
              <a:buNone/>
            </a:pPr>
            <a:r>
              <a:rPr lang="en-US" sz="1300" dirty="0">
                <a:solidFill>
                  <a:srgbClr val="1B3A4B"/>
                </a:solidFill>
                <a:latin typeface="Consolas"/>
                <a:cs typeface="Consolas"/>
              </a:rPr>
              <a:t>quantile(analysis_data$age,</a:t>
            </a:r>
          </a:p>
          <a:p>
            <a:pPr marL="0" indent="0" algn="l">
              <a:lnSpc>
                <a:spcPct val="100000"/>
              </a:lnSpc>
              <a:buNone/>
            </a:pPr>
            <a:r>
              <a:rPr lang="en-US" sz="1300" dirty="0">
                <a:solidFill>
                  <a:srgbClr val="1B3A4B"/>
                </a:solidFill>
                <a:latin typeface="Consolas"/>
                <a:cs typeface="Consolas"/>
              </a:rPr>
              <a:t>         probs = c(0, .25, .5, .75, 1), na.rm = TRUE)</a:t>
            </a:r>
          </a:p>
        </p:txBody>
      </p:sp>
      <p:sp>
        <p:nvSpPr>
          <p:cNvPr id="31" name="Output"/>
          <p:cNvSpPr/>
          <p:nvPr/>
        </p:nvSpPr>
        <p:spPr>
          <a:xfrm>
            <a:off x="457200" y="3650000"/>
            <a:ext cx="11277600" cy="17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[1] NA</a:t>
            </a:r>
          </a:p>
          <a:p>
            <a:pPr marL="0" indent="0" algn="l">
              <a:lnSpc>
                <a:spcPct val="100000"/>
              </a:lnSpc>
              <a:buNone/>
            </a:pPr>
            <a:r>
              <a:rPr lang="en-US" sz="1250" dirty="0">
                <a:solidFill>
                  <a:srgbClr val="1A1A1A"/>
                </a:solidFill>
                <a:latin typeface="Consolas"/>
                <a:cs typeface="Consolas"/>
              </a:rPr>
              <a:t>[1] 138.6</a:t>
            </a:r>
          </a:p>
          <a:p>
            <a:pPr marL="0" indent="0" algn="l">
              <a:lnSpc>
                <a:spcPct val="100000"/>
              </a:lnSpc>
              <a:buNone/>
            </a:pPr>
            <a:r>
              <a:rPr lang="en-US" sz="1250" dirty="0">
                <a:solidFill>
                  <a:srgbClr val="1A1A1A"/>
                </a:solidFill>
                <a:latin typeface="Consolas"/>
                <a:cs typeface="Consolas"/>
              </a:rPr>
              <a:t>[1] 52</a:t>
            </a:r>
          </a:p>
          <a:p>
            <a:pPr marL="0" indent="0" algn="l">
              <a:lnSpc>
                <a:spcPct val="100000"/>
              </a:lnSpc>
              <a:buNone/>
            </a:pPr>
            <a:r>
              <a:rPr lang="en-US" sz="1250" dirty="0">
                <a:solidFill>
                  <a:srgbClr val="1A1A1A"/>
                </a:solidFill>
                <a:latin typeface="Consolas"/>
                <a:cs typeface="Consolas"/>
              </a:rPr>
              <a:t>[1] 14.8</a:t>
            </a:r>
          </a:p>
          <a:p>
            <a:pPr marL="0" indent="0" algn="l">
              <a:lnSpc>
                <a:spcPct val="100000"/>
              </a:lnSpc>
              <a:buNone/>
            </a:pPr>
            <a:r>
              <a:rPr lang="en-US" sz="1250" dirty="0">
                <a:solidFill>
                  <a:srgbClr val="1A1A1A"/>
                </a:solidFill>
                <a:latin typeface="Consolas"/>
                <a:cs typeface="Consolas"/>
              </a:rPr>
              <a:t>[1] 23</a:t>
            </a:r>
          </a:p>
          <a:p>
            <a:pPr marL="0" indent="0" algn="l">
              <a:lnSpc>
                <a:spcPct val="100000"/>
              </a:lnSpc>
              <a:buNone/>
            </a:pPr>
            <a:r>
              <a:rPr lang="en-US" sz="1250" dirty="0">
                <a:solidFill>
                  <a:srgbClr val="1A1A1A"/>
                </a:solidFill>
                <a:latin typeface="Consolas"/>
                <a:cs typeface="Consolas"/>
              </a:rPr>
              <a:t>  0%  25%  50%  75% 100%</a:t>
            </a:r>
          </a:p>
          <a:p>
            <a:pPr marL="0" indent="0" algn="l">
              <a:lnSpc>
                <a:spcPct val="100000"/>
              </a:lnSpc>
              <a:buNone/>
            </a:pPr>
            <a:r>
              <a:rPr lang="en-US" sz="1250" dirty="0">
                <a:solidFill>
                  <a:srgbClr val="1A1A1A"/>
                </a:solidFill>
                <a:latin typeface="Consolas"/>
                <a:cs typeface="Consolas"/>
              </a:rPr>
              <a:t>  18   42   52   65   89</a:t>
            </a:r>
          </a:p>
        </p:txBody>
      </p:sp>
      <p:sp>
        <p:nvSpPr>
          <p:cNvPr id="32" name="Note"/>
          <p:cNvSpPr/>
          <p:nvPr/>
        </p:nvSpPr>
        <p:spPr>
          <a:xfrm>
            <a:off x="457200" y="549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Dòng đầu tiên là NA có chủ đích; na.rm = TRUE tạo ra giá trị trung bình thực.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Demo: tóm tắt nhiều biến cùng một lúc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summary() để xem nhanh, rồi một bảng gọn gàng theo nhóm với across().</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analysis_data |&gt;</a:t>
            </a:r>
          </a:p>
          <a:p>
            <a:pPr marL="0" indent="0" algn="l">
              <a:lnSpc>
                <a:spcPct val="100000"/>
              </a:lnSpc>
              <a:buNone/>
            </a:pPr>
            <a:r>
              <a:rPr lang="en-US" sz="1300" dirty="0">
                <a:solidFill>
                  <a:srgbClr val="1B3A4B"/>
                </a:solidFill>
                <a:latin typeface="Consolas"/>
                <a:cs typeface="Consolas"/>
              </a:rPr>
              <a:t>  group_by(treatment_uptake) |&gt;</a:t>
            </a:r>
          </a:p>
          <a:p>
            <a:pPr marL="0" indent="0" algn="l">
              <a:lnSpc>
                <a:spcPct val="100000"/>
              </a:lnSpc>
              <a:buNone/>
            </a:pPr>
            <a:r>
              <a:rPr lang="en-US" sz="1300" dirty="0">
                <a:solidFill>
                  <a:srgbClr val="1B3A4B"/>
                </a:solidFill>
                <a:latin typeface="Consolas"/>
                <a:cs typeface="Consolas"/>
              </a:rPr>
              <a:t>  summarise(n = n(),</a:t>
            </a:r>
          </a:p>
          <a:p>
            <a:pPr marL="0" indent="0" algn="l">
              <a:lnSpc>
                <a:spcPct val="100000"/>
              </a:lnSpc>
              <a:buNone/>
            </a:pPr>
            <a:r>
              <a:rPr lang="en-US" sz="1300" dirty="0">
                <a:solidFill>
                  <a:srgbClr val="1B3A4B"/>
                </a:solidFill>
                <a:latin typeface="Consolas"/>
                <a:cs typeface="Consolas"/>
              </a:rPr>
              <a:t>    across(c(age, bmi, sbp_mmhg, dbp_mmhg),</a:t>
            </a:r>
          </a:p>
          <a:p>
            <a:pPr marL="0" indent="0" algn="l">
              <a:lnSpc>
                <a:spcPct val="100000"/>
              </a:lnSpc>
              <a:buNone/>
            </a:pPr>
            <a:r>
              <a:rPr lang="en-US" sz="1300" dirty="0">
                <a:solidFill>
                  <a:srgbClr val="1B3A4B"/>
                </a:solidFill>
                <a:latin typeface="Consolas"/>
                <a:cs typeface="Consolas"/>
              </a:rPr>
              <a:t>      list(mean = ~mean(.x, na.rm = TRUE),</a:t>
            </a:r>
          </a:p>
          <a:p>
            <a:pPr marL="0" indent="0" algn="l">
              <a:lnSpc>
                <a:spcPct val="100000"/>
              </a:lnSpc>
              <a:buNone/>
            </a:pPr>
            <a:r>
              <a:rPr lang="en-US" sz="1300" dirty="0">
                <a:solidFill>
                  <a:srgbClr val="1B3A4B"/>
                </a:solidFill>
                <a:latin typeface="Consolas"/>
                <a:cs typeface="Consolas"/>
              </a:rPr>
              <a:t>           sd   = ~sd(.x,   na.rm = TRUE)),</a:t>
            </a:r>
          </a:p>
          <a:p>
            <a:pPr marL="0" indent="0" algn="l">
              <a:lnSpc>
                <a:spcPct val="100000"/>
              </a:lnSpc>
              <a:buNone/>
            </a:pPr>
            <a:r>
              <a:rPr lang="en-US" sz="1300" dirty="0">
                <a:solidFill>
                  <a:srgbClr val="1B3A4B"/>
                </a:solidFill>
                <a:latin typeface="Consolas"/>
                <a:cs typeface="Consolas"/>
              </a:rPr>
              <a:t>      .names = "{.col}_{.fn}"),</a:t>
            </a:r>
          </a:p>
          <a:p>
            <a:pPr marL="0" indent="0" algn="l">
              <a:lnSpc>
                <a:spcPct val="100000"/>
              </a:lnSpc>
              <a:buNone/>
            </a:pPr>
            <a:r>
              <a:rPr lang="en-US" sz="1300" dirty="0">
                <a:solidFill>
                  <a:srgbClr val="1B3A4B"/>
                </a:solidFill>
                <a:latin typeface="Consolas"/>
                <a:cs typeface="Consolas"/>
              </a:rPr>
              <a:t>    .groups = "drop")</a:t>
            </a:r>
          </a:p>
        </p:txBody>
      </p:sp>
      <p:sp>
        <p:nvSpPr>
          <p:cNvPr id="31" name="Output"/>
          <p:cNvSpPr/>
          <p:nvPr/>
        </p:nvSpPr>
        <p:spPr>
          <a:xfrm>
            <a:off x="457200" y="3650000"/>
            <a:ext cx="11277600" cy="9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treatment_uptake     n age_mean age_sd sbp_mmhg_mean</a:t>
            </a:r>
          </a:p>
          <a:p>
            <a:pPr marL="0" indent="0" algn="l">
              <a:lnSpc>
                <a:spcPct val="100000"/>
              </a:lnSpc>
              <a:buNone/>
            </a:pPr>
            <a:r>
              <a:rPr lang="en-US" sz="1250" dirty="0">
                <a:solidFill>
                  <a:srgbClr val="1A1A1A"/>
                </a:solidFill>
                <a:latin typeface="Consolas"/>
                <a:cs typeface="Consolas"/>
              </a:rPr>
              <a:t> No                 ...     50.1   14.6         136.2</a:t>
            </a:r>
          </a:p>
          <a:p>
            <a:pPr marL="0" indent="0" algn="l">
              <a:lnSpc>
                <a:spcPct val="100000"/>
              </a:lnSpc>
              <a:buNone/>
            </a:pPr>
            <a:r>
              <a:rPr lang="en-US" sz="1250" dirty="0">
                <a:solidFill>
                  <a:srgbClr val="1A1A1A"/>
                </a:solidFill>
                <a:latin typeface="Consolas"/>
                <a:cs typeface="Consolas"/>
              </a:rPr>
              <a:t> Yes                ...     54.7   14.1         141.8</a:t>
            </a:r>
          </a:p>
        </p:txBody>
      </p:sp>
      <p:sp>
        <p:nvSpPr>
          <p:cNvPr id="32" name="Note"/>
          <p:cNvSpPr/>
          <p:nvPr/>
        </p:nvSpPr>
        <p:spPr>
          <a:xfrm>
            <a:off x="457200" y="469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across() áp dụng cùng các hàm cho nhiều cột: không sao chép-dán, không lỗi gõ.</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Bảng tần số cho biến phân loại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Ba công cụ, hãy biết cả ba</a:t>
            </a:r>
          </a:p>
          <a:p>
            <a:pPr marL="0" indent="0" algn="l">
              <a:lnSpc>
                <a:spcPct val="108000"/>
              </a:lnSpc>
              <a:spcBef>
                <a:spcPts val="440"/>
              </a:spcBef>
              <a:buNone/>
            </a:pPr>
            <a:r>
              <a:rPr lang="en-US" sz="1800" dirty="0">
                <a:solidFill>
                  <a:srgbClr val="000000"/>
                </a:solidFill>
                <a:latin typeface="Segoe UI"/>
                <a:cs typeface="Segoe UI"/>
              </a:rPr>
              <a:t>table() cho số đếm thô</a:t>
            </a:r>
          </a:p>
          <a:p>
            <a:pPr marL="0" indent="0" algn="l">
              <a:lnSpc>
                <a:spcPct val="108000"/>
              </a:lnSpc>
              <a:spcBef>
                <a:spcPts val="440"/>
              </a:spcBef>
              <a:buNone/>
            </a:pPr>
            <a:r>
              <a:rPr lang="en-US" sz="1800" dirty="0">
                <a:solidFill>
                  <a:srgbClr val="000000"/>
                </a:solidFill>
                <a:latin typeface="Segoe UI"/>
                <a:cs typeface="Segoe UI"/>
              </a:rPr>
              <a:t>prop.table() chuyển số đếm thành tỷ lệ</a:t>
            </a:r>
          </a:p>
          <a:p>
            <a:pPr marL="0" indent="0" algn="l">
              <a:lnSpc>
                <a:spcPct val="108000"/>
              </a:lnSpc>
              <a:spcBef>
                <a:spcPts val="440"/>
              </a:spcBef>
              <a:buNone/>
            </a:pPr>
            <a:r>
              <a:rPr lang="en-US" sz="1800" dirty="0">
                <a:solidFill>
                  <a:srgbClr val="000000"/>
                </a:solidFill>
                <a:latin typeface="Segoe UI"/>
                <a:cs typeface="Segoe UI"/>
              </a:rPr>
              <a:t>count() trả về một data frame gọn gàng bạn có thể chuyển tiếp qua pipe</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Segoe UI"/>
                <a:cs typeface="Segoe UI"/>
              </a:rPr>
              <a:t>CẢNH BÁO  -  table() giấu các giá trị khuyết</a:t>
            </a:r>
          </a:p>
          <a:p>
            <a:pPr marL="0" indent="0" algn="l">
              <a:spcBef>
                <a:spcPts val="100"/>
              </a:spcBef>
              <a:buNone/>
            </a:pPr>
            <a:r>
              <a:rPr lang="en-US" sz="1300" dirty="0">
                <a:solidFill>
                  <a:srgbClr val="000000"/>
                </a:solidFill>
                <a:latin typeface="Segoe UI"/>
                <a:cs typeface="Segoe UI"/>
              </a:rPr>
              <a:t>Mặc định table() âm thầm loại bỏ các NA, nên phần trăm có thể gây hiểu lầm.</a:t>
            </a:r>
          </a:p>
          <a:p>
            <a:pPr marL="0" indent="0" algn="l">
              <a:spcBef>
                <a:spcPts val="100"/>
              </a:spcBef>
              <a:buNone/>
            </a:pPr>
            <a:r>
              <a:rPr lang="en-US" sz="1300" dirty="0">
                <a:solidFill>
                  <a:srgbClr val="000000"/>
                </a:solidFill>
                <a:latin typeface="Segoe UI"/>
                <a:cs typeface="Segoe UI"/>
              </a:rPr>
              <a:t>Dùng table(x, useNA = "ifany") để làm cho các giá trị khuyết hiển thị.</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Demo: bảng tần số</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Số đếm, phần trăm, và bản tương đương gọn gàng.</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table(analysis_data$sex)</a:t>
            </a:r>
          </a:p>
          <a:p>
            <a:pPr marL="0" indent="0" algn="l">
              <a:lnSpc>
                <a:spcPct val="100000"/>
              </a:lnSpc>
              <a:buNone/>
            </a:pPr>
            <a:r>
              <a:rPr lang="en-US" sz="1300" dirty="0">
                <a:solidFill>
                  <a:srgbClr val="1B3A4B"/>
                </a:solidFill>
                <a:latin typeface="Consolas"/>
                <a:cs typeface="Consolas"/>
              </a:rPr>
              <a:t>round(100 * prop.table(table(analysis_data$sex)), 1)</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table(analysis_data$education, useNA = "ifany")</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analysis_data |&gt;</a:t>
            </a:r>
          </a:p>
          <a:p>
            <a:pPr marL="0" indent="0" algn="l">
              <a:lnSpc>
                <a:spcPct val="100000"/>
              </a:lnSpc>
              <a:buNone/>
            </a:pPr>
            <a:r>
              <a:rPr lang="en-US" sz="1300" dirty="0">
                <a:solidFill>
                  <a:srgbClr val="1B3A4B"/>
                </a:solidFill>
                <a:latin typeface="Consolas"/>
                <a:cs typeface="Consolas"/>
              </a:rPr>
              <a:t>  count(bp_category) |&gt;</a:t>
            </a:r>
          </a:p>
          <a:p>
            <a:pPr marL="0" indent="0" algn="l">
              <a:lnSpc>
                <a:spcPct val="100000"/>
              </a:lnSpc>
              <a:buNone/>
            </a:pPr>
            <a:r>
              <a:rPr lang="en-US" sz="1300" dirty="0">
                <a:solidFill>
                  <a:srgbClr val="1B3A4B"/>
                </a:solidFill>
                <a:latin typeface="Consolas"/>
                <a:cs typeface="Consolas"/>
              </a:rPr>
              <a:t>  mutate(percent = round(100 * n / sum(n), 1))</a:t>
            </a:r>
          </a:p>
        </p:txBody>
      </p:sp>
      <p:sp>
        <p:nvSpPr>
          <p:cNvPr id="31" name="Output"/>
          <p:cNvSpPr/>
          <p:nvPr/>
        </p:nvSpPr>
        <p:spPr>
          <a:xfrm>
            <a:off x="457200" y="3650000"/>
            <a:ext cx="11277600" cy="17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Female   Male</a:t>
            </a:r>
          </a:p>
          <a:p>
            <a:pPr marL="0" indent="0" algn="l">
              <a:lnSpc>
                <a:spcPct val="100000"/>
              </a:lnSpc>
              <a:buNone/>
            </a:pPr>
            <a:r>
              <a:rPr lang="en-US" sz="1250" dirty="0">
                <a:solidFill>
                  <a:srgbClr val="1A1A1A"/>
                </a:solidFill>
                <a:latin typeface="Consolas"/>
                <a:cs typeface="Consolas"/>
              </a:rPr>
              <a:t>   810    690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Female   Male</a:t>
            </a:r>
          </a:p>
          <a:p>
            <a:pPr marL="0" indent="0" algn="l">
              <a:lnSpc>
                <a:spcPct val="100000"/>
              </a:lnSpc>
              <a:buNone/>
            </a:pPr>
            <a:r>
              <a:rPr lang="en-US" sz="1250" dirty="0">
                <a:solidFill>
                  <a:srgbClr val="1A1A1A"/>
                </a:solidFill>
                <a:latin typeface="Consolas"/>
                <a:cs typeface="Consolas"/>
              </a:rPr>
              <a:t>  54.0   46.0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 bp_category percentages printed as a tidy tibble</a:t>
            </a:r>
          </a:p>
        </p:txBody>
      </p:sp>
      <p:sp>
        <p:nvSpPr>
          <p:cNvPr id="32" name="Note"/>
          <p:cNvSpPr/>
          <p:nvPr/>
        </p:nvSpPr>
        <p:spPr>
          <a:xfrm>
            <a:off x="457200" y="549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count() cộng với mutate() cho một bảng gọn gàng sẵn sàng cho báo cáo hoặc biểu đồ.</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Bảng chéo: kết cục so với yếu tố dự báo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Một bảng hai chiều</a:t>
            </a:r>
          </a:p>
          <a:p>
            <a:pPr marL="0" indent="0" algn="l">
              <a:lnSpc>
                <a:spcPct val="108000"/>
              </a:lnSpc>
              <a:spcBef>
                <a:spcPts val="440"/>
              </a:spcBef>
              <a:buNone/>
            </a:pPr>
            <a:r>
              <a:rPr lang="en-US" sz="1800" dirty="0">
                <a:solidFill>
                  <a:srgbClr val="000000"/>
                </a:solidFill>
                <a:latin typeface="Segoe UI"/>
                <a:cs typeface="Segoe UI"/>
              </a:rPr>
              <a:t>table(treatment_uptake, diabetes) đếm mọi tổ hợp</a:t>
            </a:r>
          </a:p>
          <a:p>
            <a:pPr marL="0" indent="0" algn="l">
              <a:lnSpc>
                <a:spcPct val="108000"/>
              </a:lnSpc>
              <a:spcBef>
                <a:spcPts val="440"/>
              </a:spcBef>
              <a:buNone/>
            </a:pPr>
            <a:r>
              <a:rPr lang="en-US" sz="1800" dirty="0">
                <a:solidFill>
                  <a:srgbClr val="000000"/>
                </a:solidFill>
                <a:latin typeface="Segoe UI"/>
                <a:cs typeface="Segoe UI"/>
              </a:rPr>
              <a:t>Hàng là tiếp nhận điều trị, cột là tình trạng đái tháo đường</a:t>
            </a:r>
          </a:p>
          <a:p>
            <a:pPr>
              <a:buNone/>
            </a:pPr>
            <a:endParaRPr sz="1050"/>
          </a:p>
          <a:p>
            <a:pPr marL="0" indent="0" algn="l">
              <a:spcBef>
                <a:spcPts val="360"/>
              </a:spcBef>
              <a:buNone/>
            </a:pPr>
            <a:r>
              <a:rPr lang="en-US" sz="2050" b="1" dirty="0">
                <a:solidFill>
                  <a:srgbClr val="0D7377"/>
                </a:solidFill>
                <a:latin typeface="Segoe UI"/>
                <a:cs typeface="Segoe UI"/>
              </a:rPr>
              <a:t>Đối số margin chọn loại phần trăm</a:t>
            </a:r>
          </a:p>
          <a:p>
            <a:pPr marL="0" indent="0" algn="l">
              <a:lnSpc>
                <a:spcPct val="108000"/>
              </a:lnSpc>
              <a:spcBef>
                <a:spcPts val="440"/>
              </a:spcBef>
              <a:buNone/>
            </a:pPr>
            <a:r>
              <a:rPr lang="en-US" sz="1800" dirty="0">
                <a:solidFill>
                  <a:srgbClr val="000000"/>
                </a:solidFill>
                <a:latin typeface="Segoe UI"/>
                <a:cs typeface="Segoe UI"/>
              </a:rPr>
              <a:t>margin = 1 cho phần trăm theo HÀNG (mỗi hàng cộng lại thành 100)</a:t>
            </a:r>
          </a:p>
          <a:p>
            <a:pPr marL="0" indent="0" algn="l">
              <a:lnSpc>
                <a:spcPct val="108000"/>
              </a:lnSpc>
              <a:spcBef>
                <a:spcPts val="440"/>
              </a:spcBef>
              <a:buNone/>
            </a:pPr>
            <a:r>
              <a:rPr lang="en-US" sz="1800" dirty="0">
                <a:solidFill>
                  <a:srgbClr val="000000"/>
                </a:solidFill>
                <a:latin typeface="Segoe UI"/>
                <a:cs typeface="Segoe UI"/>
              </a:rPr>
              <a:t>margin = 2 cho phần trăm theo CỘT (mỗi cột cộng lại thành 100)</a:t>
            </a:r>
          </a:p>
          <a:p>
            <a:pPr marL="0" indent="0" algn="l">
              <a:lnSpc>
                <a:spcPct val="108000"/>
              </a:lnSpc>
              <a:spcBef>
                <a:spcPts val="440"/>
              </a:spcBef>
              <a:buNone/>
            </a:pPr>
            <a:r>
              <a:rPr lang="en-US" sz="1800" dirty="0">
                <a:solidFill>
                  <a:srgbClr val="000000"/>
                </a:solidFill>
                <a:latin typeface="Segoe UI"/>
                <a:cs typeface="Segoe UI"/>
              </a:rPr>
              <a:t>không có margin cho phần trăm của tổng số chung</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Segoe UI"/>
                <a:cs typeface="Segoe UI"/>
              </a:rPr>
              <a:t>DIỄN GIẢI LÂM SÀNG  -  Khớp phần trăm với câu hỏi</a:t>
            </a:r>
          </a:p>
          <a:p>
            <a:pPr marL="0" indent="0" algn="l">
              <a:spcBef>
                <a:spcPts val="100"/>
              </a:spcBef>
              <a:buNone/>
            </a:pPr>
            <a:r>
              <a:rPr lang="en-US" sz="1300" dirty="0">
                <a:solidFill>
                  <a:srgbClr val="000000"/>
                </a:solidFill>
                <a:latin typeface="Segoe UI"/>
                <a:cs typeface="Segoe UI"/>
              </a:rPr>
              <a:t>Tỷ lệ người đái tháo đường đang điều trị -&gt; phần trăm theo cột.</a:t>
            </a:r>
          </a:p>
          <a:p>
            <a:pPr marL="0" indent="0" algn="l">
              <a:spcBef>
                <a:spcPts val="100"/>
              </a:spcBef>
              <a:buNone/>
            </a:pPr>
            <a:r>
              <a:rPr lang="en-US" sz="1300" dirty="0">
                <a:solidFill>
                  <a:srgbClr val="000000"/>
                </a:solidFill>
                <a:latin typeface="Segoe UI"/>
                <a:cs typeface="Segoe UI"/>
              </a:rPr>
              <a:t>Tỷ lệ người được điều trị là người đái tháo đường -&gt; phần trăm theo hàng.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Demo: bảng chéo với phần trăm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Cùng các số đếm, theo hai cách, kèm diễn giải.</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xtab &lt;- table(analysis_data$treatment_uptake,</a:t>
            </a:r>
          </a:p>
          <a:p>
            <a:pPr marL="0" indent="0" algn="l">
              <a:lnSpc>
                <a:spcPct val="100000"/>
              </a:lnSpc>
              <a:buNone/>
            </a:pPr>
            <a:r>
              <a:rPr lang="en-US" sz="1300" dirty="0">
                <a:solidFill>
                  <a:srgbClr val="1B3A4B"/>
                </a:solidFill>
                <a:latin typeface="Consolas"/>
                <a:cs typeface="Consolas"/>
              </a:rPr>
              <a:t>              analysis_data$diabetes)</a:t>
            </a:r>
          </a:p>
          <a:p>
            <a:pPr marL="0" indent="0" algn="l">
              <a:lnSpc>
                <a:spcPct val="100000"/>
              </a:lnSpc>
              <a:buNone/>
            </a:pPr>
            <a:r>
              <a:rPr lang="en-US" sz="1300" dirty="0">
                <a:solidFill>
                  <a:srgbClr val="1B3A4B"/>
                </a:solidFill>
                <a:latin typeface="Consolas"/>
                <a:cs typeface="Consolas"/>
              </a:rPr>
              <a:t>xtab</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round(100 * prop.table(xtab, margin = 1), 1)</a:t>
            </a:r>
          </a:p>
          <a:p>
            <a:pPr marL="0" indent="0" algn="l">
              <a:lnSpc>
                <a:spcPct val="100000"/>
              </a:lnSpc>
              <a:buNone/>
            </a:pPr>
            <a:r>
              <a:rPr lang="en-US" sz="1300" dirty="0">
                <a:solidFill>
                  <a:srgbClr val="1B3A4B"/>
                </a:solidFill>
                <a:latin typeface="Consolas"/>
                <a:cs typeface="Consolas"/>
              </a:rPr>
              <a:t>round(100 * prop.table(xtab, margin = 2), 1)</a:t>
            </a:r>
          </a:p>
        </p:txBody>
      </p:sp>
      <p:sp>
        <p:nvSpPr>
          <p:cNvPr id="31" name="Output"/>
          <p:cNvSpPr/>
          <p:nvPr/>
        </p:nvSpPr>
        <p:spPr>
          <a:xfrm>
            <a:off x="457200" y="3230000"/>
            <a:ext cx="11277600" cy="15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       No  Yes</a:t>
            </a:r>
          </a:p>
          <a:p>
            <a:pPr marL="0" indent="0" algn="l">
              <a:lnSpc>
                <a:spcPct val="100000"/>
              </a:lnSpc>
              <a:buNone/>
            </a:pPr>
            <a:r>
              <a:rPr lang="en-US" sz="1250" dirty="0">
                <a:solidFill>
                  <a:srgbClr val="1A1A1A"/>
                </a:solidFill>
                <a:latin typeface="Consolas"/>
                <a:cs typeface="Consolas"/>
              </a:rPr>
              <a:t>  No  610  120</a:t>
            </a:r>
          </a:p>
          <a:p>
            <a:pPr marL="0" indent="0" algn="l">
              <a:lnSpc>
                <a:spcPct val="100000"/>
              </a:lnSpc>
              <a:buNone/>
            </a:pPr>
            <a:r>
              <a:rPr lang="en-US" sz="1250" dirty="0">
                <a:solidFill>
                  <a:srgbClr val="1A1A1A"/>
                </a:solidFill>
                <a:latin typeface="Consolas"/>
                <a:cs typeface="Consolas"/>
              </a:rPr>
              <a:t>  Yes 430  340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 margin=1 row %: of treated, share diabetic</a:t>
            </a:r>
          </a:p>
          <a:p>
            <a:pPr marL="0" indent="0" algn="l">
              <a:lnSpc>
                <a:spcPct val="100000"/>
              </a:lnSpc>
              <a:buNone/>
            </a:pPr>
            <a:r>
              <a:rPr lang="en-US" sz="1250" dirty="0">
                <a:solidFill>
                  <a:srgbClr val="1A1A1A"/>
                </a:solidFill>
                <a:latin typeface="Consolas"/>
                <a:cs typeface="Consolas"/>
              </a:rPr>
              <a:t># margin=2 col %: of diabetics, share treated</a:t>
            </a:r>
          </a:p>
        </p:txBody>
      </p:sp>
      <p:sp>
        <p:nvSpPr>
          <p:cNvPr id="32" name="Note"/>
          <p:cNvSpPr/>
          <p:nvPr/>
        </p:nvSpPr>
        <p:spPr>
          <a:xfrm>
            <a:off x="457200" y="48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Cùng một bảng, hai câu chuyện: chọn margin trả lời câu hỏi của bạn.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Bảng 1 là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Bảng mở đầu của hầu hết mọi bài báo lâm sàng</a:t>
            </a:r>
          </a:p>
          <a:p>
            <a:pPr marL="0" indent="0" algn="l">
              <a:lnSpc>
                <a:spcPct val="108000"/>
              </a:lnSpc>
              <a:spcBef>
                <a:spcPts val="440"/>
              </a:spcBef>
              <a:buNone/>
            </a:pPr>
            <a:r>
              <a:rPr lang="en-US" sz="1800" dirty="0">
                <a:solidFill>
                  <a:srgbClr val="000000"/>
                </a:solidFill>
                <a:latin typeface="Segoe UI"/>
                <a:cs typeface="Segoe UI"/>
              </a:rPr>
              <a:t>Đặc điểm nền của mẫu nghiên cứu</a:t>
            </a:r>
          </a:p>
          <a:p>
            <a:pPr marL="0" indent="0" algn="l">
              <a:lnSpc>
                <a:spcPct val="108000"/>
              </a:lnSpc>
              <a:spcBef>
                <a:spcPts val="440"/>
              </a:spcBef>
              <a:buNone/>
            </a:pPr>
            <a:r>
              <a:rPr lang="en-US" sz="1800" dirty="0">
                <a:solidFill>
                  <a:srgbClr val="000000"/>
                </a:solidFill>
                <a:latin typeface="Segoe UI"/>
                <a:cs typeface="Segoe UI"/>
              </a:rPr>
              <a:t>Thường được chia thành các cột theo phơi nhiễm hoặc kết cục chính</a:t>
            </a:r>
          </a:p>
          <a:p>
            <a:pPr marL="0" indent="0" algn="l">
              <a:lnSpc>
                <a:spcPct val="108000"/>
              </a:lnSpc>
              <a:spcBef>
                <a:spcPts val="440"/>
              </a:spcBef>
              <a:buNone/>
            </a:pPr>
            <a:r>
              <a:rPr lang="en-US" sz="1800" dirty="0">
                <a:solidFill>
                  <a:srgbClr val="000000"/>
                </a:solidFill>
                <a:latin typeface="Segoe UI"/>
                <a:cs typeface="Segoe UI"/>
              </a:rPr>
              <a:t>Biến số hiển thị dưới dạng trung bình (độ lệch chuẩn) hoặc trung vị (khoảng tứ phân vị)</a:t>
            </a:r>
          </a:p>
          <a:p>
            <a:pPr marL="0" indent="0" algn="l">
              <a:lnSpc>
                <a:spcPct val="108000"/>
              </a:lnSpc>
              <a:spcBef>
                <a:spcPts val="440"/>
              </a:spcBef>
              <a:buNone/>
            </a:pPr>
            <a:r>
              <a:rPr lang="en-US" sz="1800" dirty="0">
                <a:solidFill>
                  <a:srgbClr val="000000"/>
                </a:solidFill>
                <a:latin typeface="Segoe UI"/>
                <a:cs typeface="Segoe UI"/>
              </a:rPr>
              <a:t>Biến phân loại hiển thị dưới dạng n (phần trăm)</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Segoe UI"/>
                <a:cs typeface="Segoe UI"/>
              </a:rPr>
              <a:t>LƯU Ý  -  Tại sao người phản biện mong đợi bảng này</a:t>
            </a:r>
          </a:p>
          <a:p>
            <a:pPr marL="0" indent="0" algn="l">
              <a:spcBef>
                <a:spcPts val="100"/>
              </a:spcBef>
              <a:buNone/>
            </a:pPr>
            <a:r>
              <a:rPr lang="en-US" sz="1300" dirty="0">
                <a:solidFill>
                  <a:srgbClr val="000000"/>
                </a:solidFill>
                <a:latin typeface="Segoe UI"/>
                <a:cs typeface="Segoe UI"/>
              </a:rPr>
              <a:t>Nó cho phép người đọc đánh giá nghiên cứu mô tả về ai.</a:t>
            </a:r>
          </a:p>
          <a:p>
            <a:pPr marL="0" indent="0" algn="l">
              <a:spcBef>
                <a:spcPts val="100"/>
              </a:spcBef>
              <a:buNone/>
            </a:pPr>
            <a:r>
              <a:rPr lang="en-US" sz="1300" dirty="0">
                <a:solidFill>
                  <a:srgbClr val="000000"/>
                </a:solidFill>
                <a:latin typeface="Segoe UI"/>
                <a:cs typeface="Segoe UI"/>
              </a:rPr>
              <a:t>Nó cho thấy các nhóm so sánh có cân bằng hay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Demo: xây dựng Bảng 1 với gtsummary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tbl_summary chọn các bản tóm tắt hợp lý một cách tự động.</a:t>
            </a:r>
          </a:p>
        </p:txBody>
      </p:sp>
      <p:sp>
        <p:nvSpPr>
          <p:cNvPr id="30" name="Code"/>
          <p:cNvSpPr/>
          <p:nvPr/>
        </p:nvSpPr>
        <p:spPr>
          <a:xfrm>
            <a:off x="457200" y="1640000"/>
            <a:ext cx="11277600" cy="207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analysis_data |&gt;</a:t>
            </a:r>
          </a:p>
          <a:p>
            <a:pPr marL="0" indent="0" algn="l">
              <a:lnSpc>
                <a:spcPct val="100000"/>
              </a:lnSpc>
              <a:buNone/>
            </a:pPr>
            <a:r>
              <a:rPr lang="en-US" sz="1300" dirty="0">
                <a:solidFill>
                  <a:srgbClr val="1B3A4B"/>
                </a:solidFill>
                <a:latin typeface="Consolas"/>
                <a:cs typeface="Consolas"/>
              </a:rPr>
              <a:t>  select(age, sex, residence, education, bmi,</a:t>
            </a:r>
          </a:p>
          <a:p>
            <a:pPr marL="0" indent="0" algn="l">
              <a:lnSpc>
                <a:spcPct val="100000"/>
              </a:lnSpc>
              <a:buNone/>
            </a:pPr>
            <a:r>
              <a:rPr lang="en-US" sz="1300" dirty="0">
                <a:solidFill>
                  <a:srgbClr val="1B3A4B"/>
                </a:solidFill>
                <a:latin typeface="Consolas"/>
                <a:cs typeface="Consolas"/>
              </a:rPr>
              <a:t>         diabetes, sbp_mmhg, bp_category,</a:t>
            </a:r>
          </a:p>
          <a:p>
            <a:pPr marL="0" indent="0" algn="l">
              <a:lnSpc>
                <a:spcPct val="100000"/>
              </a:lnSpc>
              <a:buNone/>
            </a:pPr>
            <a:r>
              <a:rPr lang="en-US" sz="1300" dirty="0">
                <a:solidFill>
                  <a:srgbClr val="1B3A4B"/>
                </a:solidFill>
                <a:latin typeface="Consolas"/>
                <a:cs typeface="Consolas"/>
              </a:rPr>
              <a:t>         treatment_uptake) |&gt;</a:t>
            </a:r>
          </a:p>
          <a:p>
            <a:pPr marL="0" indent="0" algn="l">
              <a:lnSpc>
                <a:spcPct val="100000"/>
              </a:lnSpc>
              <a:buNone/>
            </a:pPr>
            <a:r>
              <a:rPr lang="en-US" sz="1300" dirty="0">
                <a:solidFill>
                  <a:srgbClr val="1B3A4B"/>
                </a:solidFill>
                <a:latin typeface="Consolas"/>
                <a:cs typeface="Consolas"/>
              </a:rPr>
              <a:t>  tbl_summary(by = treatment_uptake,</a:t>
            </a:r>
          </a:p>
          <a:p>
            <a:pPr marL="0" indent="0" algn="l">
              <a:lnSpc>
                <a:spcPct val="100000"/>
              </a:lnSpc>
              <a:buNone/>
            </a:pPr>
            <a:r>
              <a:rPr lang="en-US" sz="1300" dirty="0">
                <a:solidFill>
                  <a:srgbClr val="1B3A4B"/>
                </a:solidFill>
                <a:latin typeface="Consolas"/>
                <a:cs typeface="Consolas"/>
              </a:rPr>
              <a:t>              missing_text = "(Missing)") |&gt;</a:t>
            </a:r>
          </a:p>
          <a:p>
            <a:pPr marL="0" indent="0" algn="l">
              <a:lnSpc>
                <a:spcPct val="100000"/>
              </a:lnSpc>
              <a:buNone/>
            </a:pPr>
            <a:r>
              <a:rPr lang="en-US" sz="1300" dirty="0">
                <a:solidFill>
                  <a:srgbClr val="1B3A4B"/>
                </a:solidFill>
                <a:latin typeface="Consolas"/>
                <a:cs typeface="Consolas"/>
              </a:rPr>
              <a:t>  add_p() |&gt;</a:t>
            </a:r>
          </a:p>
          <a:p>
            <a:pPr marL="0" indent="0" algn="l">
              <a:lnSpc>
                <a:spcPct val="100000"/>
              </a:lnSpc>
              <a:buNone/>
            </a:pPr>
            <a:r>
              <a:rPr lang="en-US" sz="1300" dirty="0">
                <a:solidFill>
                  <a:srgbClr val="1B3A4B"/>
                </a:solidFill>
                <a:latin typeface="Consolas"/>
                <a:cs typeface="Consolas"/>
              </a:rPr>
              <a:t>  add_overall() |&gt;</a:t>
            </a:r>
          </a:p>
          <a:p>
            <a:pPr marL="0" indent="0" algn="l">
              <a:lnSpc>
                <a:spcPct val="100000"/>
              </a:lnSpc>
              <a:buNone/>
            </a:pPr>
            <a:r>
              <a:rPr lang="en-US" sz="1300" dirty="0">
                <a:solidFill>
                  <a:srgbClr val="1B3A4B"/>
                </a:solidFill>
                <a:latin typeface="Consolas"/>
                <a:cs typeface="Consolas"/>
              </a:rPr>
              <a:t>  bold_labels()</a:t>
            </a:r>
          </a:p>
        </p:txBody>
      </p:sp>
      <p:sp>
        <p:nvSpPr>
          <p:cNvPr id="31" name="Output"/>
          <p:cNvSpPr/>
          <p:nvPr/>
        </p:nvSpPr>
        <p:spPr>
          <a:xfrm>
            <a:off x="457200" y="386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Characteristic   Overall   No   Yes   p-value</a:t>
            </a:r>
          </a:p>
          <a:p>
            <a:pPr marL="0" indent="0" algn="l">
              <a:lnSpc>
                <a:spcPct val="100000"/>
              </a:lnSpc>
              <a:buNone/>
            </a:pPr>
            <a:r>
              <a:rPr lang="en-US" sz="1250" dirty="0">
                <a:solidFill>
                  <a:srgbClr val="1A1A1A"/>
                </a:solidFill>
                <a:latin typeface="Consolas"/>
                <a:cs typeface="Consolas"/>
              </a:rPr>
              <a:t>Age (years)      52 ...    ...  ...   &lt;0.001</a:t>
            </a:r>
          </a:p>
          <a:p>
            <a:pPr marL="0" indent="0" algn="l">
              <a:lnSpc>
                <a:spcPct val="100000"/>
              </a:lnSpc>
              <a:buNone/>
            </a:pPr>
            <a:r>
              <a:rPr lang="en-US" sz="1250" dirty="0">
                <a:solidFill>
                  <a:srgbClr val="1A1A1A"/>
                </a:solidFill>
                <a:latin typeface="Consolas"/>
                <a:cs typeface="Consolas"/>
              </a:rPr>
              <a:t>Diabetes, n (%)  ...       ...  ...    0.002</a:t>
            </a:r>
          </a:p>
          <a:p>
            <a:pPr marL="0" indent="0" algn="l">
              <a:lnSpc>
                <a:spcPct val="100000"/>
              </a:lnSpc>
              <a:buNone/>
            </a:pPr>
            <a:r>
              <a:rPr lang="en-US" sz="1250" dirty="0">
                <a:solidFill>
                  <a:srgbClr val="1A1A1A"/>
                </a:solidFill>
                <a:latin typeface="Consolas"/>
                <a:cs typeface="Consolas"/>
              </a:rPr>
              <a:t>... one row per selected variable ...</a:t>
            </a:r>
          </a:p>
        </p:txBody>
      </p:sp>
      <p:sp>
        <p:nvSpPr>
          <p:cNvPr id="32" name="Note"/>
          <p:cNvSpPr/>
          <p:nvPr/>
        </p:nvSpPr>
        <p:spPr>
          <a:xfrm>
            <a:off x="457200" y="510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add_p() thêm giá trị p; add_overall() thêm một cột tổng.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Chọn đúng biểu đồ</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Hãy để loại biến quyết định biểu đồ</a:t>
            </a:r>
          </a:p>
          <a:p>
            <a:pPr marL="0" indent="0" algn="l">
              <a:lnSpc>
                <a:spcPct val="108000"/>
              </a:lnSpc>
              <a:spcBef>
                <a:spcPts val="440"/>
              </a:spcBef>
              <a:buNone/>
            </a:pPr>
            <a:r>
              <a:rPr lang="en-US" sz="1800" dirty="0">
                <a:solidFill>
                  <a:srgbClr val="000000"/>
                </a:solidFill>
                <a:latin typeface="Segoe UI"/>
                <a:cs typeface="Segoe UI"/>
              </a:rPr>
              <a:t>Một biến liên tục -&gt; biểu đồ tần suất (hình dạng và độ lệch)</a:t>
            </a:r>
          </a:p>
          <a:p>
            <a:pPr marL="0" indent="0" algn="l">
              <a:lnSpc>
                <a:spcPct val="108000"/>
              </a:lnSpc>
              <a:spcBef>
                <a:spcPts val="440"/>
              </a:spcBef>
              <a:buNone/>
            </a:pPr>
            <a:r>
              <a:rPr lang="en-US" sz="1800" dirty="0">
                <a:solidFill>
                  <a:srgbClr val="000000"/>
                </a:solidFill>
                <a:latin typeface="Segoe UI"/>
                <a:cs typeface="Segoe UI"/>
              </a:rPr>
              <a:t>Biến liên tục theo một nhóm -&gt; biểu đồ hộp (so sánh các phân phối)</a:t>
            </a:r>
          </a:p>
          <a:p>
            <a:pPr marL="0" indent="0" algn="l">
              <a:lnSpc>
                <a:spcPct val="108000"/>
              </a:lnSpc>
              <a:spcBef>
                <a:spcPts val="440"/>
              </a:spcBef>
              <a:buNone/>
            </a:pPr>
            <a:r>
              <a:rPr lang="en-US" sz="1800" dirty="0">
                <a:solidFill>
                  <a:srgbClr val="000000"/>
                </a:solidFill>
                <a:latin typeface="Segoe UI"/>
                <a:cs typeface="Segoe UI"/>
              </a:rPr>
              <a:t>Một biến phân loại -&gt; biểu đồ cột (số đếm)</a:t>
            </a:r>
          </a:p>
          <a:p>
            <a:pPr marL="0" indent="0" algn="l">
              <a:lnSpc>
                <a:spcPct val="108000"/>
              </a:lnSpc>
              <a:spcBef>
                <a:spcPts val="440"/>
              </a:spcBef>
              <a:buNone/>
            </a:pPr>
            <a:r>
              <a:rPr lang="en-US" sz="1800" dirty="0">
                <a:solidFill>
                  <a:srgbClr val="000000"/>
                </a:solidFill>
                <a:latin typeface="Segoe UI"/>
                <a:cs typeface="Segoe UI"/>
              </a:rPr>
              <a:t>Hai biến liên tục -&gt; biểu đồ phân tán (mối quan hệ)</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Mỗi hình cần</a:t>
            </a:r>
          </a:p>
          <a:p>
            <a:pPr marL="0" indent="0" algn="l">
              <a:spcBef>
                <a:spcPts val="100"/>
              </a:spcBef>
              <a:buNone/>
            </a:pPr>
            <a:r>
              <a:rPr lang="en-US" sz="1300" dirty="0">
                <a:solidFill>
                  <a:srgbClr val="000000"/>
                </a:solidFill>
                <a:latin typeface="Segoe UI"/>
                <a:cs typeface="Segoe UI"/>
              </a:rPr>
              <a:t>Một tiêu đề rõ ràng và nhãn trục KÈM đơn vị.</a:t>
            </a:r>
          </a:p>
          <a:p>
            <a:pPr marL="0" indent="0" algn="l">
              <a:spcBef>
                <a:spcPts val="100"/>
              </a:spcBef>
              <a:buNone/>
            </a:pPr>
            <a:r>
              <a:rPr lang="en-US" sz="1300" dirty="0">
                <a:solidFill>
                  <a:srgbClr val="000000"/>
                </a:solidFill>
                <a:latin typeface="Segoe UI"/>
                <a:cs typeface="Segoe UI"/>
              </a:rPr>
              <a:t>Một chủ đề gọn gàng; chúng ta dùng theme_minimal với điểm nhấn màu xanh mòng két.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Biểu đồ tần suất: phân phối tuổi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Segoe UI"/>
                <a:cs typeface="Segoe UI"/>
              </a:rPr>
              <a:t>Cách đọc biểu đồ</a:t>
            </a:r>
          </a:p>
          <a:p>
            <a:pPr marL="274320" indent="-274320" algn="l">
              <a:spcBef>
                <a:spcPts val="440"/>
              </a:spcBef>
              <a:buFont typeface="Arial"/>
              <a:buChar char="•"/>
            </a:pPr>
            <a:r>
              <a:rPr lang="en-US" sz="1450" dirty="0">
                <a:solidFill>
                  <a:srgbClr val="000000"/>
                </a:solidFill>
                <a:latin typeface="Segoe UI"/>
                <a:cs typeface="Segoe UI"/>
              </a:rPr>
              <a:t>Mỗi cột đếm số bệnh nhân trong một dải 5 năm</a:t>
            </a:r>
          </a:p>
          <a:p>
            <a:pPr marL="274320" indent="-274320" algn="l">
              <a:spcBef>
                <a:spcPts val="440"/>
              </a:spcBef>
              <a:buFont typeface="Arial"/>
              <a:buChar char="•"/>
            </a:pPr>
            <a:r>
              <a:rPr lang="en-US" sz="1450" dirty="0">
                <a:solidFill>
                  <a:srgbClr val="000000"/>
                </a:solidFill>
                <a:latin typeface="Segoe UI"/>
                <a:cs typeface="Segoe UI"/>
              </a:rPr>
              <a:t>Đỉnh cho thấy khoảng tuổi phổ biến nhất</a:t>
            </a:r>
          </a:p>
          <a:p>
            <a:pPr marL="274320" indent="-274320" algn="l">
              <a:spcBef>
                <a:spcPts val="440"/>
              </a:spcBef>
              <a:buFont typeface="Arial"/>
              <a:buChar char="•"/>
            </a:pPr>
            <a:r>
              <a:rPr lang="en-US" sz="1450" dirty="0">
                <a:solidFill>
                  <a:srgbClr val="000000"/>
                </a:solidFill>
                <a:latin typeface="Segoe UI"/>
                <a:cs typeface="Segoe UI"/>
              </a:rPr>
              <a:t>Một hình dạng gần đối xứng ủng hộ trung bình (độ lệch chuẩn)</a:t>
            </a:r>
          </a:p>
          <a:p>
            <a:pPr marL="274320" indent="-274320" algn="l">
              <a:spcBef>
                <a:spcPts val="440"/>
              </a:spcBef>
              <a:buFont typeface="Arial"/>
              <a:buChar char="•"/>
            </a:pPr>
            <a:r>
              <a:rPr lang="en-US" sz="1450" dirty="0">
                <a:solidFill>
                  <a:srgbClr val="000000"/>
                </a:solidFill>
                <a:latin typeface="Segoe UI"/>
                <a:cs typeface="Segoe UI"/>
              </a:rPr>
              <a:t>Tìm một đuôi dài có thể báo hiệu độ lệch</a:t>
            </a:r>
          </a:p>
        </p:txBody>
      </p:sp>
      <p:pic>
        <p:nvPicPr>
          <p:cNvPr id="25" name="Figure"/>
          <p:cNvPicPr>
            <a:picLocks noChangeAspect="1"/>
          </p:cNvPicPr>
          <p:nvPr/>
        </p:nvPicPr>
        <p:blipFill>
          <a:blip r:embed="rId3"/>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4"/>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Biểu đồ tần suất: huyết áp tâm thu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Segoe UI"/>
                <a:cs typeface="Segoe UI"/>
              </a:rPr>
              <a:t>Cách đọc biểu đồ</a:t>
            </a:r>
          </a:p>
          <a:p>
            <a:pPr marL="274320" indent="-274320" algn="l">
              <a:spcBef>
                <a:spcPts val="440"/>
              </a:spcBef>
              <a:buFont typeface="Arial"/>
              <a:buChar char="•"/>
            </a:pPr>
            <a:r>
              <a:rPr lang="en-US" sz="1450" dirty="0">
                <a:solidFill>
                  <a:srgbClr val="000000"/>
                </a:solidFill>
                <a:latin typeface="Segoe UI"/>
                <a:cs typeface="Segoe UI"/>
              </a:rPr>
              <a:t>Đường cong phủ lên là một mật độ đã được làm mượt</a:t>
            </a:r>
          </a:p>
          <a:p>
            <a:pPr marL="274320" indent="-274320" algn="l">
              <a:spcBef>
                <a:spcPts val="440"/>
              </a:spcBef>
              <a:buFont typeface="Arial"/>
              <a:buChar char="•"/>
            </a:pPr>
            <a:r>
              <a:rPr lang="en-US" sz="1450" dirty="0">
                <a:solidFill>
                  <a:srgbClr val="000000"/>
                </a:solidFill>
                <a:latin typeface="Segoe UI"/>
                <a:cs typeface="Segoe UI"/>
              </a:rPr>
              <a:t>Một đuôi về bên phải cho thấy lệch phải</a:t>
            </a:r>
          </a:p>
          <a:p>
            <a:pPr marL="274320" indent="-274320" algn="l">
              <a:spcBef>
                <a:spcPts val="440"/>
              </a:spcBef>
              <a:buFont typeface="Arial"/>
              <a:buChar char="•"/>
            </a:pPr>
            <a:r>
              <a:rPr lang="en-US" sz="1450" dirty="0">
                <a:solidFill>
                  <a:srgbClr val="000000"/>
                </a:solidFill>
                <a:latin typeface="Segoe UI"/>
                <a:cs typeface="Segoe UI"/>
              </a:rPr>
              <a:t>Khi lệch, hãy ưu tiên trung vị (khoảng tứ phân vị) hơn trung bình (độ lệch chuẩn)</a:t>
            </a:r>
          </a:p>
          <a:p>
            <a:pPr marL="274320" indent="-274320" algn="l">
              <a:spcBef>
                <a:spcPts val="440"/>
              </a:spcBef>
              <a:buFont typeface="Arial"/>
              <a:buChar char="•"/>
            </a:pPr>
            <a:r>
              <a:rPr lang="en-US" sz="1450" dirty="0">
                <a:solidFill>
                  <a:srgbClr val="000000"/>
                </a:solidFill>
                <a:latin typeface="Segoe UI"/>
                <a:cs typeface="Segoe UI"/>
              </a:rPr>
              <a:t>Phần lớn nằm trong khoảng tăng huyết áp</a:t>
            </a:r>
          </a:p>
        </p:txBody>
      </p:sp>
      <p:pic>
        <p:nvPicPr>
          <p:cNvPr id="25" name="Figure"/>
          <p:cNvPicPr>
            <a:picLocks noChangeAspect="1"/>
          </p:cNvPicPr>
          <p:nvPr/>
        </p:nvPicPr>
        <p:blipFill>
          <a:blip r:embed="rId3"/>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4"/>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Biểu đồ cột: trình độ học vấn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Segoe UI"/>
                <a:cs typeface="Segoe UI"/>
              </a:rPr>
              <a:t>Cách đọc biểu đồ</a:t>
            </a:r>
          </a:p>
          <a:p>
            <a:pPr marL="274320" indent="-274320" algn="l">
              <a:spcBef>
                <a:spcPts val="440"/>
              </a:spcBef>
              <a:buFont typeface="Arial"/>
              <a:buChar char="•"/>
            </a:pPr>
            <a:r>
              <a:rPr lang="en-US" sz="1450" dirty="0">
                <a:solidFill>
                  <a:srgbClr val="000000"/>
                </a:solidFill>
                <a:latin typeface="Segoe UI"/>
                <a:cs typeface="Segoe UI"/>
              </a:rPr>
              <a:t>Chiều cao cột là số bệnh nhân mỗi mức</a:t>
            </a:r>
          </a:p>
          <a:p>
            <a:pPr marL="274320" indent="-274320" algn="l">
              <a:spcBef>
                <a:spcPts val="440"/>
              </a:spcBef>
              <a:buFont typeface="Arial"/>
              <a:buChar char="•"/>
            </a:pPr>
            <a:r>
              <a:rPr lang="en-US" sz="1450" dirty="0">
                <a:solidFill>
                  <a:srgbClr val="000000"/>
                </a:solidFill>
                <a:latin typeface="Segoe UI"/>
                <a:cs typeface="Segoe UI"/>
              </a:rPr>
              <a:t>geom_bar đếm các phân loại cho bạn</a:t>
            </a:r>
          </a:p>
          <a:p>
            <a:pPr marL="274320" indent="-274320" algn="l">
              <a:spcBef>
                <a:spcPts val="440"/>
              </a:spcBef>
              <a:buFont typeface="Arial"/>
              <a:buChar char="•"/>
            </a:pPr>
            <a:r>
              <a:rPr lang="en-US" sz="1450" dirty="0">
                <a:solidFill>
                  <a:srgbClr val="000000"/>
                </a:solidFill>
                <a:latin typeface="Segoe UI"/>
                <a:cs typeface="Segoe UI"/>
              </a:rPr>
              <a:t>So sánh chiều cao cột, không phải diện tích</a:t>
            </a:r>
          </a:p>
          <a:p>
            <a:pPr marL="274320" indent="-274320" algn="l">
              <a:spcBef>
                <a:spcPts val="440"/>
              </a:spcBef>
              <a:buFont typeface="Arial"/>
              <a:buChar char="•"/>
            </a:pPr>
            <a:r>
              <a:rPr lang="en-US" sz="1450" dirty="0">
                <a:solidFill>
                  <a:srgbClr val="000000"/>
                </a:solidFill>
                <a:latin typeface="Segoe UI"/>
                <a:cs typeface="Segoe UI"/>
              </a:rPr>
              <a:t>Một đường gốc tại số không giữ cho các so sánh trung thực</a:t>
            </a:r>
          </a:p>
        </p:txBody>
      </p:sp>
      <p:pic>
        <p:nvPicPr>
          <p:cNvPr id="25" name="Figure"/>
          <p:cNvPicPr>
            <a:picLocks noChangeAspect="1"/>
          </p:cNvPicPr>
          <p:nvPr/>
        </p:nvPicPr>
        <p:blipFill>
          <a:blip r:embed="rId3"/>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4"/>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Biểu đồ hộp: huyết áp tâm thu theo tiếp nhận điều trị</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Segoe UI"/>
                <a:cs typeface="Segoe UI"/>
              </a:rPr>
              <a:t>Cách đọc biểu đồ</a:t>
            </a:r>
          </a:p>
          <a:p>
            <a:pPr marL="274320" indent="-274320" algn="l">
              <a:spcBef>
                <a:spcPts val="440"/>
              </a:spcBef>
              <a:buFont typeface="Arial"/>
              <a:buChar char="•"/>
            </a:pPr>
            <a:r>
              <a:rPr lang="en-US" sz="1450" dirty="0">
                <a:solidFill>
                  <a:srgbClr val="000000"/>
                </a:solidFill>
                <a:latin typeface="Segoe UI"/>
                <a:cs typeface="Segoe UI"/>
              </a:rPr>
              <a:t>Hộp trải dài theo khoảng tứ phân vị; đường kẻ là trung vị</a:t>
            </a:r>
          </a:p>
          <a:p>
            <a:pPr marL="274320" indent="-274320" algn="l">
              <a:spcBef>
                <a:spcPts val="440"/>
              </a:spcBef>
              <a:buFont typeface="Arial"/>
              <a:buChar char="•"/>
            </a:pPr>
            <a:r>
              <a:rPr lang="en-US" sz="1450" dirty="0">
                <a:solidFill>
                  <a:srgbClr val="000000"/>
                </a:solidFill>
                <a:latin typeface="Segoe UI"/>
                <a:cs typeface="Segoe UI"/>
              </a:rPr>
              <a:t>Râu vươn tới phần lớn dữ liệu; các chấm là giá trị ngoại lai</a:t>
            </a:r>
          </a:p>
          <a:p>
            <a:pPr marL="274320" indent="-274320" algn="l">
              <a:spcBef>
                <a:spcPts val="440"/>
              </a:spcBef>
              <a:buFont typeface="Arial"/>
              <a:buChar char="•"/>
            </a:pPr>
            <a:r>
              <a:rPr lang="en-US" sz="1450" dirty="0">
                <a:solidFill>
                  <a:srgbClr val="000000"/>
                </a:solidFill>
                <a:latin typeface="Segoe UI"/>
                <a:cs typeface="Segoe UI"/>
              </a:rPr>
              <a:t>So sánh hai trung vị cạnh nhau</a:t>
            </a:r>
          </a:p>
          <a:p>
            <a:pPr marL="274320" indent="-274320" algn="l">
              <a:spcBef>
                <a:spcPts val="440"/>
              </a:spcBef>
              <a:buFont typeface="Arial"/>
              <a:buChar char="•"/>
            </a:pPr>
            <a:r>
              <a:rPr lang="en-US" sz="1450" dirty="0">
                <a:solidFill>
                  <a:srgbClr val="000000"/>
                </a:solidFill>
                <a:latin typeface="Segoe UI"/>
                <a:cs typeface="Segoe UI"/>
              </a:rPr>
              <a:t>Huyết áp tâm thu cao hơn ở nhóm được điều trị gợi ý bệnh nhân bệnh nặng hơn</a:t>
            </a:r>
          </a:p>
        </p:txBody>
      </p:sp>
      <p:pic>
        <p:nvPicPr>
          <p:cNvPr id="25" name="Figure"/>
          <p:cNvPicPr>
            <a:picLocks noChangeAspect="1"/>
          </p:cNvPicPr>
          <p:nvPr/>
        </p:nvPicPr>
        <p:blipFill>
          <a:blip r:embed="rId3"/>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4"/>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Biểu đồ hộp: BMI theo nhóm huyết áp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Segoe UI"/>
                <a:cs typeface="Segoe UI"/>
              </a:rPr>
              <a:t>Cách đọc biểu đồ</a:t>
            </a:r>
          </a:p>
          <a:p>
            <a:pPr marL="274320" indent="-274320" algn="l">
              <a:spcBef>
                <a:spcPts val="440"/>
              </a:spcBef>
              <a:buFont typeface="Arial"/>
              <a:buChar char="•"/>
            </a:pPr>
            <a:r>
              <a:rPr lang="en-US" sz="1450" dirty="0">
                <a:solidFill>
                  <a:srgbClr val="000000"/>
                </a:solidFill>
                <a:latin typeface="Segoe UI"/>
                <a:cs typeface="Segoe UI"/>
              </a:rPr>
              <a:t>Một hộp cho mỗi nhóm huyết áp</a:t>
            </a:r>
          </a:p>
          <a:p>
            <a:pPr marL="274320" indent="-274320" algn="l">
              <a:spcBef>
                <a:spcPts val="440"/>
              </a:spcBef>
              <a:buFont typeface="Arial"/>
              <a:buChar char="•"/>
            </a:pPr>
            <a:r>
              <a:rPr lang="en-US" sz="1450" dirty="0">
                <a:solidFill>
                  <a:srgbClr val="000000"/>
                </a:solidFill>
                <a:latin typeface="Segoe UI"/>
                <a:cs typeface="Segoe UI"/>
              </a:rPr>
              <a:t>Một trung vị tăng dần qua các nhóm gợi ý một gradient</a:t>
            </a:r>
          </a:p>
          <a:p>
            <a:pPr marL="274320" indent="-274320" algn="l">
              <a:spcBef>
                <a:spcPts val="440"/>
              </a:spcBef>
              <a:buFont typeface="Arial"/>
              <a:buChar char="•"/>
            </a:pPr>
            <a:r>
              <a:rPr lang="en-US" sz="1450" dirty="0">
                <a:solidFill>
                  <a:srgbClr val="000000"/>
                </a:solidFill>
                <a:latin typeface="Segoe UI"/>
                <a:cs typeface="Segoe UI"/>
              </a:rPr>
              <a:t>Chiều rộng hộp ở đây phản ánh kiểu định dạng, không phải cỡ nhóm</a:t>
            </a:r>
          </a:p>
          <a:p>
            <a:pPr marL="274320" indent="-274320" algn="l">
              <a:spcBef>
                <a:spcPts val="440"/>
              </a:spcBef>
              <a:buFont typeface="Arial"/>
              <a:buChar char="•"/>
            </a:pPr>
            <a:r>
              <a:rPr lang="en-US" sz="1450" dirty="0">
                <a:solidFill>
                  <a:srgbClr val="000000"/>
                </a:solidFill>
                <a:latin typeface="Segoe UI"/>
                <a:cs typeface="Segoe UI"/>
              </a:rPr>
              <a:t>Giá trị ngoại lai đánh dấu BMI cao hoặc thấp bất thường</a:t>
            </a:r>
          </a:p>
        </p:txBody>
      </p:sp>
      <p:pic>
        <p:nvPicPr>
          <p:cNvPr id="25" name="Figure"/>
          <p:cNvPicPr>
            <a:picLocks noChangeAspect="1"/>
          </p:cNvPicPr>
          <p:nvPr/>
        </p:nvPicPr>
        <p:blipFill>
          <a:blip r:embed="rId3"/>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4"/>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Biểu đồ phân tán: huyết áp tâm thu so với BMI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Segoe UI"/>
                <a:cs typeface="Segoe UI"/>
              </a:rPr>
              <a:t>Cách đọc biểu đồ</a:t>
            </a:r>
          </a:p>
          <a:p>
            <a:pPr marL="274320" indent="-274320" algn="l">
              <a:spcBef>
                <a:spcPts val="440"/>
              </a:spcBef>
              <a:buFont typeface="Arial"/>
              <a:buChar char="•"/>
            </a:pPr>
            <a:r>
              <a:rPr lang="en-US" sz="1450" dirty="0">
                <a:solidFill>
                  <a:srgbClr val="000000"/>
                </a:solidFill>
                <a:latin typeface="Segoe UI"/>
                <a:cs typeface="Segoe UI"/>
              </a:rPr>
              <a:t>Mỗi điểm là một bệnh nhân</a:t>
            </a:r>
          </a:p>
          <a:p>
            <a:pPr marL="274320" indent="-274320" algn="l">
              <a:spcBef>
                <a:spcPts val="440"/>
              </a:spcBef>
              <a:buFont typeface="Arial"/>
              <a:buChar char="•"/>
            </a:pPr>
            <a:r>
              <a:rPr lang="en-US" sz="1450" dirty="0">
                <a:solidFill>
                  <a:srgbClr val="000000"/>
                </a:solidFill>
                <a:latin typeface="Segoe UI"/>
                <a:cs typeface="Segoe UI"/>
              </a:rPr>
              <a:t>Đường kẻ là một xu hướng tuyến tính đã khớp</a:t>
            </a:r>
          </a:p>
          <a:p>
            <a:pPr marL="274320" indent="-274320" algn="l">
              <a:spcBef>
                <a:spcPts val="440"/>
              </a:spcBef>
              <a:buFont typeface="Arial"/>
              <a:buChar char="•"/>
            </a:pPr>
            <a:r>
              <a:rPr lang="en-US" sz="1450" dirty="0">
                <a:solidFill>
                  <a:srgbClr val="000000"/>
                </a:solidFill>
                <a:latin typeface="Segoe UI"/>
                <a:cs typeface="Segoe UI"/>
              </a:rPr>
              <a:t>Độ dốc đi lên nghĩa là BMI cao hơn đi cùng huyết áp tâm thu cao hơn</a:t>
            </a:r>
          </a:p>
          <a:p>
            <a:pPr marL="274320" indent="-274320" algn="l">
              <a:spcBef>
                <a:spcPts val="440"/>
              </a:spcBef>
              <a:buFont typeface="Arial"/>
              <a:buChar char="•"/>
            </a:pPr>
            <a:r>
              <a:rPr lang="en-US" sz="1450" dirty="0">
                <a:solidFill>
                  <a:srgbClr val="000000"/>
                </a:solidFill>
                <a:latin typeface="Segoe UI"/>
                <a:cs typeface="Segoe UI"/>
              </a:rPr>
              <a:t>Sự phân tán quanh đường kẻ cho thấy nó không mang tính tất định</a:t>
            </a:r>
          </a:p>
        </p:txBody>
      </p:sp>
      <p:pic>
        <p:nvPicPr>
          <p:cNvPr id="25" name="Figure"/>
          <p:cNvPicPr>
            <a:picLocks noChangeAspect="1"/>
          </p:cNvPicPr>
          <p:nvPr/>
        </p:nvPicPr>
        <p:blipFill>
          <a:blip r:embed="rId3"/>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4"/>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Demo: xây dựng và lưu một hình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Một ggplot, rồi lưu nó ở chất lượng xuất bản.</a:t>
            </a:r>
          </a:p>
        </p:txBody>
      </p:sp>
      <p:sp>
        <p:nvSpPr>
          <p:cNvPr id="30" name="Code"/>
          <p:cNvSpPr/>
          <p:nvPr/>
        </p:nvSpPr>
        <p:spPr>
          <a:xfrm>
            <a:off x="457200" y="1640000"/>
            <a:ext cx="11277600" cy="207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p_age &lt;- ggplot(analysis_data, aes(x = age)) +</a:t>
            </a:r>
          </a:p>
          <a:p>
            <a:pPr marL="0" indent="0" algn="l">
              <a:lnSpc>
                <a:spcPct val="100000"/>
              </a:lnSpc>
              <a:buNone/>
            </a:pPr>
            <a:r>
              <a:rPr lang="en-US" sz="1300" dirty="0">
                <a:solidFill>
                  <a:srgbClr val="1B3A4B"/>
                </a:solidFill>
                <a:latin typeface="Consolas"/>
                <a:cs typeface="Consolas"/>
              </a:rPr>
              <a:t>  geom_histogram(binwidth = 5, fill = "#0D7377",</a:t>
            </a:r>
          </a:p>
          <a:p>
            <a:pPr marL="0" indent="0" algn="l">
              <a:lnSpc>
                <a:spcPct val="100000"/>
              </a:lnSpc>
              <a:buNone/>
            </a:pPr>
            <a:r>
              <a:rPr lang="en-US" sz="1300" dirty="0">
                <a:solidFill>
                  <a:srgbClr val="1B3A4B"/>
                </a:solidFill>
                <a:latin typeface="Consolas"/>
                <a:cs typeface="Consolas"/>
              </a:rPr>
              <a:t>                 colour = "white") +</a:t>
            </a:r>
          </a:p>
          <a:p>
            <a:pPr marL="0" indent="0" algn="l">
              <a:lnSpc>
                <a:spcPct val="100000"/>
              </a:lnSpc>
              <a:buNone/>
            </a:pPr>
            <a:r>
              <a:rPr lang="en-US" sz="1300" dirty="0">
                <a:solidFill>
                  <a:srgbClr val="1B3A4B"/>
                </a:solidFill>
                <a:latin typeface="Consolas"/>
                <a:cs typeface="Consolas"/>
              </a:rPr>
              <a:t>  labs(title = "Age distribution",</a:t>
            </a:r>
          </a:p>
          <a:p>
            <a:pPr marL="0" indent="0" algn="l">
              <a:lnSpc>
                <a:spcPct val="100000"/>
              </a:lnSpc>
              <a:buNone/>
            </a:pPr>
            <a:r>
              <a:rPr lang="en-US" sz="1300" dirty="0">
                <a:solidFill>
                  <a:srgbClr val="1B3A4B"/>
                </a:solidFill>
                <a:latin typeface="Consolas"/>
                <a:cs typeface="Consolas"/>
              </a:rPr>
              <a:t>       x = "Age (years)", y = "Number of patients") +</a:t>
            </a:r>
          </a:p>
          <a:p>
            <a:pPr marL="0" indent="0" algn="l">
              <a:lnSpc>
                <a:spcPct val="100000"/>
              </a:lnSpc>
              <a:buNone/>
            </a:pPr>
            <a:r>
              <a:rPr lang="en-US" sz="1300" dirty="0">
                <a:solidFill>
                  <a:srgbClr val="1B3A4B"/>
                </a:solidFill>
                <a:latin typeface="Consolas"/>
                <a:cs typeface="Consolas"/>
              </a:rPr>
              <a:t>  theme_minimal(base_size = 13)</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ggsave("Resources/day3_hist_age.png", plot = p_age,</a:t>
            </a:r>
          </a:p>
          <a:p>
            <a:pPr marL="0" indent="0" algn="l">
              <a:lnSpc>
                <a:spcPct val="100000"/>
              </a:lnSpc>
              <a:buNone/>
            </a:pPr>
            <a:r>
              <a:rPr lang="en-US" sz="1300" dirty="0">
                <a:solidFill>
                  <a:srgbClr val="1B3A4B"/>
                </a:solidFill>
                <a:latin typeface="Consolas"/>
                <a:cs typeface="Consolas"/>
              </a:rPr>
              <a:t>       width = 7, height = 5, dpi = 300)</a:t>
            </a:r>
          </a:p>
        </p:txBody>
      </p:sp>
      <p:sp>
        <p:nvSpPr>
          <p:cNvPr id="32" name="Note"/>
          <p:cNvSpPr/>
          <p:nvPr/>
        </p:nvSpPr>
        <p:spPr>
          <a:xfrm>
            <a:off x="457200" y="386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dpi = 300 là chuẩn mà các tạp chí mong đợi cho hình raster.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Xuất kết quả có thể tái lập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Chia sẻ kết quả ngoài R</a:t>
            </a:r>
          </a:p>
          <a:p>
            <a:pPr marL="0" indent="0" algn="l">
              <a:lnSpc>
                <a:spcPct val="108000"/>
              </a:lnSpc>
              <a:spcBef>
                <a:spcPts val="440"/>
              </a:spcBef>
              <a:buNone/>
            </a:pPr>
            <a:r>
              <a:rPr lang="en-US" sz="1800" dirty="0">
                <a:solidFill>
                  <a:srgbClr val="000000"/>
                </a:solidFill>
                <a:latin typeface="Segoe UI"/>
                <a:cs typeface="Segoe UI"/>
              </a:rPr>
              <a:t>write_csv() gửi một bảng tóm tắt cho các đồng tác giả không dùng R</a:t>
            </a:r>
          </a:p>
          <a:p>
            <a:pPr marL="0" indent="0" algn="l">
              <a:lnSpc>
                <a:spcPct val="108000"/>
              </a:lnSpc>
              <a:spcBef>
                <a:spcPts val="440"/>
              </a:spcBef>
              <a:buNone/>
            </a:pPr>
            <a:r>
              <a:rPr lang="en-US" sz="1800" dirty="0">
                <a:solidFill>
                  <a:srgbClr val="000000"/>
                </a:solidFill>
                <a:latin typeface="Segoe UI"/>
                <a:cs typeface="Segoe UI"/>
              </a:rPr>
              <a:t>ggsave(..., dpi = 300) ghi một hình sẵn sàng cho xuất bản</a:t>
            </a:r>
          </a:p>
          <a:p>
            <a:pPr marL="0" indent="0" algn="l">
              <a:lnSpc>
                <a:spcPct val="108000"/>
              </a:lnSpc>
              <a:spcBef>
                <a:spcPts val="440"/>
              </a:spcBef>
              <a:buNone/>
            </a:pPr>
            <a:r>
              <a:rPr lang="en-US" sz="1800" dirty="0">
                <a:solidFill>
                  <a:srgbClr val="000000"/>
                </a:solidFill>
                <a:latin typeface="Segoe UI"/>
                <a:cs typeface="Segoe UI"/>
              </a:rPr>
              <a:t>gtsummary xuất sang Word qua as_flex_table và save_as_docx</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Có thể tái lập từ thiết kế</a:t>
            </a:r>
          </a:p>
          <a:p>
            <a:pPr marL="0" indent="0" algn="l">
              <a:spcBef>
                <a:spcPts val="100"/>
              </a:spcBef>
              <a:buNone/>
            </a:pPr>
            <a:r>
              <a:rPr lang="en-US" sz="1300" dirty="0">
                <a:solidFill>
                  <a:srgbClr val="000000"/>
                </a:solidFill>
                <a:latin typeface="Segoe UI"/>
                <a:cs typeface="Segoe UI"/>
              </a:rPr>
              <a:t>Lưu kết quả vào một thư mục, không phải bằng sao chép-dán.</a:t>
            </a:r>
          </a:p>
          <a:p>
            <a:pPr marL="0" indent="0" algn="l">
              <a:spcBef>
                <a:spcPts val="100"/>
              </a:spcBef>
              <a:buNone/>
            </a:pPr>
            <a:r>
              <a:rPr lang="en-US" sz="1300" dirty="0">
                <a:solidFill>
                  <a:srgbClr val="000000"/>
                </a:solidFill>
                <a:latin typeface="Segoe UI"/>
                <a:cs typeface="Segoe UI"/>
              </a:rPr>
              <a:t>Chạy lại kịch bản sẽ tái tạo mọi bảng và hình.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Bài tập Ngày 3: tạo Bảng 1 cho một bản thảo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Nhiệm vụ của bạn</a:t>
            </a:r>
          </a:p>
          <a:p>
            <a:pPr marL="0" indent="0" algn="l">
              <a:lnSpc>
                <a:spcPct val="108000"/>
              </a:lnSpc>
              <a:spcBef>
                <a:spcPts val="440"/>
              </a:spcBef>
              <a:buNone/>
            </a:pPr>
            <a:r>
              <a:rPr lang="en-US" sz="1800" dirty="0">
                <a:solidFill>
                  <a:srgbClr val="000000"/>
                </a:solidFill>
                <a:latin typeface="Segoe UI"/>
                <a:cs typeface="Segoe UI"/>
              </a:rPr>
              <a:t>1. readRDS dữ liệu phân tích đã làm sạch</a:t>
            </a:r>
          </a:p>
          <a:p>
            <a:pPr marL="0" indent="0" algn="l">
              <a:lnSpc>
                <a:spcPct val="108000"/>
              </a:lnSpc>
              <a:spcBef>
                <a:spcPts val="440"/>
              </a:spcBef>
              <a:buNone/>
            </a:pPr>
            <a:r>
              <a:rPr lang="en-US" sz="1800" dirty="0">
                <a:solidFill>
                  <a:srgbClr val="000000"/>
                </a:solidFill>
                <a:latin typeface="Segoe UI"/>
                <a:cs typeface="Segoe UI"/>
              </a:rPr>
              <a:t>2. Xây dựng một Bảng 1 với tbl_summary(by = treatment_uptake)</a:t>
            </a:r>
          </a:p>
          <a:p>
            <a:pPr marL="0" indent="0" algn="l">
              <a:lnSpc>
                <a:spcPct val="108000"/>
              </a:lnSpc>
              <a:spcBef>
                <a:spcPts val="440"/>
              </a:spcBef>
              <a:buNone/>
            </a:pPr>
            <a:r>
              <a:rPr lang="en-US" sz="1800" dirty="0">
                <a:solidFill>
                  <a:srgbClr val="000000"/>
                </a:solidFill>
                <a:latin typeface="Segoe UI"/>
                <a:cs typeface="Segoe UI"/>
              </a:rPr>
              <a:t>3. Thêm giá trị p và một cột tổng</a:t>
            </a:r>
          </a:p>
          <a:p>
            <a:pPr marL="0" indent="0" algn="l">
              <a:lnSpc>
                <a:spcPct val="108000"/>
              </a:lnSpc>
              <a:spcBef>
                <a:spcPts val="440"/>
              </a:spcBef>
              <a:buNone/>
            </a:pPr>
            <a:r>
              <a:rPr lang="en-US" sz="1800" dirty="0">
                <a:solidFill>
                  <a:srgbClr val="000000"/>
                </a:solidFill>
                <a:latin typeface="Segoe UI"/>
                <a:cs typeface="Segoe UI"/>
              </a:rPr>
              <a:t>4. Tạo một biểu đồ tần suất và một biểu đồ hộp, rồi ggsave cả hai ở 300 dpi</a:t>
            </a:r>
          </a:p>
          <a:p>
            <a:pPr>
              <a:buNone/>
            </a:pPr>
            <a:endParaRPr sz="1050"/>
          </a:p>
          <a:p>
            <a:pPr marL="0" indent="0" algn="l">
              <a:spcBef>
                <a:spcPts val="360"/>
              </a:spcBef>
              <a:buNone/>
            </a:pPr>
            <a:r>
              <a:rPr lang="en-US" sz="2050" b="1" dirty="0">
                <a:solidFill>
                  <a:srgbClr val="0D7377"/>
                </a:solidFill>
                <a:latin typeface="Segoe UI"/>
                <a:cs typeface="Segoe UI"/>
              </a:rPr>
              <a:t>Kết quả mong đợi</a:t>
            </a:r>
          </a:p>
          <a:p>
            <a:pPr marL="0" indent="0" algn="l">
              <a:lnSpc>
                <a:spcPct val="108000"/>
              </a:lnSpc>
              <a:spcBef>
                <a:spcPts val="440"/>
              </a:spcBef>
              <a:buNone/>
            </a:pPr>
            <a:r>
              <a:rPr lang="en-US" sz="1800" dirty="0">
                <a:solidFill>
                  <a:srgbClr val="000000"/>
                </a:solidFill>
                <a:latin typeface="Segoe UI"/>
                <a:cs typeface="Segoe UI"/>
              </a:rPr>
              <a:t>Một bảng đặc điểm nền chia theo tiếp nhận điều trị</a:t>
            </a:r>
          </a:p>
          <a:p>
            <a:pPr marL="0" indent="0" algn="l">
              <a:lnSpc>
                <a:spcPct val="108000"/>
              </a:lnSpc>
              <a:spcBef>
                <a:spcPts val="440"/>
              </a:spcBef>
              <a:buNone/>
            </a:pPr>
            <a:r>
              <a:rPr lang="en-US" sz="1800" dirty="0">
                <a:solidFill>
                  <a:srgbClr val="000000"/>
                </a:solidFill>
                <a:latin typeface="Segoe UI"/>
                <a:cs typeface="Segoe UI"/>
              </a:rPr>
              <a:t>Hai hình PNG đã lưu trong thư mục Resources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Nếu bạn bị bí</a:t>
            </a:r>
          </a:p>
          <a:p>
            <a:pPr marL="0" indent="0" algn="l">
              <a:spcBef>
                <a:spcPts val="100"/>
              </a:spcBef>
              <a:buNone/>
            </a:pPr>
            <a:r>
              <a:rPr lang="en-US" sz="1300" dirty="0">
                <a:solidFill>
                  <a:srgbClr val="000000"/>
                </a:solidFill>
                <a:latin typeface="Segoe UI"/>
                <a:cs typeface="Segoe UI"/>
              </a:rPr>
              <a:t>Tái sử dụng mã demo; chỉ thay đổi tên các biến.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Tóm tắt và cầu nối sang Ngày 4</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Segoe UI"/>
                <a:cs typeface="Segoe UI"/>
              </a:rPr>
              <a:t>Những gì chúng ta đã khắc sâu hôm nay, và nơi chúng ta đi tiếp:</a:t>
            </a:r>
          </a:p>
          <a:p>
            <a:pPr>
              <a:buNone/>
            </a:pPr>
            <a:endParaRPr sz="950"/>
          </a:p>
          <a:p>
            <a:pPr marL="274320" indent="-274320" algn="l">
              <a:lnSpc>
                <a:spcPct val="106000"/>
              </a:lnSpc>
              <a:spcBef>
                <a:spcPts val="560"/>
              </a:spcBef>
              <a:buFont typeface="Arial"/>
              <a:buChar char="•"/>
            </a:pPr>
            <a:r>
              <a:rPr lang="en-US" sz="1950" dirty="0">
                <a:solidFill>
                  <a:srgbClr val="000000"/>
                </a:solidFill>
                <a:latin typeface="Segoe UI"/>
                <a:cs typeface="Segoe UI"/>
              </a:rPr>
              <a:t>Luôn dùng na.rm = TRUE; đó là cái bẫy số một</a:t>
            </a:r>
          </a:p>
          <a:p>
            <a:pPr marL="274320" indent="-274320" algn="l">
              <a:lnSpc>
                <a:spcPct val="106000"/>
              </a:lnSpc>
              <a:spcBef>
                <a:spcPts val="560"/>
              </a:spcBef>
              <a:buFont typeface="Arial"/>
              <a:buChar char="•"/>
            </a:pPr>
            <a:r>
              <a:rPr lang="en-US" sz="1950" dirty="0">
                <a:solidFill>
                  <a:srgbClr val="000000"/>
                </a:solidFill>
                <a:latin typeface="Segoe UI"/>
                <a:cs typeface="Segoe UI"/>
              </a:rPr>
              <a:t>Chọn trung vị (khoảng tứ phân vị) cho các biến lâm sàng bị lệch</a:t>
            </a:r>
          </a:p>
          <a:p>
            <a:pPr marL="274320" indent="-274320" algn="l">
              <a:lnSpc>
                <a:spcPct val="106000"/>
              </a:lnSpc>
              <a:spcBef>
                <a:spcPts val="560"/>
              </a:spcBef>
              <a:buFont typeface="Arial"/>
              <a:buChar char="•"/>
            </a:pPr>
            <a:r>
              <a:rPr lang="en-US" sz="1950" dirty="0">
                <a:solidFill>
                  <a:srgbClr val="000000"/>
                </a:solidFill>
                <a:latin typeface="Segoe UI"/>
                <a:cs typeface="Segoe UI"/>
              </a:rPr>
              <a:t>Chọn margin của prop.table khớp với câu hỏi của bạn</a:t>
            </a:r>
          </a:p>
          <a:p>
            <a:pPr marL="274320" indent="-274320" algn="l">
              <a:lnSpc>
                <a:spcPct val="106000"/>
              </a:lnSpc>
              <a:spcBef>
                <a:spcPts val="560"/>
              </a:spcBef>
              <a:buFont typeface="Arial"/>
              <a:buChar char="•"/>
            </a:pPr>
            <a:r>
              <a:rPr lang="en-US" sz="1950" dirty="0">
                <a:solidFill>
                  <a:srgbClr val="000000"/>
                </a:solidFill>
                <a:latin typeface="Segoe UI"/>
                <a:cs typeface="Segoe UI"/>
              </a:rPr>
              <a:t>gtsummary biến dữ liệu thô thành một Bảng 1 trong vài dòng</a:t>
            </a:r>
          </a:p>
          <a:p>
            <a:pPr marL="274320" indent="-274320" algn="l">
              <a:lnSpc>
                <a:spcPct val="106000"/>
              </a:lnSpc>
              <a:spcBef>
                <a:spcPts val="560"/>
              </a:spcBef>
              <a:buFont typeface="Arial"/>
              <a:buChar char="•"/>
            </a:pPr>
            <a:r>
              <a:rPr lang="en-US" sz="1950" dirty="0">
                <a:solidFill>
                  <a:srgbClr val="000000"/>
                </a:solidFill>
                <a:latin typeface="Segoe UI"/>
                <a:cs typeface="Segoe UI"/>
              </a:rPr>
              <a:t>Khớp biểu đồ với loại biến, và lưu ở 300 dpi</a:t>
            </a:r>
          </a:p>
          <a:p>
            <a:pPr marL="274320" indent="-274320" algn="l">
              <a:lnSpc>
                <a:spcPct val="106000"/>
              </a:lnSpc>
              <a:spcBef>
                <a:spcPts val="560"/>
              </a:spcBef>
              <a:buFont typeface="Arial"/>
              <a:buChar char="•"/>
            </a:pPr>
            <a:r>
              <a:rPr lang="en-US" sz="1950" dirty="0">
                <a:solidFill>
                  <a:srgbClr val="000000"/>
                </a:solidFill>
                <a:latin typeface="Segoe UI"/>
                <a:cs typeface="Segoe UI"/>
              </a:rPr>
              <a:t>Ngày 4: từ mô tả sang kiểm định, hồi quy và tỷ số chênh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Segoe UI"/>
                <a:cs typeface="Segoe UI"/>
              </a:rPr>
              <a:t>Ngày 4: Các Kiểm Định Thống Kê Y Học Thường Gặp</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Segoe UI"/>
                <a:cs typeface="Segoe UI"/>
              </a:rPr>
              <a:t>Plan</a:t>
            </a:r>
          </a:p>
          <a:p>
            <a:pPr>
              <a:buNone/>
            </a:pPr>
            <a:endParaRPr sz="800"/>
          </a:p>
          <a:p>
            <a:pPr marL="274320" indent="-274320" algn="l">
              <a:spcBef>
                <a:spcPts val="440"/>
              </a:spcBef>
              <a:buFont typeface="Arial"/>
              <a:buChar char="•"/>
            </a:pPr>
            <a:r>
              <a:rPr lang="en-US" sz="1900" dirty="0">
                <a:solidFill>
                  <a:srgbClr val="000000"/>
                </a:solidFill>
                <a:latin typeface="Segoe UI"/>
                <a:cs typeface="Segoe UI"/>
              </a:rPr>
              <a:t>Kiến thức cơ bản về kiểm định giả thuyết</a:t>
            </a:r>
          </a:p>
          <a:p>
            <a:pPr marL="274320" indent="-274320" algn="l">
              <a:spcBef>
                <a:spcPts val="440"/>
              </a:spcBef>
              <a:buFont typeface="Arial"/>
              <a:buChar char="•"/>
            </a:pPr>
            <a:r>
              <a:rPr lang="en-US" sz="1900" dirty="0">
                <a:solidFill>
                  <a:srgbClr val="000000"/>
                </a:solidFill>
                <a:latin typeface="Segoe UI"/>
                <a:cs typeface="Segoe UI"/>
              </a:rPr>
              <a:t>So sánh hai nhóm: kiểm định t và kiểm định Wilcoxon</a:t>
            </a:r>
          </a:p>
          <a:p>
            <a:pPr marL="274320" indent="-274320" algn="l">
              <a:spcBef>
                <a:spcPts val="440"/>
              </a:spcBef>
              <a:buFont typeface="Arial"/>
              <a:buChar char="•"/>
            </a:pPr>
            <a:r>
              <a:rPr lang="en-US" sz="1900" dirty="0">
                <a:solidFill>
                  <a:srgbClr val="000000"/>
                </a:solidFill>
                <a:latin typeface="Segoe UI"/>
                <a:cs typeface="Segoe UI"/>
              </a:rPr>
              <a:t>Nhiều hơn hai nhóm: ANOVA</a:t>
            </a:r>
          </a:p>
          <a:p>
            <a:pPr marL="274320" indent="-274320" algn="l">
              <a:spcBef>
                <a:spcPts val="440"/>
              </a:spcBef>
              <a:buFont typeface="Arial"/>
              <a:buChar char="•"/>
            </a:pPr>
            <a:r>
              <a:rPr lang="en-US" sz="1900" dirty="0">
                <a:solidFill>
                  <a:srgbClr val="000000"/>
                </a:solidFill>
                <a:latin typeface="Segoe UI"/>
                <a:cs typeface="Segoe UI"/>
              </a:rPr>
              <a:t>Liên quan giữa các biến phân loại: kiểm định chi bình phương và Fisher</a:t>
            </a:r>
          </a:p>
          <a:p>
            <a:pPr marL="274320" indent="-274320" algn="l">
              <a:spcBef>
                <a:spcPts val="440"/>
              </a:spcBef>
              <a:buFont typeface="Arial"/>
              <a:buChar char="•"/>
            </a:pPr>
            <a:r>
              <a:rPr lang="en-US" sz="1900" dirty="0">
                <a:solidFill>
                  <a:srgbClr val="000000"/>
                </a:solidFill>
                <a:latin typeface="Segoe UI"/>
                <a:cs typeface="Segoe UI"/>
              </a:rPr>
              <a:t>Tương quan và chọn kiểm định phù hợp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Những Gì Chúng Ta Sẽ Học Hôm Nay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Segoe UI"/>
                <a:cs typeface="Segoe UI"/>
              </a:rPr>
              <a:t>Chọn và chạy các kiểm định thường dùng trong nghiên cứu lâm sàng.</a:t>
            </a:r>
          </a:p>
          <a:p>
            <a:pPr>
              <a:buNone/>
            </a:pPr>
            <a:endParaRPr sz="950"/>
          </a:p>
          <a:p>
            <a:pPr marL="274320" indent="-274320" algn="l">
              <a:lnSpc>
                <a:spcPct val="106000"/>
              </a:lnSpc>
              <a:spcBef>
                <a:spcPts val="560"/>
              </a:spcBef>
              <a:buFont typeface="Arial"/>
              <a:buChar char="•"/>
            </a:pPr>
            <a:r>
              <a:rPr lang="en-US" sz="1950" dirty="0">
                <a:solidFill>
                  <a:srgbClr val="000000"/>
                </a:solidFill>
                <a:latin typeface="Segoe UI"/>
                <a:cs typeface="Segoe UI"/>
              </a:rPr>
              <a:t>Kiểm định giả thuyết: giả thuyết không, giả thuyết đối, giá trị p và ý nghĩa thống kê</a:t>
            </a:r>
          </a:p>
          <a:p>
            <a:pPr marL="274320" indent="-274320" algn="l">
              <a:lnSpc>
                <a:spcPct val="106000"/>
              </a:lnSpc>
              <a:spcBef>
                <a:spcPts val="560"/>
              </a:spcBef>
              <a:buFont typeface="Arial"/>
              <a:buChar char="•"/>
            </a:pPr>
            <a:r>
              <a:rPr lang="en-US" sz="1950" dirty="0">
                <a:solidFill>
                  <a:srgbClr val="000000"/>
                </a:solidFill>
                <a:latin typeface="Segoe UI"/>
                <a:cs typeface="Segoe UI"/>
              </a:rPr>
              <a:t>Kiểm tra tính chuẩn trước khi chọn kiểm định</a:t>
            </a:r>
          </a:p>
          <a:p>
            <a:pPr marL="274320" indent="-274320" algn="l">
              <a:lnSpc>
                <a:spcPct val="106000"/>
              </a:lnSpc>
              <a:spcBef>
                <a:spcPts val="560"/>
              </a:spcBef>
              <a:buFont typeface="Arial"/>
              <a:buChar char="•"/>
            </a:pPr>
            <a:r>
              <a:rPr lang="en-US" sz="1950" dirty="0">
                <a:solidFill>
                  <a:srgbClr val="000000"/>
                </a:solidFill>
                <a:latin typeface="Segoe UI"/>
                <a:cs typeface="Segoe UI"/>
              </a:rPr>
              <a:t>So sánh hai nhóm: kiểm định t và kiểm định Wilcoxon</a:t>
            </a:r>
          </a:p>
          <a:p>
            <a:pPr marL="274320" indent="-274320" algn="l">
              <a:lnSpc>
                <a:spcPct val="106000"/>
              </a:lnSpc>
              <a:spcBef>
                <a:spcPts val="560"/>
              </a:spcBef>
              <a:buFont typeface="Arial"/>
              <a:buChar char="•"/>
            </a:pPr>
            <a:r>
              <a:rPr lang="en-US" sz="1950" dirty="0">
                <a:solidFill>
                  <a:srgbClr val="000000"/>
                </a:solidFill>
                <a:latin typeface="Segoe UI"/>
                <a:cs typeface="Segoe UI"/>
              </a:rPr>
              <a:t>So sánh nhiều hơn hai nhóm: ANOVA và Tukey</a:t>
            </a:r>
          </a:p>
          <a:p>
            <a:pPr marL="274320" indent="-274320" algn="l">
              <a:lnSpc>
                <a:spcPct val="106000"/>
              </a:lnSpc>
              <a:spcBef>
                <a:spcPts val="560"/>
              </a:spcBef>
              <a:buFont typeface="Arial"/>
              <a:buChar char="•"/>
            </a:pPr>
            <a:r>
              <a:rPr lang="en-US" sz="1950" dirty="0">
                <a:solidFill>
                  <a:srgbClr val="000000"/>
                </a:solidFill>
                <a:latin typeface="Segoe UI"/>
                <a:cs typeface="Segoe UI"/>
              </a:rPr>
              <a:t>Liên quan giữa các biến phân loại: kiểm định chi bình phương và kiểm định chính xác Fisher</a:t>
            </a:r>
          </a:p>
          <a:p>
            <a:pPr marL="274320" indent="-274320" algn="l">
              <a:lnSpc>
                <a:spcPct val="106000"/>
              </a:lnSpc>
              <a:spcBef>
                <a:spcPts val="560"/>
              </a:spcBef>
              <a:buFont typeface="Arial"/>
              <a:buChar char="•"/>
            </a:pPr>
            <a:r>
              <a:rPr lang="en-US" sz="1950" dirty="0">
                <a:solidFill>
                  <a:srgbClr val="000000"/>
                </a:solidFill>
                <a:latin typeface="Segoe UI"/>
                <a:cs typeface="Segoe UI"/>
              </a:rPr>
              <a:t>Tương quan: Pearson và Spearman</a:t>
            </a:r>
          </a:p>
          <a:p>
            <a:pPr marL="274320" indent="-274320" algn="l">
              <a:lnSpc>
                <a:spcPct val="106000"/>
              </a:lnSpc>
              <a:spcBef>
                <a:spcPts val="560"/>
              </a:spcBef>
              <a:buFont typeface="Arial"/>
              <a:buChar char="•"/>
            </a:pPr>
            <a:r>
              <a:rPr lang="en-US" sz="1950" dirty="0">
                <a:solidFill>
                  <a:srgbClr val="000000"/>
                </a:solidFill>
                <a:latin typeface="Segoe UI"/>
                <a:cs typeface="Segoe UI"/>
              </a:rPr>
              <a:t>Khung ra quyết định: khớp câu hỏi với kiểm định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Câu Hỏi Phân Tích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Câu hỏi nghiên cứu của chúng ta</a:t>
            </a:r>
          </a:p>
          <a:p>
            <a:pPr marL="0" indent="0" algn="l">
              <a:lnSpc>
                <a:spcPct val="108000"/>
              </a:lnSpc>
              <a:spcBef>
                <a:spcPts val="440"/>
              </a:spcBef>
              <a:buNone/>
            </a:pPr>
            <a:r>
              <a:rPr lang="en-US" sz="1800" dirty="0">
                <a:solidFill>
                  <a:srgbClr val="000000"/>
                </a:solidFill>
                <a:latin typeface="Segoe UI"/>
                <a:cs typeface="Segoe UI"/>
              </a:rPr>
              <a:t>Bệnh nhân đang điều trị có khác với những người không điều trị không?</a:t>
            </a:r>
          </a:p>
          <a:p>
            <a:pPr marL="0" indent="0" algn="l">
              <a:lnSpc>
                <a:spcPct val="108000"/>
              </a:lnSpc>
              <a:spcBef>
                <a:spcPts val="440"/>
              </a:spcBef>
              <a:buNone/>
            </a:pPr>
            <a:r>
              <a:rPr lang="en-US" sz="1800" dirty="0">
                <a:solidFill>
                  <a:srgbClr val="000000"/>
                </a:solidFill>
                <a:latin typeface="Segoe UI"/>
                <a:cs typeface="Segoe UI"/>
              </a:rPr>
              <a:t>Những đặc điểm nào (tuổi, giới, bệnh đồng mắc) khác nhau giữa hai nhóm?</a:t>
            </a:r>
          </a:p>
          <a:p>
            <a:pPr>
              <a:buNone/>
            </a:pPr>
            <a:endParaRPr sz="1050"/>
          </a:p>
          <a:p>
            <a:pPr marL="0" indent="0" algn="l">
              <a:spcBef>
                <a:spcPts val="360"/>
              </a:spcBef>
              <a:buNone/>
            </a:pPr>
            <a:r>
              <a:rPr lang="en-US" sz="2050" b="1" dirty="0">
                <a:solidFill>
                  <a:srgbClr val="0D7377"/>
                </a:solidFill>
                <a:latin typeface="Segoe UI"/>
                <a:cs typeface="Segoe UI"/>
              </a:rPr>
              <a:t>Định nghĩa quần thể phân tích TRƯỚC TIÊN</a:t>
            </a:r>
          </a:p>
          <a:p>
            <a:pPr marL="0" indent="0" algn="l">
              <a:lnSpc>
                <a:spcPct val="108000"/>
              </a:lnSpc>
              <a:spcBef>
                <a:spcPts val="440"/>
              </a:spcBef>
              <a:buNone/>
            </a:pPr>
            <a:r>
              <a:rPr lang="en-US" sz="1800" dirty="0">
                <a:solidFill>
                  <a:srgbClr val="000000"/>
                </a:solidFill>
                <a:latin typeface="Segoe UI"/>
                <a:cs typeface="Segoe UI"/>
              </a:rPr>
              <a:t>Tiếp nhận điều trị chỉ có ý nghĩa với những người đã được chẩn đoán.</a:t>
            </a:r>
          </a:p>
          <a:p>
            <a:pPr marL="0" indent="0" algn="l">
              <a:lnSpc>
                <a:spcPct val="108000"/>
              </a:lnSpc>
              <a:spcBef>
                <a:spcPts val="440"/>
              </a:spcBef>
              <a:buNone/>
            </a:pPr>
            <a:r>
              <a:rPr lang="en-US" sz="1800" dirty="0">
                <a:solidFill>
                  <a:srgbClr val="000000"/>
                </a:solidFill>
                <a:latin typeface="Segoe UI"/>
                <a:cs typeface="Segoe UI"/>
              </a:rPr>
              <a:t>Chúng ta giới hạn ở htn_diagnosed == "Yes" (khoảng 1,089 bệnh nhân).</a:t>
            </a:r>
          </a:p>
          <a:p>
            <a:pPr marL="0" indent="0" algn="l">
              <a:lnSpc>
                <a:spcPct val="108000"/>
              </a:lnSpc>
              <a:spcBef>
                <a:spcPts val="440"/>
              </a:spcBef>
              <a:buNone/>
            </a:pPr>
            <a:r>
              <a:rPr lang="en-US" sz="1800" dirty="0">
                <a:solidFill>
                  <a:srgbClr val="000000"/>
                </a:solidFill>
                <a:latin typeface="Segoe UI"/>
                <a:cs typeface="Segoe UI"/>
              </a:rPr>
              <a:t>Khoảng 47% bệnh nhân được chẩn đoán đã tiếp nhận điều trị.</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Segoe UI"/>
                <a:cs typeface="Segoe UI"/>
              </a:rPr>
              <a:t>LỖI THƯỜNG GẶP  -  Đừng phân tích cả 1,500 người</a:t>
            </a:r>
          </a:p>
          <a:p>
            <a:pPr marL="0" indent="0" algn="l">
              <a:spcBef>
                <a:spcPts val="100"/>
              </a:spcBef>
              <a:buNone/>
            </a:pPr>
            <a:r>
              <a:rPr lang="en-US" sz="1300" dirty="0">
                <a:solidFill>
                  <a:srgbClr val="000000"/>
                </a:solidFill>
                <a:latin typeface="Segoe UI"/>
                <a:cs typeface="Segoe UI"/>
              </a:rPr>
              <a:t>Bao gồm cả người chưa chẩn đoán, những người có biến kết cục không xác định, sẽ làm sai lệch mọi kết quả.</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Kiểm Định Giả Thuyết Bằng Ngôn Ngữ Đơn Giản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Hai giả thuyết</a:t>
            </a:r>
          </a:p>
          <a:p>
            <a:pPr marL="0" indent="0" algn="l">
              <a:lnSpc>
                <a:spcPct val="108000"/>
              </a:lnSpc>
              <a:spcBef>
                <a:spcPts val="440"/>
              </a:spcBef>
              <a:buNone/>
            </a:pPr>
            <a:r>
              <a:rPr lang="en-US" sz="1800" dirty="0">
                <a:solidFill>
                  <a:srgbClr val="000000"/>
                </a:solidFill>
                <a:latin typeface="Segoe UI"/>
                <a:cs typeface="Segoe UI"/>
              </a:rPr>
              <a:t>Giả thuyết không (H0): KHÔNG có khác biệt / KHÔNG có liên quan.</a:t>
            </a:r>
          </a:p>
          <a:p>
            <a:pPr marL="0" indent="0" algn="l">
              <a:lnSpc>
                <a:spcPct val="108000"/>
              </a:lnSpc>
              <a:spcBef>
                <a:spcPts val="440"/>
              </a:spcBef>
              <a:buNone/>
            </a:pPr>
            <a:r>
              <a:rPr lang="en-US" sz="1800" dirty="0">
                <a:solidFill>
                  <a:srgbClr val="000000"/>
                </a:solidFill>
                <a:latin typeface="Segoe UI"/>
                <a:cs typeface="Segoe UI"/>
              </a:rPr>
              <a:t>Giả thuyết đối (H1): CÓ khác biệt / liên quan.</a:t>
            </a:r>
          </a:p>
          <a:p>
            <a:pPr>
              <a:buNone/>
            </a:pPr>
            <a:endParaRPr sz="1050"/>
          </a:p>
          <a:p>
            <a:pPr marL="0" indent="0" algn="l">
              <a:spcBef>
                <a:spcPts val="360"/>
              </a:spcBef>
              <a:buNone/>
            </a:pPr>
            <a:r>
              <a:rPr lang="en-US" sz="2050" b="1" dirty="0">
                <a:solidFill>
                  <a:srgbClr val="0D7377"/>
                </a:solidFill>
                <a:latin typeface="Segoe UI"/>
                <a:cs typeface="Segoe UI"/>
              </a:rPr>
              <a:t>Giá trị p thực sự là gì</a:t>
            </a:r>
          </a:p>
          <a:p>
            <a:pPr marL="0" indent="0" algn="l">
              <a:lnSpc>
                <a:spcPct val="108000"/>
              </a:lnSpc>
              <a:spcBef>
                <a:spcPts val="440"/>
              </a:spcBef>
              <a:buNone/>
            </a:pPr>
            <a:r>
              <a:rPr lang="en-US" sz="1800" dirty="0">
                <a:solidFill>
                  <a:srgbClr val="000000"/>
                </a:solidFill>
                <a:latin typeface="Segoe UI"/>
                <a:cs typeface="Segoe UI"/>
              </a:rPr>
              <a:t>Xác suất quan sát được dữ liệu cực đoan như thế này NẾU giả thuyết không đúng.</a:t>
            </a:r>
          </a:p>
          <a:p>
            <a:pPr marL="0" indent="0" algn="l">
              <a:lnSpc>
                <a:spcPct val="108000"/>
              </a:lnSpc>
              <a:spcBef>
                <a:spcPts val="440"/>
              </a:spcBef>
              <a:buNone/>
            </a:pPr>
            <a:r>
              <a:rPr lang="en-US" sz="1800" dirty="0">
                <a:solidFill>
                  <a:srgbClr val="000000"/>
                </a:solidFill>
                <a:latin typeface="Segoe UI"/>
                <a:cs typeface="Segoe UI"/>
              </a:rPr>
              <a:t>Giá trị p nhỏ (&lt; 0.05) là bằng chứng CHỐNG LẠI giả thuyết không.</a:t>
            </a:r>
          </a:p>
          <a:p>
            <a:pPr marL="0" indent="0" algn="l">
              <a:lnSpc>
                <a:spcPct val="108000"/>
              </a:lnSpc>
              <a:spcBef>
                <a:spcPts val="440"/>
              </a:spcBef>
              <a:buNone/>
            </a:pPr>
            <a:r>
              <a:rPr lang="en-US" sz="1800" dirty="0">
                <a:solidFill>
                  <a:srgbClr val="000000"/>
                </a:solidFill>
                <a:latin typeface="Segoe UI"/>
                <a:cs typeface="Segoe UI"/>
              </a:rPr>
              <a:t>Nó KHÔNG PHẢI là xác suất giả thuyết không là đúng.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Segoe UI"/>
                <a:cs typeface="Segoe UI"/>
              </a:rPr>
              <a:t>DIỄN GIẢI LÂM SÀNG  -  Mức ý nghĩa</a:t>
            </a:r>
          </a:p>
          <a:p>
            <a:pPr marL="0" indent="0" algn="l">
              <a:spcBef>
                <a:spcPts val="100"/>
              </a:spcBef>
              <a:buNone/>
            </a:pPr>
            <a:r>
              <a:rPr lang="en-US" sz="1300" dirty="0">
                <a:solidFill>
                  <a:srgbClr val="000000"/>
                </a:solidFill>
                <a:latin typeface="Segoe UI"/>
                <a:cs typeface="Segoe UI"/>
              </a:rPr>
              <a:t>Chúng ta ấn định trước alpha = 0.05 làm ngưỡng để gọi một kết quả là có ý nghĩa thống kê.</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p &lt; 0.05 Không Phải Toàn Bộ Câu Chuyện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Ý nghĩa thống kê vs ý nghĩa lâm sàng</a:t>
            </a:r>
          </a:p>
          <a:p>
            <a:pPr marL="0" indent="0" algn="l">
              <a:lnSpc>
                <a:spcPct val="108000"/>
              </a:lnSpc>
              <a:spcBef>
                <a:spcPts val="440"/>
              </a:spcBef>
              <a:buNone/>
            </a:pPr>
            <a:r>
              <a:rPr lang="en-US" sz="1800" dirty="0">
                <a:solidFill>
                  <a:srgbClr val="000000"/>
                </a:solidFill>
                <a:latin typeface="Segoe UI"/>
                <a:cs typeface="Segoe UI"/>
              </a:rPr>
              <a:t>Một khác biệt nhỏ, vô nghĩa vẫn có thể 'có ý nghĩa thống kê' trong mẫu lớn.</a:t>
            </a:r>
          </a:p>
          <a:p>
            <a:pPr marL="0" indent="0" algn="l">
              <a:lnSpc>
                <a:spcPct val="108000"/>
              </a:lnSpc>
              <a:spcBef>
                <a:spcPts val="440"/>
              </a:spcBef>
              <a:buNone/>
            </a:pPr>
            <a:r>
              <a:rPr lang="en-US" sz="1800" dirty="0">
                <a:solidFill>
                  <a:srgbClr val="000000"/>
                </a:solidFill>
                <a:latin typeface="Segoe UI"/>
                <a:cs typeface="Segoe UI"/>
              </a:rPr>
              <a:t>Một khác biệt lớn, quan trọng vẫn có thể 'không có ý nghĩa thống kê' nếu mẫu nhỏ.</a:t>
            </a:r>
          </a:p>
          <a:p>
            <a:pPr marL="0" indent="0" algn="l">
              <a:lnSpc>
                <a:spcPct val="108000"/>
              </a:lnSpc>
              <a:spcBef>
                <a:spcPts val="440"/>
              </a:spcBef>
              <a:buNone/>
            </a:pPr>
            <a:r>
              <a:rPr lang="en-US" sz="1800" dirty="0">
                <a:solidFill>
                  <a:srgbClr val="000000"/>
                </a:solidFill>
                <a:latin typeface="Segoe UI"/>
                <a:cs typeface="Segoe UI"/>
              </a:rPr>
              <a:t>Luôn báo cáo độ lớn hiệu ứng và khoảng tin cậy của nó, không chỉ giá trị p.</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Segoe UI"/>
                <a:cs typeface="Segoe UI"/>
              </a:rPr>
              <a:t>CẢNH BÁO  -  Cẩn thận với việc sùng bái giá trị p</a:t>
            </a:r>
          </a:p>
          <a:p>
            <a:pPr marL="0" indent="0" algn="l">
              <a:spcBef>
                <a:spcPts val="100"/>
              </a:spcBef>
              <a:buNone/>
            </a:pPr>
            <a:r>
              <a:rPr lang="en-US" sz="1300" dirty="0">
                <a:solidFill>
                  <a:srgbClr val="000000"/>
                </a:solidFill>
                <a:latin typeface="Segoe UI"/>
                <a:cs typeface="Segoe UI"/>
              </a:rPr>
              <a:t>Đừng chạy theo p &lt; 0.05 hay coi 0.049 và 0.051 là hai điều trái ngược.</a:t>
            </a:r>
          </a:p>
          <a:p>
            <a:pPr marL="0" indent="0" algn="l">
              <a:spcBef>
                <a:spcPts val="100"/>
              </a:spcBef>
              <a:buNone/>
            </a:pPr>
            <a:r>
              <a:rPr lang="en-US" sz="1300" dirty="0">
                <a:solidFill>
                  <a:srgbClr val="000000"/>
                </a:solidFill>
                <a:latin typeface="Segoe UI"/>
                <a:cs typeface="Segoe UI"/>
              </a:rPr>
              <a:t>Một khoảng tin cậy cho bạn biết cả độ lớn LẪN độ bất định.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Biến Có Chuẩn Không? Nhìn Trước, Rồi Kiểm Định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Nhìn trước (luôn luôn)</a:t>
            </a:r>
          </a:p>
          <a:p>
            <a:pPr marL="274320" indent="-274320" algn="l">
              <a:lnSpc>
                <a:spcPct val="106000"/>
              </a:lnSpc>
              <a:spcBef>
                <a:spcPts val="520"/>
              </a:spcBef>
              <a:buFont typeface="Arial"/>
              <a:buChar char="•"/>
            </a:pPr>
            <a:r>
              <a:rPr lang="en-US" sz="1650" dirty="0">
                <a:solidFill>
                  <a:srgbClr val="000000"/>
                </a:solidFill>
                <a:latin typeface="Segoe UI"/>
                <a:cs typeface="Segoe UI"/>
              </a:rPr>
              <a:t>Histogram cho thấy hình dạng của phân phối.</a:t>
            </a:r>
          </a:p>
          <a:p>
            <a:pPr marL="274320" indent="-274320" algn="l">
              <a:lnSpc>
                <a:spcPct val="106000"/>
              </a:lnSpc>
              <a:spcBef>
                <a:spcPts val="520"/>
              </a:spcBef>
              <a:buFont typeface="Arial"/>
              <a:buChar char="•"/>
            </a:pPr>
            <a:r>
              <a:rPr lang="en-US" sz="1650" dirty="0">
                <a:solidFill>
                  <a:srgbClr val="000000"/>
                </a:solidFill>
                <a:latin typeface="Segoe UI"/>
                <a:cs typeface="Segoe UI"/>
              </a:rPr>
              <a:t>Biểu đồ Q-Q: các điểm nằm trên đường thẳng nghĩa là gần chuẩn.</a:t>
            </a:r>
          </a:p>
          <a:p>
            <a:pPr marL="274320" indent="-274320" algn="l">
              <a:lnSpc>
                <a:spcPct val="106000"/>
              </a:lnSpc>
              <a:spcBef>
                <a:spcPts val="520"/>
              </a:spcBef>
              <a:buFont typeface="Arial"/>
              <a:buChar char="•"/>
            </a:pPr>
            <a:r>
              <a:rPr lang="en-US" sz="1650" dirty="0">
                <a:solidFill>
                  <a:srgbClr val="000000"/>
                </a:solidFill>
                <a:latin typeface="Segoe UI"/>
                <a:cs typeface="Segoe UI"/>
              </a:rPr>
              <a:t>Các điểm cong đi ở hai đầu nghĩa là lệch hoặc đuôi nặng.</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Rồi mới kiểm định</a:t>
            </a:r>
          </a:p>
          <a:p>
            <a:pPr marL="274320" indent="-274320" algn="l">
              <a:lnSpc>
                <a:spcPct val="106000"/>
              </a:lnSpc>
              <a:spcBef>
                <a:spcPts val="520"/>
              </a:spcBef>
              <a:buFont typeface="Arial"/>
              <a:buChar char="•"/>
            </a:pPr>
            <a:r>
              <a:rPr lang="en-US" sz="1650" dirty="0">
                <a:solidFill>
                  <a:srgbClr val="000000"/>
                </a:solidFill>
                <a:latin typeface="Segoe UI"/>
                <a:cs typeface="Segoe UI"/>
              </a:rPr>
              <a:t>Kiểm định Shapiro-Wilk: H0 là dữ liệu CÓ phân phối chuẩn.</a:t>
            </a:r>
          </a:p>
          <a:p>
            <a:pPr marL="274320" indent="-274320" algn="l">
              <a:lnSpc>
                <a:spcPct val="106000"/>
              </a:lnSpc>
              <a:spcBef>
                <a:spcPts val="520"/>
              </a:spcBef>
              <a:buFont typeface="Arial"/>
              <a:buChar char="•"/>
            </a:pPr>
            <a:r>
              <a:rPr lang="en-US" sz="1650" dirty="0">
                <a:solidFill>
                  <a:srgbClr val="000000"/>
                </a:solidFill>
                <a:latin typeface="Segoe UI"/>
                <a:cs typeface="Segoe UI"/>
              </a:rPr>
              <a:t>Giá trị p nhỏ (&lt; 0.05) nghĩa là chúng ta bác bỏ tính chuẩn.</a:t>
            </a:r>
          </a:p>
          <a:p>
            <a:pPr marL="274320" indent="-274320" algn="l">
              <a:lnSpc>
                <a:spcPct val="106000"/>
              </a:lnSpc>
              <a:spcBef>
                <a:spcPts val="520"/>
              </a:spcBef>
              <a:buFont typeface="Arial"/>
              <a:buChar char="•"/>
            </a:pPr>
            <a:r>
              <a:rPr lang="en-US" sz="1650" dirty="0">
                <a:solidFill>
                  <a:srgbClr val="000000"/>
                </a:solidFill>
                <a:latin typeface="Segoe UI"/>
                <a:cs typeface="Segoe UI"/>
              </a:rPr>
              <a:t>Đối xứng và hình chuông nghĩa là kiểm định tham số là ổn.</a:t>
            </a:r>
          </a:p>
          <a:p>
            <a:pPr marL="274320" indent="-274320" algn="l">
              <a:lnSpc>
                <a:spcPct val="106000"/>
              </a:lnSpc>
              <a:spcBef>
                <a:spcPts val="520"/>
              </a:spcBef>
              <a:buFont typeface="Arial"/>
              <a:buChar char="•"/>
            </a:pPr>
            <a:r>
              <a:rPr lang="en-US" sz="1650" dirty="0">
                <a:solidFill>
                  <a:srgbClr val="000000"/>
                </a:solidFill>
                <a:latin typeface="Segoe UI"/>
                <a:cs typeface="Segoe UI"/>
              </a:rPr>
              <a:t>Rõ ràng bị lệch nghĩa là dùng kiểm định phi tham số.</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Shapiro-Wilk: Dùng Thận Trọng Trong Mẫu Lớn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Tại sao kiểm định gây hiểu lầm ở đây</a:t>
            </a:r>
          </a:p>
          <a:p>
            <a:pPr marL="0" indent="0" algn="l">
              <a:lnSpc>
                <a:spcPct val="108000"/>
              </a:lnSpc>
              <a:spcBef>
                <a:spcPts val="440"/>
              </a:spcBef>
              <a:buNone/>
            </a:pPr>
            <a:r>
              <a:rPr lang="en-US" sz="1800" dirty="0">
                <a:solidFill>
                  <a:srgbClr val="000000"/>
                </a:solidFill>
                <a:latin typeface="Segoe UI"/>
                <a:cs typeface="Segoe UI"/>
              </a:rPr>
              <a:t>Shapiro-Wilk càng mạnh khi cỡ mẫu càng lớn.</a:t>
            </a:r>
          </a:p>
          <a:p>
            <a:pPr marL="0" indent="0" algn="l">
              <a:lnSpc>
                <a:spcPct val="108000"/>
              </a:lnSpc>
              <a:spcBef>
                <a:spcPts val="440"/>
              </a:spcBef>
              <a:buNone/>
            </a:pPr>
            <a:r>
              <a:rPr lang="en-US" sz="1800" dirty="0">
                <a:solidFill>
                  <a:srgbClr val="000000"/>
                </a:solidFill>
                <a:latin typeface="Segoe UI"/>
                <a:cs typeface="Segoe UI"/>
              </a:rPr>
              <a:t>Trong ~1,089 dòng nó phát hiện những sai lệch nhỏ, không liên quan về mặt lâm sàng.</a:t>
            </a:r>
          </a:p>
          <a:p>
            <a:pPr marL="0" indent="0" algn="l">
              <a:lnSpc>
                <a:spcPct val="108000"/>
              </a:lnSpc>
              <a:spcBef>
                <a:spcPts val="440"/>
              </a:spcBef>
              <a:buNone/>
            </a:pPr>
            <a:r>
              <a:rPr lang="en-US" sz="1800" dirty="0">
                <a:solidFill>
                  <a:srgbClr val="000000"/>
                </a:solidFill>
                <a:latin typeface="Segoe UI"/>
                <a:cs typeface="Segoe UI"/>
              </a:rPr>
              <a:t>Nó gần như luôn trả về p &lt; 0.05 - kể cả với dữ liệu dùng được.</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Quy tắc kinh nghiệm cho khóa học này</a:t>
            </a:r>
          </a:p>
          <a:p>
            <a:pPr marL="0" indent="0" algn="l">
              <a:spcBef>
                <a:spcPts val="100"/>
              </a:spcBef>
              <a:buNone/>
            </a:pPr>
            <a:r>
              <a:rPr lang="en-US" sz="1300" dirty="0">
                <a:solidFill>
                  <a:srgbClr val="000000"/>
                </a:solidFill>
                <a:latin typeface="Segoe UI"/>
                <a:cs typeface="Segoe UI"/>
              </a:rPr>
              <a:t>Mẫu lớn + histogram đối xứng + Q-Q thẳng nghĩa là kiểm định tham số là ổn.</a:t>
            </a:r>
          </a:p>
          <a:p>
            <a:pPr marL="0" indent="0" algn="l">
              <a:spcBef>
                <a:spcPts val="100"/>
              </a:spcBef>
              <a:buNone/>
            </a:pPr>
            <a:r>
              <a:rPr lang="en-US" sz="1300" dirty="0">
                <a:solidFill>
                  <a:srgbClr val="000000"/>
                </a:solidFill>
                <a:latin typeface="Segoe UI"/>
                <a:cs typeface="Segoe UI"/>
              </a:rPr>
              <a:t>Hãy để đồ thị, chứ không phải giá trị p Shapiro, dẫn dắt quyết định.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So Sánh Hai Nhóm: Biến Kết Cục Liên Tục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Kiểm định t (tham số)</a:t>
            </a:r>
          </a:p>
          <a:p>
            <a:pPr marL="274320" indent="-274320" algn="l">
              <a:lnSpc>
                <a:spcPct val="106000"/>
              </a:lnSpc>
              <a:spcBef>
                <a:spcPts val="520"/>
              </a:spcBef>
              <a:buFont typeface="Arial"/>
              <a:buChar char="•"/>
            </a:pPr>
            <a:r>
              <a:rPr lang="en-US" sz="1650" dirty="0">
                <a:solidFill>
                  <a:srgbClr val="000000"/>
                </a:solidFill>
                <a:latin typeface="Segoe UI"/>
                <a:cs typeface="Segoe UI"/>
              </a:rPr>
              <a:t>So sánh TRUNG BÌNH của hai nhóm.</a:t>
            </a:r>
          </a:p>
          <a:p>
            <a:pPr marL="274320" indent="-274320" algn="l">
              <a:lnSpc>
                <a:spcPct val="106000"/>
              </a:lnSpc>
              <a:spcBef>
                <a:spcPts val="520"/>
              </a:spcBef>
              <a:buFont typeface="Arial"/>
              <a:buChar char="•"/>
            </a:pPr>
            <a:r>
              <a:rPr lang="en-US" sz="1650" dirty="0">
                <a:solidFill>
                  <a:srgbClr val="000000"/>
                </a:solidFill>
                <a:latin typeface="Segoe UI"/>
                <a:cs typeface="Segoe UI"/>
              </a:rPr>
              <a:t>Kiểm định t Welch là lựa chọn mặc định an toàn (phương sai không bằng nhau).</a:t>
            </a:r>
          </a:p>
          <a:p>
            <a:pPr marL="274320" indent="-274320" algn="l">
              <a:lnSpc>
                <a:spcPct val="106000"/>
              </a:lnSpc>
              <a:spcBef>
                <a:spcPts val="520"/>
              </a:spcBef>
              <a:buFont typeface="Arial"/>
              <a:buChar char="•"/>
            </a:pPr>
            <a:r>
              <a:rPr lang="en-US" sz="1650" dirty="0">
                <a:solidFill>
                  <a:srgbClr val="000000"/>
                </a:solidFill>
                <a:latin typeface="Segoe UI"/>
                <a:cs typeface="Segoe UI"/>
              </a:rPr>
              <a:t>Dùng khi dữ liệu gần đối xứng.</a:t>
            </a:r>
          </a:p>
          <a:p>
            <a:pPr marL="274320" indent="-274320" algn="l">
              <a:lnSpc>
                <a:spcPct val="106000"/>
              </a:lnSpc>
              <a:spcBef>
                <a:spcPts val="520"/>
              </a:spcBef>
              <a:buFont typeface="Arial"/>
              <a:buChar char="•"/>
            </a:pPr>
            <a:r>
              <a:rPr lang="en-US" sz="1650" dirty="0">
                <a:solidFill>
                  <a:srgbClr val="000000"/>
                </a:solidFill>
                <a:latin typeface="Segoe UI"/>
                <a:cs typeface="Segoe UI"/>
              </a:rPr>
              <a:t>Công thức: age ~ treatment_uptake.</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Wilcoxon (phi tham số)</a:t>
            </a:r>
          </a:p>
          <a:p>
            <a:pPr marL="274320" indent="-274320" algn="l">
              <a:lnSpc>
                <a:spcPct val="106000"/>
              </a:lnSpc>
              <a:spcBef>
                <a:spcPts val="520"/>
              </a:spcBef>
              <a:buFont typeface="Arial"/>
              <a:buChar char="•"/>
            </a:pPr>
            <a:r>
              <a:rPr lang="en-US" sz="1650" dirty="0">
                <a:solidFill>
                  <a:srgbClr val="000000"/>
                </a:solidFill>
                <a:latin typeface="Segoe UI"/>
                <a:cs typeface="Segoe UI"/>
              </a:rPr>
              <a:t>So sánh HẠNG, không phải trung bình.</a:t>
            </a:r>
          </a:p>
          <a:p>
            <a:pPr marL="274320" indent="-274320" algn="l">
              <a:lnSpc>
                <a:spcPct val="106000"/>
              </a:lnSpc>
              <a:spcBef>
                <a:spcPts val="520"/>
              </a:spcBef>
              <a:buFont typeface="Arial"/>
              <a:buChar char="•"/>
            </a:pPr>
            <a:r>
              <a:rPr lang="en-US" sz="1650" dirty="0">
                <a:solidFill>
                  <a:srgbClr val="000000"/>
                </a:solidFill>
                <a:latin typeface="Segoe UI"/>
                <a:cs typeface="Segoe UI"/>
              </a:rPr>
              <a:t>Bền vững với giá trị ngoại lai và độ lệch.</a:t>
            </a:r>
          </a:p>
          <a:p>
            <a:pPr marL="274320" indent="-274320" algn="l">
              <a:lnSpc>
                <a:spcPct val="106000"/>
              </a:lnSpc>
              <a:spcBef>
                <a:spcPts val="520"/>
              </a:spcBef>
              <a:buFont typeface="Arial"/>
              <a:buChar char="•"/>
            </a:pPr>
            <a:r>
              <a:rPr lang="en-US" sz="1650" dirty="0">
                <a:solidFill>
                  <a:srgbClr val="000000"/>
                </a:solidFill>
                <a:latin typeface="Segoe UI"/>
                <a:cs typeface="Segoe UI"/>
              </a:rPr>
              <a:t>Dùng khi dữ liệu rõ ràng không chuẩn.</a:t>
            </a:r>
          </a:p>
          <a:p>
            <a:pPr marL="274320" indent="-274320" algn="l">
              <a:lnSpc>
                <a:spcPct val="106000"/>
              </a:lnSpc>
              <a:spcBef>
                <a:spcPts val="520"/>
              </a:spcBef>
              <a:buFont typeface="Arial"/>
              <a:buChar char="•"/>
            </a:pPr>
            <a:r>
              <a:rPr lang="en-US" sz="1650" dirty="0">
                <a:solidFill>
                  <a:srgbClr val="000000"/>
                </a:solidFill>
                <a:latin typeface="Segoe UI"/>
                <a:cs typeface="Segoe UI"/>
              </a:rPr>
              <a:t>Báo cáo trung vị thay vì trung bình.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Demo: Kiểm Định t Cho Tuổi Theo Tiếp Nhận Điều Trị</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Tuổi trung bình có khác nhau giữa những người đã tiếp nhận điều trị và những người không?</a:t>
            </a:r>
          </a:p>
        </p:txBody>
      </p:sp>
      <p:sp>
        <p:nvSpPr>
          <p:cNvPr id="30" name="Code"/>
          <p:cNvSpPr/>
          <p:nvPr/>
        </p:nvSpPr>
        <p:spPr>
          <a:xfrm>
            <a:off x="457200" y="1640000"/>
            <a:ext cx="11277600" cy="39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t.test(age ~ treatment_uptake, data = dx)</a:t>
            </a:r>
          </a:p>
        </p:txBody>
      </p:sp>
      <p:sp>
        <p:nvSpPr>
          <p:cNvPr id="31" name="Output"/>
          <p:cNvSpPr/>
          <p:nvPr/>
        </p:nvSpPr>
        <p:spPr>
          <a:xfrm>
            <a:off x="457200" y="218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Welch Two Sample t-test</a:t>
            </a:r>
          </a:p>
          <a:p>
            <a:pPr marL="0" indent="0" algn="l">
              <a:lnSpc>
                <a:spcPct val="100000"/>
              </a:lnSpc>
              <a:buNone/>
            </a:pPr>
            <a:r>
              <a:rPr lang="en-US" sz="1250" dirty="0">
                <a:solidFill>
                  <a:srgbClr val="1A1A1A"/>
                </a:solidFill>
                <a:latin typeface="Consolas"/>
                <a:cs typeface="Consolas"/>
              </a:rPr>
              <a:t>t = -8.9, df = 1011, p-value &lt; 2.2e-16</a:t>
            </a:r>
          </a:p>
          <a:p>
            <a:pPr marL="0" indent="0" algn="l">
              <a:lnSpc>
                <a:spcPct val="100000"/>
              </a:lnSpc>
              <a:buNone/>
            </a:pPr>
            <a:r>
              <a:rPr lang="en-US" sz="1250" dirty="0">
                <a:solidFill>
                  <a:srgbClr val="1A1A1A"/>
                </a:solidFill>
                <a:latin typeface="Consolas"/>
                <a:cs typeface="Consolas"/>
              </a:rPr>
              <a:t>95 percent CI: -6.4 to -4.1</a:t>
            </a:r>
          </a:p>
          <a:p>
            <a:pPr marL="0" indent="0" algn="l">
              <a:lnSpc>
                <a:spcPct val="100000"/>
              </a:lnSpc>
              <a:buNone/>
            </a:pPr>
            <a:r>
              <a:rPr lang="en-US" sz="1250" dirty="0">
                <a:solidFill>
                  <a:srgbClr val="1A1A1A"/>
                </a:solidFill>
                <a:latin typeface="Consolas"/>
                <a:cs typeface="Consolas"/>
              </a:rPr>
              <a:t>mean in No  mean in Yes</a:t>
            </a:r>
          </a:p>
          <a:p>
            <a:pPr marL="0" indent="0" algn="l">
              <a:lnSpc>
                <a:spcPct val="100000"/>
              </a:lnSpc>
              <a:buNone/>
            </a:pPr>
            <a:r>
              <a:rPr lang="en-US" sz="1250" dirty="0">
                <a:solidFill>
                  <a:srgbClr val="1A1A1A"/>
                </a:solidFill>
                <a:latin typeface="Consolas"/>
                <a:cs typeface="Consolas"/>
              </a:rPr>
              <a:t>   50.1        55.3</a:t>
            </a:r>
          </a:p>
        </p:txBody>
      </p:sp>
      <p:sp>
        <p:nvSpPr>
          <p:cNvPr id="32" name="Note"/>
          <p:cNvSpPr/>
          <p:nvPr/>
        </p:nvSpPr>
        <p:spPr>
          <a:xfrm>
            <a:off x="457200" y="362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Bệnh nhân đang điều trị lớn hơn khoảng 5 tuổi trung bình; KTC không chứa 0, nên p &lt; 0.05.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Khi Dữ Liệu Không Chuẩn: Kiểm Định Phi Tham Số</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Các lựa chọn thay thế dựa trên hạng</a:t>
            </a:r>
          </a:p>
          <a:p>
            <a:pPr marL="0" indent="0" algn="l">
              <a:lnSpc>
                <a:spcPct val="108000"/>
              </a:lnSpc>
              <a:spcBef>
                <a:spcPts val="440"/>
              </a:spcBef>
              <a:buNone/>
            </a:pPr>
            <a:r>
              <a:rPr lang="en-US" sz="1800" dirty="0">
                <a:solidFill>
                  <a:srgbClr val="000000"/>
                </a:solidFill>
                <a:latin typeface="Segoe UI"/>
                <a:cs typeface="Segoe UI"/>
              </a:rPr>
              <a:t>Kiểm định tổng hạng Wilcoxon (Mann-Whitney): so sánh hai nhóm mà không giả định tính chuẩn.</a:t>
            </a:r>
          </a:p>
          <a:p>
            <a:pPr marL="0" indent="0" algn="l">
              <a:lnSpc>
                <a:spcPct val="108000"/>
              </a:lnSpc>
              <a:spcBef>
                <a:spcPts val="440"/>
              </a:spcBef>
              <a:buNone/>
            </a:pPr>
            <a:r>
              <a:rPr lang="en-US" sz="1800" dirty="0">
                <a:solidFill>
                  <a:srgbClr val="000000"/>
                </a:solidFill>
                <a:latin typeface="Segoe UI"/>
                <a:cs typeface="Segoe UI"/>
              </a:rPr>
              <a:t>Kiểm định chính xác Fisher: cho bảng 2x2 khi tần số kỳ vọng nhỏ (&lt; 5).</a:t>
            </a:r>
          </a:p>
          <a:p>
            <a:pPr marL="0" indent="0" algn="l">
              <a:lnSpc>
                <a:spcPct val="108000"/>
              </a:lnSpc>
              <a:spcBef>
                <a:spcPts val="440"/>
              </a:spcBef>
              <a:buNone/>
            </a:pPr>
            <a:r>
              <a:rPr lang="en-US" sz="1800" dirty="0">
                <a:solidFill>
                  <a:srgbClr val="000000"/>
                </a:solidFill>
                <a:latin typeface="Segoe UI"/>
                <a:cs typeface="Segoe UI"/>
              </a:rPr>
              <a:t>Chúng dùng hạng và tần số chính xác thay vì trung bình và đường cong chuẩn.</a:t>
            </a:r>
          </a:p>
          <a:p>
            <a:pPr>
              <a:buNone/>
            </a:pPr>
            <a:endParaRPr sz="1050"/>
          </a:p>
          <a:p>
            <a:pPr marL="0" indent="0" algn="l">
              <a:spcBef>
                <a:spcPts val="360"/>
              </a:spcBef>
              <a:buNone/>
            </a:pPr>
            <a:r>
              <a:rPr lang="en-US" sz="2050" b="1" dirty="0">
                <a:solidFill>
                  <a:srgbClr val="0D7377"/>
                </a:solidFill>
                <a:latin typeface="Segoe UI"/>
                <a:cs typeface="Segoe UI"/>
              </a:rPr>
              <a:t>Cách chạy chúng</a:t>
            </a:r>
          </a:p>
          <a:p>
            <a:pPr marL="0" indent="0" algn="l">
              <a:lnSpc>
                <a:spcPct val="108000"/>
              </a:lnSpc>
              <a:spcBef>
                <a:spcPts val="440"/>
              </a:spcBef>
              <a:buNone/>
            </a:pPr>
            <a:r>
              <a:rPr lang="en-US" sz="1800" dirty="0">
                <a:solidFill>
                  <a:srgbClr val="000000"/>
                </a:solidFill>
                <a:latin typeface="Segoe UI"/>
                <a:cs typeface="Segoe UI"/>
              </a:rPr>
              <a:t>wilcox.test(sbp_mmhg ~ treatment_uptake, data = dx)</a:t>
            </a:r>
          </a:p>
          <a:p>
            <a:pPr marL="0" indent="0" algn="l">
              <a:lnSpc>
                <a:spcPct val="108000"/>
              </a:lnSpc>
              <a:spcBef>
                <a:spcPts val="440"/>
              </a:spcBef>
              <a:buNone/>
            </a:pPr>
            <a:r>
              <a:rPr lang="en-US" sz="1800" dirty="0">
                <a:solidFill>
                  <a:srgbClr val="000000"/>
                </a:solidFill>
                <a:latin typeface="Segoe UI"/>
                <a:cs typeface="Segoe UI"/>
              </a:rPr>
              <a:t>fisher.test(table(dx$treatment_uptake, dx$diabetes))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Quy tắc kinh nghiệm</a:t>
            </a:r>
          </a:p>
          <a:p>
            <a:pPr marL="0" indent="0" algn="l">
              <a:spcBef>
                <a:spcPts val="100"/>
              </a:spcBef>
              <a:buNone/>
            </a:pPr>
            <a:r>
              <a:rPr lang="en-US" sz="1300" dirty="0">
                <a:solidFill>
                  <a:srgbClr val="000000"/>
                </a:solidFill>
                <a:latin typeface="Segoe UI"/>
                <a:cs typeface="Segoe UI"/>
              </a:rPr>
              <a:t>Dữ liệu lệch hoặc nhỏ -&gt; dùng kiểm định phi tham số; đó là lựa chọn an toàn khi còn nghi ngờ.</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So Sánh Nhiều Hơn Hai Nhóm: ANOVA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Tại sao không dùng nhiều kiểm định t?</a:t>
            </a:r>
          </a:p>
          <a:p>
            <a:pPr marL="0" indent="0" algn="l">
              <a:lnSpc>
                <a:spcPct val="108000"/>
              </a:lnSpc>
              <a:spcBef>
                <a:spcPts val="440"/>
              </a:spcBef>
              <a:buNone/>
            </a:pPr>
            <a:r>
              <a:rPr lang="en-US" sz="1800" dirty="0">
                <a:solidFill>
                  <a:srgbClr val="000000"/>
                </a:solidFill>
                <a:latin typeface="Segoe UI"/>
                <a:cs typeface="Segoe UI"/>
              </a:rPr>
              <a:t>Mỗi kiểm định t từng cặp mang theo nguy cơ dương tính giả 5% riêng của nó.</a:t>
            </a:r>
          </a:p>
          <a:p>
            <a:pPr marL="0" indent="0" algn="l">
              <a:lnSpc>
                <a:spcPct val="108000"/>
              </a:lnSpc>
              <a:spcBef>
                <a:spcPts val="440"/>
              </a:spcBef>
              <a:buNone/>
            </a:pPr>
            <a:r>
              <a:rPr lang="en-US" sz="1800" dirty="0">
                <a:solidFill>
                  <a:srgbClr val="000000"/>
                </a:solidFill>
                <a:latin typeface="Segoe UI"/>
                <a:cs typeface="Segoe UI"/>
              </a:rPr>
              <a:t>Thực hiện nhiều lần làm tăng tỷ lệ sai số tổng thể.</a:t>
            </a:r>
          </a:p>
          <a:p>
            <a:pPr marL="0" indent="0" algn="l">
              <a:lnSpc>
                <a:spcPct val="108000"/>
              </a:lnSpc>
              <a:spcBef>
                <a:spcPts val="440"/>
              </a:spcBef>
              <a:buNone/>
            </a:pPr>
            <a:r>
              <a:rPr lang="en-US" sz="1800" dirty="0">
                <a:solidFill>
                  <a:srgbClr val="000000"/>
                </a:solidFill>
                <a:latin typeface="Segoe UI"/>
                <a:cs typeface="Segoe UI"/>
              </a:rPr>
              <a:t>ANOVA kiểm định tất cả các nhóm cùng lúc với một giá trị p trung thực.</a:t>
            </a:r>
          </a:p>
          <a:p>
            <a:pPr>
              <a:buNone/>
            </a:pPr>
            <a:endParaRPr sz="1050"/>
          </a:p>
          <a:p>
            <a:pPr marL="0" indent="0" algn="l">
              <a:spcBef>
                <a:spcPts val="360"/>
              </a:spcBef>
              <a:buNone/>
            </a:pPr>
            <a:r>
              <a:rPr lang="en-US" sz="2050" b="1" dirty="0">
                <a:solidFill>
                  <a:srgbClr val="0D7377"/>
                </a:solidFill>
                <a:latin typeface="Segoe UI"/>
                <a:cs typeface="Segoe UI"/>
              </a:rPr>
              <a:t>Sau một ANOVA có ý nghĩa thống kê</a:t>
            </a:r>
          </a:p>
          <a:p>
            <a:pPr marL="0" indent="0" algn="l">
              <a:lnSpc>
                <a:spcPct val="108000"/>
              </a:lnSpc>
              <a:spcBef>
                <a:spcPts val="440"/>
              </a:spcBef>
              <a:buNone/>
            </a:pPr>
            <a:r>
              <a:rPr lang="en-US" sz="1800" dirty="0">
                <a:solidFill>
                  <a:srgbClr val="000000"/>
                </a:solidFill>
                <a:latin typeface="Segoe UI"/>
                <a:cs typeface="Segoe UI"/>
              </a:rPr>
              <a:t>Giá trị p nhỏ cho bạn biết MỘT SỐ nhóm khác nhau, chứ không phải nhóm nào.</a:t>
            </a:r>
          </a:p>
          <a:p>
            <a:pPr marL="0" indent="0" algn="l">
              <a:lnSpc>
                <a:spcPct val="108000"/>
              </a:lnSpc>
              <a:spcBef>
                <a:spcPts val="440"/>
              </a:spcBef>
              <a:buNone/>
            </a:pPr>
            <a:r>
              <a:rPr lang="en-US" sz="1800" dirty="0">
                <a:solidFill>
                  <a:srgbClr val="000000"/>
                </a:solidFill>
                <a:latin typeface="Segoe UI"/>
                <a:cs typeface="Segoe UI"/>
              </a:rPr>
              <a:t>TukeyHSD so sánh mọi cặp và hiệu chỉnh cho tính đa so sánh.</a:t>
            </a:r>
          </a:p>
          <a:p>
            <a:pPr marL="0" indent="0" algn="l">
              <a:lnSpc>
                <a:spcPct val="108000"/>
              </a:lnSpc>
              <a:spcBef>
                <a:spcPts val="440"/>
              </a:spcBef>
              <a:buNone/>
            </a:pPr>
            <a:r>
              <a:rPr lang="en-US" sz="1800" dirty="0">
                <a:solidFill>
                  <a:srgbClr val="000000"/>
                </a:solidFill>
                <a:latin typeface="Segoe UI"/>
                <a:cs typeface="Segoe UI"/>
              </a:rPr>
              <a:t>Ví dụ: tuổi có khác nhau giữa các trình độ học vấn không?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Segoe UI"/>
                <a:cs typeface="Segoe UI"/>
              </a:rPr>
              <a:t>LƯU Ý  -  Nếu các giả định không thỏa</a:t>
            </a:r>
          </a:p>
          <a:p>
            <a:pPr marL="0" indent="0" algn="l">
              <a:spcBef>
                <a:spcPts val="100"/>
              </a:spcBef>
              <a:buNone/>
            </a:pPr>
            <a:r>
              <a:rPr lang="en-US" sz="1300" dirty="0">
                <a:solidFill>
                  <a:srgbClr val="000000"/>
                </a:solidFill>
                <a:latin typeface="Segoe UI"/>
                <a:cs typeface="Segoe UI"/>
              </a:rPr>
              <a:t>Dùng kruskal.test() phi tham số thay cho aov().</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Liên Quan Giữa Hai Biến Phân Loại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Kiểm định chi bình phương về tính độc lập</a:t>
            </a:r>
          </a:p>
          <a:p>
            <a:pPr marL="0" indent="0" algn="l">
              <a:lnSpc>
                <a:spcPct val="108000"/>
              </a:lnSpc>
              <a:spcBef>
                <a:spcPts val="440"/>
              </a:spcBef>
              <a:buNone/>
            </a:pPr>
            <a:r>
              <a:rPr lang="en-US" sz="1800" dirty="0">
                <a:solidFill>
                  <a:srgbClr val="000000"/>
                </a:solidFill>
                <a:latin typeface="Segoe UI"/>
                <a:cs typeface="Segoe UI"/>
              </a:rPr>
              <a:t>Câu hỏi: tiếp nhận điều trị có liên quan với đái tháo đường không?</a:t>
            </a:r>
          </a:p>
          <a:p>
            <a:pPr marL="0" indent="0" algn="l">
              <a:lnSpc>
                <a:spcPct val="108000"/>
              </a:lnSpc>
              <a:spcBef>
                <a:spcPts val="440"/>
              </a:spcBef>
              <a:buNone/>
            </a:pPr>
            <a:r>
              <a:rPr lang="en-US" sz="1800" dirty="0">
                <a:solidFill>
                  <a:srgbClr val="000000"/>
                </a:solidFill>
                <a:latin typeface="Segoe UI"/>
                <a:cs typeface="Segoe UI"/>
              </a:rPr>
              <a:t>Dựng một bảng dự phòng, rồi kiểm định nó.</a:t>
            </a:r>
          </a:p>
          <a:p>
            <a:pPr marL="0" indent="0" algn="l">
              <a:lnSpc>
                <a:spcPct val="108000"/>
              </a:lnSpc>
              <a:spcBef>
                <a:spcPts val="440"/>
              </a:spcBef>
              <a:buNone/>
            </a:pPr>
            <a:r>
              <a:rPr lang="en-US" sz="1800" dirty="0">
                <a:solidFill>
                  <a:srgbClr val="000000"/>
                </a:solidFill>
                <a:latin typeface="Segoe UI"/>
                <a:cs typeface="Segoe UI"/>
              </a:rPr>
              <a:t>H0: hai biến độc lập (không có liên quan).</a:t>
            </a:r>
          </a:p>
          <a:p>
            <a:pPr>
              <a:buNone/>
            </a:pPr>
            <a:endParaRPr sz="1050"/>
          </a:p>
          <a:p>
            <a:pPr marL="0" indent="0" algn="l">
              <a:spcBef>
                <a:spcPts val="360"/>
              </a:spcBef>
              <a:buNone/>
            </a:pPr>
            <a:r>
              <a:rPr lang="en-US" sz="2050" b="1" dirty="0">
                <a:solidFill>
                  <a:srgbClr val="0D7377"/>
                </a:solidFill>
                <a:latin typeface="Segoe UI"/>
                <a:cs typeface="Segoe UI"/>
              </a:rPr>
              <a:t>Khi tần số kỳ vọng nhỏ</a:t>
            </a:r>
          </a:p>
          <a:p>
            <a:pPr marL="0" indent="0" algn="l">
              <a:lnSpc>
                <a:spcPct val="108000"/>
              </a:lnSpc>
              <a:spcBef>
                <a:spcPts val="440"/>
              </a:spcBef>
              <a:buNone/>
            </a:pPr>
            <a:r>
              <a:rPr lang="en-US" sz="1800" dirty="0">
                <a:solidFill>
                  <a:srgbClr val="000000"/>
                </a:solidFill>
                <a:latin typeface="Segoe UI"/>
                <a:cs typeface="Segoe UI"/>
              </a:rPr>
              <a:t>Chi bình phương cần mọi tần số kỳ vọng của ô &gt;= 5.</a:t>
            </a:r>
          </a:p>
          <a:p>
            <a:pPr marL="0" indent="0" algn="l">
              <a:lnSpc>
                <a:spcPct val="108000"/>
              </a:lnSpc>
              <a:spcBef>
                <a:spcPts val="440"/>
              </a:spcBef>
              <a:buNone/>
            </a:pPr>
            <a:r>
              <a:rPr lang="en-US" sz="1800" dirty="0">
                <a:solidFill>
                  <a:srgbClr val="000000"/>
                </a:solidFill>
                <a:latin typeface="Segoe UI"/>
                <a:cs typeface="Segoe UI"/>
              </a:rPr>
              <a:t>Kiểm tra với chisq.test(tab)$expected.</a:t>
            </a:r>
          </a:p>
          <a:p>
            <a:pPr marL="0" indent="0" algn="l">
              <a:lnSpc>
                <a:spcPct val="108000"/>
              </a:lnSpc>
              <a:spcBef>
                <a:spcPts val="440"/>
              </a:spcBef>
              <a:buNone/>
            </a:pPr>
            <a:r>
              <a:rPr lang="en-US" sz="1800" dirty="0">
                <a:solidFill>
                  <a:srgbClr val="000000"/>
                </a:solidFill>
                <a:latin typeface="Segoe UI"/>
                <a:cs typeface="Segoe UI"/>
              </a:rPr>
              <a:t>Nếu có ô quá nhỏ, dùng kiểm định chính xác Fisher thay thế.</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Segoe UI"/>
                <a:cs typeface="Segoe UI"/>
              </a:rPr>
              <a:t>DIỄN GIẢI LÂM SÀNG  -  Bảng cho biết hướng</a:t>
            </a:r>
          </a:p>
          <a:p>
            <a:pPr marL="0" indent="0" algn="l">
              <a:spcBef>
                <a:spcPts val="100"/>
              </a:spcBef>
              <a:buNone/>
            </a:pPr>
            <a:r>
              <a:rPr lang="en-US" sz="1300" dirty="0">
                <a:solidFill>
                  <a:srgbClr val="000000"/>
                </a:solidFill>
                <a:latin typeface="Segoe UI"/>
                <a:cs typeface="Segoe UI"/>
              </a:rPr>
              <a:t>Kiểm định cho một giá trị p; bảng cho thấy AI có tỷ lệ tiếp nhận cao hơn.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Tương Quan: Hai Con Số Có Biến Động Cùng Nhau Không?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Pearson</a:t>
            </a:r>
          </a:p>
          <a:p>
            <a:pPr marL="274320" indent="-274320" algn="l">
              <a:lnSpc>
                <a:spcPct val="106000"/>
              </a:lnSpc>
              <a:spcBef>
                <a:spcPts val="520"/>
              </a:spcBef>
              <a:buFont typeface="Arial"/>
              <a:buChar char="•"/>
            </a:pPr>
            <a:r>
              <a:rPr lang="en-US" sz="1650" dirty="0">
                <a:solidFill>
                  <a:srgbClr val="000000"/>
                </a:solidFill>
                <a:latin typeface="Segoe UI"/>
                <a:cs typeface="Segoe UI"/>
              </a:rPr>
              <a:t>Đo lường liên quan TUYẾN TÍNH.</a:t>
            </a:r>
          </a:p>
          <a:p>
            <a:pPr marL="274320" indent="-274320" algn="l">
              <a:lnSpc>
                <a:spcPct val="106000"/>
              </a:lnSpc>
              <a:spcBef>
                <a:spcPts val="520"/>
              </a:spcBef>
              <a:buFont typeface="Arial"/>
              <a:buChar char="•"/>
            </a:pPr>
            <a:r>
              <a:rPr lang="en-US" sz="1650" dirty="0">
                <a:solidFill>
                  <a:srgbClr val="000000"/>
                </a:solidFill>
                <a:latin typeface="Segoe UI"/>
                <a:cs typeface="Segoe UI"/>
              </a:rPr>
              <a:t>Giả định dữ liệu gần chuẩn.</a:t>
            </a:r>
          </a:p>
          <a:p>
            <a:pPr marL="274320" indent="-274320" algn="l">
              <a:lnSpc>
                <a:spcPct val="106000"/>
              </a:lnSpc>
              <a:spcBef>
                <a:spcPts val="520"/>
              </a:spcBef>
              <a:buFont typeface="Arial"/>
              <a:buChar char="•"/>
            </a:pPr>
            <a:r>
              <a:rPr lang="en-US" sz="1650" dirty="0">
                <a:solidFill>
                  <a:srgbClr val="000000"/>
                </a:solidFill>
                <a:latin typeface="Segoe UI"/>
                <a:cs typeface="Segoe UI"/>
              </a:rPr>
              <a:t>Nhạy với giá trị ngoại lai.</a:t>
            </a:r>
          </a:p>
          <a:p>
            <a:pPr marL="274320" indent="-274320" algn="l">
              <a:lnSpc>
                <a:spcPct val="106000"/>
              </a:lnSpc>
              <a:spcBef>
                <a:spcPts val="520"/>
              </a:spcBef>
              <a:buFont typeface="Arial"/>
              <a:buChar char="•"/>
            </a:pPr>
            <a:r>
              <a:rPr lang="en-US" sz="1650" dirty="0">
                <a:solidFill>
                  <a:srgbClr val="000000"/>
                </a:solidFill>
                <a:latin typeface="Segoe UI"/>
                <a:cs typeface="Segoe UI"/>
              </a:rPr>
              <a:t>Ví dụ: sbp_mmhg vs bmi.</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Spearman</a:t>
            </a:r>
          </a:p>
          <a:p>
            <a:pPr marL="274320" indent="-274320" algn="l">
              <a:lnSpc>
                <a:spcPct val="106000"/>
              </a:lnSpc>
              <a:spcBef>
                <a:spcPts val="520"/>
              </a:spcBef>
              <a:buFont typeface="Arial"/>
              <a:buChar char="•"/>
            </a:pPr>
            <a:r>
              <a:rPr lang="en-US" sz="1650" dirty="0">
                <a:solidFill>
                  <a:srgbClr val="000000"/>
                </a:solidFill>
                <a:latin typeface="Segoe UI"/>
                <a:cs typeface="Segoe UI"/>
              </a:rPr>
              <a:t>Dựa trên HẠNG.</a:t>
            </a:r>
          </a:p>
          <a:p>
            <a:pPr marL="274320" indent="-274320" algn="l">
              <a:lnSpc>
                <a:spcPct val="106000"/>
              </a:lnSpc>
              <a:spcBef>
                <a:spcPts val="520"/>
              </a:spcBef>
              <a:buFont typeface="Arial"/>
              <a:buChar char="•"/>
            </a:pPr>
            <a:r>
              <a:rPr lang="en-US" sz="1650" dirty="0">
                <a:solidFill>
                  <a:srgbClr val="000000"/>
                </a:solidFill>
                <a:latin typeface="Segoe UI"/>
                <a:cs typeface="Segoe UI"/>
              </a:rPr>
              <a:t>Bền vững với giá trị ngoại lai và tính phi tuyến.</a:t>
            </a:r>
          </a:p>
          <a:p>
            <a:pPr marL="274320" indent="-274320" algn="l">
              <a:lnSpc>
                <a:spcPct val="106000"/>
              </a:lnSpc>
              <a:spcBef>
                <a:spcPts val="520"/>
              </a:spcBef>
              <a:buFont typeface="Arial"/>
              <a:buChar char="•"/>
            </a:pPr>
            <a:r>
              <a:rPr lang="en-US" sz="1650" dirty="0">
                <a:solidFill>
                  <a:srgbClr val="000000"/>
                </a:solidFill>
                <a:latin typeface="Segoe UI"/>
                <a:cs typeface="Segoe UI"/>
              </a:rPr>
              <a:t>Dùng khi dữ liệu bị lệch.</a:t>
            </a:r>
          </a:p>
          <a:p>
            <a:pPr marL="274320" indent="-274320" algn="l">
              <a:lnSpc>
                <a:spcPct val="106000"/>
              </a:lnSpc>
              <a:spcBef>
                <a:spcPts val="520"/>
              </a:spcBef>
              <a:buFont typeface="Arial"/>
              <a:buChar char="•"/>
            </a:pPr>
            <a:r>
              <a:rPr lang="en-US" sz="1650" dirty="0">
                <a:solidFill>
                  <a:srgbClr val="000000"/>
                </a:solidFill>
                <a:latin typeface="Segoe UI"/>
                <a:cs typeface="Segoe UI"/>
              </a:rPr>
              <a:t>Báo cáo một hệ số tương quan hạng.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Demo: Tương Quan Giữa SBP và BMI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Huyết áp tâm thu và BMI có biến động cùng nhau không?</a:t>
            </a:r>
          </a:p>
        </p:txBody>
      </p:sp>
      <p:sp>
        <p:nvSpPr>
          <p:cNvPr id="30" name="Code"/>
          <p:cNvSpPr/>
          <p:nvPr/>
        </p:nvSpPr>
        <p:spPr>
          <a:xfrm>
            <a:off x="457200" y="1640000"/>
            <a:ext cx="11277600" cy="39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cor.test(dx$sbp_mmhg, dx$bmi, method = "pearson")</a:t>
            </a:r>
          </a:p>
        </p:txBody>
      </p:sp>
      <p:sp>
        <p:nvSpPr>
          <p:cNvPr id="31" name="Output"/>
          <p:cNvSpPr/>
          <p:nvPr/>
        </p:nvSpPr>
        <p:spPr>
          <a:xfrm>
            <a:off x="457200" y="218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Pearson's product-moment correlation</a:t>
            </a:r>
          </a:p>
          <a:p>
            <a:pPr marL="0" indent="0" algn="l">
              <a:lnSpc>
                <a:spcPct val="100000"/>
              </a:lnSpc>
              <a:buNone/>
            </a:pPr>
            <a:r>
              <a:rPr lang="en-US" sz="1250" dirty="0">
                <a:solidFill>
                  <a:srgbClr val="1A1A1A"/>
                </a:solidFill>
                <a:latin typeface="Consolas"/>
                <a:cs typeface="Consolas"/>
              </a:rPr>
              <a:t>t = 6.1, df = 1087, p-value = 1.4e-09</a:t>
            </a:r>
          </a:p>
          <a:p>
            <a:pPr marL="0" indent="0" algn="l">
              <a:lnSpc>
                <a:spcPct val="100000"/>
              </a:lnSpc>
              <a:buNone/>
            </a:pPr>
            <a:r>
              <a:rPr lang="en-US" sz="1250" dirty="0">
                <a:solidFill>
                  <a:srgbClr val="1A1A1A"/>
                </a:solidFill>
                <a:latin typeface="Consolas"/>
                <a:cs typeface="Consolas"/>
              </a:rPr>
              <a:t>95 percent CI: 0.12 to 0.24</a:t>
            </a:r>
          </a:p>
          <a:p>
            <a:pPr marL="0" indent="0" algn="l">
              <a:lnSpc>
                <a:spcPct val="100000"/>
              </a:lnSpc>
              <a:buNone/>
            </a:pPr>
            <a:r>
              <a:rPr lang="en-US" sz="1250" dirty="0">
                <a:solidFill>
                  <a:srgbClr val="1A1A1A"/>
                </a:solidFill>
                <a:latin typeface="Consolas"/>
                <a:cs typeface="Consolas"/>
              </a:rPr>
              <a:t>cor = 0.18</a:t>
            </a:r>
          </a:p>
        </p:txBody>
      </p:sp>
      <p:sp>
        <p:nvSpPr>
          <p:cNvPr id="32" name="Note"/>
          <p:cNvSpPr/>
          <p:nvPr/>
        </p:nvSpPr>
        <p:spPr>
          <a:xfrm>
            <a:off x="457200" y="342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r = 0.18 là một mối liên hệ dương yếu: rất có ý nghĩa thống kê, nhưng khiêm tốn về mặt lâm sàng.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Chọn Kiểm Định Phù Hợp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2280000"/>
        </p:xfrm>
        <a:graphic>
          <a:graphicData uri="http://schemas.openxmlformats.org/drawingml/2006/table">
            <a:tbl>
              <a:tblPr firstRow="1" bandRow="1">
                <a:tableStyleId>{5C22544A-7EE6-4342-B048-85BDC9FD1C3A}</a:tableStyleId>
              </a:tblPr>
              <a:tblGrid>
                <a:gridCol w="3759200">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3759200">
                  <a:extLst>
                    <a:ext uri="{9D8B030D-6E8A-4147-A177-3AD203B41FA5}">
                      <a16:colId xmlns:a16="http://schemas.microsoft.com/office/drawing/2014/main" val="20002"/>
                    </a:ext>
                  </a:extLst>
                </a:gridCol>
              </a:tblGrid>
              <a:tr h="380000">
                <a:tc>
                  <a:txBody>
                    <a:bodyPr/>
                    <a:lstStyle/>
                    <a:p>
                      <a:pPr algn="l"/>
                      <a:r>
                        <a:rPr lang="en-US" sz="1300" b="1" dirty="0">
                          <a:solidFill>
                            <a:srgbClr val="FFFFFF"/>
                          </a:solidFill>
                          <a:latin typeface="Segoe UI"/>
                        </a:rPr>
                        <a:t>Biến kết cục</a:t>
                      </a:r>
                    </a:p>
                  </a:txBody>
                  <a:tcPr marL="73152" marR="73152" marT="36576" marB="36576" anchor="ctr">
                    <a:solidFill>
                      <a:srgbClr val="0D7377"/>
                    </a:solidFill>
                  </a:tcPr>
                </a:tc>
                <a:tc>
                  <a:txBody>
                    <a:bodyPr/>
                    <a:lstStyle/>
                    <a:p>
                      <a:pPr algn="l"/>
                      <a:r>
                        <a:rPr lang="en-US" sz="1300" b="1" dirty="0">
                          <a:solidFill>
                            <a:srgbClr val="FFFFFF"/>
                          </a:solidFill>
                          <a:latin typeface="Segoe UI"/>
                        </a:rPr>
                        <a:t>Yếu tố dự báo / biến thứ 2</a:t>
                      </a:r>
                    </a:p>
                  </a:txBody>
                  <a:tcPr marL="73152" marR="73152" marT="36576" marB="36576" anchor="ctr">
                    <a:solidFill>
                      <a:srgbClr val="0D7377"/>
                    </a:solidFill>
                  </a:tcPr>
                </a:tc>
                <a:tc>
                  <a:txBody>
                    <a:bodyPr/>
                    <a:lstStyle/>
                    <a:p>
                      <a:pPr algn="l"/>
                      <a:r>
                        <a:rPr lang="en-US" sz="1300" b="1" dirty="0">
                          <a:solidFill>
                            <a:srgbClr val="FFFFFF"/>
                          </a:solidFill>
                          <a:latin typeface="Segoe UI"/>
                        </a:rPr>
                        <a:t>Kiểm định</a:t>
                      </a:r>
                    </a:p>
                  </a:txBody>
                  <a:tcPr marL="73152" marR="73152" marT="36576" marB="36576" anchor="ctr">
                    <a:solidFill>
                      <a:srgbClr val="0D7377"/>
                    </a:solidFill>
                  </a:tcPr>
                </a:tc>
                <a:extLst>
                  <a:ext uri="{0D108BD9-81ED-4DB2-BD59-A6C34878D82A}">
                    <a16:rowId xmlns:a16="http://schemas.microsoft.com/office/drawing/2014/main" val="10000"/>
                  </a:ext>
                </a:extLst>
              </a:tr>
              <a:tr h="380000">
                <a:tc>
                  <a:txBody>
                    <a:bodyPr/>
                    <a:lstStyle/>
                    <a:p>
                      <a:pPr algn="l"/>
                      <a:r>
                        <a:rPr lang="en-US" sz="1300" b="0" dirty="0">
                          <a:solidFill>
                            <a:srgbClr val="000000"/>
                          </a:solidFill>
                          <a:latin typeface="Segoe UI"/>
                        </a:rPr>
                        <a:t>Liên tục</a:t>
                      </a:r>
                    </a:p>
                  </a:txBody>
                  <a:tcPr marL="73152" marR="73152" marT="36576" marB="36576" anchor="ctr">
                    <a:solidFill>
                      <a:srgbClr val="FFFFFF"/>
                    </a:solidFill>
                  </a:tcPr>
                </a:tc>
                <a:tc>
                  <a:txBody>
                    <a:bodyPr/>
                    <a:lstStyle/>
                    <a:p>
                      <a:pPr algn="l"/>
                      <a:r>
                        <a:rPr lang="en-US" sz="1300" b="0" dirty="0">
                          <a:solidFill>
                            <a:srgbClr val="000000"/>
                          </a:solidFill>
                          <a:latin typeface="Segoe UI"/>
                        </a:rPr>
                        <a:t>Hai nhóm</a:t>
                      </a:r>
                    </a:p>
                  </a:txBody>
                  <a:tcPr marL="73152" marR="73152" marT="36576" marB="36576" anchor="ctr">
                    <a:solidFill>
                      <a:srgbClr val="FFFFFF"/>
                    </a:solidFill>
                  </a:tcPr>
                </a:tc>
                <a:tc>
                  <a:txBody>
                    <a:bodyPr/>
                    <a:lstStyle/>
                    <a:p>
                      <a:pPr algn="l"/>
                      <a:r>
                        <a:rPr lang="en-US" sz="1300" b="0" dirty="0">
                          <a:solidFill>
                            <a:srgbClr val="000000"/>
                          </a:solidFill>
                          <a:latin typeface="Segoe UI"/>
                        </a:rPr>
                        <a:t>Kiểm định t (Wilcoxon nếu lệch)</a:t>
                      </a:r>
                    </a:p>
                  </a:txBody>
                  <a:tcPr marL="73152" marR="73152" marT="36576" marB="36576" anchor="ctr">
                    <a:solidFill>
                      <a:srgbClr val="FFFFFF"/>
                    </a:solidFill>
                  </a:tcPr>
                </a:tc>
                <a:extLst>
                  <a:ext uri="{0D108BD9-81ED-4DB2-BD59-A6C34878D82A}">
                    <a16:rowId xmlns:a16="http://schemas.microsoft.com/office/drawing/2014/main" val="10001"/>
                  </a:ext>
                </a:extLst>
              </a:tr>
              <a:tr h="380000">
                <a:tc>
                  <a:txBody>
                    <a:bodyPr/>
                    <a:lstStyle/>
                    <a:p>
                      <a:pPr algn="l"/>
                      <a:r>
                        <a:rPr lang="en-US" sz="1300" b="0" dirty="0">
                          <a:solidFill>
                            <a:srgbClr val="000000"/>
                          </a:solidFill>
                          <a:latin typeface="Segoe UI"/>
                        </a:rPr>
                        <a:t>Liên tục</a:t>
                      </a:r>
                    </a:p>
                  </a:txBody>
                  <a:tcPr marL="73152" marR="73152" marT="36576" marB="36576" anchor="ctr">
                    <a:solidFill>
                      <a:srgbClr val="FFFFFF"/>
                    </a:solidFill>
                  </a:tcPr>
                </a:tc>
                <a:tc>
                  <a:txBody>
                    <a:bodyPr/>
                    <a:lstStyle/>
                    <a:p>
                      <a:pPr algn="l"/>
                      <a:r>
                        <a:rPr lang="en-US" sz="1300" b="0" dirty="0">
                          <a:solidFill>
                            <a:srgbClr val="000000"/>
                          </a:solidFill>
                          <a:latin typeface="Segoe UI"/>
                        </a:rPr>
                        <a:t>Nhiều hơn hai nhóm</a:t>
                      </a:r>
                    </a:p>
                  </a:txBody>
                  <a:tcPr marL="73152" marR="73152" marT="36576" marB="36576" anchor="ctr">
                    <a:solidFill>
                      <a:srgbClr val="FFFFFF"/>
                    </a:solidFill>
                  </a:tcPr>
                </a:tc>
                <a:tc>
                  <a:txBody>
                    <a:bodyPr/>
                    <a:lstStyle/>
                    <a:p>
                      <a:pPr algn="l"/>
                      <a:r>
                        <a:rPr lang="en-US" sz="1300" b="0" dirty="0">
                          <a:solidFill>
                            <a:srgbClr val="000000"/>
                          </a:solidFill>
                          <a:latin typeface="Segoe UI"/>
                        </a:rPr>
                        <a:t>ANOVA (Kruskal-Wallis nếu lệch)</a:t>
                      </a:r>
                    </a:p>
                  </a:txBody>
                  <a:tcPr marL="73152" marR="73152" marT="36576" marB="36576" anchor="ctr">
                    <a:solidFill>
                      <a:srgbClr val="FFFFFF"/>
                    </a:solidFill>
                  </a:tcPr>
                </a:tc>
                <a:extLst>
                  <a:ext uri="{0D108BD9-81ED-4DB2-BD59-A6C34878D82A}">
                    <a16:rowId xmlns:a16="http://schemas.microsoft.com/office/drawing/2014/main" val="10002"/>
                  </a:ext>
                </a:extLst>
              </a:tr>
              <a:tr h="380000">
                <a:tc>
                  <a:txBody>
                    <a:bodyPr/>
                    <a:lstStyle/>
                    <a:p>
                      <a:pPr algn="l"/>
                      <a:r>
                        <a:rPr lang="en-US" sz="1300" b="0" dirty="0">
                          <a:solidFill>
                            <a:srgbClr val="000000"/>
                          </a:solidFill>
                          <a:latin typeface="Segoe UI"/>
                        </a:rPr>
                        <a:t>Phân loại</a:t>
                      </a:r>
                    </a:p>
                  </a:txBody>
                  <a:tcPr marL="73152" marR="73152" marT="36576" marB="36576" anchor="ctr">
                    <a:solidFill>
                      <a:srgbClr val="FFFFFF"/>
                    </a:solidFill>
                  </a:tcPr>
                </a:tc>
                <a:tc>
                  <a:txBody>
                    <a:bodyPr/>
                    <a:lstStyle/>
                    <a:p>
                      <a:pPr algn="l"/>
                      <a:r>
                        <a:rPr lang="en-US" sz="1300" b="0" dirty="0">
                          <a:solidFill>
                            <a:srgbClr val="000000"/>
                          </a:solidFill>
                          <a:latin typeface="Segoe UI"/>
                        </a:rPr>
                        <a:t>Phân loại</a:t>
                      </a:r>
                    </a:p>
                  </a:txBody>
                  <a:tcPr marL="73152" marR="73152" marT="36576" marB="36576" anchor="ctr">
                    <a:solidFill>
                      <a:srgbClr val="FFFFFF"/>
                    </a:solidFill>
                  </a:tcPr>
                </a:tc>
                <a:tc>
                  <a:txBody>
                    <a:bodyPr/>
                    <a:lstStyle/>
                    <a:p>
                      <a:pPr algn="l"/>
                      <a:r>
                        <a:rPr lang="en-US" sz="1300" b="0" dirty="0">
                          <a:solidFill>
                            <a:srgbClr val="000000"/>
                          </a:solidFill>
                          <a:latin typeface="Segoe UI"/>
                        </a:rPr>
                        <a:t>Chi bình phương (Fisher nếu thưa)</a:t>
                      </a:r>
                    </a:p>
                  </a:txBody>
                  <a:tcPr marL="73152" marR="73152" marT="36576" marB="36576" anchor="ctr">
                    <a:solidFill>
                      <a:srgbClr val="FFFFFF"/>
                    </a:solidFill>
                  </a:tcPr>
                </a:tc>
                <a:extLst>
                  <a:ext uri="{0D108BD9-81ED-4DB2-BD59-A6C34878D82A}">
                    <a16:rowId xmlns:a16="http://schemas.microsoft.com/office/drawing/2014/main" val="10003"/>
                  </a:ext>
                </a:extLst>
              </a:tr>
              <a:tr h="380000">
                <a:tc>
                  <a:txBody>
                    <a:bodyPr/>
                    <a:lstStyle/>
                    <a:p>
                      <a:pPr algn="l"/>
                      <a:r>
                        <a:rPr lang="en-US" sz="1300" b="0" dirty="0">
                          <a:solidFill>
                            <a:srgbClr val="000000"/>
                          </a:solidFill>
                          <a:latin typeface="Segoe UI"/>
                        </a:rPr>
                        <a:t>Liên tục</a:t>
                      </a:r>
                    </a:p>
                  </a:txBody>
                  <a:tcPr marL="73152" marR="73152" marT="36576" marB="36576" anchor="ctr">
                    <a:solidFill>
                      <a:srgbClr val="FFFFFF"/>
                    </a:solidFill>
                  </a:tcPr>
                </a:tc>
                <a:tc>
                  <a:txBody>
                    <a:bodyPr/>
                    <a:lstStyle/>
                    <a:p>
                      <a:pPr algn="l"/>
                      <a:r>
                        <a:rPr lang="en-US" sz="1300" b="0" dirty="0">
                          <a:solidFill>
                            <a:srgbClr val="000000"/>
                          </a:solidFill>
                          <a:latin typeface="Segoe UI"/>
                        </a:rPr>
                        <a:t>Liên tục</a:t>
                      </a:r>
                    </a:p>
                  </a:txBody>
                  <a:tcPr marL="73152" marR="73152" marT="36576" marB="36576" anchor="ctr">
                    <a:solidFill>
                      <a:srgbClr val="FFFFFF"/>
                    </a:solidFill>
                  </a:tcPr>
                </a:tc>
                <a:tc>
                  <a:txBody>
                    <a:bodyPr/>
                    <a:lstStyle/>
                    <a:p>
                      <a:pPr algn="l"/>
                      <a:r>
                        <a:rPr lang="en-US" sz="1300" b="0" dirty="0">
                          <a:solidFill>
                            <a:srgbClr val="000000"/>
                          </a:solidFill>
                          <a:latin typeface="Segoe UI"/>
                        </a:rPr>
                        <a:t>Tương quan (Pearson / Spearman)</a:t>
                      </a:r>
                    </a:p>
                  </a:txBody>
                  <a:tcPr marL="73152" marR="73152" marT="36576" marB="36576" anchor="ctr">
                    <a:solidFill>
                      <a:srgbClr val="FFFFFF"/>
                    </a:solidFill>
                  </a:tcPr>
                </a:tc>
                <a:extLst>
                  <a:ext uri="{0D108BD9-81ED-4DB2-BD59-A6C34878D82A}">
                    <a16:rowId xmlns:a16="http://schemas.microsoft.com/office/drawing/2014/main" val="10004"/>
                  </a:ext>
                </a:extLst>
              </a:tr>
              <a:tr h="380000">
                <a:tc>
                  <a:txBody>
                    <a:bodyPr/>
                    <a:lstStyle/>
                    <a:p>
                      <a:pPr algn="l"/>
                      <a:r>
                        <a:rPr lang="en-US" sz="1300" b="0" dirty="0">
                          <a:solidFill>
                            <a:srgbClr val="000000"/>
                          </a:solidFill>
                          <a:latin typeface="Segoe UI"/>
                        </a:rPr>
                        <a:t>Nhị phân</a:t>
                      </a:r>
                    </a:p>
                  </a:txBody>
                  <a:tcPr marL="73152" marR="73152" marT="36576" marB="36576" anchor="ctr">
                    <a:solidFill>
                      <a:srgbClr val="FFFFFF"/>
                    </a:solidFill>
                  </a:tcPr>
                </a:tc>
                <a:tc>
                  <a:txBody>
                    <a:bodyPr/>
                    <a:lstStyle/>
                    <a:p>
                      <a:pPr algn="l"/>
                      <a:r>
                        <a:rPr lang="en-US" sz="1300" b="0" dirty="0">
                          <a:solidFill>
                            <a:srgbClr val="000000"/>
                          </a:solidFill>
                          <a:latin typeface="Segoe UI"/>
                        </a:rPr>
                        <a:t>Một hoặc nhiều yếu tố dự báo</a:t>
                      </a:r>
                    </a:p>
                  </a:txBody>
                  <a:tcPr marL="73152" marR="73152" marT="36576" marB="36576" anchor="ctr">
                    <a:solidFill>
                      <a:srgbClr val="FFFFFF"/>
                    </a:solidFill>
                  </a:tcPr>
                </a:tc>
                <a:tc>
                  <a:txBody>
                    <a:bodyPr/>
                    <a:lstStyle/>
                    <a:p>
                      <a:pPr algn="l"/>
                      <a:r>
                        <a:rPr lang="en-US" sz="1300" b="0" dirty="0">
                          <a:solidFill>
                            <a:srgbClr val="000000"/>
                          </a:solidFill>
                          <a:latin typeface="Segoe UI"/>
                        </a:rPr>
                        <a:t>Hồi quy logistic - Ngày 5</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31" name="Caption"/>
          <p:cNvSpPr txBox="1"/>
          <p:nvPr/>
        </p:nvSpPr>
        <p:spPr>
          <a:xfrm>
            <a:off x="457200" y="406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Segoe UI"/>
                <a:cs typeface="Segoe UI"/>
              </a:rPr>
              <a:t>Khớp CÂU HỎI và các loại dữ liệu với kiểm định; một biến kết cục nhị phân với các yếu tố dự báo dẫn tới hồi quy (Ngày 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Bài Tập Ngày 4: Chọn và Chạy Kiểm Định Phù Hợp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Nhiệm vụ của bạn</a:t>
            </a:r>
          </a:p>
          <a:p>
            <a:pPr marL="0" indent="0" algn="l">
              <a:lnSpc>
                <a:spcPct val="108000"/>
              </a:lnSpc>
              <a:spcBef>
                <a:spcPts val="440"/>
              </a:spcBef>
              <a:buNone/>
            </a:pPr>
            <a:r>
              <a:rPr lang="en-US" sz="1800" dirty="0">
                <a:solidFill>
                  <a:srgbClr val="000000"/>
                </a:solidFill>
                <a:latin typeface="Segoe UI"/>
                <a:cs typeface="Segoe UI"/>
              </a:rPr>
              <a:t>So sánh tuổi giữa các nhóm tiếp nhận điều trị bằng kiểm định t.</a:t>
            </a:r>
          </a:p>
          <a:p>
            <a:pPr marL="0" indent="0" algn="l">
              <a:lnSpc>
                <a:spcPct val="108000"/>
              </a:lnSpc>
              <a:spcBef>
                <a:spcPts val="440"/>
              </a:spcBef>
              <a:buNone/>
            </a:pPr>
            <a:r>
              <a:rPr lang="en-US" sz="1800" dirty="0">
                <a:solidFill>
                  <a:srgbClr val="000000"/>
                </a:solidFill>
                <a:latin typeface="Segoe UI"/>
                <a:cs typeface="Segoe UI"/>
              </a:rPr>
              <a:t>Kiểm định liên quan giữa giới và tiếp nhận điều trị (chi bình phương).</a:t>
            </a:r>
          </a:p>
          <a:p>
            <a:pPr marL="0" indent="0" algn="l">
              <a:lnSpc>
                <a:spcPct val="108000"/>
              </a:lnSpc>
              <a:spcBef>
                <a:spcPts val="440"/>
              </a:spcBef>
              <a:buNone/>
            </a:pPr>
            <a:r>
              <a:rPr lang="en-US" sz="1800" dirty="0">
                <a:solidFill>
                  <a:srgbClr val="000000"/>
                </a:solidFill>
                <a:latin typeface="Segoe UI"/>
                <a:cs typeface="Segoe UI"/>
              </a:rPr>
              <a:t>Kiểm định tương quan giữa SBP và BMI (Pearson hoặc Spearman).</a:t>
            </a:r>
          </a:p>
          <a:p>
            <a:pPr marL="0" indent="0" algn="l">
              <a:lnSpc>
                <a:spcPct val="108000"/>
              </a:lnSpc>
              <a:spcBef>
                <a:spcPts val="440"/>
              </a:spcBef>
              <a:buNone/>
            </a:pPr>
            <a:r>
              <a:rPr lang="en-US" sz="1800" dirty="0">
                <a:solidFill>
                  <a:srgbClr val="000000"/>
                </a:solidFill>
                <a:latin typeface="Segoe UI"/>
                <a:cs typeface="Segoe UI"/>
              </a:rPr>
              <a:t>Với mỗi kiểm định, nêu câu hỏi, kiểm định, và kết quả bằng ngôn ngữ đơn giản.</a:t>
            </a:r>
          </a:p>
          <a:p>
            <a:pPr>
              <a:buNone/>
            </a:pPr>
            <a:endParaRPr sz="1050"/>
          </a:p>
          <a:p>
            <a:pPr marL="0" indent="0" algn="l">
              <a:spcBef>
                <a:spcPts val="360"/>
              </a:spcBef>
              <a:buNone/>
            </a:pPr>
            <a:r>
              <a:rPr lang="en-US" sz="2050" b="1" dirty="0">
                <a:solidFill>
                  <a:srgbClr val="0D7377"/>
                </a:solidFill>
                <a:latin typeface="Segoe UI"/>
                <a:cs typeface="Segoe UI"/>
              </a:rPr>
              <a:t>Kết quả mong đợi</a:t>
            </a:r>
          </a:p>
          <a:p>
            <a:pPr marL="0" indent="0" algn="l">
              <a:lnSpc>
                <a:spcPct val="108000"/>
              </a:lnSpc>
              <a:spcBef>
                <a:spcPts val="440"/>
              </a:spcBef>
              <a:buNone/>
            </a:pPr>
            <a:r>
              <a:rPr lang="en-US" sz="1800" dirty="0">
                <a:solidFill>
                  <a:srgbClr val="000000"/>
                </a:solidFill>
                <a:latin typeface="Segoe UI"/>
                <a:cs typeface="Segoe UI"/>
              </a:rPr>
              <a:t>Một kết quả kiểm định cho mỗi câu hỏi, mỗi cái có một giá trị p.</a:t>
            </a:r>
          </a:p>
          <a:p>
            <a:pPr marL="0" indent="0" algn="l">
              <a:lnSpc>
                <a:spcPct val="108000"/>
              </a:lnSpc>
              <a:spcBef>
                <a:spcPts val="440"/>
              </a:spcBef>
              <a:buNone/>
            </a:pPr>
            <a:r>
              <a:rPr lang="en-US" sz="1800" dirty="0">
                <a:solidFill>
                  <a:srgbClr val="000000"/>
                </a:solidFill>
                <a:latin typeface="Segoe UI"/>
                <a:cs typeface="Segoe UI"/>
              </a:rPr>
              <a:t>Với kiểm định t và tương quan, ước lượng và KTC 95% của nó.</a:t>
            </a:r>
          </a:p>
          <a:p>
            <a:pPr marL="0" indent="0" algn="l">
              <a:lnSpc>
                <a:spcPct val="108000"/>
              </a:lnSpc>
              <a:spcBef>
                <a:spcPts val="440"/>
              </a:spcBef>
              <a:buNone/>
            </a:pPr>
            <a:r>
              <a:rPr lang="en-US" sz="1800" dirty="0">
                <a:solidFill>
                  <a:srgbClr val="000000"/>
                </a:solidFill>
                <a:latin typeface="Segoe UI"/>
                <a:cs typeface="Segoe UI"/>
              </a:rPr>
              <a:t>Một câu diễn giải mỗi kết quả về mặt lâm sàng.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Hãy để loại dữ liệu chọn kiểm định</a:t>
            </a:r>
          </a:p>
          <a:p>
            <a:pPr marL="0" indent="0" algn="l">
              <a:spcBef>
                <a:spcPts val="100"/>
              </a:spcBef>
              <a:buNone/>
            </a:pPr>
            <a:r>
              <a:rPr lang="en-US" sz="1300" dirty="0">
                <a:solidFill>
                  <a:srgbClr val="000000"/>
                </a:solidFill>
                <a:latin typeface="Segoe UI"/>
                <a:cs typeface="Segoe UI"/>
              </a:rPr>
              <a:t>Kiểm tra loại biến kết cục và số nhóm trước khi bạn chọn kiểm định.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Tóm Tắt và Cầu Nối Sang Ngày 5</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Những gì bạn giờ đã làm được</a:t>
            </a:r>
          </a:p>
          <a:p>
            <a:pPr marL="0" indent="0" algn="l">
              <a:lnSpc>
                <a:spcPct val="108000"/>
              </a:lnSpc>
              <a:spcBef>
                <a:spcPts val="440"/>
              </a:spcBef>
              <a:buNone/>
            </a:pPr>
            <a:r>
              <a:rPr lang="en-US" sz="1800" dirty="0">
                <a:solidFill>
                  <a:srgbClr val="000000"/>
                </a:solidFill>
                <a:latin typeface="Segoe UI"/>
                <a:cs typeface="Segoe UI"/>
              </a:rPr>
              <a:t>Khớp một câu hỏi với kiểm định đúng bằng các loại dữ liệu.</a:t>
            </a:r>
          </a:p>
          <a:p>
            <a:pPr marL="0" indent="0" algn="l">
              <a:lnSpc>
                <a:spcPct val="108000"/>
              </a:lnSpc>
              <a:spcBef>
                <a:spcPts val="440"/>
              </a:spcBef>
              <a:buNone/>
            </a:pPr>
            <a:r>
              <a:rPr lang="en-US" sz="1800" dirty="0">
                <a:solidFill>
                  <a:srgbClr val="000000"/>
                </a:solidFill>
                <a:latin typeface="Segoe UI"/>
                <a:cs typeface="Segoe UI"/>
              </a:rPr>
              <a:t>Chạy và diễn giải kiểm định t, Wilcoxon, ANOVA, chi bình phương và tương quan.</a:t>
            </a:r>
          </a:p>
          <a:p>
            <a:pPr marL="0" indent="0" algn="l">
              <a:lnSpc>
                <a:spcPct val="108000"/>
              </a:lnSpc>
              <a:spcBef>
                <a:spcPts val="440"/>
              </a:spcBef>
              <a:buNone/>
            </a:pPr>
            <a:r>
              <a:rPr lang="en-US" sz="1800" dirty="0">
                <a:solidFill>
                  <a:srgbClr val="000000"/>
                </a:solidFill>
                <a:latin typeface="Segoe UI"/>
                <a:cs typeface="Segoe UI"/>
              </a:rPr>
              <a:t>Đọc một giá trị p cùng với độ lớn hiệu ứng và khoảng tin cậy của nó.</a:t>
            </a:r>
          </a:p>
          <a:p>
            <a:pPr marL="0" indent="0" algn="l">
              <a:lnSpc>
                <a:spcPct val="108000"/>
              </a:lnSpc>
              <a:spcBef>
                <a:spcPts val="440"/>
              </a:spcBef>
              <a:buNone/>
            </a:pPr>
            <a:r>
              <a:rPr lang="en-US" sz="1800" dirty="0">
                <a:solidFill>
                  <a:srgbClr val="000000"/>
                </a:solidFill>
                <a:latin typeface="Segoe UI"/>
                <a:cs typeface="Segoe UI"/>
              </a:rPr>
              <a:t>Phân biệt ý nghĩa thống kê với tầm quan trọng lâm sàng.</a:t>
            </a:r>
          </a:p>
          <a:p>
            <a:pPr>
              <a:buNone/>
            </a:pPr>
            <a:endParaRPr sz="1050"/>
          </a:p>
          <a:p>
            <a:pPr marL="0" indent="0" algn="l">
              <a:spcBef>
                <a:spcPts val="360"/>
              </a:spcBef>
              <a:buNone/>
            </a:pPr>
            <a:r>
              <a:rPr lang="en-US" sz="2050" b="1" dirty="0">
                <a:solidFill>
                  <a:srgbClr val="0D7377"/>
                </a:solidFill>
                <a:latin typeface="Segoe UI"/>
                <a:cs typeface="Segoe UI"/>
              </a:rPr>
              <a:t>Ngày 5 đi xa hơn</a:t>
            </a:r>
          </a:p>
          <a:p>
            <a:pPr marL="0" indent="0" algn="l">
              <a:lnSpc>
                <a:spcPct val="108000"/>
              </a:lnSpc>
              <a:spcBef>
                <a:spcPts val="440"/>
              </a:spcBef>
              <a:buNone/>
            </a:pPr>
            <a:r>
              <a:rPr lang="en-US" sz="1800" dirty="0">
                <a:solidFill>
                  <a:srgbClr val="000000"/>
                </a:solidFill>
                <a:latin typeface="Segoe UI"/>
                <a:cs typeface="Segoe UI"/>
              </a:rPr>
              <a:t>Giới thiệu về hồi quy: tuyến tính (con số) và logistic (Có/Không).</a:t>
            </a:r>
          </a:p>
          <a:p>
            <a:pPr marL="0" indent="0" algn="l">
              <a:lnSpc>
                <a:spcPct val="108000"/>
              </a:lnSpc>
              <a:spcBef>
                <a:spcPts val="440"/>
              </a:spcBef>
              <a:buNone/>
            </a:pPr>
            <a:r>
              <a:rPr lang="en-US" sz="1800" dirty="0">
                <a:solidFill>
                  <a:srgbClr val="000000"/>
                </a:solidFill>
                <a:latin typeface="Segoe UI"/>
                <a:cs typeface="Segoe UI"/>
              </a:rPr>
              <a:t>Tỷ số chênh, hiệu chỉnh và nhiễu.</a:t>
            </a:r>
          </a:p>
          <a:p>
            <a:pPr marL="0" indent="0" algn="l">
              <a:lnSpc>
                <a:spcPct val="108000"/>
              </a:lnSpc>
              <a:spcBef>
                <a:spcPts val="440"/>
              </a:spcBef>
              <a:buNone/>
            </a:pPr>
            <a:r>
              <a:rPr lang="en-US" sz="1800" dirty="0">
                <a:solidFill>
                  <a:srgbClr val="000000"/>
                </a:solidFill>
                <a:latin typeface="Segoe UI"/>
                <a:cs typeface="Segoe UI"/>
              </a:rPr>
              <a:t>Biến kết quả mô hình thành phần Kết quả, một cách có thể tái lập.</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Segoe UI"/>
                <a:cs typeface="Segoe UI"/>
              </a:rPr>
              <a:t>LƯU Ý  -  Mang theo</a:t>
            </a:r>
          </a:p>
          <a:p>
            <a:pPr marL="0" indent="0" algn="l">
              <a:spcBef>
                <a:spcPts val="100"/>
              </a:spcBef>
              <a:buNone/>
            </a:pPr>
            <a:r>
              <a:rPr lang="en-US" sz="1300" dirty="0">
                <a:solidFill>
                  <a:srgbClr val="000000"/>
                </a:solidFill>
                <a:latin typeface="Segoe UI"/>
                <a:cs typeface="Segoe UI"/>
              </a:rPr>
              <a:t>Giữ bảng khung ra quyết định của bạn - buổi tiếp theo chúng ta mô hình hóa nhiều yếu tố dự báo cùng lúc.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Segoe UI"/>
                <a:cs typeface="Segoe UI"/>
              </a:rPr>
              <a:t>Ngày 5: Giới Thiệu Hồi Quy &amp; Diễn Giải Kết Quả</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Segoe UI"/>
                <a:cs typeface="Segoe UI"/>
              </a:rPr>
              <a:t>Plan</a:t>
            </a:r>
          </a:p>
          <a:p>
            <a:pPr>
              <a:buNone/>
            </a:pPr>
            <a:endParaRPr sz="800"/>
          </a:p>
          <a:p>
            <a:pPr marL="274320" indent="-274320" algn="l">
              <a:spcBef>
                <a:spcPts val="440"/>
              </a:spcBef>
              <a:buFont typeface="Arial"/>
              <a:buChar char="•"/>
            </a:pPr>
            <a:r>
              <a:rPr lang="en-US" sz="1900" dirty="0">
                <a:solidFill>
                  <a:srgbClr val="000000"/>
                </a:solidFill>
                <a:latin typeface="Segoe UI"/>
                <a:cs typeface="Segoe UI"/>
              </a:rPr>
              <a:t>Hồi quy tuyến tính: mô hình hóa một biến kết cục liên tục</a:t>
            </a:r>
          </a:p>
          <a:p>
            <a:pPr marL="274320" indent="-274320" algn="l">
              <a:spcBef>
                <a:spcPts val="440"/>
              </a:spcBef>
              <a:buFont typeface="Arial"/>
              <a:buChar char="•"/>
            </a:pPr>
            <a:r>
              <a:rPr lang="en-US" sz="1900" dirty="0">
                <a:solidFill>
                  <a:srgbClr val="000000"/>
                </a:solidFill>
                <a:latin typeface="Segoe UI"/>
                <a:cs typeface="Segoe UI"/>
              </a:rPr>
              <a:t>Hồi quy logistic: tỷ số chênh cho một biến kết cục Có/Không</a:t>
            </a:r>
          </a:p>
          <a:p>
            <a:pPr marL="274320" indent="-274320" algn="l">
              <a:spcBef>
                <a:spcPts val="440"/>
              </a:spcBef>
              <a:buFont typeface="Arial"/>
              <a:buChar char="•"/>
            </a:pPr>
            <a:r>
              <a:rPr lang="en-US" sz="1900" dirty="0">
                <a:solidFill>
                  <a:srgbClr val="000000"/>
                </a:solidFill>
                <a:latin typeface="Segoe UI"/>
                <a:cs typeface="Segoe UI"/>
              </a:rPr>
              <a:t>Hiệu chỉnh cho nhiều yếu tố, và nhiễu</a:t>
            </a:r>
          </a:p>
          <a:p>
            <a:pPr marL="274320" indent="-274320" algn="l">
              <a:spcBef>
                <a:spcPts val="440"/>
              </a:spcBef>
              <a:buFont typeface="Arial"/>
              <a:buChar char="•"/>
            </a:pPr>
            <a:r>
              <a:rPr lang="en-US" sz="1900" dirty="0">
                <a:solidFill>
                  <a:srgbClr val="000000"/>
                </a:solidFill>
                <a:latin typeface="Segoe UI"/>
                <a:cs typeface="Segoe UI"/>
              </a:rPr>
              <a:t>Bảng, hình và phần Kết quả sẵn sàng cho xuất bản</a:t>
            </a:r>
          </a:p>
          <a:p>
            <a:pPr marL="274320" indent="-274320" algn="l">
              <a:spcBef>
                <a:spcPts val="440"/>
              </a:spcBef>
              <a:buFont typeface="Arial"/>
              <a:buChar char="•"/>
            </a:pPr>
            <a:r>
              <a:rPr lang="en-US" sz="1900" dirty="0">
                <a:solidFill>
                  <a:srgbClr val="000000"/>
                </a:solidFill>
                <a:latin typeface="Segoe UI"/>
                <a:cs typeface="Segoe UI"/>
              </a:rPr>
              <a:t>Khả năng tái lập: script, seed và project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Mục Tiêu Hôm Nay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Segoe UI"/>
                <a:cs typeface="Segoe UI"/>
              </a:rPr>
              <a:t>Đến cuối Ngày 5 bạn sẽ có thể:</a:t>
            </a:r>
          </a:p>
          <a:p>
            <a:pPr>
              <a:buNone/>
            </a:pPr>
            <a:endParaRPr sz="950"/>
          </a:p>
          <a:p>
            <a:pPr marL="274320" indent="-274320" algn="l">
              <a:lnSpc>
                <a:spcPct val="106000"/>
              </a:lnSpc>
              <a:spcBef>
                <a:spcPts val="560"/>
              </a:spcBef>
              <a:buFont typeface="Arial"/>
              <a:buChar char="•"/>
            </a:pPr>
            <a:r>
              <a:rPr lang="en-US" sz="1950" dirty="0">
                <a:solidFill>
                  <a:srgbClr val="000000"/>
                </a:solidFill>
                <a:latin typeface="Segoe UI"/>
                <a:cs typeface="Segoe UI"/>
              </a:rPr>
              <a:t>Khớp và đọc một hồi quy tuyến tính cho một biến kết cục liên tục.</a:t>
            </a:r>
          </a:p>
          <a:p>
            <a:pPr marL="274320" indent="-274320" algn="l">
              <a:lnSpc>
                <a:spcPct val="106000"/>
              </a:lnSpc>
              <a:spcBef>
                <a:spcPts val="560"/>
              </a:spcBef>
              <a:buFont typeface="Arial"/>
              <a:buChar char="•"/>
            </a:pPr>
            <a:r>
              <a:rPr lang="en-US" sz="1950" dirty="0">
                <a:solidFill>
                  <a:srgbClr val="000000"/>
                </a:solidFill>
                <a:latin typeface="Segoe UI"/>
                <a:cs typeface="Segoe UI"/>
              </a:rPr>
              <a:t>Khớp một hồi quy logistic và đọc tỷ số chênh với KTC 95%.</a:t>
            </a:r>
          </a:p>
          <a:p>
            <a:pPr marL="274320" indent="-274320" algn="l">
              <a:lnSpc>
                <a:spcPct val="106000"/>
              </a:lnSpc>
              <a:spcBef>
                <a:spcPts val="560"/>
              </a:spcBef>
              <a:buFont typeface="Arial"/>
              <a:buChar char="•"/>
            </a:pPr>
            <a:r>
              <a:rPr lang="en-US" sz="1950" dirty="0">
                <a:solidFill>
                  <a:srgbClr val="000000"/>
                </a:solidFill>
                <a:latin typeface="Segoe UI"/>
                <a:cs typeface="Segoe UI"/>
              </a:rPr>
              <a:t>Hiểu tại sao chúng ta hiệu chỉnh cho nhiều yếu tố, và nhận diện nhiễu.</a:t>
            </a:r>
          </a:p>
          <a:p>
            <a:pPr marL="274320" indent="-274320" algn="l">
              <a:lnSpc>
                <a:spcPct val="106000"/>
              </a:lnSpc>
              <a:spcBef>
                <a:spcPts val="560"/>
              </a:spcBef>
              <a:buFont typeface="Arial"/>
              <a:buChar char="•"/>
            </a:pPr>
            <a:r>
              <a:rPr lang="en-US" sz="1950" dirty="0">
                <a:solidFill>
                  <a:srgbClr val="000000"/>
                </a:solidFill>
                <a:latin typeface="Segoe UI"/>
                <a:cs typeface="Segoe UI"/>
              </a:rPr>
              <a:t>Trình bày kết quả hiệu chỉnh dưới dạng một bảng rõ ràng và một biểu đồ forest.</a:t>
            </a:r>
          </a:p>
          <a:p>
            <a:pPr marL="274320" indent="-274320" algn="l">
              <a:lnSpc>
                <a:spcPct val="106000"/>
              </a:lnSpc>
              <a:spcBef>
                <a:spcPts val="560"/>
              </a:spcBef>
              <a:buFont typeface="Arial"/>
              <a:buChar char="•"/>
            </a:pPr>
            <a:r>
              <a:rPr lang="en-US" sz="1950" dirty="0">
                <a:solidFill>
                  <a:srgbClr val="000000"/>
                </a:solidFill>
                <a:latin typeface="Segoe UI"/>
                <a:cs typeface="Segoe UI"/>
              </a:rPr>
              <a:t>Viết một phần Kết quả ngắn gọn, trung thực từ các con số của chính bạn.</a:t>
            </a:r>
          </a:p>
          <a:p>
            <a:pPr marL="274320" indent="-274320" algn="l">
              <a:lnSpc>
                <a:spcPct val="106000"/>
              </a:lnSpc>
              <a:spcBef>
                <a:spcPts val="560"/>
              </a:spcBef>
              <a:buFont typeface="Arial"/>
              <a:buChar char="•"/>
            </a:pPr>
            <a:r>
              <a:rPr lang="en-US" sz="1950" dirty="0">
                <a:solidFill>
                  <a:srgbClr val="000000"/>
                </a:solidFill>
                <a:latin typeface="Segoe UI"/>
                <a:cs typeface="Segoe UI"/>
              </a:rPr>
              <a:t>Làm cho toàn bộ phân tích có thể tái lập từ đầu đến cuối.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Chúng Ta Đang Ở Đâu Trong Hành Trình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Xuyên suốt tuần</a:t>
            </a:r>
          </a:p>
          <a:p>
            <a:pPr marL="0" indent="0" algn="l">
              <a:lnSpc>
                <a:spcPct val="108000"/>
              </a:lnSpc>
              <a:spcBef>
                <a:spcPts val="440"/>
              </a:spcBef>
              <a:buNone/>
            </a:pPr>
            <a:r>
              <a:rPr lang="en-US" sz="1800" dirty="0">
                <a:solidFill>
                  <a:srgbClr val="000000"/>
                </a:solidFill>
                <a:latin typeface="Segoe UI"/>
                <a:cs typeface="Segoe UI"/>
              </a:rPr>
              <a:t>Buổi 1-2: nhập và làm sạch bộ dữ liệu tăng huyết áp.</a:t>
            </a:r>
          </a:p>
          <a:p>
            <a:pPr marL="0" indent="0" algn="l">
              <a:lnSpc>
                <a:spcPct val="108000"/>
              </a:lnSpc>
              <a:spcBef>
                <a:spcPts val="440"/>
              </a:spcBef>
              <a:buNone/>
            </a:pPr>
            <a:r>
              <a:rPr lang="en-US" sz="1800" dirty="0">
                <a:solidFill>
                  <a:srgbClr val="000000"/>
                </a:solidFill>
                <a:latin typeface="Segoe UI"/>
                <a:cs typeface="Segoe UI"/>
              </a:rPr>
              <a:t>Buổi 3: tóm tắt và trực quan hóa (Bảng 1, các hình).</a:t>
            </a:r>
          </a:p>
          <a:p>
            <a:pPr marL="0" indent="0" algn="l">
              <a:lnSpc>
                <a:spcPct val="108000"/>
              </a:lnSpc>
              <a:spcBef>
                <a:spcPts val="440"/>
              </a:spcBef>
              <a:buNone/>
            </a:pPr>
            <a:r>
              <a:rPr lang="en-US" sz="1800" dirty="0">
                <a:solidFill>
                  <a:srgbClr val="000000"/>
                </a:solidFill>
                <a:latin typeface="Segoe UI"/>
                <a:cs typeface="Segoe UI"/>
              </a:rPr>
              <a:t>Buổi 4: các kiểm định thống kê thường gặp (kiểm định t, chi bình phương, tương quan).</a:t>
            </a:r>
          </a:p>
          <a:p>
            <a:pPr marL="0" indent="0" algn="l">
              <a:lnSpc>
                <a:spcPct val="108000"/>
              </a:lnSpc>
              <a:spcBef>
                <a:spcPts val="440"/>
              </a:spcBef>
              <a:buNone/>
            </a:pPr>
            <a:r>
              <a:rPr lang="en-US" sz="1800" dirty="0">
                <a:solidFill>
                  <a:srgbClr val="000000"/>
                </a:solidFill>
                <a:latin typeface="Segoe UI"/>
                <a:cs typeface="Segoe UI"/>
              </a:rPr>
              <a:t>Buổi 5: hồi quy - mô hình hóa, diễn giải, báo cáo và tái lập.</a:t>
            </a:r>
          </a:p>
          <a:p>
            <a:pPr>
              <a:buNone/>
            </a:pPr>
            <a:endParaRPr sz="1050"/>
          </a:p>
          <a:p>
            <a:pPr marL="0" indent="0" algn="l">
              <a:spcBef>
                <a:spcPts val="360"/>
              </a:spcBef>
              <a:buNone/>
            </a:pPr>
            <a:r>
              <a:rPr lang="en-US" sz="2050" b="1" dirty="0">
                <a:solidFill>
                  <a:srgbClr val="0D7377"/>
                </a:solidFill>
                <a:latin typeface="Segoe UI"/>
                <a:cs typeface="Segoe UI"/>
              </a:rPr>
              <a:t>Ví dụ xuyên suốt hôm nay</a:t>
            </a:r>
          </a:p>
          <a:p>
            <a:pPr marL="0" indent="0" algn="l">
              <a:lnSpc>
                <a:spcPct val="108000"/>
              </a:lnSpc>
              <a:spcBef>
                <a:spcPts val="440"/>
              </a:spcBef>
              <a:buNone/>
            </a:pPr>
            <a:r>
              <a:rPr lang="en-US" sz="1800" dirty="0">
                <a:solidFill>
                  <a:srgbClr val="000000"/>
                </a:solidFill>
                <a:latin typeface="Segoe UI"/>
                <a:cs typeface="Segoe UI"/>
              </a:rPr>
              <a:t>Biến kết cục: treatment_uptake ở người tăng huyết áp đã được chẩn đoán.</a:t>
            </a:r>
          </a:p>
          <a:p>
            <a:pPr marL="0" indent="0" algn="l">
              <a:lnSpc>
                <a:spcPct val="108000"/>
              </a:lnSpc>
              <a:spcBef>
                <a:spcPts val="440"/>
              </a:spcBef>
              <a:buNone/>
            </a:pPr>
            <a:r>
              <a:rPr lang="en-US" sz="1800" dirty="0">
                <a:solidFill>
                  <a:srgbClr val="000000"/>
                </a:solidFill>
                <a:latin typeface="Segoe UI"/>
                <a:cs typeface="Segoe UI"/>
              </a:rPr>
              <a:t>Mẫu phân tích: 1,089 người đã chẩn đoán; 992 trường hợp đầy đủ được mô hình hóa.</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Segoe UI"/>
                <a:cs typeface="Segoe UI"/>
              </a:rPr>
              <a:t>LƯU Ý  -  Một bộ dữ liệu, từ đầu đến cuối</a:t>
            </a:r>
          </a:p>
          <a:p>
            <a:pPr marL="0" indent="0" algn="l">
              <a:spcBef>
                <a:spcPts val="100"/>
              </a:spcBef>
              <a:buNone/>
            </a:pPr>
            <a:r>
              <a:rPr lang="en-US" sz="1300" dirty="0">
                <a:solidFill>
                  <a:srgbClr val="000000"/>
                </a:solidFill>
                <a:latin typeface="Segoe UI"/>
                <a:cs typeface="Segoe UI"/>
              </a:rPr>
              <a:t>Mọi kết quả hôm nay đều đến từ cùng nghiên cứu bạn đã làm sạch trước đó.</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Hồi Quy Tuyến Tính: Mô Hình Hóa Một Con Số</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Khi biến kết cục là một con số</a:t>
            </a:r>
          </a:p>
          <a:p>
            <a:pPr marL="0" indent="0" algn="l">
              <a:lnSpc>
                <a:spcPct val="108000"/>
              </a:lnSpc>
              <a:spcBef>
                <a:spcPts val="440"/>
              </a:spcBef>
              <a:buNone/>
            </a:pPr>
            <a:r>
              <a:rPr lang="en-US" sz="1800" dirty="0">
                <a:solidFill>
                  <a:srgbClr val="000000"/>
                </a:solidFill>
                <a:latin typeface="Segoe UI"/>
                <a:cs typeface="Segoe UI"/>
              </a:rPr>
              <a:t>Hồi quy tuyến tính mô hình hóa một biến kết cục LIÊN TỤC, chẳng hạn huyết áp.</a:t>
            </a:r>
          </a:p>
          <a:p>
            <a:pPr marL="0" indent="0" algn="l">
              <a:lnSpc>
                <a:spcPct val="108000"/>
              </a:lnSpc>
              <a:spcBef>
                <a:spcPts val="440"/>
              </a:spcBef>
              <a:buNone/>
            </a:pPr>
            <a:r>
              <a:rPr lang="en-US" sz="1800" dirty="0">
                <a:solidFill>
                  <a:srgbClr val="000000"/>
                </a:solidFill>
                <a:latin typeface="Segoe UI"/>
                <a:cs typeface="Segoe UI"/>
              </a:rPr>
              <a:t>Biến kết cục = một phần hệ thống (các yếu tố dự báo) + biến thiên không giải thích được.</a:t>
            </a:r>
          </a:p>
          <a:p>
            <a:pPr marL="0" indent="0" algn="l">
              <a:lnSpc>
                <a:spcPct val="108000"/>
              </a:lnSpc>
              <a:spcBef>
                <a:spcPts val="440"/>
              </a:spcBef>
              <a:buNone/>
            </a:pPr>
            <a:r>
              <a:rPr lang="en-US" sz="1800" dirty="0">
                <a:solidFill>
                  <a:srgbClr val="000000"/>
                </a:solidFill>
                <a:latin typeface="Segoe UI"/>
                <a:cs typeface="Segoe UI"/>
              </a:rPr>
              <a:t>Nó ước lượng biến kết cục thay đổi bao nhiêu cho mỗi đơn vị của một yếu tố dự báo.</a:t>
            </a:r>
          </a:p>
          <a:p>
            <a:pPr>
              <a:buNone/>
            </a:pPr>
            <a:endParaRPr sz="1050"/>
          </a:p>
          <a:p>
            <a:pPr marL="0" indent="0" algn="l">
              <a:spcBef>
                <a:spcPts val="360"/>
              </a:spcBef>
              <a:buNone/>
            </a:pPr>
            <a:r>
              <a:rPr lang="en-US" sz="2050" b="1" dirty="0">
                <a:solidFill>
                  <a:srgbClr val="0D7377"/>
                </a:solidFill>
                <a:latin typeface="Segoe UI"/>
                <a:cs typeface="Segoe UI"/>
              </a:rPr>
              <a:t>Đọc kết quả</a:t>
            </a:r>
          </a:p>
          <a:p>
            <a:pPr marL="0" indent="0" algn="l">
              <a:lnSpc>
                <a:spcPct val="108000"/>
              </a:lnSpc>
              <a:spcBef>
                <a:spcPts val="440"/>
              </a:spcBef>
              <a:buNone/>
            </a:pPr>
            <a:r>
              <a:rPr lang="en-US" sz="1800" dirty="0">
                <a:solidFill>
                  <a:srgbClr val="000000"/>
                </a:solidFill>
                <a:latin typeface="Segoe UI"/>
                <a:cs typeface="Segoe UI"/>
              </a:rPr>
              <a:t>Hệ số (độ dốc) là thay đổi của biến kết cục cho mỗi mức tăng một đơn vị.</a:t>
            </a:r>
          </a:p>
          <a:p>
            <a:pPr marL="0" indent="0" algn="l">
              <a:lnSpc>
                <a:spcPct val="108000"/>
              </a:lnSpc>
              <a:spcBef>
                <a:spcPts val="440"/>
              </a:spcBef>
              <a:buNone/>
            </a:pPr>
            <a:r>
              <a:rPr lang="en-US" sz="1800" dirty="0">
                <a:solidFill>
                  <a:srgbClr val="000000"/>
                </a:solidFill>
                <a:latin typeface="Segoe UI"/>
                <a:cs typeface="Segoe UI"/>
              </a:rPr>
              <a:t>Mỗi hệ số đi kèm một KTC 95% và một giá trị p.</a:t>
            </a:r>
          </a:p>
          <a:p>
            <a:pPr marL="0" indent="0" algn="l">
              <a:lnSpc>
                <a:spcPct val="108000"/>
              </a:lnSpc>
              <a:spcBef>
                <a:spcPts val="440"/>
              </a:spcBef>
              <a:buNone/>
            </a:pPr>
            <a:r>
              <a:rPr lang="en-US" sz="1800" dirty="0">
                <a:solidFill>
                  <a:srgbClr val="000000"/>
                </a:solidFill>
                <a:latin typeface="Segoe UI"/>
                <a:cs typeface="Segoe UI"/>
              </a:rPr>
              <a:t>Thêm các yếu tố dự báo cho ta hiệu ứng ĐÃ HIỆU CHỈNH của mỗi cái, giữ những cái khác không đổi.</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Segoe UI"/>
                <a:cs typeface="Segoe UI"/>
              </a:rPr>
              <a:t>DIỄN GIẢI LÂM SÀNG  -  Câu hỏi lâm sàng</a:t>
            </a:r>
          </a:p>
          <a:p>
            <a:pPr marL="0" indent="0" algn="l">
              <a:spcBef>
                <a:spcPts val="100"/>
              </a:spcBef>
              <a:buNone/>
            </a:pPr>
            <a:r>
              <a:rPr lang="en-US" sz="1300" dirty="0">
                <a:solidFill>
                  <a:srgbClr val="000000"/>
                </a:solidFill>
                <a:latin typeface="Segoe UI"/>
                <a:cs typeface="Segoe UI"/>
              </a:rPr>
              <a:t>Huyết áp tâm thu có liên quan với tuổi không - và nó có còn đúng sau khi hiệu chỉnh cho giới và BMI?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Demo: Hồi Quy Tuyến Tính Của SBP Theo Tuổi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Huyết áp tâm thu có tăng theo tuổi không, khi hiệu chỉnh cho giới và BMI?</a:t>
            </a:r>
          </a:p>
        </p:txBody>
      </p:sp>
      <p:sp>
        <p:nvSpPr>
          <p:cNvPr id="30" name="Code"/>
          <p:cNvSpPr/>
          <p:nvPr/>
        </p:nvSpPr>
        <p:spPr>
          <a:xfrm>
            <a:off x="457200" y="1640000"/>
            <a:ext cx="11277600" cy="165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m1 &lt;- lm(sbp_mmhg ~ age, data = analysis_data)</a:t>
            </a:r>
          </a:p>
          <a:p>
            <a:pPr marL="0" indent="0" algn="l">
              <a:lnSpc>
                <a:spcPct val="100000"/>
              </a:lnSpc>
              <a:buNone/>
            </a:pPr>
            <a:r>
              <a:rPr lang="en-US" sz="1300" dirty="0">
                <a:solidFill>
                  <a:srgbClr val="1B3A4B"/>
                </a:solidFill>
                <a:latin typeface="Consolas"/>
                <a:cs typeface="Consolas"/>
              </a:rPr>
              <a:t>summary(m1)</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 adjust for sex and BMI</a:t>
            </a:r>
          </a:p>
          <a:p>
            <a:pPr marL="0" indent="0" algn="l">
              <a:lnSpc>
                <a:spcPct val="100000"/>
              </a:lnSpc>
              <a:buNone/>
            </a:pPr>
            <a:r>
              <a:rPr lang="en-US" sz="1300" dirty="0">
                <a:solidFill>
                  <a:srgbClr val="1B3A4B"/>
                </a:solidFill>
                <a:latin typeface="Consolas"/>
                <a:cs typeface="Consolas"/>
              </a:rPr>
              <a:t>m2 &lt;- lm(sbp_mmhg ~ age + sex + bmi,</a:t>
            </a:r>
          </a:p>
          <a:p>
            <a:pPr marL="0" indent="0" algn="l">
              <a:lnSpc>
                <a:spcPct val="100000"/>
              </a:lnSpc>
              <a:buNone/>
            </a:pPr>
            <a:r>
              <a:rPr lang="en-US" sz="1300" dirty="0">
                <a:solidFill>
                  <a:srgbClr val="1B3A4B"/>
                </a:solidFill>
                <a:latin typeface="Consolas"/>
                <a:cs typeface="Consolas"/>
              </a:rPr>
              <a:t>         data = analysis_data)</a:t>
            </a:r>
          </a:p>
          <a:p>
            <a:pPr marL="0" indent="0" algn="l">
              <a:lnSpc>
                <a:spcPct val="100000"/>
              </a:lnSpc>
              <a:buNone/>
            </a:pPr>
            <a:r>
              <a:rPr lang="en-US" sz="1300" dirty="0">
                <a:solidFill>
                  <a:srgbClr val="1B3A4B"/>
                </a:solidFill>
                <a:latin typeface="Consolas"/>
                <a:cs typeface="Consolas"/>
              </a:rPr>
              <a:t>tidy(m2, conf.int = TRUE)</a:t>
            </a:r>
          </a:p>
        </p:txBody>
      </p:sp>
      <p:sp>
        <p:nvSpPr>
          <p:cNvPr id="31" name="Output"/>
          <p:cNvSpPr/>
          <p:nvPr/>
        </p:nvSpPr>
        <p:spPr>
          <a:xfrm>
            <a:off x="457200" y="344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term        estimate conf.low conf.high p.value</a:t>
            </a:r>
          </a:p>
          <a:p>
            <a:pPr marL="0" indent="0" algn="l">
              <a:lnSpc>
                <a:spcPct val="100000"/>
              </a:lnSpc>
              <a:buNone/>
            </a:pPr>
            <a:r>
              <a:rPr lang="en-US" sz="1250" dirty="0">
                <a:solidFill>
                  <a:srgbClr val="1A1A1A"/>
                </a:solidFill>
                <a:latin typeface="Consolas"/>
                <a:cs typeface="Consolas"/>
              </a:rPr>
              <a:t>(Intercept)   87.31    81.01    93.61   &lt;0.001</a:t>
            </a:r>
          </a:p>
          <a:p>
            <a:pPr marL="0" indent="0" algn="l">
              <a:lnSpc>
                <a:spcPct val="100000"/>
              </a:lnSpc>
              <a:buNone/>
            </a:pPr>
            <a:r>
              <a:rPr lang="en-US" sz="1250" dirty="0">
                <a:solidFill>
                  <a:srgbClr val="1A1A1A"/>
                </a:solidFill>
                <a:latin typeface="Consolas"/>
                <a:cs typeface="Consolas"/>
              </a:rPr>
              <a:t>age            0.26     0.19     0.33   &lt;0.001</a:t>
            </a:r>
          </a:p>
          <a:p>
            <a:pPr marL="0" indent="0" algn="l">
              <a:lnSpc>
                <a:spcPct val="100000"/>
              </a:lnSpc>
              <a:buNone/>
            </a:pPr>
            <a:r>
              <a:rPr lang="en-US" sz="1250" dirty="0">
                <a:solidFill>
                  <a:srgbClr val="1A1A1A"/>
                </a:solidFill>
                <a:latin typeface="Consolas"/>
                <a:cs typeface="Consolas"/>
              </a:rPr>
              <a:t>sexMale        0.33    -1.57     2.22    0.74</a:t>
            </a:r>
          </a:p>
          <a:p>
            <a:pPr marL="0" indent="0" algn="l">
              <a:lnSpc>
                <a:spcPct val="100000"/>
              </a:lnSpc>
              <a:buNone/>
            </a:pPr>
            <a:r>
              <a:rPr lang="en-US" sz="1250" dirty="0">
                <a:solidFill>
                  <a:srgbClr val="1A1A1A"/>
                </a:solidFill>
                <a:latin typeface="Consolas"/>
                <a:cs typeface="Consolas"/>
              </a:rPr>
              <a:t>bmi            1.45     1.26     1.64   &lt;0.001</a:t>
            </a:r>
          </a:p>
        </p:txBody>
      </p:sp>
      <p:sp>
        <p:nvSpPr>
          <p:cNvPr id="32" name="Note"/>
          <p:cNvSpPr/>
          <p:nvPr/>
        </p:nvSpPr>
        <p:spPr>
          <a:xfrm>
            <a:off x="457200" y="48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Mỗi năm tuổi thêm khoảng 0.26 mmHg vào SBP và mỗi đơn vị BMI khoảng 1.45 mmHg; giới không có ý nghĩa thống kê.</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Tại Sao Dùng Hồi Quy Logistic?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Biến kết cục là nhị phân</a:t>
            </a:r>
          </a:p>
          <a:p>
            <a:pPr marL="0" indent="0" algn="l">
              <a:lnSpc>
                <a:spcPct val="108000"/>
              </a:lnSpc>
              <a:spcBef>
                <a:spcPts val="440"/>
              </a:spcBef>
              <a:buNone/>
            </a:pPr>
            <a:r>
              <a:rPr lang="en-US" sz="1800" dirty="0">
                <a:solidFill>
                  <a:srgbClr val="000000"/>
                </a:solidFill>
                <a:latin typeface="Segoe UI"/>
                <a:cs typeface="Segoe UI"/>
              </a:rPr>
              <a:t>Tiếp nhận điều trị là Có/Không - không phải một con số, nên không phải hồi quy tuyến tính.</a:t>
            </a:r>
          </a:p>
          <a:p>
            <a:pPr marL="0" indent="0" algn="l">
              <a:lnSpc>
                <a:spcPct val="108000"/>
              </a:lnSpc>
              <a:spcBef>
                <a:spcPts val="440"/>
              </a:spcBef>
              <a:buNone/>
            </a:pPr>
            <a:r>
              <a:rPr lang="en-US" sz="1800" dirty="0">
                <a:solidFill>
                  <a:srgbClr val="000000"/>
                </a:solidFill>
                <a:latin typeface="Segoe UI"/>
                <a:cs typeface="Segoe UI"/>
              </a:rPr>
              <a:t>Hồi quy logistic mô hình hóa SỐ CHÊNH của biến kết cục 'Có'.</a:t>
            </a:r>
          </a:p>
          <a:p>
            <a:pPr marL="0" indent="0" algn="l">
              <a:lnSpc>
                <a:spcPct val="108000"/>
              </a:lnSpc>
              <a:spcBef>
                <a:spcPts val="440"/>
              </a:spcBef>
              <a:buNone/>
            </a:pPr>
            <a:r>
              <a:rPr lang="en-US" sz="1800" dirty="0">
                <a:solidFill>
                  <a:srgbClr val="000000"/>
                </a:solidFill>
                <a:latin typeface="Segoe UI"/>
                <a:cs typeface="Segoe UI"/>
              </a:rPr>
              <a:t>Nó xử lý một yếu tố dự báo hoặc nhiều yếu tố cùng lúc.</a:t>
            </a:r>
          </a:p>
          <a:p>
            <a:pPr>
              <a:buNone/>
            </a:pPr>
            <a:endParaRPr sz="1050"/>
          </a:p>
          <a:p>
            <a:pPr marL="0" indent="0" algn="l">
              <a:spcBef>
                <a:spcPts val="360"/>
              </a:spcBef>
              <a:buNone/>
            </a:pPr>
            <a:r>
              <a:rPr lang="en-US" sz="2050" b="1" dirty="0">
                <a:solidFill>
                  <a:srgbClr val="0D7377"/>
                </a:solidFill>
                <a:latin typeface="Segoe UI"/>
                <a:cs typeface="Segoe UI"/>
              </a:rPr>
              <a:t>Số chênh và tỷ số chênh</a:t>
            </a:r>
          </a:p>
          <a:p>
            <a:pPr marL="0" indent="0" algn="l">
              <a:lnSpc>
                <a:spcPct val="108000"/>
              </a:lnSpc>
              <a:spcBef>
                <a:spcPts val="440"/>
              </a:spcBef>
              <a:buNone/>
            </a:pPr>
            <a:r>
              <a:rPr lang="en-US" sz="1800" dirty="0">
                <a:solidFill>
                  <a:srgbClr val="000000"/>
                </a:solidFill>
                <a:latin typeface="Segoe UI"/>
                <a:cs typeface="Segoe UI"/>
              </a:rPr>
              <a:t>Số chênh = xác suất Có chia cho xác suất Không.</a:t>
            </a:r>
          </a:p>
          <a:p>
            <a:pPr marL="0" indent="0" algn="l">
              <a:lnSpc>
                <a:spcPct val="108000"/>
              </a:lnSpc>
              <a:spcBef>
                <a:spcPts val="440"/>
              </a:spcBef>
              <a:buNone/>
            </a:pPr>
            <a:r>
              <a:rPr lang="en-US" sz="1800" dirty="0">
                <a:solidFill>
                  <a:srgbClr val="000000"/>
                </a:solidFill>
                <a:latin typeface="Segoe UI"/>
                <a:cs typeface="Segoe UI"/>
              </a:rPr>
              <a:t>Một tỷ số chênh (OR) so sánh số chênh giữa hai nhóm.</a:t>
            </a:r>
          </a:p>
          <a:p>
            <a:pPr marL="0" indent="0" algn="l">
              <a:lnSpc>
                <a:spcPct val="108000"/>
              </a:lnSpc>
              <a:spcBef>
                <a:spcPts val="440"/>
              </a:spcBef>
              <a:buNone/>
            </a:pPr>
            <a:r>
              <a:rPr lang="en-US" sz="1800" dirty="0">
                <a:solidFill>
                  <a:srgbClr val="000000"/>
                </a:solidFill>
                <a:latin typeface="Segoe UI"/>
                <a:cs typeface="Segoe UI"/>
              </a:rPr>
              <a:t>OR là con số duy nhất mà các bác sĩ lâm sàng đọc từ mô hình.</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Tại sao số chênh, không phải xác suất</a:t>
            </a:r>
          </a:p>
          <a:p>
            <a:pPr marL="0" indent="0" algn="l">
              <a:spcBef>
                <a:spcPts val="100"/>
              </a:spcBef>
              <a:buNone/>
            </a:pPr>
            <a:r>
              <a:rPr lang="en-US" sz="1300" dirty="0">
                <a:solidFill>
                  <a:srgbClr val="000000"/>
                </a:solidFill>
                <a:latin typeface="Segoe UI"/>
                <a:cs typeface="Segoe UI"/>
              </a:rPr>
              <a:t>Số chênh cho phép nhân các hiệu ứng một cách gọn gàng và cho một OR không đổi theo nhóm.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Đọc Một Tỷ Số Chênh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Hướng của hiệu ứng</a:t>
            </a:r>
          </a:p>
          <a:p>
            <a:pPr marL="0" indent="0" algn="l">
              <a:lnSpc>
                <a:spcPct val="108000"/>
              </a:lnSpc>
              <a:spcBef>
                <a:spcPts val="440"/>
              </a:spcBef>
              <a:buNone/>
            </a:pPr>
            <a:r>
              <a:rPr lang="en-US" sz="1800" dirty="0">
                <a:solidFill>
                  <a:srgbClr val="000000"/>
                </a:solidFill>
                <a:latin typeface="Segoe UI"/>
                <a:cs typeface="Segoe UI"/>
              </a:rPr>
              <a:t>OR = 1: yếu tố dự báo không có hiệu ứng lên số chênh tiếp nhận.</a:t>
            </a:r>
          </a:p>
          <a:p>
            <a:pPr marL="0" indent="0" algn="l">
              <a:lnSpc>
                <a:spcPct val="108000"/>
              </a:lnSpc>
              <a:spcBef>
                <a:spcPts val="440"/>
              </a:spcBef>
              <a:buNone/>
            </a:pPr>
            <a:r>
              <a:rPr lang="en-US" sz="1800" dirty="0">
                <a:solidFill>
                  <a:srgbClr val="000000"/>
                </a:solidFill>
                <a:latin typeface="Segoe UI"/>
                <a:cs typeface="Segoe UI"/>
              </a:rPr>
              <a:t>OR &gt; 1: số chênh tiếp nhận cao hơn (một yếu tố thúc đẩy dương).</a:t>
            </a:r>
          </a:p>
          <a:p>
            <a:pPr marL="0" indent="0" algn="l">
              <a:lnSpc>
                <a:spcPct val="108000"/>
              </a:lnSpc>
              <a:spcBef>
                <a:spcPts val="440"/>
              </a:spcBef>
              <a:buNone/>
            </a:pPr>
            <a:r>
              <a:rPr lang="en-US" sz="1800" dirty="0">
                <a:solidFill>
                  <a:srgbClr val="000000"/>
                </a:solidFill>
                <a:latin typeface="Segoe UI"/>
                <a:cs typeface="Segoe UI"/>
              </a:rPr>
              <a:t>OR &lt; 1: số chênh tiếp nhận thấp hơn (một yếu tố bảo vệ / âm).</a:t>
            </a:r>
          </a:p>
          <a:p>
            <a:pPr>
              <a:buNone/>
            </a:pPr>
            <a:endParaRPr sz="1050"/>
          </a:p>
          <a:p>
            <a:pPr marL="0" indent="0" algn="l">
              <a:spcBef>
                <a:spcPts val="360"/>
              </a:spcBef>
              <a:buNone/>
            </a:pPr>
            <a:r>
              <a:rPr lang="en-US" sz="2050" b="1" dirty="0">
                <a:solidFill>
                  <a:srgbClr val="0D7377"/>
                </a:solidFill>
                <a:latin typeface="Segoe UI"/>
                <a:cs typeface="Segoe UI"/>
              </a:rPr>
              <a:t>Độ chính xác và ý nghĩa thống kê</a:t>
            </a:r>
          </a:p>
          <a:p>
            <a:pPr marL="0" indent="0" algn="l">
              <a:lnSpc>
                <a:spcPct val="108000"/>
              </a:lnSpc>
              <a:spcBef>
                <a:spcPts val="440"/>
              </a:spcBef>
              <a:buNone/>
            </a:pPr>
            <a:r>
              <a:rPr lang="en-US" sz="1800" dirty="0">
                <a:solidFill>
                  <a:srgbClr val="000000"/>
                </a:solidFill>
                <a:latin typeface="Segoe UI"/>
                <a:cs typeface="Segoe UI"/>
              </a:rPr>
              <a:t>KTC 95% cho thấy khoảng hợp lý cho OR thật.</a:t>
            </a:r>
          </a:p>
          <a:p>
            <a:pPr marL="0" indent="0" algn="l">
              <a:lnSpc>
                <a:spcPct val="108000"/>
              </a:lnSpc>
              <a:spcBef>
                <a:spcPts val="440"/>
              </a:spcBef>
              <a:buNone/>
            </a:pPr>
            <a:r>
              <a:rPr lang="en-US" sz="1800" dirty="0">
                <a:solidFill>
                  <a:srgbClr val="000000"/>
                </a:solidFill>
                <a:latin typeface="Segoe UI"/>
                <a:cs typeface="Segoe UI"/>
              </a:rPr>
              <a:t>Nếu KTC không chứa 1, hiệu ứng có ý nghĩa thống kê.</a:t>
            </a:r>
          </a:p>
          <a:p>
            <a:pPr marL="0" indent="0" algn="l">
              <a:lnSpc>
                <a:spcPct val="108000"/>
              </a:lnSpc>
              <a:spcBef>
                <a:spcPts val="440"/>
              </a:spcBef>
              <a:buNone/>
            </a:pPr>
            <a:r>
              <a:rPr lang="en-US" sz="1800" dirty="0">
                <a:solidFill>
                  <a:srgbClr val="000000"/>
                </a:solidFill>
                <a:latin typeface="Segoe UI"/>
                <a:cs typeface="Segoe UI"/>
              </a:rPr>
              <a:t>Một KTC rộng nghĩa là một ước lượng thiếu chính xác, không chắc chắn.</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Segoe UI"/>
                <a:cs typeface="Segoe UI"/>
              </a:rPr>
              <a:t>DIỄN GIẢI LÂM SÀNG  -  Cách diễn đạt ví dụ</a:t>
            </a:r>
          </a:p>
          <a:p>
            <a:pPr marL="0" indent="0" algn="l">
              <a:spcBef>
                <a:spcPts val="100"/>
              </a:spcBef>
              <a:buNone/>
            </a:pPr>
            <a:r>
              <a:rPr lang="en-US" sz="1300" dirty="0">
                <a:solidFill>
                  <a:srgbClr val="000000"/>
                </a:solidFill>
                <a:latin typeface="Segoe UI"/>
                <a:cs typeface="Segoe UI"/>
              </a:rPr>
              <a:t>Người đái tháo đường có số chênh tiếp nhận gấp 3.6 lần (aOR 3.56, KTC 95% 1.46 đến 9.61).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Demo: Hồi Quy Logistic Đơn Biến (Đái Tháo Đường)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Đái tháo đường có làm tăng số chênh tiếp nhận điều trị không?</a:t>
            </a:r>
          </a:p>
        </p:txBody>
      </p:sp>
      <p:sp>
        <p:nvSpPr>
          <p:cNvPr id="30" name="Code"/>
          <p:cNvSpPr/>
          <p:nvPr/>
        </p:nvSpPr>
        <p:spPr>
          <a:xfrm>
            <a:off x="457200" y="1640000"/>
            <a:ext cx="11277600" cy="102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m_diab &lt;- glm(treatment_uptake ~ diabetes,</a:t>
            </a:r>
          </a:p>
          <a:p>
            <a:pPr marL="0" indent="0" algn="l">
              <a:lnSpc>
                <a:spcPct val="100000"/>
              </a:lnSpc>
              <a:buNone/>
            </a:pPr>
            <a:r>
              <a:rPr lang="en-US" sz="1300" dirty="0">
                <a:solidFill>
                  <a:srgbClr val="1B3A4B"/>
                </a:solidFill>
                <a:latin typeface="Consolas"/>
                <a:cs typeface="Consolas"/>
              </a:rPr>
              <a:t>              data = dx, family = binomial)</a:t>
            </a:r>
          </a:p>
          <a:p>
            <a:pPr marL="0" indent="0" algn="l">
              <a:lnSpc>
                <a:spcPct val="100000"/>
              </a:lnSpc>
              <a:buNone/>
            </a:pPr>
            <a:r>
              <a:rPr lang="en-US" sz="1300" dirty="0">
                <a:solidFill>
                  <a:srgbClr val="1B3A4B"/>
                </a:solidFill>
                <a:latin typeface="Consolas"/>
                <a:cs typeface="Consolas"/>
              </a:rPr>
              <a:t>exp(coef(m_diab))      # odds ratio</a:t>
            </a:r>
          </a:p>
          <a:p>
            <a:pPr marL="0" indent="0" algn="l">
              <a:lnSpc>
                <a:spcPct val="100000"/>
              </a:lnSpc>
              <a:buNone/>
            </a:pPr>
            <a:r>
              <a:rPr lang="en-US" sz="1300" dirty="0">
                <a:solidFill>
                  <a:srgbClr val="1B3A4B"/>
                </a:solidFill>
                <a:latin typeface="Consolas"/>
                <a:cs typeface="Consolas"/>
              </a:rPr>
              <a:t>exp(confint(m_diab))   # 95% CI</a:t>
            </a:r>
          </a:p>
        </p:txBody>
      </p:sp>
      <p:sp>
        <p:nvSpPr>
          <p:cNvPr id="31" name="Output"/>
          <p:cNvSpPr/>
          <p:nvPr/>
        </p:nvSpPr>
        <p:spPr>
          <a:xfrm>
            <a:off x="457200" y="281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(Intercept)   diabetesYes</a:t>
            </a:r>
          </a:p>
          <a:p>
            <a:pPr marL="0" indent="0" algn="l">
              <a:lnSpc>
                <a:spcPct val="100000"/>
              </a:lnSpc>
              <a:buNone/>
            </a:pPr>
            <a:r>
              <a:rPr lang="en-US" sz="1250" dirty="0">
                <a:solidFill>
                  <a:srgbClr val="1A1A1A"/>
                </a:solidFill>
                <a:latin typeface="Consolas"/>
                <a:cs typeface="Consolas"/>
              </a:rPr>
              <a:t>      0.74          2.85</a:t>
            </a:r>
          </a:p>
          <a:p>
            <a:pPr marL="0" indent="0" algn="l">
              <a:lnSpc>
                <a:spcPct val="100000"/>
              </a:lnSpc>
              <a:buNone/>
            </a:pPr>
            <a:r>
              <a:rPr lang="en-US" sz="1250" dirty="0">
                <a:solidFill>
                  <a:srgbClr val="1A1A1A"/>
                </a:solidFill>
                <a:latin typeface="Consolas"/>
                <a:cs typeface="Consolas"/>
              </a:rPr>
              <a:t>            2.5 %   97.5 %</a:t>
            </a:r>
          </a:p>
          <a:p>
            <a:pPr marL="0" indent="0" algn="l">
              <a:lnSpc>
                <a:spcPct val="100000"/>
              </a:lnSpc>
              <a:buNone/>
            </a:pPr>
            <a:r>
              <a:rPr lang="en-US" sz="1250" dirty="0">
                <a:solidFill>
                  <a:srgbClr val="1A1A1A"/>
                </a:solidFill>
                <a:latin typeface="Consolas"/>
                <a:cs typeface="Consolas"/>
              </a:rPr>
              <a:t>diabetesYes  2.01     4.07</a:t>
            </a:r>
          </a:p>
        </p:txBody>
      </p:sp>
      <p:sp>
        <p:nvSpPr>
          <p:cNvPr id="32" name="Note"/>
          <p:cNvSpPr/>
          <p:nvPr/>
        </p:nvSpPr>
        <p:spPr>
          <a:xfrm>
            <a:off x="457200" y="405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OR chưa hiệu chỉnh ~2.85: người đái tháo đường có số chênh tiếp nhận cao gần gấp ba; KTC không chứa 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Một Yếu Tố Dự Báo Liên Tục: Tuổi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OR trên mỗi một đơn vị</a:t>
            </a:r>
          </a:p>
          <a:p>
            <a:pPr marL="0" indent="0" algn="l">
              <a:lnSpc>
                <a:spcPct val="108000"/>
              </a:lnSpc>
              <a:spcBef>
                <a:spcPts val="440"/>
              </a:spcBef>
              <a:buNone/>
            </a:pPr>
            <a:r>
              <a:rPr lang="en-US" sz="1800" dirty="0">
                <a:solidFill>
                  <a:srgbClr val="000000"/>
                </a:solidFill>
                <a:latin typeface="Segoe UI"/>
                <a:cs typeface="Segoe UI"/>
              </a:rPr>
              <a:t>glm(treatment_uptake ~ age) cho OR trên mỗi MỘT năm tuổi thêm.</a:t>
            </a:r>
          </a:p>
          <a:p>
            <a:pPr marL="0" indent="0" algn="l">
              <a:lnSpc>
                <a:spcPct val="108000"/>
              </a:lnSpc>
              <a:spcBef>
                <a:spcPts val="440"/>
              </a:spcBef>
              <a:buNone/>
            </a:pPr>
            <a:r>
              <a:rPr lang="en-US" sz="1800" dirty="0">
                <a:solidFill>
                  <a:srgbClr val="000000"/>
                </a:solidFill>
                <a:latin typeface="Segoe UI"/>
                <a:cs typeface="Segoe UI"/>
              </a:rPr>
              <a:t>OR đó gần bằng 1 vì một năm là một bước rất nhỏ.</a:t>
            </a:r>
          </a:p>
          <a:p>
            <a:pPr marL="0" indent="0" algn="l">
              <a:lnSpc>
                <a:spcPct val="108000"/>
              </a:lnSpc>
              <a:spcBef>
                <a:spcPts val="440"/>
              </a:spcBef>
              <a:buNone/>
            </a:pPr>
            <a:r>
              <a:rPr lang="en-US" sz="1800" dirty="0">
                <a:solidFill>
                  <a:srgbClr val="000000"/>
                </a:solidFill>
                <a:latin typeface="Segoe UI"/>
                <a:cs typeface="Segoe UI"/>
              </a:rPr>
              <a:t>Ở đây khoảng 1.03 mỗi năm - dễ bị bỏ qua.</a:t>
            </a:r>
          </a:p>
          <a:p>
            <a:pPr>
              <a:buNone/>
            </a:pPr>
            <a:endParaRPr sz="1050"/>
          </a:p>
          <a:p>
            <a:pPr marL="0" indent="0" algn="l">
              <a:spcBef>
                <a:spcPts val="360"/>
              </a:spcBef>
              <a:buNone/>
            </a:pPr>
            <a:r>
              <a:rPr lang="en-US" sz="2050" b="1" dirty="0">
                <a:solidFill>
                  <a:srgbClr val="0D7377"/>
                </a:solidFill>
                <a:latin typeface="Segoe UI"/>
                <a:cs typeface="Segoe UI"/>
              </a:rPr>
              <a:t>Đổi thang đo sang một đơn vị có ý nghĩa</a:t>
            </a:r>
          </a:p>
          <a:p>
            <a:pPr marL="0" indent="0" algn="l">
              <a:lnSpc>
                <a:spcPct val="108000"/>
              </a:lnSpc>
              <a:spcBef>
                <a:spcPts val="440"/>
              </a:spcBef>
              <a:buNone/>
            </a:pPr>
            <a:r>
              <a:rPr lang="en-US" sz="1800" dirty="0">
                <a:solidFill>
                  <a:srgbClr val="000000"/>
                </a:solidFill>
                <a:latin typeface="Segoe UI"/>
                <a:cs typeface="Segoe UI"/>
              </a:rPr>
              <a:t>OR trên mỗi 10 năm = OR trên 1 năm nâng lên lũy thừa 10.</a:t>
            </a:r>
          </a:p>
          <a:p>
            <a:pPr marL="0" indent="0" algn="l">
              <a:lnSpc>
                <a:spcPct val="108000"/>
              </a:lnSpc>
              <a:spcBef>
                <a:spcPts val="440"/>
              </a:spcBef>
              <a:buNone/>
            </a:pPr>
            <a:r>
              <a:rPr lang="en-US" sz="1800" dirty="0">
                <a:solidFill>
                  <a:srgbClr val="000000"/>
                </a:solidFill>
                <a:latin typeface="Segoe UI"/>
                <a:cs typeface="Segoe UI"/>
              </a:rPr>
              <a:t>exp(coef(m_age)["age"] * 10) cho OR trên mỗi thập niên.</a:t>
            </a:r>
          </a:p>
          <a:p>
            <a:pPr marL="0" indent="0" algn="l">
              <a:lnSpc>
                <a:spcPct val="108000"/>
              </a:lnSpc>
              <a:spcBef>
                <a:spcPts val="440"/>
              </a:spcBef>
              <a:buNone/>
            </a:pPr>
            <a:r>
              <a:rPr lang="en-US" sz="1800" dirty="0">
                <a:solidFill>
                  <a:srgbClr val="000000"/>
                </a:solidFill>
                <a:latin typeface="Segoe UI"/>
                <a:cs typeface="Segoe UI"/>
              </a:rPr>
              <a:t>1.03 mỗi năm trở thành khoảng 1.34 mỗi thập niên.</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Truyền đạt bằng đơn vị lâm sàng</a:t>
            </a:r>
          </a:p>
          <a:p>
            <a:pPr marL="0" indent="0" algn="l">
              <a:spcBef>
                <a:spcPts val="100"/>
              </a:spcBef>
              <a:buNone/>
            </a:pPr>
            <a:r>
              <a:rPr lang="en-US" sz="1300" dirty="0">
                <a:solidFill>
                  <a:srgbClr val="000000"/>
                </a:solidFill>
                <a:latin typeface="Segoe UI"/>
                <a:cs typeface="Segoe UI"/>
              </a:rPr>
              <a:t>Mỗi thập niên dễ hiểu hơn nhiều so với mỗi năm đối với khán giả lâm sàng.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Xây Dựng Mô Hình: Kiến Thức Lâm Sàng Trước Tiên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Chọn yếu tố dự báo trước khi nhìn giá trị p</a:t>
            </a:r>
          </a:p>
          <a:p>
            <a:pPr marL="0" indent="0" algn="l">
              <a:lnSpc>
                <a:spcPct val="108000"/>
              </a:lnSpc>
              <a:spcBef>
                <a:spcPts val="440"/>
              </a:spcBef>
              <a:buNone/>
            </a:pPr>
            <a:r>
              <a:rPr lang="en-US" sz="1800" dirty="0">
                <a:solidFill>
                  <a:srgbClr val="000000"/>
                </a:solidFill>
                <a:latin typeface="Segoe UI"/>
                <a:cs typeface="Segoe UI"/>
              </a:rPr>
              <a:t>Tính hợp lý về sinh học hoặc lâm sàng (đái tháo đường thúc đẩy các lần khám).</a:t>
            </a:r>
          </a:p>
          <a:p>
            <a:pPr marL="0" indent="0" algn="l">
              <a:lnSpc>
                <a:spcPct val="108000"/>
              </a:lnSpc>
              <a:spcBef>
                <a:spcPts val="440"/>
              </a:spcBef>
              <a:buNone/>
            </a:pPr>
            <a:r>
              <a:rPr lang="en-US" sz="1800" dirty="0">
                <a:solidFill>
                  <a:srgbClr val="000000"/>
                </a:solidFill>
                <a:latin typeface="Segoe UI"/>
                <a:cs typeface="Segoe UI"/>
              </a:rPr>
              <a:t>Các yếu tố nhiễu đã biết từ y văn (tuổi, giới, học vấn).</a:t>
            </a:r>
          </a:p>
          <a:p>
            <a:pPr marL="0" indent="0" algn="l">
              <a:lnSpc>
                <a:spcPct val="108000"/>
              </a:lnSpc>
              <a:spcBef>
                <a:spcPts val="440"/>
              </a:spcBef>
              <a:buNone/>
            </a:pPr>
            <a:r>
              <a:rPr lang="en-US" sz="1800" dirty="0">
                <a:solidFill>
                  <a:srgbClr val="000000"/>
                </a:solidFill>
                <a:latin typeface="Segoe UI"/>
                <a:cs typeface="Segoe UI"/>
              </a:rPr>
              <a:t>Các yếu tố quyết định đã nêu của nghiên cứu (khoảng cách, kiến thức).</a:t>
            </a:r>
          </a:p>
          <a:p>
            <a:pPr>
              <a:buNone/>
            </a:pPr>
            <a:endParaRPr sz="1050"/>
          </a:p>
          <a:p>
            <a:pPr marL="0" indent="0" algn="l">
              <a:spcBef>
                <a:spcPts val="360"/>
              </a:spcBef>
              <a:buNone/>
            </a:pPr>
            <a:r>
              <a:rPr lang="en-US" sz="2050" b="1" dirty="0">
                <a:solidFill>
                  <a:srgbClr val="0D7377"/>
                </a:solidFill>
                <a:latin typeface="Segoe UI"/>
                <a:cs typeface="Segoe UI"/>
              </a:rPr>
              <a:t>Rồi khớp MỘT mô hình đã định trước</a:t>
            </a:r>
          </a:p>
          <a:p>
            <a:pPr marL="0" indent="0" algn="l">
              <a:lnSpc>
                <a:spcPct val="108000"/>
              </a:lnSpc>
              <a:spcBef>
                <a:spcPts val="440"/>
              </a:spcBef>
              <a:buNone/>
            </a:pPr>
            <a:r>
              <a:rPr lang="en-US" sz="1800" dirty="0">
                <a:solidFill>
                  <a:srgbClr val="000000"/>
                </a:solidFill>
                <a:latin typeface="Segoe UI"/>
                <a:cs typeface="Segoe UI"/>
              </a:rPr>
              <a:t>Quyết định danh sách biến trước, khớp một lần, báo cáo nó.</a:t>
            </a:r>
          </a:p>
          <a:p>
            <a:pPr marL="0" indent="0" algn="l">
              <a:lnSpc>
                <a:spcPct val="108000"/>
              </a:lnSpc>
              <a:spcBef>
                <a:spcPts val="440"/>
              </a:spcBef>
              <a:buNone/>
            </a:pPr>
            <a:r>
              <a:rPr lang="en-US" sz="1800" dirty="0">
                <a:solidFill>
                  <a:srgbClr val="000000"/>
                </a:solidFill>
                <a:latin typeface="Segoe UI"/>
                <a:cs typeface="Segoe UI"/>
              </a:rPr>
              <a:t>Đây là cách tiếp cận trung thực, có thể lặp lại cho một nghiên cứu về yếu tố quyết định.</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Segoe UI"/>
                <a:cs typeface="Segoe UI"/>
              </a:rPr>
              <a:t>LỖI THƯỜNG GẶP  -  Đãi cát tìm vàng dữ liệu</a:t>
            </a:r>
          </a:p>
          <a:p>
            <a:pPr marL="0" indent="0" algn="l">
              <a:spcBef>
                <a:spcPts val="100"/>
              </a:spcBef>
              <a:buNone/>
            </a:pPr>
            <a:r>
              <a:rPr lang="en-US" sz="1300" dirty="0">
                <a:solidFill>
                  <a:srgbClr val="000000"/>
                </a:solidFill>
                <a:latin typeface="Segoe UI"/>
                <a:cs typeface="Segoe UI"/>
              </a:rPr>
              <a:t>Thử nhiều mô hình và chỉ báo cáo những mô hình có ý nghĩa thống kê sẽ làm tăng dương tính giả.</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Nhiễu: Một Ví Dụ Lâm Sàng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Nhiễu là gì</a:t>
            </a:r>
          </a:p>
          <a:p>
            <a:pPr marL="274320" indent="-274320" algn="l">
              <a:lnSpc>
                <a:spcPct val="106000"/>
              </a:lnSpc>
              <a:spcBef>
                <a:spcPts val="520"/>
              </a:spcBef>
              <a:buFont typeface="Arial"/>
              <a:buChar char="•"/>
            </a:pPr>
            <a:r>
              <a:rPr lang="en-US" sz="1650" dirty="0">
                <a:solidFill>
                  <a:srgbClr val="000000"/>
                </a:solidFill>
                <a:latin typeface="Segoe UI"/>
                <a:cs typeface="Segoe UI"/>
              </a:rPr>
              <a:t>Một biến thứ ba làm méo mối liên hệ thô giữa phơi nhiễm và biến kết cục.</a:t>
            </a:r>
          </a:p>
          <a:p>
            <a:pPr marL="274320" indent="-274320" algn="l">
              <a:lnSpc>
                <a:spcPct val="106000"/>
              </a:lnSpc>
              <a:spcBef>
                <a:spcPts val="520"/>
              </a:spcBef>
              <a:buFont typeface="Arial"/>
              <a:buChar char="•"/>
            </a:pPr>
            <a:r>
              <a:rPr lang="en-US" sz="1650" dirty="0">
                <a:solidFill>
                  <a:srgbClr val="000000"/>
                </a:solidFill>
                <a:latin typeface="Segoe UI"/>
                <a:cs typeface="Segoe UI"/>
              </a:rPr>
              <a:t>Ví dụ: cư dân thành thị trẻ hơn và có bảo hiểm tốt hơn.</a:t>
            </a:r>
          </a:p>
          <a:p>
            <a:pPr marL="274320" indent="-274320" algn="l">
              <a:lnSpc>
                <a:spcPct val="106000"/>
              </a:lnSpc>
              <a:spcBef>
                <a:spcPts val="520"/>
              </a:spcBef>
              <a:buFont typeface="Arial"/>
              <a:buChar char="•"/>
            </a:pPr>
            <a:r>
              <a:rPr lang="en-US" sz="1650" dirty="0">
                <a:solidFill>
                  <a:srgbClr val="000000"/>
                </a:solidFill>
                <a:latin typeface="Segoe UI"/>
                <a:cs typeface="Segoe UI"/>
              </a:rPr>
              <a:t>Những yếu tố đó cũng làm tăng tiếp nhận - nên nơi cư trú thô trông quá mạnh.</a:t>
            </a:r>
          </a:p>
          <a:p>
            <a:pPr marL="274320" indent="-274320" algn="l">
              <a:lnSpc>
                <a:spcPct val="106000"/>
              </a:lnSpc>
              <a:spcBef>
                <a:spcPts val="520"/>
              </a:spcBef>
              <a:buFont typeface="Arial"/>
              <a:buChar char="•"/>
            </a:pPr>
            <a:r>
              <a:rPr lang="en-US" sz="1650" dirty="0">
                <a:solidFill>
                  <a:srgbClr val="000000"/>
                </a:solidFill>
                <a:latin typeface="Segoe UI"/>
                <a:cs typeface="Segoe UI"/>
              </a:rPr>
              <a:t>Hiệu chỉnh cho chúng sẽ tách được hiệu ứng thật của nơi cư trú.</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Cách chúng ta phát hiện nó</a:t>
            </a:r>
          </a:p>
          <a:p>
            <a:pPr marL="274320" indent="-274320" algn="l">
              <a:lnSpc>
                <a:spcPct val="106000"/>
              </a:lnSpc>
              <a:spcBef>
                <a:spcPts val="520"/>
              </a:spcBef>
              <a:buFont typeface="Arial"/>
              <a:buChar char="•"/>
            </a:pPr>
            <a:r>
              <a:rPr lang="en-US" sz="1650" dirty="0">
                <a:solidFill>
                  <a:srgbClr val="000000"/>
                </a:solidFill>
                <a:latin typeface="Segoe UI"/>
                <a:cs typeface="Segoe UI"/>
              </a:rPr>
              <a:t>So sánh OR thô với OR hiệu chỉnh của nơi cư trú.</a:t>
            </a:r>
          </a:p>
          <a:p>
            <a:pPr marL="274320" indent="-274320" algn="l">
              <a:lnSpc>
                <a:spcPct val="106000"/>
              </a:lnSpc>
              <a:spcBef>
                <a:spcPts val="520"/>
              </a:spcBef>
              <a:buFont typeface="Arial"/>
              <a:buChar char="•"/>
            </a:pPr>
            <a:r>
              <a:rPr lang="en-US" sz="1650" dirty="0">
                <a:solidFill>
                  <a:srgbClr val="000000"/>
                </a:solidFill>
                <a:latin typeface="Segoe UI"/>
                <a:cs typeface="Segoe UI"/>
              </a:rPr>
              <a:t>Nếu ước lượng dịch chuyển đáng kể (quy tắc kinh nghiệm &gt;10%), có nhiễu.</a:t>
            </a:r>
          </a:p>
          <a:p>
            <a:pPr marL="274320" indent="-274320" algn="l">
              <a:lnSpc>
                <a:spcPct val="106000"/>
              </a:lnSpc>
              <a:spcBef>
                <a:spcPts val="520"/>
              </a:spcBef>
              <a:buFont typeface="Arial"/>
              <a:buChar char="•"/>
            </a:pPr>
            <a:r>
              <a:rPr lang="en-US" sz="1650" dirty="0">
                <a:solidFill>
                  <a:srgbClr val="000000"/>
                </a:solidFill>
                <a:latin typeface="Segoe UI"/>
                <a:cs typeface="Segoe UI"/>
              </a:rPr>
              <a:t>Luôn báo cáo và diễn giải tỷ số chênh ĐÃ HIỆU CHỈNH.</a:t>
            </a:r>
          </a:p>
          <a:p>
            <a:pPr marL="274320" indent="-274320" algn="l">
              <a:lnSpc>
                <a:spcPct val="106000"/>
              </a:lnSpc>
              <a:spcBef>
                <a:spcPts val="520"/>
              </a:spcBef>
              <a:buFont typeface="Arial"/>
              <a:buChar char="•"/>
            </a:pPr>
            <a:r>
              <a:rPr lang="en-US" sz="1650" dirty="0">
                <a:solidFill>
                  <a:srgbClr val="000000"/>
                </a:solidFill>
                <a:latin typeface="Segoe UI"/>
                <a:cs typeface="Segoe UI"/>
              </a:rPr>
              <a:t>OR thành thị đã hiệu chỉnh trong mô hình của chúng ta là 1.87 (1.41-2.49).</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Demo: OR Thô vs Hiệu Chỉnh Cho Nơi Cư Trú</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Khớp một mô hình thô, rồi so sánh với mô hình đầy đủ.</a:t>
            </a:r>
          </a:p>
        </p:txBody>
      </p:sp>
      <p:sp>
        <p:nvSpPr>
          <p:cNvPr id="30" name="Code"/>
          <p:cNvSpPr/>
          <p:nvPr/>
        </p:nvSpPr>
        <p:spPr>
          <a:xfrm>
            <a:off x="457200" y="1640000"/>
            <a:ext cx="11277600" cy="207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crude &lt;- glm(treatment_uptake ~ residence,</a:t>
            </a:r>
          </a:p>
          <a:p>
            <a:pPr marL="0" indent="0" algn="l">
              <a:lnSpc>
                <a:spcPct val="100000"/>
              </a:lnSpc>
              <a:buNone/>
            </a:pPr>
            <a:r>
              <a:rPr lang="en-US" sz="1300" dirty="0">
                <a:solidFill>
                  <a:srgbClr val="1B3A4B"/>
                </a:solidFill>
                <a:latin typeface="Consolas"/>
                <a:cs typeface="Consolas"/>
              </a:rPr>
              <a:t>             data = dx, family = binomial)</a:t>
            </a:r>
          </a:p>
          <a:p>
            <a:pPr marL="0" indent="0" algn="l">
              <a:lnSpc>
                <a:spcPct val="100000"/>
              </a:lnSpc>
              <a:buNone/>
            </a:pPr>
            <a:r>
              <a:rPr lang="en-US" sz="1300" dirty="0">
                <a:solidFill>
                  <a:srgbClr val="1B3A4B"/>
                </a:solidFill>
                <a:latin typeface="Consolas"/>
                <a:cs typeface="Consolas"/>
              </a:rPr>
              <a:t>full &lt;- glm(treatment_uptake ~ age + sex + education +</a:t>
            </a:r>
          </a:p>
          <a:p>
            <a:pPr marL="0" indent="0" algn="l">
              <a:lnSpc>
                <a:spcPct val="100000"/>
              </a:lnSpc>
              <a:buNone/>
            </a:pPr>
            <a:r>
              <a:rPr lang="en-US" sz="1300" dirty="0">
                <a:solidFill>
                  <a:srgbClr val="1B3A4B"/>
                </a:solidFill>
                <a:latin typeface="Consolas"/>
                <a:cs typeface="Consolas"/>
              </a:rPr>
              <a:t>             residence + diabetes + family_history_htn +</a:t>
            </a:r>
          </a:p>
          <a:p>
            <a:pPr marL="0" indent="0" algn="l">
              <a:lnSpc>
                <a:spcPct val="100000"/>
              </a:lnSpc>
              <a:buNone/>
            </a:pPr>
            <a:r>
              <a:rPr lang="en-US" sz="1300" dirty="0">
                <a:solidFill>
                  <a:srgbClr val="1B3A4B"/>
                </a:solidFill>
                <a:latin typeface="Consolas"/>
                <a:cs typeface="Consolas"/>
              </a:rPr>
              <a:t>             health_insurance + knowledge_score +</a:t>
            </a:r>
          </a:p>
          <a:p>
            <a:pPr marL="0" indent="0" algn="l">
              <a:lnSpc>
                <a:spcPct val="100000"/>
              </a:lnSpc>
              <a:buNone/>
            </a:pPr>
            <a:r>
              <a:rPr lang="en-US" sz="1300" dirty="0">
                <a:solidFill>
                  <a:srgbClr val="1B3A4B"/>
                </a:solidFill>
                <a:latin typeface="Consolas"/>
                <a:cs typeface="Consolas"/>
              </a:rPr>
              <a:t>             distance_to_facility_km,</a:t>
            </a:r>
          </a:p>
          <a:p>
            <a:pPr marL="0" indent="0" algn="l">
              <a:lnSpc>
                <a:spcPct val="100000"/>
              </a:lnSpc>
              <a:buNone/>
            </a:pPr>
            <a:r>
              <a:rPr lang="en-US" sz="1300" dirty="0">
                <a:solidFill>
                  <a:srgbClr val="1B3A4B"/>
                </a:solidFill>
                <a:latin typeface="Consolas"/>
                <a:cs typeface="Consolas"/>
              </a:rPr>
              <a:t>             data = dx, family = binomial)</a:t>
            </a:r>
          </a:p>
          <a:p>
            <a:pPr marL="0" indent="0" algn="l">
              <a:lnSpc>
                <a:spcPct val="100000"/>
              </a:lnSpc>
              <a:buNone/>
            </a:pPr>
            <a:r>
              <a:rPr lang="en-US" sz="1300" dirty="0">
                <a:solidFill>
                  <a:srgbClr val="1B3A4B"/>
                </a:solidFill>
                <a:latin typeface="Consolas"/>
                <a:cs typeface="Consolas"/>
              </a:rPr>
              <a:t>exp(coef(crude))["residenceUrban"]</a:t>
            </a:r>
          </a:p>
          <a:p>
            <a:pPr marL="0" indent="0" algn="l">
              <a:lnSpc>
                <a:spcPct val="100000"/>
              </a:lnSpc>
              <a:buNone/>
            </a:pPr>
            <a:r>
              <a:rPr lang="en-US" sz="1300" dirty="0">
                <a:solidFill>
                  <a:srgbClr val="1B3A4B"/>
                </a:solidFill>
                <a:latin typeface="Consolas"/>
                <a:cs typeface="Consolas"/>
              </a:rPr>
              <a:t>exp(coef(full))["residenceUrban"]</a:t>
            </a:r>
          </a:p>
        </p:txBody>
      </p:sp>
      <p:sp>
        <p:nvSpPr>
          <p:cNvPr id="31" name="Output"/>
          <p:cNvSpPr/>
          <p:nvPr/>
        </p:nvSpPr>
        <p:spPr>
          <a:xfrm>
            <a:off x="457200" y="386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residenceUrban</a:t>
            </a:r>
          </a:p>
          <a:p>
            <a:pPr marL="0" indent="0" algn="l">
              <a:lnSpc>
                <a:spcPct val="100000"/>
              </a:lnSpc>
              <a:buNone/>
            </a:pPr>
            <a:r>
              <a:rPr lang="en-US" sz="1250" dirty="0">
                <a:solidFill>
                  <a:srgbClr val="1A1A1A"/>
                </a:solidFill>
                <a:latin typeface="Consolas"/>
                <a:cs typeface="Consolas"/>
              </a:rPr>
              <a:t>     2.34</a:t>
            </a:r>
          </a:p>
          <a:p>
            <a:pPr marL="0" indent="0" algn="l">
              <a:lnSpc>
                <a:spcPct val="100000"/>
              </a:lnSpc>
              <a:buNone/>
            </a:pPr>
            <a:r>
              <a:rPr lang="en-US" sz="1250" dirty="0">
                <a:solidFill>
                  <a:srgbClr val="1A1A1A"/>
                </a:solidFill>
                <a:latin typeface="Consolas"/>
                <a:cs typeface="Consolas"/>
              </a:rPr>
              <a:t>residenceUrban</a:t>
            </a:r>
          </a:p>
          <a:p>
            <a:pPr marL="0" indent="0" algn="l">
              <a:lnSpc>
                <a:spcPct val="100000"/>
              </a:lnSpc>
              <a:buNone/>
            </a:pPr>
            <a:r>
              <a:rPr lang="en-US" sz="1250" dirty="0">
                <a:solidFill>
                  <a:srgbClr val="1A1A1A"/>
                </a:solidFill>
                <a:latin typeface="Consolas"/>
                <a:cs typeface="Consolas"/>
              </a:rPr>
              <a:t>     1.87</a:t>
            </a:r>
          </a:p>
        </p:txBody>
      </p:sp>
      <p:sp>
        <p:nvSpPr>
          <p:cNvPr id="32" name="Note"/>
          <p:cNvSpPr/>
          <p:nvPr/>
        </p:nvSpPr>
        <p:spPr>
          <a:xfrm>
            <a:off x="457200" y="510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OR co lại từ 2.34 (thô) xuống 1.87 (hiệu chỉnh): tuổi và bảo hiểm đã gây nhiễu cho nó.</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Demo: Mô Hình Cuối Cùng và Các OR Đã Được Sắp Gọn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Khớp một lần, rồi biến các hệ số thành tỷ số chênh với KTC.</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model_final &lt;- full</a:t>
            </a:r>
          </a:p>
          <a:p>
            <a:pPr marL="0" indent="0" algn="l">
              <a:lnSpc>
                <a:spcPct val="100000"/>
              </a:lnSpc>
              <a:buNone/>
            </a:pPr>
            <a:r>
              <a:rPr lang="en-US" sz="1300" dirty="0">
                <a:solidFill>
                  <a:srgbClr val="1B3A4B"/>
                </a:solidFill>
                <a:latin typeface="Consolas"/>
                <a:cs typeface="Consolas"/>
              </a:rPr>
              <a:t>library(broom)</a:t>
            </a:r>
          </a:p>
          <a:p>
            <a:pPr marL="0" indent="0" algn="l">
              <a:lnSpc>
                <a:spcPct val="100000"/>
              </a:lnSpc>
              <a:buNone/>
            </a:pPr>
            <a:r>
              <a:rPr lang="en-US" sz="1300" dirty="0">
                <a:solidFill>
                  <a:srgbClr val="1B3A4B"/>
                </a:solidFill>
                <a:latin typeface="Consolas"/>
                <a:cs typeface="Consolas"/>
              </a:rPr>
              <a:t>or_table &lt;- tidy(model_final,</a:t>
            </a:r>
          </a:p>
          <a:p>
            <a:pPr marL="0" indent="0" algn="l">
              <a:lnSpc>
                <a:spcPct val="100000"/>
              </a:lnSpc>
              <a:buNone/>
            </a:pPr>
            <a:r>
              <a:rPr lang="en-US" sz="1300" dirty="0">
                <a:solidFill>
                  <a:srgbClr val="1B3A4B"/>
                </a:solidFill>
                <a:latin typeface="Consolas"/>
                <a:cs typeface="Consolas"/>
              </a:rPr>
              <a:t>                 exponentiate = TRUE,</a:t>
            </a:r>
          </a:p>
          <a:p>
            <a:pPr marL="0" indent="0" algn="l">
              <a:lnSpc>
                <a:spcPct val="100000"/>
              </a:lnSpc>
              <a:buNone/>
            </a:pPr>
            <a:r>
              <a:rPr lang="en-US" sz="1300" dirty="0">
                <a:solidFill>
                  <a:srgbClr val="1B3A4B"/>
                </a:solidFill>
                <a:latin typeface="Consolas"/>
                <a:cs typeface="Consolas"/>
              </a:rPr>
              <a:t>                 conf.int = TRUE)</a:t>
            </a:r>
          </a:p>
          <a:p>
            <a:pPr marL="0" indent="0" algn="l">
              <a:lnSpc>
                <a:spcPct val="100000"/>
              </a:lnSpc>
              <a:buNone/>
            </a:pPr>
            <a:r>
              <a:rPr lang="en-US" sz="1300" dirty="0">
                <a:solidFill>
                  <a:srgbClr val="1B3A4B"/>
                </a:solidFill>
                <a:latin typeface="Consolas"/>
                <a:cs typeface="Consolas"/>
              </a:rPr>
              <a:t>print(or_table, n = Inf)</a:t>
            </a:r>
          </a:p>
        </p:txBody>
      </p:sp>
      <p:sp>
        <p:nvSpPr>
          <p:cNvPr id="31" name="Output"/>
          <p:cNvSpPr/>
          <p:nvPr/>
        </p:nvSpPr>
        <p:spPr>
          <a:xfrm>
            <a:off x="457200" y="323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term            estimate conf.low conf.high</a:t>
            </a:r>
          </a:p>
          <a:p>
            <a:pPr marL="0" indent="0" algn="l">
              <a:lnSpc>
                <a:spcPct val="100000"/>
              </a:lnSpc>
              <a:buNone/>
            </a:pPr>
            <a:r>
              <a:rPr lang="en-US" sz="1250" dirty="0">
                <a:solidFill>
                  <a:srgbClr val="1A1A1A"/>
                </a:solidFill>
                <a:latin typeface="Consolas"/>
                <a:cs typeface="Consolas"/>
              </a:rPr>
              <a:t>diabetesYes        3.56     1.46      9.61</a:t>
            </a:r>
          </a:p>
          <a:p>
            <a:pPr marL="0" indent="0" algn="l">
              <a:lnSpc>
                <a:spcPct val="100000"/>
              </a:lnSpc>
              <a:buNone/>
            </a:pPr>
            <a:r>
              <a:rPr lang="en-US" sz="1250" dirty="0">
                <a:solidFill>
                  <a:srgbClr val="1A1A1A"/>
                </a:solidFill>
                <a:latin typeface="Consolas"/>
                <a:cs typeface="Consolas"/>
              </a:rPr>
              <a:t>health_insuranceYes 2.05    1.54      2.74</a:t>
            </a:r>
          </a:p>
          <a:p>
            <a:pPr marL="0" indent="0" algn="l">
              <a:lnSpc>
                <a:spcPct val="100000"/>
              </a:lnSpc>
              <a:buNone/>
            </a:pPr>
            <a:r>
              <a:rPr lang="en-US" sz="1250" dirty="0">
                <a:solidFill>
                  <a:srgbClr val="1A1A1A"/>
                </a:solidFill>
                <a:latin typeface="Consolas"/>
                <a:cs typeface="Consolas"/>
              </a:rPr>
              <a:t>residenceUrban     1.87     1.41      2.49</a:t>
            </a:r>
          </a:p>
          <a:p>
            <a:pPr marL="0" indent="0" algn="l">
              <a:lnSpc>
                <a:spcPct val="100000"/>
              </a:lnSpc>
              <a:buNone/>
            </a:pPr>
            <a:r>
              <a:rPr lang="en-US" sz="1250" dirty="0">
                <a:solidFill>
                  <a:srgbClr val="1A1A1A"/>
                </a:solidFill>
                <a:latin typeface="Consolas"/>
                <a:cs typeface="Consolas"/>
              </a:rPr>
              <a:t>age                1.03     1.02      1.04</a:t>
            </a:r>
          </a:p>
        </p:txBody>
      </p:sp>
      <p:sp>
        <p:nvSpPr>
          <p:cNvPr id="32" name="Note"/>
          <p:cNvSpPr/>
          <p:nvPr/>
        </p:nvSpPr>
        <p:spPr>
          <a:xfrm>
            <a:off x="457200" y="46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exponentiate = TRUE cho các OR; conf.int = TRUE thêm KTC 95% - chính xác bảng mà người đọc của bạn cần.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Mô Hình Đa Biến Cuối Cùng: Các OR Đã Hiệu Chỉnh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30400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gridCol w="2819400">
                  <a:extLst>
                    <a:ext uri="{9D8B030D-6E8A-4147-A177-3AD203B41FA5}">
                      <a16:colId xmlns:a16="http://schemas.microsoft.com/office/drawing/2014/main" val="20003"/>
                    </a:ext>
                  </a:extLst>
                </a:gridCol>
              </a:tblGrid>
              <a:tr h="380000">
                <a:tc>
                  <a:txBody>
                    <a:bodyPr/>
                    <a:lstStyle/>
                    <a:p>
                      <a:pPr algn="l"/>
                      <a:r>
                        <a:rPr lang="en-US" sz="1300" b="1" dirty="0">
                          <a:solidFill>
                            <a:srgbClr val="FFFFFF"/>
                          </a:solidFill>
                          <a:latin typeface="Segoe UI"/>
                        </a:rPr>
                        <a:t>Yếu tố dự báo</a:t>
                      </a:r>
                    </a:p>
                  </a:txBody>
                  <a:tcPr marL="73152" marR="73152" marT="36576" marB="36576" anchor="ctr">
                    <a:solidFill>
                      <a:srgbClr val="0D7377"/>
                    </a:solidFill>
                  </a:tcPr>
                </a:tc>
                <a:tc>
                  <a:txBody>
                    <a:bodyPr/>
                    <a:lstStyle/>
                    <a:p>
                      <a:pPr algn="l"/>
                      <a:r>
                        <a:rPr lang="en-US" sz="1300" b="1" dirty="0">
                          <a:solidFill>
                            <a:srgbClr val="FFFFFF"/>
                          </a:solidFill>
                          <a:latin typeface="Segoe UI"/>
                        </a:rPr>
                        <a:t>aOR</a:t>
                      </a:r>
                    </a:p>
                  </a:txBody>
                  <a:tcPr marL="73152" marR="73152" marT="36576" marB="36576" anchor="ctr">
                    <a:solidFill>
                      <a:srgbClr val="0D7377"/>
                    </a:solidFill>
                  </a:tcPr>
                </a:tc>
                <a:tc>
                  <a:txBody>
                    <a:bodyPr/>
                    <a:lstStyle/>
                    <a:p>
                      <a:pPr algn="l"/>
                      <a:r>
                        <a:rPr lang="en-US" sz="1300" b="1" dirty="0">
                          <a:solidFill>
                            <a:srgbClr val="FFFFFF"/>
                          </a:solidFill>
                          <a:latin typeface="Segoe UI"/>
                        </a:rPr>
                        <a:t>KTC 95%</a:t>
                      </a:r>
                    </a:p>
                  </a:txBody>
                  <a:tcPr marL="73152" marR="73152" marT="36576" marB="36576" anchor="ctr">
                    <a:solidFill>
                      <a:srgbClr val="0D7377"/>
                    </a:solidFill>
                  </a:tcPr>
                </a:tc>
                <a:tc>
                  <a:txBody>
                    <a:bodyPr/>
                    <a:lstStyle/>
                    <a:p>
                      <a:pPr algn="l"/>
                      <a:r>
                        <a:rPr lang="en-US" sz="1300" b="1" dirty="0">
                          <a:solidFill>
                            <a:srgbClr val="FFFFFF"/>
                          </a:solidFill>
                          <a:latin typeface="Segoe UI"/>
                        </a:rPr>
                        <a:t>p</a:t>
                      </a:r>
                    </a:p>
                  </a:txBody>
                  <a:tcPr marL="73152" marR="73152" marT="36576" marB="36576" anchor="ctr">
                    <a:solidFill>
                      <a:srgbClr val="0D7377"/>
                    </a:solidFill>
                  </a:tcPr>
                </a:tc>
                <a:extLst>
                  <a:ext uri="{0D108BD9-81ED-4DB2-BD59-A6C34878D82A}">
                    <a16:rowId xmlns:a16="http://schemas.microsoft.com/office/drawing/2014/main" val="10000"/>
                  </a:ext>
                </a:extLst>
              </a:tr>
              <a:tr h="380000">
                <a:tc>
                  <a:txBody>
                    <a:bodyPr/>
                    <a:lstStyle/>
                    <a:p>
                      <a:pPr algn="l"/>
                      <a:r>
                        <a:rPr lang="en-US" sz="1300" b="0" dirty="0">
                          <a:solidFill>
                            <a:srgbClr val="000000"/>
                          </a:solidFill>
                          <a:latin typeface="Segoe UI"/>
                        </a:rPr>
                        <a:t>Tuổi (mỗi năm)</a:t>
                      </a:r>
                    </a:p>
                  </a:txBody>
                  <a:tcPr marL="73152" marR="73152" marT="36576" marB="36576" anchor="ctr">
                    <a:solidFill>
                      <a:srgbClr val="FFFFFF"/>
                    </a:solidFill>
                  </a:tcPr>
                </a:tc>
                <a:tc>
                  <a:txBody>
                    <a:bodyPr/>
                    <a:lstStyle/>
                    <a:p>
                      <a:pPr algn="l"/>
                      <a:r>
                        <a:rPr lang="en-US" sz="1300" b="0" dirty="0">
                          <a:solidFill>
                            <a:srgbClr val="000000"/>
                          </a:solidFill>
                          <a:latin typeface="Segoe UI"/>
                        </a:rPr>
                        <a:t>1.03</a:t>
                      </a:r>
                    </a:p>
                  </a:txBody>
                  <a:tcPr marL="73152" marR="73152" marT="36576" marB="36576" anchor="ctr">
                    <a:solidFill>
                      <a:srgbClr val="FFFFFF"/>
                    </a:solidFill>
                  </a:tcPr>
                </a:tc>
                <a:tc>
                  <a:txBody>
                    <a:bodyPr/>
                    <a:lstStyle/>
                    <a:p>
                      <a:pPr algn="l"/>
                      <a:r>
                        <a:rPr lang="en-US" sz="1300" b="0" dirty="0">
                          <a:solidFill>
                            <a:srgbClr val="000000"/>
                          </a:solidFill>
                          <a:latin typeface="Segoe UI"/>
                        </a:rPr>
                        <a:t>1.02-1.04</a:t>
                      </a:r>
                    </a:p>
                  </a:txBody>
                  <a:tcPr marL="73152" marR="73152" marT="36576" marB="36576" anchor="ctr">
                    <a:solidFill>
                      <a:srgbClr val="FFFFFF"/>
                    </a:solidFill>
                  </a:tcPr>
                </a:tc>
                <a:tc>
                  <a:txBody>
                    <a:bodyPr/>
                    <a:lstStyle/>
                    <a:p>
                      <a:pPr algn="l"/>
                      <a:r>
                        <a:rPr lang="en-US" sz="1300" b="0" dirty="0">
                          <a:solidFill>
                            <a:srgbClr val="000000"/>
                          </a:solidFill>
                          <a:latin typeface="Segoe UI"/>
                        </a:rPr>
                        <a:t>&lt;0.001</a:t>
                      </a:r>
                    </a:p>
                  </a:txBody>
                  <a:tcPr marL="73152" marR="73152" marT="36576" marB="36576" anchor="ctr">
                    <a:solidFill>
                      <a:srgbClr val="FFFFFF"/>
                    </a:solidFill>
                  </a:tcPr>
                </a:tc>
                <a:extLst>
                  <a:ext uri="{0D108BD9-81ED-4DB2-BD59-A6C34878D82A}">
                    <a16:rowId xmlns:a16="http://schemas.microsoft.com/office/drawing/2014/main" val="10001"/>
                  </a:ext>
                </a:extLst>
              </a:tr>
              <a:tr h="380000">
                <a:tc>
                  <a:txBody>
                    <a:bodyPr/>
                    <a:lstStyle/>
                    <a:p>
                      <a:pPr algn="l"/>
                      <a:r>
                        <a:rPr lang="en-US" sz="1300" b="0" dirty="0">
                          <a:solidFill>
                            <a:srgbClr val="000000"/>
                          </a:solidFill>
                          <a:latin typeface="Segoe UI"/>
                        </a:rPr>
                        <a:t>Giới: Nam (so với Nữ)</a:t>
                      </a:r>
                    </a:p>
                  </a:txBody>
                  <a:tcPr marL="73152" marR="73152" marT="36576" marB="36576" anchor="ctr">
                    <a:solidFill>
                      <a:srgbClr val="FFFFFF"/>
                    </a:solidFill>
                  </a:tcPr>
                </a:tc>
                <a:tc>
                  <a:txBody>
                    <a:bodyPr/>
                    <a:lstStyle/>
                    <a:p>
                      <a:pPr algn="l"/>
                      <a:r>
                        <a:rPr lang="en-US" sz="1300" b="0" dirty="0">
                          <a:solidFill>
                            <a:srgbClr val="000000"/>
                          </a:solidFill>
                          <a:latin typeface="Segoe UI"/>
                        </a:rPr>
                        <a:t>0.74</a:t>
                      </a:r>
                    </a:p>
                  </a:txBody>
                  <a:tcPr marL="73152" marR="73152" marT="36576" marB="36576" anchor="ctr">
                    <a:solidFill>
                      <a:srgbClr val="FFFFFF"/>
                    </a:solidFill>
                  </a:tcPr>
                </a:tc>
                <a:tc>
                  <a:txBody>
                    <a:bodyPr/>
                    <a:lstStyle/>
                    <a:p>
                      <a:pPr algn="l"/>
                      <a:r>
                        <a:rPr lang="en-US" sz="1300" b="0" dirty="0">
                          <a:solidFill>
                            <a:srgbClr val="000000"/>
                          </a:solidFill>
                          <a:latin typeface="Segoe UI"/>
                        </a:rPr>
                        <a:t>0.56-0.97</a:t>
                      </a:r>
                    </a:p>
                  </a:txBody>
                  <a:tcPr marL="73152" marR="73152" marT="36576" marB="36576" anchor="ctr">
                    <a:solidFill>
                      <a:srgbClr val="FFFFFF"/>
                    </a:solidFill>
                  </a:tcPr>
                </a:tc>
                <a:tc>
                  <a:txBody>
                    <a:bodyPr/>
                    <a:lstStyle/>
                    <a:p>
                      <a:pPr algn="l"/>
                      <a:r>
                        <a:rPr lang="en-US" sz="1300" b="0" dirty="0">
                          <a:solidFill>
                            <a:srgbClr val="000000"/>
                          </a:solidFill>
                          <a:latin typeface="Segoe UI"/>
                        </a:rPr>
                        <a:t>0.031</a:t>
                      </a:r>
                    </a:p>
                  </a:txBody>
                  <a:tcPr marL="73152" marR="73152" marT="36576" marB="36576" anchor="ctr">
                    <a:solidFill>
                      <a:srgbClr val="FFFFFF"/>
                    </a:solidFill>
                  </a:tcPr>
                </a:tc>
                <a:extLst>
                  <a:ext uri="{0D108BD9-81ED-4DB2-BD59-A6C34878D82A}">
                    <a16:rowId xmlns:a16="http://schemas.microsoft.com/office/drawing/2014/main" val="10002"/>
                  </a:ext>
                </a:extLst>
              </a:tr>
              <a:tr h="380000">
                <a:tc>
                  <a:txBody>
                    <a:bodyPr/>
                    <a:lstStyle/>
                    <a:p>
                      <a:pPr algn="l"/>
                      <a:r>
                        <a:rPr lang="en-US" sz="1300" b="0" dirty="0">
                          <a:solidFill>
                            <a:srgbClr val="000000"/>
                          </a:solidFill>
                          <a:latin typeface="Segoe UI"/>
                        </a:rPr>
                        <a:t>Học vấn (xu hướng tuyến tính)</a:t>
                      </a:r>
                    </a:p>
                  </a:txBody>
                  <a:tcPr marL="73152" marR="73152" marT="36576" marB="36576" anchor="ctr">
                    <a:solidFill>
                      <a:srgbClr val="FFFFFF"/>
                    </a:solidFill>
                  </a:tcPr>
                </a:tc>
                <a:tc>
                  <a:txBody>
                    <a:bodyPr/>
                    <a:lstStyle/>
                    <a:p>
                      <a:pPr algn="l"/>
                      <a:r>
                        <a:rPr lang="en-US" sz="1300" b="0" dirty="0">
                          <a:solidFill>
                            <a:srgbClr val="000000"/>
                          </a:solidFill>
                          <a:latin typeface="Segoe UI"/>
                        </a:rPr>
                        <a:t>1.96</a:t>
                      </a:r>
                    </a:p>
                  </a:txBody>
                  <a:tcPr marL="73152" marR="73152" marT="36576" marB="36576" anchor="ctr">
                    <a:solidFill>
                      <a:srgbClr val="FFFFFF"/>
                    </a:solidFill>
                  </a:tcPr>
                </a:tc>
                <a:tc>
                  <a:txBody>
                    <a:bodyPr/>
                    <a:lstStyle/>
                    <a:p>
                      <a:pPr algn="l"/>
                      <a:r>
                        <a:rPr lang="en-US" sz="1300" b="0" dirty="0">
                          <a:solidFill>
                            <a:srgbClr val="000000"/>
                          </a:solidFill>
                          <a:latin typeface="Segoe UI"/>
                        </a:rPr>
                        <a:t>1.39-2.77</a:t>
                      </a:r>
                    </a:p>
                  </a:txBody>
                  <a:tcPr marL="73152" marR="73152" marT="36576" marB="36576" anchor="ctr">
                    <a:solidFill>
                      <a:srgbClr val="FFFFFF"/>
                    </a:solidFill>
                  </a:tcPr>
                </a:tc>
                <a:tc>
                  <a:txBody>
                    <a:bodyPr/>
                    <a:lstStyle/>
                    <a:p>
                      <a:pPr algn="l"/>
                      <a:r>
                        <a:rPr lang="en-US" sz="1300" b="0" dirty="0">
                          <a:solidFill>
                            <a:srgbClr val="000000"/>
                          </a:solidFill>
                          <a:latin typeface="Segoe UI"/>
                        </a:rPr>
                        <a:t>&lt;0.001</a:t>
                      </a:r>
                    </a:p>
                  </a:txBody>
                  <a:tcPr marL="73152" marR="73152" marT="36576" marB="36576" anchor="ctr">
                    <a:solidFill>
                      <a:srgbClr val="FFFFFF"/>
                    </a:solidFill>
                  </a:tcPr>
                </a:tc>
                <a:extLst>
                  <a:ext uri="{0D108BD9-81ED-4DB2-BD59-A6C34878D82A}">
                    <a16:rowId xmlns:a16="http://schemas.microsoft.com/office/drawing/2014/main" val="10003"/>
                  </a:ext>
                </a:extLst>
              </a:tr>
              <a:tr h="380000">
                <a:tc>
                  <a:txBody>
                    <a:bodyPr/>
                    <a:lstStyle/>
                    <a:p>
                      <a:pPr algn="l"/>
                      <a:r>
                        <a:rPr lang="en-US" sz="1300" b="0" dirty="0">
                          <a:solidFill>
                            <a:srgbClr val="000000"/>
                          </a:solidFill>
                          <a:latin typeface="Segoe UI"/>
                        </a:rPr>
                        <a:t>Nơi cư trú: Thành thị (so với Nông thôn)</a:t>
                      </a:r>
                    </a:p>
                  </a:txBody>
                  <a:tcPr marL="73152" marR="73152" marT="36576" marB="36576" anchor="ctr">
                    <a:solidFill>
                      <a:srgbClr val="FFFFFF"/>
                    </a:solidFill>
                  </a:tcPr>
                </a:tc>
                <a:tc>
                  <a:txBody>
                    <a:bodyPr/>
                    <a:lstStyle/>
                    <a:p>
                      <a:pPr algn="l"/>
                      <a:r>
                        <a:rPr lang="en-US" sz="1300" b="0" dirty="0">
                          <a:solidFill>
                            <a:srgbClr val="000000"/>
                          </a:solidFill>
                          <a:latin typeface="Segoe UI"/>
                        </a:rPr>
                        <a:t>1.87</a:t>
                      </a:r>
                    </a:p>
                  </a:txBody>
                  <a:tcPr marL="73152" marR="73152" marT="36576" marB="36576" anchor="ctr">
                    <a:solidFill>
                      <a:srgbClr val="FFFFFF"/>
                    </a:solidFill>
                  </a:tcPr>
                </a:tc>
                <a:tc>
                  <a:txBody>
                    <a:bodyPr/>
                    <a:lstStyle/>
                    <a:p>
                      <a:pPr algn="l"/>
                      <a:r>
                        <a:rPr lang="en-US" sz="1300" b="0" dirty="0">
                          <a:solidFill>
                            <a:srgbClr val="000000"/>
                          </a:solidFill>
                          <a:latin typeface="Segoe UI"/>
                        </a:rPr>
                        <a:t>1.41-2.49</a:t>
                      </a:r>
                    </a:p>
                  </a:txBody>
                  <a:tcPr marL="73152" marR="73152" marT="36576" marB="36576" anchor="ctr">
                    <a:solidFill>
                      <a:srgbClr val="FFFFFF"/>
                    </a:solidFill>
                  </a:tcPr>
                </a:tc>
                <a:tc>
                  <a:txBody>
                    <a:bodyPr/>
                    <a:lstStyle/>
                    <a:p>
                      <a:pPr algn="l"/>
                      <a:r>
                        <a:rPr lang="en-US" sz="1300" b="0" dirty="0">
                          <a:solidFill>
                            <a:srgbClr val="000000"/>
                          </a:solidFill>
                          <a:latin typeface="Segoe UI"/>
                        </a:rPr>
                        <a:t>&lt;0.001</a:t>
                      </a:r>
                    </a:p>
                  </a:txBody>
                  <a:tcPr marL="73152" marR="73152" marT="36576" marB="36576" anchor="ctr">
                    <a:solidFill>
                      <a:srgbClr val="FFFFFF"/>
                    </a:solidFill>
                  </a:tcPr>
                </a:tc>
                <a:extLst>
                  <a:ext uri="{0D108BD9-81ED-4DB2-BD59-A6C34878D82A}">
                    <a16:rowId xmlns:a16="http://schemas.microsoft.com/office/drawing/2014/main" val="10004"/>
                  </a:ext>
                </a:extLst>
              </a:tr>
              <a:tr h="380000">
                <a:tc>
                  <a:txBody>
                    <a:bodyPr/>
                    <a:lstStyle/>
                    <a:p>
                      <a:pPr algn="l"/>
                      <a:r>
                        <a:rPr lang="en-US" sz="1300" b="0" dirty="0">
                          <a:solidFill>
                            <a:srgbClr val="000000"/>
                          </a:solidFill>
                          <a:latin typeface="Segoe UI"/>
                        </a:rPr>
                        <a:t>Đái tháo đường: Có</a:t>
                      </a:r>
                    </a:p>
                  </a:txBody>
                  <a:tcPr marL="73152" marR="73152" marT="36576" marB="36576" anchor="ctr">
                    <a:solidFill>
                      <a:srgbClr val="FFFFFF"/>
                    </a:solidFill>
                  </a:tcPr>
                </a:tc>
                <a:tc>
                  <a:txBody>
                    <a:bodyPr/>
                    <a:lstStyle/>
                    <a:p>
                      <a:pPr algn="l"/>
                      <a:r>
                        <a:rPr lang="en-US" sz="1300" b="0" dirty="0">
                          <a:solidFill>
                            <a:srgbClr val="000000"/>
                          </a:solidFill>
                          <a:latin typeface="Segoe UI"/>
                        </a:rPr>
                        <a:t>3.56</a:t>
                      </a:r>
                    </a:p>
                  </a:txBody>
                  <a:tcPr marL="73152" marR="73152" marT="36576" marB="36576" anchor="ctr">
                    <a:solidFill>
                      <a:srgbClr val="FFFFFF"/>
                    </a:solidFill>
                  </a:tcPr>
                </a:tc>
                <a:tc>
                  <a:txBody>
                    <a:bodyPr/>
                    <a:lstStyle/>
                    <a:p>
                      <a:pPr algn="l"/>
                      <a:r>
                        <a:rPr lang="en-US" sz="1300" b="0" dirty="0">
                          <a:solidFill>
                            <a:srgbClr val="000000"/>
                          </a:solidFill>
                          <a:latin typeface="Segoe UI"/>
                        </a:rPr>
                        <a:t>1.46-9.61</a:t>
                      </a:r>
                    </a:p>
                  </a:txBody>
                  <a:tcPr marL="73152" marR="73152" marT="36576" marB="36576" anchor="ctr">
                    <a:solidFill>
                      <a:srgbClr val="FFFFFF"/>
                    </a:solidFill>
                  </a:tcPr>
                </a:tc>
                <a:tc>
                  <a:txBody>
                    <a:bodyPr/>
                    <a:lstStyle/>
                    <a:p>
                      <a:pPr algn="l"/>
                      <a:r>
                        <a:rPr lang="en-US" sz="1300" b="0" dirty="0">
                          <a:solidFill>
                            <a:srgbClr val="000000"/>
                          </a:solidFill>
                          <a:latin typeface="Segoe UI"/>
                        </a:rPr>
                        <a:t>0.007</a:t>
                      </a:r>
                    </a:p>
                  </a:txBody>
                  <a:tcPr marL="73152" marR="73152" marT="36576" marB="36576" anchor="ctr">
                    <a:solidFill>
                      <a:srgbClr val="FFFFFF"/>
                    </a:solidFill>
                  </a:tcPr>
                </a:tc>
                <a:extLst>
                  <a:ext uri="{0D108BD9-81ED-4DB2-BD59-A6C34878D82A}">
                    <a16:rowId xmlns:a16="http://schemas.microsoft.com/office/drawing/2014/main" val="10005"/>
                  </a:ext>
                </a:extLst>
              </a:tr>
              <a:tr h="380000">
                <a:tc>
                  <a:txBody>
                    <a:bodyPr/>
                    <a:lstStyle/>
                    <a:p>
                      <a:pPr algn="l"/>
                      <a:r>
                        <a:rPr lang="en-US" sz="1300" b="0" dirty="0">
                          <a:solidFill>
                            <a:srgbClr val="000000"/>
                          </a:solidFill>
                          <a:latin typeface="Segoe UI"/>
                        </a:rPr>
                        <a:t>Bảo hiểm y tế: Có</a:t>
                      </a:r>
                    </a:p>
                  </a:txBody>
                  <a:tcPr marL="73152" marR="73152" marT="36576" marB="36576" anchor="ctr">
                    <a:solidFill>
                      <a:srgbClr val="FFFFFF"/>
                    </a:solidFill>
                  </a:tcPr>
                </a:tc>
                <a:tc>
                  <a:txBody>
                    <a:bodyPr/>
                    <a:lstStyle/>
                    <a:p>
                      <a:pPr algn="l"/>
                      <a:r>
                        <a:rPr lang="en-US" sz="1300" b="0" dirty="0">
                          <a:solidFill>
                            <a:srgbClr val="000000"/>
                          </a:solidFill>
                          <a:latin typeface="Segoe UI"/>
                        </a:rPr>
                        <a:t>2.05</a:t>
                      </a:r>
                    </a:p>
                  </a:txBody>
                  <a:tcPr marL="73152" marR="73152" marT="36576" marB="36576" anchor="ctr">
                    <a:solidFill>
                      <a:srgbClr val="FFFFFF"/>
                    </a:solidFill>
                  </a:tcPr>
                </a:tc>
                <a:tc>
                  <a:txBody>
                    <a:bodyPr/>
                    <a:lstStyle/>
                    <a:p>
                      <a:pPr algn="l"/>
                      <a:r>
                        <a:rPr lang="en-US" sz="1300" b="0" dirty="0">
                          <a:solidFill>
                            <a:srgbClr val="000000"/>
                          </a:solidFill>
                          <a:latin typeface="Segoe UI"/>
                        </a:rPr>
                        <a:t>1.54-2.74</a:t>
                      </a:r>
                    </a:p>
                  </a:txBody>
                  <a:tcPr marL="73152" marR="73152" marT="36576" marB="36576" anchor="ctr">
                    <a:solidFill>
                      <a:srgbClr val="FFFFFF"/>
                    </a:solidFill>
                  </a:tcPr>
                </a:tc>
                <a:tc>
                  <a:txBody>
                    <a:bodyPr/>
                    <a:lstStyle/>
                    <a:p>
                      <a:pPr algn="l"/>
                      <a:r>
                        <a:rPr lang="en-US" sz="1300" b="0" dirty="0">
                          <a:solidFill>
                            <a:srgbClr val="000000"/>
                          </a:solidFill>
                          <a:latin typeface="Segoe UI"/>
                        </a:rPr>
                        <a:t>&lt;0.001</a:t>
                      </a:r>
                    </a:p>
                  </a:txBody>
                  <a:tcPr marL="73152" marR="73152" marT="36576" marB="36576" anchor="ctr">
                    <a:solidFill>
                      <a:srgbClr val="FFFFFF"/>
                    </a:solidFill>
                  </a:tcPr>
                </a:tc>
                <a:extLst>
                  <a:ext uri="{0D108BD9-81ED-4DB2-BD59-A6C34878D82A}">
                    <a16:rowId xmlns:a16="http://schemas.microsoft.com/office/drawing/2014/main" val="10006"/>
                  </a:ext>
                </a:extLst>
              </a:tr>
              <a:tr h="380000">
                <a:tc>
                  <a:txBody>
                    <a:bodyPr/>
                    <a:lstStyle/>
                    <a:p>
                      <a:pPr algn="l"/>
                      <a:r>
                        <a:rPr lang="en-US" sz="1300" b="0" dirty="0">
                          <a:solidFill>
                            <a:srgbClr val="000000"/>
                          </a:solidFill>
                          <a:latin typeface="Segoe UI"/>
                        </a:rPr>
                        <a:t>Khoảng cách tới cơ sở (mỗi km)</a:t>
                      </a:r>
                    </a:p>
                  </a:txBody>
                  <a:tcPr marL="73152" marR="73152" marT="36576" marB="36576" anchor="ctr">
                    <a:solidFill>
                      <a:srgbClr val="FFFFFF"/>
                    </a:solidFill>
                  </a:tcPr>
                </a:tc>
                <a:tc>
                  <a:txBody>
                    <a:bodyPr/>
                    <a:lstStyle/>
                    <a:p>
                      <a:pPr algn="l"/>
                      <a:r>
                        <a:rPr lang="en-US" sz="1300" b="0" dirty="0">
                          <a:solidFill>
                            <a:srgbClr val="000000"/>
                          </a:solidFill>
                          <a:latin typeface="Segoe UI"/>
                        </a:rPr>
                        <a:t>0.98</a:t>
                      </a:r>
                    </a:p>
                  </a:txBody>
                  <a:tcPr marL="73152" marR="73152" marT="36576" marB="36576" anchor="ctr">
                    <a:solidFill>
                      <a:srgbClr val="FFFFFF"/>
                    </a:solidFill>
                  </a:tcPr>
                </a:tc>
                <a:tc>
                  <a:txBody>
                    <a:bodyPr/>
                    <a:lstStyle/>
                    <a:p>
                      <a:pPr algn="l"/>
                      <a:r>
                        <a:rPr lang="en-US" sz="1300" b="0" dirty="0">
                          <a:solidFill>
                            <a:srgbClr val="000000"/>
                          </a:solidFill>
                          <a:latin typeface="Segoe UI"/>
                        </a:rPr>
                        <a:t>0.96-1.01</a:t>
                      </a:r>
                    </a:p>
                  </a:txBody>
                  <a:tcPr marL="73152" marR="73152" marT="36576" marB="36576" anchor="ctr">
                    <a:solidFill>
                      <a:srgbClr val="FFFFFF"/>
                    </a:solidFill>
                  </a:tcPr>
                </a:tc>
                <a:tc>
                  <a:txBody>
                    <a:bodyPr/>
                    <a:lstStyle/>
                    <a:p>
                      <a:pPr algn="l"/>
                      <a:r>
                        <a:rPr lang="en-US" sz="1300" b="0" dirty="0">
                          <a:solidFill>
                            <a:srgbClr val="000000"/>
                          </a:solidFill>
                          <a:latin typeface="Segoe UI"/>
                        </a:rPr>
                        <a:t>0.128</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31" name="Caption"/>
          <p:cNvSpPr txBox="1"/>
          <p:nvPr/>
        </p:nvSpPr>
        <p:spPr>
          <a:xfrm>
            <a:off x="457200" y="500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Segoe UI"/>
                <a:cs typeface="Segoe UI"/>
              </a:rPr>
              <a:t>Hồi quy logistic; n = 992 trường hợp đầy đủ; AUC = 0.71. Tiền sử gia đình aOR 1.91 (1.44-2.54); kiến thức 1.10 (1.06-1.14) mỗi điểm.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Trực Quan Hóa Các OR Đã Hiệu Chỉnh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Segoe UI"/>
                <a:cs typeface="Segoe UI"/>
              </a:rPr>
              <a:t>Cách đọc nó</a:t>
            </a:r>
          </a:p>
          <a:p>
            <a:pPr marL="274320" indent="-274320" algn="l">
              <a:spcBef>
                <a:spcPts val="440"/>
              </a:spcBef>
              <a:buFont typeface="Arial"/>
              <a:buChar char="•"/>
            </a:pPr>
            <a:r>
              <a:rPr lang="en-US" sz="1450" dirty="0">
                <a:solidFill>
                  <a:srgbClr val="000000"/>
                </a:solidFill>
                <a:latin typeface="Segoe UI"/>
                <a:cs typeface="Segoe UI"/>
              </a:rPr>
              <a:t>Mỗi điểm là một tỷ số chênh đã hiệu chỉnh.</a:t>
            </a:r>
          </a:p>
          <a:p>
            <a:pPr marL="274320" indent="-274320" algn="l">
              <a:spcBef>
                <a:spcPts val="440"/>
              </a:spcBef>
              <a:buFont typeface="Arial"/>
              <a:buChar char="•"/>
            </a:pPr>
            <a:r>
              <a:rPr lang="en-US" sz="1450" dirty="0">
                <a:solidFill>
                  <a:srgbClr val="000000"/>
                </a:solidFill>
                <a:latin typeface="Segoe UI"/>
                <a:cs typeface="Segoe UI"/>
              </a:rPr>
              <a:t>Các râu là khoảng tin cậy 95%.</a:t>
            </a:r>
          </a:p>
          <a:p>
            <a:pPr marL="274320" indent="-274320" algn="l">
              <a:spcBef>
                <a:spcPts val="440"/>
              </a:spcBef>
              <a:buFont typeface="Arial"/>
              <a:buChar char="•"/>
            </a:pPr>
            <a:r>
              <a:rPr lang="en-US" sz="1450" dirty="0">
                <a:solidFill>
                  <a:srgbClr val="000000"/>
                </a:solidFill>
                <a:latin typeface="Segoe UI"/>
                <a:cs typeface="Segoe UI"/>
              </a:rPr>
              <a:t>Đường đứt nét tại 1 = không có hiệu ứng.</a:t>
            </a:r>
          </a:p>
          <a:p>
            <a:pPr marL="274320" indent="-274320" algn="l">
              <a:spcBef>
                <a:spcPts val="440"/>
              </a:spcBef>
              <a:buFont typeface="Arial"/>
              <a:buChar char="•"/>
            </a:pPr>
            <a:r>
              <a:rPr lang="en-US" sz="1450" dirty="0">
                <a:solidFill>
                  <a:srgbClr val="000000"/>
                </a:solidFill>
                <a:latin typeface="Segoe UI"/>
                <a:cs typeface="Segoe UI"/>
              </a:rPr>
              <a:t>Bên phải của 1 tăng tiếp nhận; bên trái giảm nó.</a:t>
            </a:r>
          </a:p>
          <a:p>
            <a:pPr marL="274320" indent="-274320" algn="l">
              <a:spcBef>
                <a:spcPts val="440"/>
              </a:spcBef>
              <a:buFont typeface="Arial"/>
              <a:buChar char="•"/>
            </a:pPr>
            <a:r>
              <a:rPr lang="en-US" sz="1450" dirty="0">
                <a:solidFill>
                  <a:srgbClr val="000000"/>
                </a:solidFill>
                <a:latin typeface="Segoe UI"/>
                <a:cs typeface="Segoe UI"/>
              </a:rPr>
              <a:t>Đái tháo đường nằm xa nhất về bên phải - hiệu ứng lớn nhất.</a:t>
            </a:r>
          </a:p>
          <a:p>
            <a:pPr marL="274320" indent="-274320" algn="l">
              <a:spcBef>
                <a:spcPts val="440"/>
              </a:spcBef>
              <a:buFont typeface="Arial"/>
              <a:buChar char="•"/>
            </a:pPr>
            <a:r>
              <a:rPr lang="en-US" sz="1450" dirty="0">
                <a:solidFill>
                  <a:srgbClr val="000000"/>
                </a:solidFill>
                <a:latin typeface="Segoe UI"/>
                <a:cs typeface="Segoe UI"/>
              </a:rPr>
              <a:t>Khoảng cách vượt qua 1 - không có ý nghĩa thống kê.</a:t>
            </a:r>
          </a:p>
        </p:txBody>
      </p:sp>
      <p:pic>
        <p:nvPicPr>
          <p:cNvPr id="25" name="Figure"/>
          <p:cNvPicPr>
            <a:picLocks noChangeAspect="1"/>
          </p:cNvPicPr>
          <p:nvPr/>
        </p:nvPicPr>
        <p:blipFill>
          <a:blip r:embed="rId3"/>
          <a:stretch>
            <a:fillRect/>
          </a:stretch>
        </p:blipFill>
        <p:spPr>
          <a:xfrm>
            <a:off x="4307200" y="1150000"/>
            <a:ext cx="6217948"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4"/>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Demo: Bảng và Biểu Đồ Forest Sẵn Sàng Xuất Bản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Dựng một bảng kiểu tạp chí, rồi lưu hình.</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library(gtsummary)</a:t>
            </a:r>
          </a:p>
          <a:p>
            <a:pPr marL="0" indent="0" algn="l">
              <a:lnSpc>
                <a:spcPct val="100000"/>
              </a:lnSpc>
              <a:buNone/>
            </a:pPr>
            <a:r>
              <a:rPr lang="en-US" sz="1300" dirty="0">
                <a:solidFill>
                  <a:srgbClr val="1B3A4B"/>
                </a:solidFill>
                <a:latin typeface="Consolas"/>
                <a:cs typeface="Consolas"/>
              </a:rPr>
              <a:t>tbl &lt;- tbl_regression(model_final,</a:t>
            </a:r>
          </a:p>
          <a:p>
            <a:pPr marL="0" indent="0" algn="l">
              <a:lnSpc>
                <a:spcPct val="100000"/>
              </a:lnSpc>
              <a:buNone/>
            </a:pPr>
            <a:r>
              <a:rPr lang="en-US" sz="1300" dirty="0">
                <a:solidFill>
                  <a:srgbClr val="1B3A4B"/>
                </a:solidFill>
                <a:latin typeface="Consolas"/>
                <a:cs typeface="Consolas"/>
              </a:rPr>
              <a:t>                      exponentiate = TRUE) |&gt;</a:t>
            </a:r>
          </a:p>
          <a:p>
            <a:pPr marL="0" indent="0" algn="l">
              <a:lnSpc>
                <a:spcPct val="100000"/>
              </a:lnSpc>
              <a:buNone/>
            </a:pPr>
            <a:r>
              <a:rPr lang="en-US" sz="1300" dirty="0">
                <a:solidFill>
                  <a:srgbClr val="1B3A4B"/>
                </a:solidFill>
                <a:latin typeface="Consolas"/>
                <a:cs typeface="Consolas"/>
              </a:rPr>
              <a:t>  bold_p()</a:t>
            </a:r>
          </a:p>
          <a:p>
            <a:pPr marL="0" indent="0" algn="l">
              <a:lnSpc>
                <a:spcPct val="100000"/>
              </a:lnSpc>
              <a:buNone/>
            </a:pPr>
            <a:r>
              <a:rPr lang="en-US" sz="1300" dirty="0">
                <a:solidFill>
                  <a:srgbClr val="1B3A4B"/>
                </a:solidFill>
                <a:latin typeface="Consolas"/>
                <a:cs typeface="Consolas"/>
              </a:rPr>
              <a:t>tbl</a:t>
            </a:r>
          </a:p>
          <a:p>
            <a:pPr marL="0" indent="0" algn="l">
              <a:lnSpc>
                <a:spcPct val="100000"/>
              </a:lnSpc>
              <a:buNone/>
            </a:pPr>
            <a:r>
              <a:rPr lang="en-US" sz="1300" dirty="0">
                <a:solidFill>
                  <a:srgbClr val="1B3A4B"/>
                </a:solidFill>
                <a:latin typeface="Consolas"/>
                <a:cs typeface="Consolas"/>
              </a:rPr>
              <a:t># save the forest plot built from or_table</a:t>
            </a:r>
          </a:p>
          <a:p>
            <a:pPr marL="0" indent="0" algn="l">
              <a:lnSpc>
                <a:spcPct val="100000"/>
              </a:lnSpc>
              <a:buNone/>
            </a:pPr>
            <a:r>
              <a:rPr lang="en-US" sz="1300" dirty="0">
                <a:solidFill>
                  <a:srgbClr val="1B3A4B"/>
                </a:solidFill>
                <a:latin typeface="Consolas"/>
                <a:cs typeface="Consolas"/>
              </a:rPr>
              <a:t>ggsave("Resources/forest_plot_or.png",</a:t>
            </a:r>
          </a:p>
          <a:p>
            <a:pPr marL="0" indent="0" algn="l">
              <a:lnSpc>
                <a:spcPct val="100000"/>
              </a:lnSpc>
              <a:buNone/>
            </a:pPr>
            <a:r>
              <a:rPr lang="en-US" sz="1300" dirty="0">
                <a:solidFill>
                  <a:srgbClr val="1B3A4B"/>
                </a:solidFill>
                <a:latin typeface="Consolas"/>
                <a:cs typeface="Consolas"/>
              </a:rPr>
              <a:t>       plot = forest, width = 8, height = 5, dpi = 300)</a:t>
            </a:r>
          </a:p>
        </p:txBody>
      </p:sp>
      <p:sp>
        <p:nvSpPr>
          <p:cNvPr id="32" name="Note"/>
          <p:cNvSpPr/>
          <p:nvPr/>
        </p:nvSpPr>
        <p:spPr>
          <a:xfrm>
            <a:off x="457200" y="365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tbl_regression đọc mô hình trực tiếp - không chép tay - và ggsave xuất hình cho bản thảo.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Xuất Kết Quả Cho Bản Thảo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Lưu bảng</a:t>
            </a:r>
          </a:p>
          <a:p>
            <a:pPr marL="0" indent="0" algn="l">
              <a:lnSpc>
                <a:spcPct val="108000"/>
              </a:lnSpc>
              <a:spcBef>
                <a:spcPts val="440"/>
              </a:spcBef>
              <a:buNone/>
            </a:pPr>
            <a:r>
              <a:rPr lang="en-US" sz="1800" dirty="0">
                <a:solidFill>
                  <a:srgbClr val="000000"/>
                </a:solidFill>
                <a:latin typeface="Segoe UI"/>
                <a:cs typeface="Segoe UI"/>
              </a:rPr>
              <a:t>gtsummary: as_gt(tbl) rồi gtsave() ghi HTML, PNG hoặc Word.</a:t>
            </a:r>
          </a:p>
          <a:p>
            <a:pPr marL="0" indent="0" algn="l">
              <a:lnSpc>
                <a:spcPct val="108000"/>
              </a:lnSpc>
              <a:spcBef>
                <a:spcPts val="440"/>
              </a:spcBef>
              <a:buNone/>
            </a:pPr>
            <a:r>
              <a:rPr lang="en-US" sz="1800" dirty="0">
                <a:solidFill>
                  <a:srgbClr val="000000"/>
                </a:solidFill>
                <a:latin typeface="Segoe UI"/>
                <a:cs typeface="Segoe UI"/>
              </a:rPr>
              <a:t>Phương án dự phòng: write_csv(or_table, "Resources/regression_table.csv").</a:t>
            </a:r>
          </a:p>
          <a:p>
            <a:pPr>
              <a:buNone/>
            </a:pPr>
            <a:endParaRPr sz="1050"/>
          </a:p>
          <a:p>
            <a:pPr marL="0" indent="0" algn="l">
              <a:spcBef>
                <a:spcPts val="360"/>
              </a:spcBef>
              <a:buNone/>
            </a:pPr>
            <a:r>
              <a:rPr lang="en-US" sz="2050" b="1" dirty="0">
                <a:solidFill>
                  <a:srgbClr val="0D7377"/>
                </a:solidFill>
                <a:latin typeface="Segoe UI"/>
                <a:cs typeface="Segoe UI"/>
              </a:rPr>
              <a:t>Lưu hình</a:t>
            </a:r>
          </a:p>
          <a:p>
            <a:pPr marL="0" indent="0" algn="l">
              <a:lnSpc>
                <a:spcPct val="108000"/>
              </a:lnSpc>
              <a:spcBef>
                <a:spcPts val="440"/>
              </a:spcBef>
              <a:buNone/>
            </a:pPr>
            <a:r>
              <a:rPr lang="en-US" sz="1800" dirty="0">
                <a:solidFill>
                  <a:srgbClr val="000000"/>
                </a:solidFill>
                <a:latin typeface="Segoe UI"/>
                <a:cs typeface="Segoe UI"/>
              </a:rPr>
              <a:t>ggsave() ghi biểu đồ forest ở kích thước và độ phân giải cố định.</a:t>
            </a:r>
          </a:p>
          <a:p>
            <a:pPr marL="0" indent="0" algn="l">
              <a:lnSpc>
                <a:spcPct val="108000"/>
              </a:lnSpc>
              <a:spcBef>
                <a:spcPts val="440"/>
              </a:spcBef>
              <a:buNone/>
            </a:pPr>
            <a:r>
              <a:rPr lang="en-US" sz="1800" dirty="0">
                <a:solidFill>
                  <a:srgbClr val="000000"/>
                </a:solidFill>
                <a:latin typeface="Segoe UI"/>
                <a:cs typeface="Segoe UI"/>
              </a:rPr>
              <a:t>Dùng dpi = 300 cho các hình chất lượng in trong tạp chí.</a:t>
            </a:r>
          </a:p>
          <a:p>
            <a:pPr>
              <a:buNone/>
            </a:pPr>
            <a:endParaRPr sz="1050"/>
          </a:p>
          <a:p>
            <a:pPr marL="0" indent="0" algn="l">
              <a:spcBef>
                <a:spcPts val="360"/>
              </a:spcBef>
              <a:buNone/>
            </a:pPr>
            <a:r>
              <a:rPr lang="en-US" sz="2050" b="1" dirty="0">
                <a:solidFill>
                  <a:srgbClr val="0D7377"/>
                </a:solidFill>
                <a:latin typeface="Segoe UI"/>
                <a:cs typeface="Segoe UI"/>
              </a:rPr>
              <a:t>Tại sao xuất từ code</a:t>
            </a:r>
          </a:p>
          <a:p>
            <a:pPr marL="0" indent="0" algn="l">
              <a:lnSpc>
                <a:spcPct val="108000"/>
              </a:lnSpc>
              <a:spcBef>
                <a:spcPts val="440"/>
              </a:spcBef>
              <a:buNone/>
            </a:pPr>
            <a:r>
              <a:rPr lang="en-US" sz="1800" dirty="0">
                <a:solidFill>
                  <a:srgbClr val="000000"/>
                </a:solidFill>
                <a:latin typeface="Segoe UI"/>
                <a:cs typeface="Segoe UI"/>
              </a:rPr>
              <a:t>Báo cáo có thể được dựng lại từ dữ liệu thô mà không cần bước thủ công nào.</a:t>
            </a:r>
          </a:p>
          <a:p>
            <a:pPr marL="0" indent="0" algn="l">
              <a:lnSpc>
                <a:spcPct val="108000"/>
              </a:lnSpc>
              <a:spcBef>
                <a:spcPts val="440"/>
              </a:spcBef>
              <a:buNone/>
            </a:pPr>
            <a:r>
              <a:rPr lang="en-US" sz="1800" dirty="0">
                <a:solidFill>
                  <a:srgbClr val="000000"/>
                </a:solidFill>
                <a:latin typeface="Segoe UI"/>
                <a:cs typeface="Segoe UI"/>
              </a:rPr>
              <a:t>Không sao chép nghĩa là không có lỗi sao chép.</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Giữ một thư mục Resources/</a:t>
            </a:r>
          </a:p>
          <a:p>
            <a:pPr marL="0" indent="0" algn="l">
              <a:spcBef>
                <a:spcPts val="100"/>
              </a:spcBef>
              <a:buNone/>
            </a:pPr>
            <a:r>
              <a:rPr lang="en-US" sz="1300" dirty="0">
                <a:solidFill>
                  <a:srgbClr val="000000"/>
                </a:solidFill>
                <a:latin typeface="Segoe UI"/>
                <a:cs typeface="Segoe UI"/>
              </a:rPr>
              <a:t>Gửi mọi bảng và hình vào đó để các kết quả nằm cùng một chỗ.</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Từ Tỷ Số Chênh Đến Câu Văn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Các con số</a:t>
            </a:r>
          </a:p>
          <a:p>
            <a:pPr marL="274320" indent="-274320" algn="l">
              <a:lnSpc>
                <a:spcPct val="106000"/>
              </a:lnSpc>
              <a:spcBef>
                <a:spcPts val="520"/>
              </a:spcBef>
              <a:buFont typeface="Arial"/>
              <a:buChar char="•"/>
            </a:pPr>
            <a:r>
              <a:rPr lang="en-US" sz="1650" dirty="0">
                <a:solidFill>
                  <a:srgbClr val="000000"/>
                </a:solidFill>
                <a:latin typeface="Segoe UI"/>
                <a:cs typeface="Segoe UI"/>
              </a:rPr>
              <a:t>Đái tháo đường: aOR 3.56 (1.46-9.61).</a:t>
            </a:r>
          </a:p>
          <a:p>
            <a:pPr marL="274320" indent="-274320" algn="l">
              <a:lnSpc>
                <a:spcPct val="106000"/>
              </a:lnSpc>
              <a:spcBef>
                <a:spcPts val="520"/>
              </a:spcBef>
              <a:buFont typeface="Arial"/>
              <a:buChar char="•"/>
            </a:pPr>
            <a:r>
              <a:rPr lang="en-US" sz="1650" dirty="0">
                <a:solidFill>
                  <a:srgbClr val="000000"/>
                </a:solidFill>
                <a:latin typeface="Segoe UI"/>
                <a:cs typeface="Segoe UI"/>
              </a:rPr>
              <a:t>Bảo hiểm: aOR 2.05 (1.54-2.74).</a:t>
            </a:r>
          </a:p>
          <a:p>
            <a:pPr marL="274320" indent="-274320" algn="l">
              <a:lnSpc>
                <a:spcPct val="106000"/>
              </a:lnSpc>
              <a:spcBef>
                <a:spcPts val="520"/>
              </a:spcBef>
              <a:buFont typeface="Arial"/>
              <a:buChar char="•"/>
            </a:pPr>
            <a:r>
              <a:rPr lang="en-US" sz="1650" dirty="0">
                <a:solidFill>
                  <a:srgbClr val="000000"/>
                </a:solidFill>
                <a:latin typeface="Segoe UI"/>
                <a:cs typeface="Segoe UI"/>
              </a:rPr>
              <a:t>Thành thị: aOR 1.87 (1.41-2.49).</a:t>
            </a:r>
          </a:p>
          <a:p>
            <a:pPr marL="274320" indent="-274320" algn="l">
              <a:lnSpc>
                <a:spcPct val="106000"/>
              </a:lnSpc>
              <a:spcBef>
                <a:spcPts val="520"/>
              </a:spcBef>
              <a:buFont typeface="Arial"/>
              <a:buChar char="•"/>
            </a:pPr>
            <a:r>
              <a:rPr lang="en-US" sz="1650" dirty="0">
                <a:solidFill>
                  <a:srgbClr val="000000"/>
                </a:solidFill>
                <a:latin typeface="Segoe UI"/>
                <a:cs typeface="Segoe UI"/>
              </a:rPr>
              <a:t>Xu hướng học vấn: aOR 1.96 (1.39-2.77).</a:t>
            </a:r>
          </a:p>
          <a:p>
            <a:pPr marL="274320" indent="-274320" algn="l">
              <a:lnSpc>
                <a:spcPct val="106000"/>
              </a:lnSpc>
              <a:spcBef>
                <a:spcPts val="520"/>
              </a:spcBef>
              <a:buFont typeface="Arial"/>
              <a:buChar char="•"/>
            </a:pPr>
            <a:r>
              <a:rPr lang="en-US" sz="1650" dirty="0">
                <a:solidFill>
                  <a:srgbClr val="000000"/>
                </a:solidFill>
                <a:latin typeface="Segoe UI"/>
                <a:cs typeface="Segoe UI"/>
              </a:rPr>
              <a:t>Giới nam: aOR 0.74 (0.56-0.97).</a:t>
            </a:r>
          </a:p>
          <a:p>
            <a:pPr marL="274320" indent="-274320" algn="l">
              <a:lnSpc>
                <a:spcPct val="106000"/>
              </a:lnSpc>
              <a:spcBef>
                <a:spcPts val="520"/>
              </a:spcBef>
              <a:buFont typeface="Arial"/>
              <a:buChar char="•"/>
            </a:pPr>
            <a:r>
              <a:rPr lang="en-US" sz="1650" dirty="0">
                <a:solidFill>
                  <a:srgbClr val="000000"/>
                </a:solidFill>
                <a:latin typeface="Segoe UI"/>
                <a:cs typeface="Segoe UI"/>
              </a:rPr>
              <a:t>Khoảng cách: aOR 0.98 (0.96-1.01), KYN.</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Biến mỗi OR thành một câu</a:t>
            </a:r>
          </a:p>
          <a:p>
            <a:pPr marL="274320" indent="-274320" algn="l">
              <a:lnSpc>
                <a:spcPct val="106000"/>
              </a:lnSpc>
              <a:spcBef>
                <a:spcPts val="520"/>
              </a:spcBef>
              <a:buFont typeface="Arial"/>
              <a:buChar char="•"/>
            </a:pPr>
            <a:r>
              <a:rPr lang="en-US" sz="1650" dirty="0">
                <a:solidFill>
                  <a:srgbClr val="000000"/>
                </a:solidFill>
                <a:latin typeface="Segoe UI"/>
                <a:cs typeface="Segoe UI"/>
              </a:rPr>
              <a:t>Nêu hướng, độ lớn, nhóm so sánh và KTC.</a:t>
            </a:r>
          </a:p>
          <a:p>
            <a:pPr marL="274320" indent="-274320" algn="l">
              <a:lnSpc>
                <a:spcPct val="106000"/>
              </a:lnSpc>
              <a:spcBef>
                <a:spcPts val="520"/>
              </a:spcBef>
              <a:buFont typeface="Arial"/>
              <a:buChar char="•"/>
            </a:pPr>
            <a:r>
              <a:rPr lang="en-US" sz="1650" dirty="0">
                <a:solidFill>
                  <a:srgbClr val="000000"/>
                </a:solidFill>
                <a:latin typeface="Segoe UI"/>
                <a:cs typeface="Segoe UI"/>
              </a:rPr>
              <a:t>OR&gt;1: 'gấp X lần số chênh tiếp nhận'.</a:t>
            </a:r>
          </a:p>
          <a:p>
            <a:pPr marL="274320" indent="-274320" algn="l">
              <a:lnSpc>
                <a:spcPct val="106000"/>
              </a:lnSpc>
              <a:spcBef>
                <a:spcPts val="520"/>
              </a:spcBef>
              <a:buFont typeface="Arial"/>
              <a:buChar char="•"/>
            </a:pPr>
            <a:r>
              <a:rPr lang="en-US" sz="1650" dirty="0">
                <a:solidFill>
                  <a:srgbClr val="000000"/>
                </a:solidFill>
                <a:latin typeface="Segoe UI"/>
                <a:cs typeface="Segoe UI"/>
              </a:rPr>
              <a:t>OR&lt;1: 'số chênh thấp hơn' - ở đây nam so với nữ.</a:t>
            </a:r>
          </a:p>
          <a:p>
            <a:pPr marL="274320" indent="-274320" algn="l">
              <a:lnSpc>
                <a:spcPct val="106000"/>
              </a:lnSpc>
              <a:spcBef>
                <a:spcPts val="520"/>
              </a:spcBef>
              <a:buFont typeface="Arial"/>
              <a:buChar char="•"/>
            </a:pPr>
            <a:r>
              <a:rPr lang="en-US" sz="1650" dirty="0">
                <a:solidFill>
                  <a:srgbClr val="000000"/>
                </a:solidFill>
                <a:latin typeface="Segoe UI"/>
                <a:cs typeface="Segoe UI"/>
              </a:rPr>
              <a:t>Liên tục: 'trên mỗi 1 đơn vị tăng'.</a:t>
            </a:r>
          </a:p>
          <a:p>
            <a:pPr marL="274320" indent="-274320" algn="l">
              <a:lnSpc>
                <a:spcPct val="106000"/>
              </a:lnSpc>
              <a:spcBef>
                <a:spcPts val="520"/>
              </a:spcBef>
              <a:buFont typeface="Arial"/>
              <a:buChar char="•"/>
            </a:pPr>
            <a:r>
              <a:rPr lang="en-US" sz="1650" dirty="0">
                <a:solidFill>
                  <a:srgbClr val="000000"/>
                </a:solidFill>
                <a:latin typeface="Segoe UI"/>
                <a:cs typeface="Segoe UI"/>
              </a:rPr>
              <a:t>Nêu rõ nhóm tham chiếu một cách tường minh.</a:t>
            </a:r>
          </a:p>
          <a:p>
            <a:pPr marL="274320" indent="-274320" algn="l">
              <a:lnSpc>
                <a:spcPct val="106000"/>
              </a:lnSpc>
              <a:spcBef>
                <a:spcPts val="520"/>
              </a:spcBef>
              <a:buFont typeface="Arial"/>
              <a:buChar char="•"/>
            </a:pPr>
            <a:r>
              <a:rPr lang="en-US" sz="1650" dirty="0">
                <a:solidFill>
                  <a:srgbClr val="000000"/>
                </a:solidFill>
                <a:latin typeface="Segoe UI"/>
                <a:cs typeface="Segoe UI"/>
              </a:rPr>
              <a:t>Báo cáo các phát hiện KYN một cách trung thực, kèm KTC.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Ví Dụ Thực Hành: Một Đoạn Kết Quả</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Đoạn kết quả mô hình</a:t>
            </a:r>
          </a:p>
          <a:p>
            <a:pPr marL="0" indent="0" algn="l">
              <a:lnSpc>
                <a:spcPct val="108000"/>
              </a:lnSpc>
              <a:spcBef>
                <a:spcPts val="440"/>
              </a:spcBef>
              <a:buNone/>
            </a:pPr>
            <a:r>
              <a:rPr lang="en-US" sz="1800" dirty="0">
                <a:solidFill>
                  <a:srgbClr val="000000"/>
                </a:solidFill>
                <a:latin typeface="Segoe UI"/>
                <a:cs typeface="Segoe UI"/>
              </a:rPr>
              <a:t>Trong 992 người tăng huyết áp đã được chẩn đoán, tiếp nhận điều trị liên quan độc lập</a:t>
            </a:r>
          </a:p>
          <a:p>
            <a:pPr marL="0" indent="0" algn="l">
              <a:lnSpc>
                <a:spcPct val="108000"/>
              </a:lnSpc>
              <a:spcBef>
                <a:spcPts val="440"/>
              </a:spcBef>
              <a:buNone/>
            </a:pPr>
            <a:r>
              <a:rPr lang="en-US" sz="1800" dirty="0">
                <a:solidFill>
                  <a:srgbClr val="000000"/>
                </a:solidFill>
                <a:latin typeface="Segoe UI"/>
                <a:cs typeface="Segoe UI"/>
              </a:rPr>
              <a:t>với đái tháo đường (aOR 3.56, KTC 95% 1.46-9.61), bảo hiểm y tế</a:t>
            </a:r>
          </a:p>
          <a:p>
            <a:pPr marL="0" indent="0" algn="l">
              <a:lnSpc>
                <a:spcPct val="108000"/>
              </a:lnSpc>
              <a:spcBef>
                <a:spcPts val="440"/>
              </a:spcBef>
              <a:buNone/>
            </a:pPr>
            <a:r>
              <a:rPr lang="en-US" sz="1800" dirty="0">
                <a:solidFill>
                  <a:srgbClr val="000000"/>
                </a:solidFill>
                <a:latin typeface="Segoe UI"/>
                <a:cs typeface="Segoe UI"/>
              </a:rPr>
              <a:t>(2.05, 1.54-2.74), nơi cư trú thành thị (1.87, 1.41-2.49) và học vấn cao hơn</a:t>
            </a:r>
          </a:p>
          <a:p>
            <a:pPr marL="0" indent="0" algn="l">
              <a:lnSpc>
                <a:spcPct val="108000"/>
              </a:lnSpc>
              <a:spcBef>
                <a:spcPts val="440"/>
              </a:spcBef>
              <a:buNone/>
            </a:pPr>
            <a:r>
              <a:rPr lang="en-US" sz="1800" dirty="0">
                <a:solidFill>
                  <a:srgbClr val="000000"/>
                </a:solidFill>
                <a:latin typeface="Segoe UI"/>
                <a:cs typeface="Segoe UI"/>
              </a:rPr>
              <a:t>(1.96, 1.39-2.77). Tuổi cao hơn (1.03 mỗi năm) và kiến thức nhiều hơn (1.10</a:t>
            </a:r>
          </a:p>
          <a:p>
            <a:pPr marL="0" indent="0" algn="l">
              <a:lnSpc>
                <a:spcPct val="108000"/>
              </a:lnSpc>
              <a:spcBef>
                <a:spcPts val="440"/>
              </a:spcBef>
              <a:buNone/>
            </a:pPr>
            <a:r>
              <a:rPr lang="en-US" sz="1800" dirty="0">
                <a:solidFill>
                  <a:srgbClr val="000000"/>
                </a:solidFill>
                <a:latin typeface="Segoe UI"/>
                <a:cs typeface="Segoe UI"/>
              </a:rPr>
              <a:t>mỗi điểm) cũng làm tăng số chênh, trong khi nam giới có số chênh thấp hơn nữ giới</a:t>
            </a:r>
          </a:p>
          <a:p>
            <a:pPr marL="0" indent="0" algn="l">
              <a:lnSpc>
                <a:spcPct val="108000"/>
              </a:lnSpc>
              <a:spcBef>
                <a:spcPts val="440"/>
              </a:spcBef>
              <a:buNone/>
            </a:pPr>
            <a:r>
              <a:rPr lang="en-US" sz="1800" dirty="0">
                <a:solidFill>
                  <a:srgbClr val="000000"/>
                </a:solidFill>
                <a:latin typeface="Segoe UI"/>
                <a:cs typeface="Segoe UI"/>
              </a:rPr>
              <a:t>(0.74, 0.56-0.97). Khoảng cách tới cơ sở không có ý nghĩa thống kê (0.98,</a:t>
            </a:r>
          </a:p>
          <a:p>
            <a:pPr marL="0" indent="0" algn="l">
              <a:lnSpc>
                <a:spcPct val="108000"/>
              </a:lnSpc>
              <a:spcBef>
                <a:spcPts val="440"/>
              </a:spcBef>
              <a:buNone/>
            </a:pPr>
            <a:r>
              <a:rPr lang="en-US" sz="1800" dirty="0">
                <a:solidFill>
                  <a:srgbClr val="000000"/>
                </a:solidFill>
                <a:latin typeface="Segoe UI"/>
                <a:cs typeface="Segoe UI"/>
              </a:rPr>
              <a:t>0.96-1.01). Mô hình phân biệt ở mức chấp nhận được (AUC 0.71).</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Luôn kết thúc bằng khả năng phân biệt</a:t>
            </a:r>
          </a:p>
          <a:p>
            <a:pPr marL="0" indent="0" algn="l">
              <a:spcBef>
                <a:spcPts val="100"/>
              </a:spcBef>
              <a:buNone/>
            </a:pPr>
            <a:r>
              <a:rPr lang="en-US" sz="1300" dirty="0">
                <a:solidFill>
                  <a:srgbClr val="000000"/>
                </a:solidFill>
                <a:latin typeface="Segoe UI"/>
                <a:cs typeface="Segoe UI"/>
              </a:rPr>
              <a:t>Báo cáo AUC cho người đọc biết mô hình phân tách tiếp nhận với không tiếp nhận tốt đến đâu.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Khả Năng Tái Lập: Thông Điệp Tổng Kết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Làm cho công việc của bạn ai cũng chạy lại được</a:t>
            </a:r>
          </a:p>
          <a:p>
            <a:pPr marL="0" indent="0" algn="l">
              <a:lnSpc>
                <a:spcPct val="108000"/>
              </a:lnSpc>
              <a:spcBef>
                <a:spcPts val="440"/>
              </a:spcBef>
              <a:buNone/>
            </a:pPr>
            <a:r>
              <a:rPr lang="en-US" sz="1800" dirty="0">
                <a:solidFill>
                  <a:srgbClr val="000000"/>
                </a:solidFill>
                <a:latin typeface="Segoe UI"/>
                <a:cs typeface="Segoe UI"/>
              </a:rPr>
              <a:t>Script hơn menu bấm chuột: code là hồ sơ vĩnh viễn.</a:t>
            </a:r>
          </a:p>
          <a:p>
            <a:pPr marL="0" indent="0" algn="l">
              <a:lnSpc>
                <a:spcPct val="108000"/>
              </a:lnSpc>
              <a:spcBef>
                <a:spcPts val="440"/>
              </a:spcBef>
              <a:buNone/>
            </a:pPr>
            <a:r>
              <a:rPr lang="en-US" sz="1800" dirty="0">
                <a:solidFill>
                  <a:srgbClr val="000000"/>
                </a:solidFill>
                <a:latin typeface="Segoe UI"/>
                <a:cs typeface="Segoe UI"/>
              </a:rPr>
              <a:t>set.seed() làm cho mọi tính ngẫu nhiên (bootstrap, chia mẫu) có thể lặp lại.</a:t>
            </a:r>
          </a:p>
          <a:p>
            <a:pPr marL="0" indent="0" algn="l">
              <a:lnSpc>
                <a:spcPct val="108000"/>
              </a:lnSpc>
              <a:spcBef>
                <a:spcPts val="440"/>
              </a:spcBef>
              <a:buNone/>
            </a:pPr>
            <a:r>
              <a:rPr lang="en-US" sz="1800" dirty="0">
                <a:solidFill>
                  <a:srgbClr val="000000"/>
                </a:solidFill>
                <a:latin typeface="Segoe UI"/>
                <a:cs typeface="Segoe UI"/>
              </a:rPr>
              <a:t>Dùng RStudio Projects và đường dẫn tương đối - không bao giờ C:/Users/yourname/...</a:t>
            </a:r>
          </a:p>
          <a:p>
            <a:pPr marL="0" indent="0" algn="l">
              <a:lnSpc>
                <a:spcPct val="108000"/>
              </a:lnSpc>
              <a:spcBef>
                <a:spcPts val="440"/>
              </a:spcBef>
              <a:buNone/>
            </a:pPr>
            <a:r>
              <a:rPr lang="en-US" sz="1800" dirty="0">
                <a:solidFill>
                  <a:srgbClr val="000000"/>
                </a:solidFill>
                <a:latin typeface="Segoe UI"/>
                <a:cs typeface="Segoe UI"/>
              </a:rPr>
              <a:t>Lưu mọi bảng và hình vào đĩa để báo cáo dựng lại được từ code.</a:t>
            </a:r>
          </a:p>
          <a:p>
            <a:pPr>
              <a:buNone/>
            </a:pPr>
            <a:endParaRPr sz="1050"/>
          </a:p>
          <a:p>
            <a:pPr marL="0" indent="0" algn="l">
              <a:spcBef>
                <a:spcPts val="360"/>
              </a:spcBef>
              <a:buNone/>
            </a:pPr>
            <a:r>
              <a:rPr lang="en-US" sz="2050" b="1" dirty="0">
                <a:solidFill>
                  <a:srgbClr val="0D7377"/>
                </a:solidFill>
                <a:latin typeface="Segoe UI"/>
                <a:cs typeface="Segoe UI"/>
              </a:rPr>
              <a:t>Ghi lại và chia sẻ môi trường của bạn</a:t>
            </a:r>
          </a:p>
          <a:p>
            <a:pPr marL="0" indent="0" algn="l">
              <a:lnSpc>
                <a:spcPct val="108000"/>
              </a:lnSpc>
              <a:spcBef>
                <a:spcPts val="440"/>
              </a:spcBef>
              <a:buNone/>
            </a:pPr>
            <a:r>
              <a:rPr lang="en-US" sz="1800" dirty="0">
                <a:solidFill>
                  <a:srgbClr val="000000"/>
                </a:solidFill>
                <a:latin typeface="Segoe UI"/>
                <a:cs typeface="Segoe UI"/>
              </a:rPr>
              <a:t>sessionInfo() ghi lại đúng phiên bản R và các gói của bạn.</a:t>
            </a:r>
          </a:p>
          <a:p>
            <a:pPr marL="0" indent="0" algn="l">
              <a:lnSpc>
                <a:spcPct val="108000"/>
              </a:lnSpc>
              <a:spcBef>
                <a:spcPts val="440"/>
              </a:spcBef>
              <a:buNone/>
            </a:pPr>
            <a:r>
              <a:rPr lang="en-US" sz="1800" dirty="0">
                <a:solidFill>
                  <a:srgbClr val="000000"/>
                </a:solidFill>
                <a:latin typeface="Segoe UI"/>
                <a:cs typeface="Segoe UI"/>
              </a:rPr>
              <a:t>R Markdown / Quarto kết code, văn bản và hình thành một báo cáo.</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Thực hành tốt nhất</a:t>
            </a:r>
          </a:p>
          <a:p>
            <a:pPr marL="0" indent="0" algn="l">
              <a:spcBef>
                <a:spcPts val="100"/>
              </a:spcBef>
              <a:buNone/>
            </a:pPr>
            <a:r>
              <a:rPr lang="en-US" sz="1300" dirty="0">
                <a:solidFill>
                  <a:srgbClr val="000000"/>
                </a:solidFill>
                <a:latin typeface="Segoe UI"/>
                <a:cs typeface="Segoe UI"/>
              </a:rPr>
              <a:t>Một cú nhấp chuột nên dựng lại toàn bộ báo cáo từ dữ liệu thô đến PDF.</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Demo: Một Đoạn Mã Về Khả Năng Tái Lập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Segoe UI"/>
                <a:cs typeface="Segoe UI"/>
              </a:rPr>
              <a:t>Seed, đường dẫn tương đối, và một môi trường được ghi lại.</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set.seed(2025)</a:t>
            </a:r>
          </a:p>
          <a:p>
            <a:pPr marL="0" indent="0" algn="l">
              <a:lnSpc>
                <a:spcPct val="100000"/>
              </a:lnSpc>
              <a:buNone/>
            </a:pPr>
            <a:r>
              <a:rPr lang="en-US" sz="1300" dirty="0">
                <a:solidFill>
                  <a:srgbClr val="1B3A4B"/>
                </a:solidFill>
                <a:latin typeface="Consolas"/>
                <a:cs typeface="Consolas"/>
              </a:rPr>
              <a:t>analysis_data &lt;- readRDS("Data/analysis_data.rds")</a:t>
            </a:r>
          </a:p>
          <a:p>
            <a:pPr marL="0" indent="0" algn="l">
              <a:lnSpc>
                <a:spcPct val="100000"/>
              </a:lnSpc>
              <a:buNone/>
            </a:pPr>
            <a:r>
              <a:rPr lang="en-US" sz="1300" dirty="0">
                <a:solidFill>
                  <a:srgbClr val="1B3A4B"/>
                </a:solidFill>
                <a:latin typeface="Consolas"/>
                <a:cs typeface="Consolas"/>
              </a:rPr>
              <a:t>dx &lt;- filter(analysis_data, htn_diagnosed == "Yes")</a:t>
            </a:r>
          </a:p>
          <a:p>
            <a:pPr marL="0" indent="0" algn="l">
              <a:lnSpc>
                <a:spcPct val="100000"/>
              </a:lnSpc>
              <a:buNone/>
            </a:pPr>
            <a:r>
              <a:rPr lang="en-US" sz="1300" dirty="0">
                <a:solidFill>
                  <a:srgbClr val="1B3A4B"/>
                </a:solidFill>
                <a:latin typeface="Consolas"/>
                <a:cs typeface="Consolas"/>
              </a:rPr>
              <a:t># record the exact software environment</a:t>
            </a:r>
          </a:p>
          <a:p>
            <a:pPr marL="0" indent="0" algn="l">
              <a:lnSpc>
                <a:spcPct val="100000"/>
              </a:lnSpc>
              <a:buNone/>
            </a:pPr>
            <a:r>
              <a:rPr lang="en-US" sz="1300" dirty="0">
                <a:solidFill>
                  <a:srgbClr val="1B3A4B"/>
                </a:solidFill>
                <a:latin typeface="Consolas"/>
                <a:cs typeface="Consolas"/>
              </a:rPr>
              <a:t>writeLines(capture.output(sessionInfo()),</a:t>
            </a:r>
          </a:p>
          <a:p>
            <a:pPr marL="0" indent="0" algn="l">
              <a:lnSpc>
                <a:spcPct val="100000"/>
              </a:lnSpc>
              <a:buNone/>
            </a:pPr>
            <a:r>
              <a:rPr lang="en-US" sz="1300" dirty="0">
                <a:solidFill>
                  <a:srgbClr val="1B3A4B"/>
                </a:solidFill>
                <a:latin typeface="Consolas"/>
                <a:cs typeface="Consolas"/>
              </a:rPr>
              <a:t>           "References/session_info.txt")</a:t>
            </a:r>
          </a:p>
        </p:txBody>
      </p:sp>
      <p:sp>
        <p:nvSpPr>
          <p:cNvPr id="31" name="Output"/>
          <p:cNvSpPr/>
          <p:nvPr/>
        </p:nvSpPr>
        <p:spPr>
          <a:xfrm>
            <a:off x="457200" y="3230000"/>
            <a:ext cx="11277600" cy="9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Segoe UI"/>
                <a:cs typeface="Segoe UI"/>
              </a:rPr>
              <a:t>Kết quả (console)</a:t>
            </a:r>
          </a:p>
          <a:p>
            <a:pPr marL="0" indent="0" algn="l">
              <a:lnSpc>
                <a:spcPct val="100000"/>
              </a:lnSpc>
              <a:buNone/>
            </a:pPr>
            <a:r>
              <a:rPr lang="en-US" sz="1250" dirty="0">
                <a:solidFill>
                  <a:srgbClr val="1A1A1A"/>
                </a:solidFill>
                <a:latin typeface="Consolas"/>
                <a:cs typeface="Consolas"/>
              </a:rPr>
              <a:t>R version 4.4.1 (2024-06-14)</a:t>
            </a:r>
          </a:p>
          <a:p>
            <a:pPr marL="0" indent="0" algn="l">
              <a:lnSpc>
                <a:spcPct val="100000"/>
              </a:lnSpc>
              <a:buNone/>
            </a:pPr>
            <a:r>
              <a:rPr lang="en-US" sz="1250" dirty="0">
                <a:solidFill>
                  <a:srgbClr val="1A1A1A"/>
                </a:solidFill>
                <a:latin typeface="Consolas"/>
                <a:cs typeface="Consolas"/>
              </a:rPr>
              <a:t>attached: dplyr_1.1.4 broom_1.0.6 gtsummary_2.0</a:t>
            </a:r>
          </a:p>
          <a:p>
            <a:pPr marL="0" indent="0" algn="l">
              <a:lnSpc>
                <a:spcPct val="100000"/>
              </a:lnSpc>
              <a:buNone/>
            </a:pPr>
            <a:r>
              <a:rPr lang="en-US" sz="1250" dirty="0">
                <a:solidFill>
                  <a:srgbClr val="1A1A1A"/>
                </a:solidFill>
                <a:latin typeface="Consolas"/>
                <a:cs typeface="Consolas"/>
              </a:rPr>
              <a:t>... (full environment written to References/session_info.txt)</a:t>
            </a:r>
          </a:p>
        </p:txBody>
      </p:sp>
      <p:sp>
        <p:nvSpPr>
          <p:cNvPr id="32" name="Note"/>
          <p:cNvSpPr/>
          <p:nvPr/>
        </p:nvSpPr>
        <p:spPr>
          <a:xfrm>
            <a:off x="457200" y="42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Segoe UI"/>
                <a:cs typeface="Segoe UI"/>
              </a:rPr>
              <a:t>DIỄN GIẢI  -  Đường dẫn tương đối cộng với một sessionInfo() đã lưu cho phép bất kỳ đồng nghiệp nào chạy lại cái này trên bất kỳ máy nào.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Bài Tập Ngày 5: Hoàn Thành Phân Tích &amp; Viết Một Phần Kết Quả</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Nhiệm vụ của bạn</a:t>
            </a:r>
          </a:p>
          <a:p>
            <a:pPr marL="0" indent="0" algn="l">
              <a:lnSpc>
                <a:spcPct val="108000"/>
              </a:lnSpc>
              <a:spcBef>
                <a:spcPts val="440"/>
              </a:spcBef>
              <a:buNone/>
            </a:pPr>
            <a:r>
              <a:rPr lang="en-US" sz="1800" dirty="0">
                <a:solidFill>
                  <a:srgbClr val="000000"/>
                </a:solidFill>
                <a:latin typeface="Segoe UI"/>
                <a:cs typeface="Segoe UI"/>
              </a:rPr>
              <a:t>Khớp mô hình đa biến đã định trước trên tập con đã chẩn đoán.</a:t>
            </a:r>
          </a:p>
          <a:p>
            <a:pPr marL="0" indent="0" algn="l">
              <a:lnSpc>
                <a:spcPct val="108000"/>
              </a:lnSpc>
              <a:spcBef>
                <a:spcPts val="440"/>
              </a:spcBef>
              <a:buNone/>
            </a:pPr>
            <a:r>
              <a:rPr lang="en-US" sz="1800" dirty="0">
                <a:solidFill>
                  <a:srgbClr val="000000"/>
                </a:solidFill>
                <a:latin typeface="Segoe UI"/>
                <a:cs typeface="Segoe UI"/>
              </a:rPr>
              <a:t>Tạo một bảng OR đã sắp gọn (exponentiate = TRUE, conf.int = TRUE).</a:t>
            </a:r>
          </a:p>
          <a:p>
            <a:pPr marL="0" indent="0" algn="l">
              <a:lnSpc>
                <a:spcPct val="108000"/>
              </a:lnSpc>
              <a:spcBef>
                <a:spcPts val="440"/>
              </a:spcBef>
              <a:buNone/>
            </a:pPr>
            <a:r>
              <a:rPr lang="en-US" sz="1800" dirty="0">
                <a:solidFill>
                  <a:srgbClr val="000000"/>
                </a:solidFill>
                <a:latin typeface="Segoe UI"/>
                <a:cs typeface="Segoe UI"/>
              </a:rPr>
              <a:t>Chạy các chẩn đoán: VIF, kiểm tra tính tuyến tính, khoảng cách Cook, AUC.</a:t>
            </a:r>
          </a:p>
          <a:p>
            <a:pPr marL="0" indent="0" algn="l">
              <a:lnSpc>
                <a:spcPct val="108000"/>
              </a:lnSpc>
              <a:spcBef>
                <a:spcPts val="440"/>
              </a:spcBef>
              <a:buNone/>
            </a:pPr>
            <a:r>
              <a:rPr lang="en-US" sz="1800" dirty="0">
                <a:solidFill>
                  <a:srgbClr val="000000"/>
                </a:solidFill>
                <a:latin typeface="Segoe UI"/>
                <a:cs typeface="Segoe UI"/>
              </a:rPr>
              <a:t>Dựng một bảng gtsummary và một biểu đồ forest, và lưu cả hai vào Resources/.</a:t>
            </a:r>
          </a:p>
          <a:p>
            <a:pPr marL="0" indent="0" algn="l">
              <a:lnSpc>
                <a:spcPct val="108000"/>
              </a:lnSpc>
              <a:spcBef>
                <a:spcPts val="440"/>
              </a:spcBef>
              <a:buNone/>
            </a:pPr>
            <a:r>
              <a:rPr lang="en-US" sz="1800" dirty="0">
                <a:solidFill>
                  <a:srgbClr val="000000"/>
                </a:solidFill>
                <a:latin typeface="Segoe UI"/>
                <a:cs typeface="Segoe UI"/>
              </a:rPr>
              <a:t>Viết một phần Kết quả 4-6 câu từ các OR của chính bạn.</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Segoe UI"/>
                <a:cs typeface="Segoe UI"/>
              </a:rPr>
              <a:t>LƯU Ý  -  Sản phẩm bàn giao</a:t>
            </a:r>
          </a:p>
          <a:p>
            <a:pPr marL="0" indent="0" algn="l">
              <a:spcBef>
                <a:spcPts val="100"/>
              </a:spcBef>
              <a:buNone/>
            </a:pPr>
            <a:r>
              <a:rPr lang="en-US" sz="1300" dirty="0">
                <a:solidFill>
                  <a:srgbClr val="000000"/>
                </a:solidFill>
                <a:latin typeface="Segoe UI"/>
                <a:cs typeface="Segoe UI"/>
              </a:rPr>
              <a:t>Một script có thể tái lập cộng với một đoạn Kết quả ngắn trích dẫn các aOR, KTC 95% và AUC.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Tổng Kết Khóa Học: Những Gì Bạn Giờ Đã Làm Được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Segoe UI"/>
                <a:cs typeface="Segoe UI"/>
              </a:rPr>
              <a:t>Năm ngày, một bộ dữ liệu thực, một quy trình phân tích đầy đủ.</a:t>
            </a:r>
          </a:p>
          <a:p>
            <a:pPr>
              <a:buNone/>
            </a:pPr>
            <a:endParaRPr sz="950"/>
          </a:p>
          <a:p>
            <a:pPr marL="274320" indent="-274320" algn="l">
              <a:lnSpc>
                <a:spcPct val="106000"/>
              </a:lnSpc>
              <a:spcBef>
                <a:spcPts val="560"/>
              </a:spcBef>
              <a:buFont typeface="Arial"/>
              <a:buChar char="•"/>
            </a:pPr>
            <a:r>
              <a:rPr lang="en-US" sz="1950" dirty="0">
                <a:solidFill>
                  <a:srgbClr val="000000"/>
                </a:solidFill>
                <a:latin typeface="Segoe UI"/>
                <a:cs typeface="Segoe UI"/>
              </a:rPr>
              <a:t>Nhập dữ liệu lâm sàng lộn xộn vào R và hiểu cấu trúc của nó.</a:t>
            </a:r>
          </a:p>
          <a:p>
            <a:pPr marL="274320" indent="-274320" algn="l">
              <a:lnSpc>
                <a:spcPct val="106000"/>
              </a:lnSpc>
              <a:spcBef>
                <a:spcPts val="560"/>
              </a:spcBef>
              <a:buFont typeface="Arial"/>
              <a:buChar char="•"/>
            </a:pPr>
            <a:r>
              <a:rPr lang="en-US" sz="1950" dirty="0">
                <a:solidFill>
                  <a:srgbClr val="000000"/>
                </a:solidFill>
                <a:latin typeface="Segoe UI"/>
                <a:cs typeface="Segoe UI"/>
              </a:rPr>
              <a:t>Làm sạch nó: sửa các giá trị bất khả thi, chuẩn hóa các danh mục, xử lý dữ liệu khuyết.</a:t>
            </a:r>
          </a:p>
          <a:p>
            <a:pPr marL="274320" indent="-274320" algn="l">
              <a:lnSpc>
                <a:spcPct val="106000"/>
              </a:lnSpc>
              <a:spcBef>
                <a:spcPts val="560"/>
              </a:spcBef>
              <a:buFont typeface="Arial"/>
              <a:buChar char="•"/>
            </a:pPr>
            <a:r>
              <a:rPr lang="en-US" sz="1950" dirty="0">
                <a:solidFill>
                  <a:srgbClr val="000000"/>
                </a:solidFill>
                <a:latin typeface="Segoe UI"/>
                <a:cs typeface="Segoe UI"/>
              </a:rPr>
              <a:t>Tóm tắt và trực quan hóa: Bảng 1, histogram, boxplot, biểu đồ cột.</a:t>
            </a:r>
          </a:p>
          <a:p>
            <a:pPr marL="274320" indent="-274320" algn="l">
              <a:lnSpc>
                <a:spcPct val="106000"/>
              </a:lnSpc>
              <a:spcBef>
                <a:spcPts val="560"/>
              </a:spcBef>
              <a:buFont typeface="Arial"/>
              <a:buChar char="•"/>
            </a:pPr>
            <a:r>
              <a:rPr lang="en-US" sz="1950" dirty="0">
                <a:solidFill>
                  <a:srgbClr val="000000"/>
                </a:solidFill>
                <a:latin typeface="Segoe UI"/>
                <a:cs typeface="Segoe UI"/>
              </a:rPr>
              <a:t>Khớp và diễn giải hồi quy logistic với các tỷ số chênh đã hiệu chỉnh.</a:t>
            </a:r>
          </a:p>
          <a:p>
            <a:pPr marL="274320" indent="-274320" algn="l">
              <a:lnSpc>
                <a:spcPct val="106000"/>
              </a:lnSpc>
              <a:spcBef>
                <a:spcPts val="560"/>
              </a:spcBef>
              <a:buFont typeface="Arial"/>
              <a:buChar char="•"/>
            </a:pPr>
            <a:r>
              <a:rPr lang="en-US" sz="1950" dirty="0">
                <a:solidFill>
                  <a:srgbClr val="000000"/>
                </a:solidFill>
                <a:latin typeface="Segoe UI"/>
                <a:cs typeface="Segoe UI"/>
              </a:rPr>
              <a:t>Xây dựng mô hình từ lập luận lâm sàng và kiểm tra các giả định của chúng.</a:t>
            </a:r>
          </a:p>
          <a:p>
            <a:pPr marL="274320" indent="-274320" algn="l">
              <a:lnSpc>
                <a:spcPct val="106000"/>
              </a:lnSpc>
              <a:spcBef>
                <a:spcPts val="560"/>
              </a:spcBef>
              <a:buFont typeface="Arial"/>
              <a:buChar char="•"/>
            </a:pPr>
            <a:r>
              <a:rPr lang="en-US" sz="1950" dirty="0">
                <a:solidFill>
                  <a:srgbClr val="000000"/>
                </a:solidFill>
                <a:latin typeface="Segoe UI"/>
                <a:cs typeface="Segoe UI"/>
              </a:rPr>
              <a:t>Tạo các bảng và hình sẵn sàng xuất bản, và một phần Kết quả.</a:t>
            </a:r>
          </a:p>
          <a:p>
            <a:pPr marL="274320" indent="-274320" algn="l">
              <a:lnSpc>
                <a:spcPct val="106000"/>
              </a:lnSpc>
              <a:spcBef>
                <a:spcPts val="560"/>
              </a:spcBef>
              <a:buFont typeface="Arial"/>
              <a:buChar char="•"/>
            </a:pPr>
            <a:r>
              <a:rPr lang="en-US" sz="1950" dirty="0">
                <a:solidFill>
                  <a:srgbClr val="000000"/>
                </a:solidFill>
                <a:latin typeface="Segoe UI"/>
                <a:cs typeface="Segoe UI"/>
              </a:rPr>
              <a:t>Làm việc một cách có thể tái lập với script, project, seed và báo cáo Quarto.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Giai Đoạn II Có Thể Bao Gồm Những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Mô hình hóa sâu hơn</a:t>
            </a:r>
          </a:p>
          <a:p>
            <a:pPr marL="0" indent="0" algn="l">
              <a:lnSpc>
                <a:spcPct val="108000"/>
              </a:lnSpc>
              <a:spcBef>
                <a:spcPts val="440"/>
              </a:spcBef>
              <a:buNone/>
            </a:pPr>
            <a:r>
              <a:rPr lang="en-US" sz="1800" dirty="0">
                <a:solidFill>
                  <a:srgbClr val="000000"/>
                </a:solidFill>
                <a:latin typeface="Segoe UI"/>
                <a:cs typeface="Segoe UI"/>
              </a:rPr>
              <a:t>Nhiễu, tương tác và biến đổi hiệu ứng một cách chuyên sâu.</a:t>
            </a:r>
          </a:p>
          <a:p>
            <a:pPr marL="0" indent="0" algn="l">
              <a:lnSpc>
                <a:spcPct val="108000"/>
              </a:lnSpc>
              <a:spcBef>
                <a:spcPts val="440"/>
              </a:spcBef>
              <a:buNone/>
            </a:pPr>
            <a:r>
              <a:rPr lang="en-US" sz="1800" dirty="0">
                <a:solidFill>
                  <a:srgbClr val="000000"/>
                </a:solidFill>
                <a:latin typeface="Segoe UI"/>
                <a:cs typeface="Segoe UI"/>
              </a:rPr>
              <a:t>Chẩn đoán mô hình: đa cộng tuyến, độ khớp và khả năng phân biệt (AUC).</a:t>
            </a:r>
          </a:p>
          <a:p>
            <a:pPr marL="0" indent="0" algn="l">
              <a:lnSpc>
                <a:spcPct val="108000"/>
              </a:lnSpc>
              <a:spcBef>
                <a:spcPts val="440"/>
              </a:spcBef>
              <a:buNone/>
            </a:pPr>
            <a:r>
              <a:rPr lang="en-US" sz="1800" dirty="0">
                <a:solidFill>
                  <a:srgbClr val="000000"/>
                </a:solidFill>
                <a:latin typeface="Segoe UI"/>
                <a:cs typeface="Segoe UI"/>
              </a:rPr>
              <a:t>Lựa chọn biến và cách xây dựng một mô hình có trách nhiệm.</a:t>
            </a:r>
          </a:p>
          <a:p>
            <a:pPr>
              <a:buNone/>
            </a:pPr>
            <a:endParaRPr sz="1050"/>
          </a:p>
          <a:p>
            <a:pPr marL="0" indent="0" algn="l">
              <a:spcBef>
                <a:spcPts val="360"/>
              </a:spcBef>
              <a:buNone/>
            </a:pPr>
            <a:r>
              <a:rPr lang="en-US" sz="2050" b="1" dirty="0">
                <a:solidFill>
                  <a:srgbClr val="0D7377"/>
                </a:solidFill>
                <a:latin typeface="Segoe UI"/>
                <a:cs typeface="Segoe UI"/>
              </a:rPr>
              <a:t>Phương pháp và kỹ năng mới</a:t>
            </a:r>
          </a:p>
          <a:p>
            <a:pPr marL="0" indent="0" algn="l">
              <a:lnSpc>
                <a:spcPct val="108000"/>
              </a:lnSpc>
              <a:spcBef>
                <a:spcPts val="440"/>
              </a:spcBef>
              <a:buNone/>
            </a:pPr>
            <a:r>
              <a:rPr lang="en-US" sz="1800" dirty="0">
                <a:solidFill>
                  <a:srgbClr val="000000"/>
                </a:solidFill>
                <a:latin typeface="Segoe UI"/>
                <a:cs typeface="Segoe UI"/>
              </a:rPr>
              <a:t>Phân tích sống còn: Kaplan-Meier và mô hình Cox cho dữ liệu thời gian-đến-biến cố.</a:t>
            </a:r>
          </a:p>
          <a:p>
            <a:pPr marL="0" indent="0" algn="l">
              <a:lnSpc>
                <a:spcPct val="108000"/>
              </a:lnSpc>
              <a:spcBef>
                <a:spcPts val="440"/>
              </a:spcBef>
              <a:buNone/>
            </a:pPr>
            <a:r>
              <a:rPr lang="en-US" sz="1800" dirty="0">
                <a:solidFill>
                  <a:srgbClr val="000000"/>
                </a:solidFill>
                <a:latin typeface="Segoe UI"/>
                <a:cs typeface="Segoe UI"/>
              </a:rPr>
              <a:t>Mô hình hiệu ứng hỗn hợp: bệnh nhân được phân cụm trong các cơ sở.</a:t>
            </a:r>
          </a:p>
          <a:p>
            <a:pPr marL="0" indent="0" algn="l">
              <a:lnSpc>
                <a:spcPct val="108000"/>
              </a:lnSpc>
              <a:spcBef>
                <a:spcPts val="440"/>
              </a:spcBef>
              <a:buNone/>
            </a:pPr>
            <a:r>
              <a:rPr lang="en-US" sz="1800" dirty="0">
                <a:solidFill>
                  <a:srgbClr val="000000"/>
                </a:solidFill>
                <a:latin typeface="Segoe UI"/>
                <a:cs typeface="Segoe UI"/>
              </a:rPr>
              <a:t>Dữ liệu khuyết (đa quy nạp) và báo cáo Quarto tự động.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Tiếp tục luyện tập</a:t>
            </a:r>
          </a:p>
          <a:p>
            <a:pPr marL="0" indent="0" algn="l">
              <a:spcBef>
                <a:spcPts val="100"/>
              </a:spcBef>
              <a:buNone/>
            </a:pPr>
            <a:r>
              <a:rPr lang="en-US" sz="1300" dirty="0">
                <a:solidFill>
                  <a:srgbClr val="000000"/>
                </a:solidFill>
                <a:latin typeface="Segoe UI"/>
                <a:cs typeface="Segoe UI"/>
              </a:rPr>
              <a:t>Mang bộ dữ liệu của chính bạn tới Giai đoạn II và phân tích nó từ đầu đến cuối.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Segoe UI"/>
                <a:cs typeface="Segoe UI"/>
              </a:rPr>
              <a:t>Bài tập lớn Cuối khóa</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Segoe UI"/>
                <a:cs typeface="Segoe UI"/>
              </a:rPr>
              <a:t>Tổng quan</a:t>
            </a:r>
          </a:p>
          <a:p>
            <a:pPr>
              <a:buNone/>
            </a:pPr>
            <a:endParaRPr sz="800"/>
          </a:p>
          <a:p>
            <a:pPr marL="274320" indent="-274320" algn="l">
              <a:spcBef>
                <a:spcPts val="440"/>
              </a:spcBef>
              <a:buFont typeface="Arial"/>
              <a:buChar char="•"/>
            </a:pPr>
            <a:r>
              <a:rPr lang="en-US" sz="1900" dirty="0">
                <a:solidFill>
                  <a:srgbClr val="000000"/>
                </a:solidFill>
                <a:latin typeface="Segoe UI"/>
                <a:cs typeface="Segoe UI"/>
              </a:rPr>
              <a:t>Một bài phân tích độc lập, làm tại nhà</a:t>
            </a:r>
          </a:p>
          <a:p>
            <a:pPr marL="274320" indent="-274320" algn="l">
              <a:spcBef>
                <a:spcPts val="440"/>
              </a:spcBef>
              <a:buFont typeface="Arial"/>
              <a:buChar char="•"/>
            </a:pPr>
            <a:r>
              <a:rPr lang="en-US" sz="1900" dirty="0">
                <a:solidFill>
                  <a:srgbClr val="000000"/>
                </a:solidFill>
                <a:latin typeface="Segoe UI"/>
                <a:cs typeface="Segoe UI"/>
              </a:rPr>
              <a:t>Một tuần để hoàn thành</a:t>
            </a:r>
          </a:p>
          <a:p>
            <a:pPr marL="274320" indent="-274320" algn="l">
              <a:spcBef>
                <a:spcPts val="440"/>
              </a:spcBef>
              <a:buFont typeface="Arial"/>
              <a:buChar char="•"/>
            </a:pPr>
            <a:r>
              <a:rPr lang="en-US" sz="1900" dirty="0">
                <a:solidFill>
                  <a:srgbClr val="000000"/>
                </a:solidFill>
                <a:latin typeface="Segoe UI"/>
                <a:cs typeface="Segoe UI"/>
              </a:rPr>
              <a:t>Sử dụng cùng bộ dữ liệu nghiên cứu</a:t>
            </a:r>
          </a:p>
          <a:p>
            <a:pPr marL="274320" indent="-274320" algn="l">
              <a:spcBef>
                <a:spcPts val="440"/>
              </a:spcBef>
              <a:buFont typeface="Arial"/>
              <a:buChar char="•"/>
            </a:pPr>
            <a:r>
              <a:rPr lang="en-US" sz="1900" dirty="0">
                <a:solidFill>
                  <a:srgbClr val="000000"/>
                </a:solidFill>
                <a:latin typeface="Segoe UI"/>
                <a:cs typeface="Segoe UI"/>
              </a:rPr>
              <a:t>Chấm trên thang 100%</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Bài tập lớn Cuối khóa - Cần Làm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Segoe UI"/>
                <a:cs typeface="Segoe UI"/>
              </a:rPr>
              <a:t>Nhiệm vụ</a:t>
            </a:r>
          </a:p>
          <a:p>
            <a:pPr marL="0" indent="0" algn="l">
              <a:lnSpc>
                <a:spcPct val="108000"/>
              </a:lnSpc>
              <a:spcBef>
                <a:spcPts val="440"/>
              </a:spcBef>
              <a:buNone/>
            </a:pPr>
            <a:r>
              <a:rPr lang="en-US" sz="1800" dirty="0">
                <a:solidFill>
                  <a:srgbClr val="000000"/>
                </a:solidFill>
                <a:latin typeface="Segoe UI"/>
                <a:cs typeface="Segoe UI"/>
              </a:rPr>
              <a:t>Làm việc độc lập, phân tích bộ dữ liệu nghiên cứu và xác định các yếu tố quyết định việc tiếp nhận điều trị.</a:t>
            </a:r>
          </a:p>
          <a:p>
            <a:pPr>
              <a:buNone/>
            </a:pPr>
            <a:endParaRPr sz="1050"/>
          </a:p>
          <a:p>
            <a:pPr marL="0" indent="0" algn="l">
              <a:spcBef>
                <a:spcPts val="360"/>
              </a:spcBef>
              <a:buNone/>
            </a:pPr>
            <a:r>
              <a:rPr lang="en-US" sz="2050" b="1" dirty="0">
                <a:solidFill>
                  <a:srgbClr val="0D7377"/>
                </a:solidFill>
                <a:latin typeface="Segoe UI"/>
                <a:cs typeface="Segoe UI"/>
              </a:rPr>
              <a:t>Bài nộp của bạn phải</a:t>
            </a:r>
          </a:p>
          <a:p>
            <a:pPr marL="274320" indent="-274320" algn="l">
              <a:lnSpc>
                <a:spcPct val="108000"/>
              </a:lnSpc>
              <a:spcBef>
                <a:spcPts val="440"/>
              </a:spcBef>
              <a:buFont typeface="Arial"/>
              <a:buChar char="•"/>
            </a:pPr>
            <a:r>
              <a:rPr lang="en-US" sz="1800" dirty="0">
                <a:solidFill>
                  <a:srgbClr val="000000"/>
                </a:solidFill>
                <a:latin typeface="Segoe UI"/>
                <a:cs typeface="Segoe UI"/>
              </a:rPr>
              <a:t>Nhập dữ liệu thô và làm sạch/kiểm định nó.</a:t>
            </a:r>
          </a:p>
          <a:p>
            <a:pPr marL="274320" indent="-274320" algn="l">
              <a:lnSpc>
                <a:spcPct val="108000"/>
              </a:lnSpc>
              <a:spcBef>
                <a:spcPts val="440"/>
              </a:spcBef>
              <a:buFont typeface="Arial"/>
              <a:buChar char="•"/>
            </a:pPr>
            <a:r>
              <a:rPr lang="en-US" sz="1800" dirty="0">
                <a:solidFill>
                  <a:srgbClr val="000000"/>
                </a:solidFill>
                <a:latin typeface="Segoe UI"/>
                <a:cs typeface="Segoe UI"/>
              </a:rPr>
              <a:t>Tạo thống kê mô tả và một Bảng 1 sẵn sàng công bố.</a:t>
            </a:r>
          </a:p>
          <a:p>
            <a:pPr marL="274320" indent="-274320" algn="l">
              <a:lnSpc>
                <a:spcPct val="108000"/>
              </a:lnSpc>
              <a:spcBef>
                <a:spcPts val="440"/>
              </a:spcBef>
              <a:buFont typeface="Arial"/>
              <a:buChar char="•"/>
            </a:pPr>
            <a:r>
              <a:rPr lang="en-US" sz="1800" dirty="0">
                <a:solidFill>
                  <a:srgbClr val="000000"/>
                </a:solidFill>
                <a:latin typeface="Segoe UI"/>
                <a:cs typeface="Segoe UI"/>
              </a:rPr>
              <a:t>Tạo ít nhất hai hình chất lượng công bố.</a:t>
            </a:r>
          </a:p>
          <a:p>
            <a:pPr marL="274320" indent="-274320" algn="l">
              <a:lnSpc>
                <a:spcPct val="108000"/>
              </a:lnSpc>
              <a:spcBef>
                <a:spcPts val="440"/>
              </a:spcBef>
              <a:buFont typeface="Arial"/>
              <a:buChar char="•"/>
            </a:pPr>
            <a:r>
              <a:rPr lang="en-US" sz="1800" dirty="0">
                <a:solidFill>
                  <a:srgbClr val="000000"/>
                </a:solidFill>
                <a:latin typeface="Segoe UI"/>
                <a:cs typeface="Segoe UI"/>
              </a:rPr>
              <a:t>Thực hiện các kiểm định thống kê phù hợp.</a:t>
            </a:r>
          </a:p>
          <a:p>
            <a:pPr marL="274320" indent="-274320" algn="l">
              <a:lnSpc>
                <a:spcPct val="108000"/>
              </a:lnSpc>
              <a:spcBef>
                <a:spcPts val="440"/>
              </a:spcBef>
              <a:buFont typeface="Arial"/>
              <a:buChar char="•"/>
            </a:pPr>
            <a:r>
              <a:rPr lang="en-US" sz="1800" dirty="0">
                <a:solidFill>
                  <a:srgbClr val="000000"/>
                </a:solidFill>
                <a:latin typeface="Segoe UI"/>
                <a:cs typeface="Segoe UI"/>
              </a:rPr>
              <a:t>Khớp các mô hình hồi quy logistic đơn biến và đa biến.</a:t>
            </a:r>
          </a:p>
          <a:p>
            <a:pPr marL="274320" indent="-274320" algn="l">
              <a:lnSpc>
                <a:spcPct val="108000"/>
              </a:lnSpc>
              <a:spcBef>
                <a:spcPts val="440"/>
              </a:spcBef>
              <a:buFont typeface="Arial"/>
              <a:buChar char="•"/>
            </a:pPr>
            <a:r>
              <a:rPr lang="en-US" sz="1800" dirty="0">
                <a:solidFill>
                  <a:srgbClr val="000000"/>
                </a:solidFill>
                <a:latin typeface="Segoe UI"/>
                <a:cs typeface="Segoe UI"/>
              </a:rPr>
              <a:t>Diễn giải kết quả và viết một mục Kết quả ngắn.</a:t>
            </a:r>
          </a:p>
          <a:p>
            <a:pPr marL="274320" indent="-274320" algn="l">
              <a:lnSpc>
                <a:spcPct val="108000"/>
              </a:lnSpc>
              <a:spcBef>
                <a:spcPts val="440"/>
              </a:spcBef>
              <a:buFont typeface="Arial"/>
              <a:buChar char="•"/>
            </a:pPr>
            <a:r>
              <a:rPr lang="en-US" sz="1800" dirty="0">
                <a:solidFill>
                  <a:srgbClr val="000000"/>
                </a:solidFill>
                <a:latin typeface="Segoe UI"/>
                <a:cs typeface="Segoe UI"/>
              </a:rPr>
              <a:t>Có khả năng tái lập hoàn toàn (một script duy nhất chạy từ đầu đến cuối).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Bài tập lớn Cuối khóa - Sản phẩm &amp; Nộp bài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Nộp</a:t>
            </a:r>
          </a:p>
          <a:p>
            <a:pPr marL="0" indent="0" algn="l">
              <a:lnSpc>
                <a:spcPct val="108000"/>
              </a:lnSpc>
              <a:spcBef>
                <a:spcPts val="440"/>
              </a:spcBef>
              <a:buNone/>
            </a:pPr>
            <a:r>
              <a:rPr lang="en-US" sz="1800" dirty="0">
                <a:solidFill>
                  <a:srgbClr val="000000"/>
                </a:solidFill>
                <a:latin typeface="Segoe UI"/>
                <a:cs typeface="Segoe UI"/>
              </a:rPr>
              <a:t>1. Một script R (.R) có chú thích, hoặc một tệp R Markdown/Quarto.</a:t>
            </a:r>
          </a:p>
          <a:p>
            <a:pPr marL="0" indent="0" algn="l">
              <a:lnSpc>
                <a:spcPct val="108000"/>
              </a:lnSpc>
              <a:spcBef>
                <a:spcPts val="440"/>
              </a:spcBef>
              <a:buNone/>
            </a:pPr>
            <a:r>
              <a:rPr lang="en-US" sz="1800" dirty="0">
                <a:solidFill>
                  <a:srgbClr val="000000"/>
                </a:solidFill>
                <a:latin typeface="Segoe UI"/>
                <a:cs typeface="Segoe UI"/>
              </a:rPr>
              <a:t>2. Bảng 1 và các hình đã xuất.</a:t>
            </a:r>
          </a:p>
          <a:p>
            <a:pPr marL="0" indent="0" algn="l">
              <a:lnSpc>
                <a:spcPct val="108000"/>
              </a:lnSpc>
              <a:spcBef>
                <a:spcPts val="440"/>
              </a:spcBef>
              <a:buNone/>
            </a:pPr>
            <a:r>
              <a:rPr lang="en-US" sz="1800" dirty="0">
                <a:solidFill>
                  <a:srgbClr val="000000"/>
                </a:solidFill>
                <a:latin typeface="Segoe UI"/>
                <a:cs typeface="Segoe UI"/>
              </a:rPr>
              <a:t>3. Một mục Kết quả một trang (khoảng 250-400 từ).</a:t>
            </a:r>
          </a:p>
          <a:p>
            <a:pPr>
              <a:buNone/>
            </a:pPr>
            <a:endParaRPr sz="1050"/>
          </a:p>
          <a:p>
            <a:pPr marL="0" indent="0" algn="l">
              <a:spcBef>
                <a:spcPts val="360"/>
              </a:spcBef>
              <a:buNone/>
            </a:pPr>
            <a:r>
              <a:rPr lang="en-US" sz="2050" b="1" dirty="0">
                <a:solidFill>
                  <a:srgbClr val="0D7377"/>
                </a:solidFill>
                <a:latin typeface="Segoe UI"/>
                <a:cs typeface="Segoe UI"/>
              </a:rPr>
              <a:t>Định dạng</a:t>
            </a:r>
          </a:p>
          <a:p>
            <a:pPr marL="0" indent="0" algn="l">
              <a:lnSpc>
                <a:spcPct val="108000"/>
              </a:lnSpc>
              <a:spcBef>
                <a:spcPts val="440"/>
              </a:spcBef>
              <a:buNone/>
            </a:pPr>
            <a:r>
              <a:rPr lang="en-US" sz="1800" dirty="0">
                <a:solidFill>
                  <a:srgbClr val="000000"/>
                </a:solidFill>
                <a:latin typeface="Segoe UI"/>
                <a:cs typeface="Segoe UI"/>
              </a:rPr>
              <a:t>Dùng một RStudio Project với đường dẫn tương đối.</a:t>
            </a:r>
          </a:p>
          <a:p>
            <a:pPr marL="0" indent="0" algn="l">
              <a:lnSpc>
                <a:spcPct val="108000"/>
              </a:lnSpc>
              <a:spcBef>
                <a:spcPts val="440"/>
              </a:spcBef>
              <a:buNone/>
            </a:pPr>
            <a:r>
              <a:rPr lang="en-US" sz="1800" dirty="0">
                <a:solidFill>
                  <a:srgbClr val="000000"/>
                </a:solidFill>
                <a:latin typeface="Segoe UI"/>
                <a:cs typeface="Segoe UI"/>
              </a:rPr>
              <a:t>Đặt tên tệp rõ ràng: Surname_Phase1_Assignment.R</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Segoe UI"/>
                <a:cs typeface="Segoe UI"/>
              </a:rPr>
              <a:t>CẢNH BÁO  -  Liêm chính học thuật</a:t>
            </a:r>
          </a:p>
          <a:p>
            <a:pPr marL="0" indent="0" algn="l">
              <a:spcBef>
                <a:spcPts val="100"/>
              </a:spcBef>
              <a:buNone/>
            </a:pPr>
            <a:r>
              <a:rPr lang="en-US" sz="1300" dirty="0">
                <a:solidFill>
                  <a:srgbClr val="000000"/>
                </a:solidFill>
                <a:latin typeface="Segoe UI"/>
                <a:cs typeface="Segoe UI"/>
              </a:rPr>
              <a:t>Làm việc độc lập. Bạn có thể dùng các script và ghi chú của khóa học, nhưng phần phân tích và viết phải là của riêng bạn.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Bảng Chấm điểm (trên thang 100%)</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3040000"/>
        </p:xfrm>
        <a:graphic>
          <a:graphicData uri="http://schemas.openxmlformats.org/drawingml/2006/table">
            <a:tbl>
              <a:tblPr firstRow="1" bandRow="1">
                <a:tableStyleId>{5C22544A-7EE6-4342-B048-85BDC9FD1C3A}</a:tableStyleId>
              </a:tblPr>
              <a:tblGrid>
                <a:gridCol w="3759200">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3759200">
                  <a:extLst>
                    <a:ext uri="{9D8B030D-6E8A-4147-A177-3AD203B41FA5}">
                      <a16:colId xmlns:a16="http://schemas.microsoft.com/office/drawing/2014/main" val="20002"/>
                    </a:ext>
                  </a:extLst>
                </a:gridCol>
              </a:tblGrid>
              <a:tr h="380000">
                <a:tc>
                  <a:txBody>
                    <a:bodyPr/>
                    <a:lstStyle/>
                    <a:p>
                      <a:pPr algn="l"/>
                      <a:r>
                        <a:rPr lang="en-US" sz="1300" b="1" dirty="0">
                          <a:solidFill>
                            <a:srgbClr val="FFFFFF"/>
                          </a:solidFill>
                          <a:latin typeface="Segoe UI"/>
                        </a:rPr>
                        <a:t>Thành phần</a:t>
                      </a:r>
                    </a:p>
                  </a:txBody>
                  <a:tcPr marL="73152" marR="73152" marT="36576" marB="36576" anchor="ctr">
                    <a:solidFill>
                      <a:srgbClr val="0D7377"/>
                    </a:solidFill>
                  </a:tcPr>
                </a:tc>
                <a:tc>
                  <a:txBody>
                    <a:bodyPr/>
                    <a:lstStyle/>
                    <a:p>
                      <a:pPr algn="l"/>
                      <a:r>
                        <a:rPr lang="en-US" sz="1300" b="1" dirty="0">
                          <a:solidFill>
                            <a:srgbClr val="FFFFFF"/>
                          </a:solidFill>
                          <a:latin typeface="Segoe UI"/>
                        </a:rPr>
                        <a:t>Được đánh giá điều gì</a:t>
                      </a:r>
                    </a:p>
                  </a:txBody>
                  <a:tcPr marL="73152" marR="73152" marT="36576" marB="36576" anchor="ctr">
                    <a:solidFill>
                      <a:srgbClr val="0D7377"/>
                    </a:solidFill>
                  </a:tcPr>
                </a:tc>
                <a:tc>
                  <a:txBody>
                    <a:bodyPr/>
                    <a:lstStyle/>
                    <a:p>
                      <a:pPr algn="l"/>
                      <a:r>
                        <a:rPr lang="en-US" sz="1300" b="1" dirty="0">
                          <a:solidFill>
                            <a:srgbClr val="FFFFFF"/>
                          </a:solidFill>
                          <a:latin typeface="Segoe UI"/>
                        </a:rPr>
                        <a:t>Điểm</a:t>
                      </a:r>
                    </a:p>
                  </a:txBody>
                  <a:tcPr marL="73152" marR="73152" marT="36576" marB="36576" anchor="ctr">
                    <a:solidFill>
                      <a:srgbClr val="0D7377"/>
                    </a:solidFill>
                  </a:tcPr>
                </a:tc>
                <a:extLst>
                  <a:ext uri="{0D108BD9-81ED-4DB2-BD59-A6C34878D82A}">
                    <a16:rowId xmlns:a16="http://schemas.microsoft.com/office/drawing/2014/main" val="10000"/>
                  </a:ext>
                </a:extLst>
              </a:tr>
              <a:tr h="380000">
                <a:tc>
                  <a:txBody>
                    <a:bodyPr/>
                    <a:lstStyle/>
                    <a:p>
                      <a:pPr algn="l"/>
                      <a:r>
                        <a:rPr lang="en-US" sz="1300" b="0" dirty="0">
                          <a:solidFill>
                            <a:srgbClr val="000000"/>
                          </a:solidFill>
                          <a:latin typeface="Segoe UI"/>
                        </a:rPr>
                        <a:t>Nhập &amp; làm sạch dữ liệu</a:t>
                      </a:r>
                    </a:p>
                  </a:txBody>
                  <a:tcPr marL="73152" marR="73152" marT="36576" marB="36576" anchor="ctr">
                    <a:solidFill>
                      <a:srgbClr val="FFFFFF"/>
                    </a:solidFill>
                  </a:tcPr>
                </a:tc>
                <a:tc>
                  <a:txBody>
                    <a:bodyPr/>
                    <a:lstStyle/>
                    <a:p>
                      <a:pPr algn="l"/>
                      <a:r>
                        <a:rPr lang="en-US" sz="1300" b="0" dirty="0">
                          <a:solidFill>
                            <a:srgbClr val="000000"/>
                          </a:solidFill>
                          <a:latin typeface="Segoe UI"/>
                        </a:rPr>
                        <a:t>Nhập đúng, mã khuyết, kiểm định, mã hóa lại</a:t>
                      </a:r>
                    </a:p>
                  </a:txBody>
                  <a:tcPr marL="73152" marR="73152" marT="36576" marB="36576" anchor="ctr">
                    <a:solidFill>
                      <a:srgbClr val="FFFFFF"/>
                    </a:solidFill>
                  </a:tcPr>
                </a:tc>
                <a:tc>
                  <a:txBody>
                    <a:bodyPr/>
                    <a:lstStyle/>
                    <a:p>
                      <a:pPr algn="l"/>
                      <a:r>
                        <a:rPr lang="en-US" sz="1300" b="0" dirty="0">
                          <a:solidFill>
                            <a:srgbClr val="000000"/>
                          </a:solidFill>
                          <a:latin typeface="Segoe UI"/>
                        </a:rPr>
                        <a:t>20</a:t>
                      </a:r>
                    </a:p>
                  </a:txBody>
                  <a:tcPr marL="73152" marR="73152" marT="36576" marB="36576" anchor="ctr">
                    <a:solidFill>
                      <a:srgbClr val="FFFFFF"/>
                    </a:solidFill>
                  </a:tcPr>
                </a:tc>
                <a:extLst>
                  <a:ext uri="{0D108BD9-81ED-4DB2-BD59-A6C34878D82A}">
                    <a16:rowId xmlns:a16="http://schemas.microsoft.com/office/drawing/2014/main" val="10001"/>
                  </a:ext>
                </a:extLst>
              </a:tr>
              <a:tr h="380000">
                <a:tc>
                  <a:txBody>
                    <a:bodyPr/>
                    <a:lstStyle/>
                    <a:p>
                      <a:pPr algn="l"/>
                      <a:r>
                        <a:rPr lang="en-US" sz="1300" b="0" dirty="0">
                          <a:solidFill>
                            <a:srgbClr val="000000"/>
                          </a:solidFill>
                          <a:latin typeface="Segoe UI"/>
                        </a:rPr>
                        <a:t>Thống kê mô tả</a:t>
                      </a:r>
                    </a:p>
                  </a:txBody>
                  <a:tcPr marL="73152" marR="73152" marT="36576" marB="36576" anchor="ctr">
                    <a:solidFill>
                      <a:srgbClr val="FFFFFF"/>
                    </a:solidFill>
                  </a:tcPr>
                </a:tc>
                <a:tc>
                  <a:txBody>
                    <a:bodyPr/>
                    <a:lstStyle/>
                    <a:p>
                      <a:pPr algn="l"/>
                      <a:r>
                        <a:rPr lang="en-US" sz="1300" b="0" dirty="0">
                          <a:solidFill>
                            <a:srgbClr val="000000"/>
                          </a:solidFill>
                          <a:latin typeface="Segoe UI"/>
                        </a:rPr>
                        <a:t>Tóm tắt phù hợp và một Bảng 1 chính xác</a:t>
                      </a:r>
                    </a:p>
                  </a:txBody>
                  <a:tcPr marL="73152" marR="73152" marT="36576" marB="36576" anchor="ctr">
                    <a:solidFill>
                      <a:srgbClr val="FFFFFF"/>
                    </a:solidFill>
                  </a:tcPr>
                </a:tc>
                <a:tc>
                  <a:txBody>
                    <a:bodyPr/>
                    <a:lstStyle/>
                    <a:p>
                      <a:pPr algn="l"/>
                      <a:r>
                        <a:rPr lang="en-US" sz="1300" b="0" dirty="0">
                          <a:solidFill>
                            <a:srgbClr val="000000"/>
                          </a:solidFill>
                          <a:latin typeface="Segoe UI"/>
                        </a:rPr>
                        <a:t>15</a:t>
                      </a:r>
                    </a:p>
                  </a:txBody>
                  <a:tcPr marL="73152" marR="73152" marT="36576" marB="36576" anchor="ctr">
                    <a:solidFill>
                      <a:srgbClr val="FFFFFF"/>
                    </a:solidFill>
                  </a:tcPr>
                </a:tc>
                <a:extLst>
                  <a:ext uri="{0D108BD9-81ED-4DB2-BD59-A6C34878D82A}">
                    <a16:rowId xmlns:a16="http://schemas.microsoft.com/office/drawing/2014/main" val="10002"/>
                  </a:ext>
                </a:extLst>
              </a:tr>
              <a:tr h="380000">
                <a:tc>
                  <a:txBody>
                    <a:bodyPr/>
                    <a:lstStyle/>
                    <a:p>
                      <a:pPr algn="l"/>
                      <a:r>
                        <a:rPr lang="en-US" sz="1300" b="0" dirty="0">
                          <a:solidFill>
                            <a:srgbClr val="000000"/>
                          </a:solidFill>
                          <a:latin typeface="Segoe UI"/>
                        </a:rPr>
                        <a:t>Hình</a:t>
                      </a:r>
                    </a:p>
                  </a:txBody>
                  <a:tcPr marL="73152" marR="73152" marT="36576" marB="36576" anchor="ctr">
                    <a:solidFill>
                      <a:srgbClr val="FFFFFF"/>
                    </a:solidFill>
                  </a:tcPr>
                </a:tc>
                <a:tc>
                  <a:txBody>
                    <a:bodyPr/>
                    <a:lstStyle/>
                    <a:p>
                      <a:pPr algn="l"/>
                      <a:r>
                        <a:rPr lang="en-US" sz="1300" b="0" dirty="0">
                          <a:solidFill>
                            <a:srgbClr val="000000"/>
                          </a:solidFill>
                          <a:latin typeface="Segoe UI"/>
                        </a:rPr>
                        <a:t>Hai hình rõ ràng, gán nhãn đúng, chất lượng công bố</a:t>
                      </a:r>
                    </a:p>
                  </a:txBody>
                  <a:tcPr marL="73152" marR="73152" marT="36576" marB="36576" anchor="ctr">
                    <a:solidFill>
                      <a:srgbClr val="FFFFFF"/>
                    </a:solidFill>
                  </a:tcPr>
                </a:tc>
                <a:tc>
                  <a:txBody>
                    <a:bodyPr/>
                    <a:lstStyle/>
                    <a:p>
                      <a:pPr algn="l"/>
                      <a:r>
                        <a:rPr lang="en-US" sz="1300" b="0" dirty="0">
                          <a:solidFill>
                            <a:srgbClr val="000000"/>
                          </a:solidFill>
                          <a:latin typeface="Segoe UI"/>
                        </a:rPr>
                        <a:t>10</a:t>
                      </a:r>
                    </a:p>
                  </a:txBody>
                  <a:tcPr marL="73152" marR="73152" marT="36576" marB="36576" anchor="ctr">
                    <a:solidFill>
                      <a:srgbClr val="FFFFFF"/>
                    </a:solidFill>
                  </a:tcPr>
                </a:tc>
                <a:extLst>
                  <a:ext uri="{0D108BD9-81ED-4DB2-BD59-A6C34878D82A}">
                    <a16:rowId xmlns:a16="http://schemas.microsoft.com/office/drawing/2014/main" val="10003"/>
                  </a:ext>
                </a:extLst>
              </a:tr>
              <a:tr h="380000">
                <a:tc>
                  <a:txBody>
                    <a:bodyPr/>
                    <a:lstStyle/>
                    <a:p>
                      <a:pPr algn="l"/>
                      <a:r>
                        <a:rPr lang="en-US" sz="1300" b="0" dirty="0">
                          <a:solidFill>
                            <a:srgbClr val="000000"/>
                          </a:solidFill>
                          <a:latin typeface="Segoe UI"/>
                        </a:rPr>
                        <a:t>Kiểm định thống kê</a:t>
                      </a:r>
                    </a:p>
                  </a:txBody>
                  <a:tcPr marL="73152" marR="73152" marT="36576" marB="36576" anchor="ctr">
                    <a:solidFill>
                      <a:srgbClr val="FFFFFF"/>
                    </a:solidFill>
                  </a:tcPr>
                </a:tc>
                <a:tc>
                  <a:txBody>
                    <a:bodyPr/>
                    <a:lstStyle/>
                    <a:p>
                      <a:pPr algn="l"/>
                      <a:r>
                        <a:rPr lang="en-US" sz="1300" b="0" dirty="0">
                          <a:solidFill>
                            <a:srgbClr val="000000"/>
                          </a:solidFill>
                          <a:latin typeface="Segoe UI"/>
                        </a:rPr>
                        <a:t>Chọn đúng kiểm định và áp dụng chính xác</a:t>
                      </a:r>
                    </a:p>
                  </a:txBody>
                  <a:tcPr marL="73152" marR="73152" marT="36576" marB="36576" anchor="ctr">
                    <a:solidFill>
                      <a:srgbClr val="FFFFFF"/>
                    </a:solidFill>
                  </a:tcPr>
                </a:tc>
                <a:tc>
                  <a:txBody>
                    <a:bodyPr/>
                    <a:lstStyle/>
                    <a:p>
                      <a:pPr algn="l"/>
                      <a:r>
                        <a:rPr lang="en-US" sz="1300" b="0" dirty="0">
                          <a:solidFill>
                            <a:srgbClr val="000000"/>
                          </a:solidFill>
                          <a:latin typeface="Segoe UI"/>
                        </a:rPr>
                        <a:t>15</a:t>
                      </a:r>
                    </a:p>
                  </a:txBody>
                  <a:tcPr marL="73152" marR="73152" marT="36576" marB="36576" anchor="ctr">
                    <a:solidFill>
                      <a:srgbClr val="FFFFFF"/>
                    </a:solidFill>
                  </a:tcPr>
                </a:tc>
                <a:extLst>
                  <a:ext uri="{0D108BD9-81ED-4DB2-BD59-A6C34878D82A}">
                    <a16:rowId xmlns:a16="http://schemas.microsoft.com/office/drawing/2014/main" val="10004"/>
                  </a:ext>
                </a:extLst>
              </a:tr>
              <a:tr h="380000">
                <a:tc>
                  <a:txBody>
                    <a:bodyPr/>
                    <a:lstStyle/>
                    <a:p>
                      <a:pPr algn="l"/>
                      <a:r>
                        <a:rPr lang="en-US" sz="1300" b="0" dirty="0">
                          <a:solidFill>
                            <a:srgbClr val="000000"/>
                          </a:solidFill>
                          <a:latin typeface="Segoe UI"/>
                        </a:rPr>
                        <a:t>Mô hình hồi quy</a:t>
                      </a:r>
                    </a:p>
                  </a:txBody>
                  <a:tcPr marL="73152" marR="73152" marT="36576" marB="36576" anchor="ctr">
                    <a:solidFill>
                      <a:srgbClr val="FFFFFF"/>
                    </a:solidFill>
                  </a:tcPr>
                </a:tc>
                <a:tc>
                  <a:txBody>
                    <a:bodyPr/>
                    <a:lstStyle/>
                    <a:p>
                      <a:pPr algn="l"/>
                      <a:r>
                        <a:rPr lang="en-US" sz="1300" b="0" dirty="0">
                          <a:solidFill>
                            <a:srgbClr val="000000"/>
                          </a:solidFill>
                          <a:latin typeface="Segoe UI"/>
                        </a:rPr>
                        <a:t>Mô hình logistic đơn biến &amp; đa biến vững chắc</a:t>
                      </a:r>
                    </a:p>
                  </a:txBody>
                  <a:tcPr marL="73152" marR="73152" marT="36576" marB="36576" anchor="ctr">
                    <a:solidFill>
                      <a:srgbClr val="FFFFFF"/>
                    </a:solidFill>
                  </a:tcPr>
                </a:tc>
                <a:tc>
                  <a:txBody>
                    <a:bodyPr/>
                    <a:lstStyle/>
                    <a:p>
                      <a:pPr algn="l"/>
                      <a:r>
                        <a:rPr lang="en-US" sz="1300" b="0" dirty="0">
                          <a:solidFill>
                            <a:srgbClr val="000000"/>
                          </a:solidFill>
                          <a:latin typeface="Segoe UI"/>
                        </a:rPr>
                        <a:t>20</a:t>
                      </a:r>
                    </a:p>
                  </a:txBody>
                  <a:tcPr marL="73152" marR="73152" marT="36576" marB="36576" anchor="ctr">
                    <a:solidFill>
                      <a:srgbClr val="FFFFFF"/>
                    </a:solidFill>
                  </a:tcPr>
                </a:tc>
                <a:extLst>
                  <a:ext uri="{0D108BD9-81ED-4DB2-BD59-A6C34878D82A}">
                    <a16:rowId xmlns:a16="http://schemas.microsoft.com/office/drawing/2014/main" val="10005"/>
                  </a:ext>
                </a:extLst>
              </a:tr>
              <a:tr h="380000">
                <a:tc>
                  <a:txBody>
                    <a:bodyPr/>
                    <a:lstStyle/>
                    <a:p>
                      <a:pPr algn="l"/>
                      <a:r>
                        <a:rPr lang="en-US" sz="1300" b="0" dirty="0">
                          <a:solidFill>
                            <a:srgbClr val="000000"/>
                          </a:solidFill>
                          <a:latin typeface="Segoe UI"/>
                        </a:rPr>
                        <a:t>Diễn giải &amp; Kết quả</a:t>
                      </a:r>
                    </a:p>
                  </a:txBody>
                  <a:tcPr marL="73152" marR="73152" marT="36576" marB="36576" anchor="ctr">
                    <a:solidFill>
                      <a:srgbClr val="FFFFFF"/>
                    </a:solidFill>
                  </a:tcPr>
                </a:tc>
                <a:tc>
                  <a:txBody>
                    <a:bodyPr/>
                    <a:lstStyle/>
                    <a:p>
                      <a:pPr algn="l"/>
                      <a:r>
                        <a:rPr lang="en-US" sz="1300" b="0" dirty="0">
                          <a:solidFill>
                            <a:srgbClr val="000000"/>
                          </a:solidFill>
                          <a:latin typeface="Segoe UI"/>
                        </a:rPr>
                        <a:t>OR/KTC chính xác và văn phong lâm sàng rõ ràng</a:t>
                      </a:r>
                    </a:p>
                  </a:txBody>
                  <a:tcPr marL="73152" marR="73152" marT="36576" marB="36576" anchor="ctr">
                    <a:solidFill>
                      <a:srgbClr val="FFFFFF"/>
                    </a:solidFill>
                  </a:tcPr>
                </a:tc>
                <a:tc>
                  <a:txBody>
                    <a:bodyPr/>
                    <a:lstStyle/>
                    <a:p>
                      <a:pPr algn="l"/>
                      <a:r>
                        <a:rPr lang="en-US" sz="1300" b="0" dirty="0">
                          <a:solidFill>
                            <a:srgbClr val="000000"/>
                          </a:solidFill>
                          <a:latin typeface="Segoe UI"/>
                        </a:rPr>
                        <a:t>15</a:t>
                      </a:r>
                    </a:p>
                  </a:txBody>
                  <a:tcPr marL="73152" marR="73152" marT="36576" marB="36576" anchor="ctr">
                    <a:solidFill>
                      <a:srgbClr val="FFFFFF"/>
                    </a:solidFill>
                  </a:tcPr>
                </a:tc>
                <a:extLst>
                  <a:ext uri="{0D108BD9-81ED-4DB2-BD59-A6C34878D82A}">
                    <a16:rowId xmlns:a16="http://schemas.microsoft.com/office/drawing/2014/main" val="10006"/>
                  </a:ext>
                </a:extLst>
              </a:tr>
              <a:tr h="380000">
                <a:tc>
                  <a:txBody>
                    <a:bodyPr/>
                    <a:lstStyle/>
                    <a:p>
                      <a:pPr algn="l"/>
                      <a:r>
                        <a:rPr lang="en-US" sz="1300" b="0" dirty="0">
                          <a:solidFill>
                            <a:srgbClr val="000000"/>
                          </a:solidFill>
                          <a:latin typeface="Segoe UI"/>
                        </a:rPr>
                        <a:t>Khả năng tái lập &amp; chất lượng code</a:t>
                      </a:r>
                    </a:p>
                  </a:txBody>
                  <a:tcPr marL="73152" marR="73152" marT="36576" marB="36576" anchor="ctr">
                    <a:solidFill>
                      <a:srgbClr val="FFFFFF"/>
                    </a:solidFill>
                  </a:tcPr>
                </a:tc>
                <a:tc>
                  <a:txBody>
                    <a:bodyPr/>
                    <a:lstStyle/>
                    <a:p>
                      <a:pPr algn="l"/>
                      <a:r>
                        <a:rPr lang="en-US" sz="1300" b="0" dirty="0">
                          <a:solidFill>
                            <a:srgbClr val="000000"/>
                          </a:solidFill>
                          <a:latin typeface="Segoe UI"/>
                        </a:rPr>
                        <a:t>Chạy từ đầu đến cuối; sạch, có chú thích, đường dẫn tương đối</a:t>
                      </a:r>
                    </a:p>
                  </a:txBody>
                  <a:tcPr marL="73152" marR="73152" marT="36576" marB="36576" anchor="ctr">
                    <a:solidFill>
                      <a:srgbClr val="FFFFFF"/>
                    </a:solidFill>
                  </a:tcPr>
                </a:tc>
                <a:tc>
                  <a:txBody>
                    <a:bodyPr/>
                    <a:lstStyle/>
                    <a:p>
                      <a:pPr algn="l"/>
                      <a:r>
                        <a:rPr lang="en-US" sz="1300" b="0" dirty="0">
                          <a:solidFill>
                            <a:srgbClr val="000000"/>
                          </a:solidFill>
                          <a:latin typeface="Segoe UI"/>
                        </a:rPr>
                        <a:t>5</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31" name="Caption"/>
          <p:cNvSpPr txBox="1"/>
          <p:nvPr/>
        </p:nvSpPr>
        <p:spPr>
          <a:xfrm>
            <a:off x="457200" y="500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Segoe UI"/>
                <a:cs typeface="Segoe UI"/>
              </a:rPr>
              <a:t>Tổng = 100%. Một hướng dẫn chấm điểm chi tiết được cung cấp cho giảng viên.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Hướng dẫn Chấm điểm - Điều gì Đạt Điểm Tối đa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Bài nộp xuất sắc</a:t>
            </a:r>
          </a:p>
          <a:p>
            <a:pPr marL="274320" indent="-274320" algn="l">
              <a:lnSpc>
                <a:spcPct val="106000"/>
              </a:lnSpc>
              <a:spcBef>
                <a:spcPts val="520"/>
              </a:spcBef>
              <a:buFont typeface="Arial"/>
              <a:buChar char="•"/>
            </a:pPr>
            <a:r>
              <a:rPr lang="en-US" sz="1650" dirty="0">
                <a:solidFill>
                  <a:srgbClr val="000000"/>
                </a:solidFill>
                <a:latin typeface="Segoe UI"/>
                <a:cs typeface="Segoe UI"/>
              </a:rPr>
              <a:t>Xử lý mọi sự lộn xộn (bản trùng, giá trị canh gác, giá trị bất khả thi).</a:t>
            </a:r>
          </a:p>
          <a:p>
            <a:pPr marL="274320" indent="-274320" algn="l">
              <a:lnSpc>
                <a:spcPct val="106000"/>
              </a:lnSpc>
              <a:spcBef>
                <a:spcPts val="520"/>
              </a:spcBef>
              <a:buFont typeface="Arial"/>
              <a:buChar char="•"/>
            </a:pPr>
            <a:r>
              <a:rPr lang="en-US" sz="1650" dirty="0">
                <a:solidFill>
                  <a:srgbClr val="000000"/>
                </a:solidFill>
                <a:latin typeface="Segoe UI"/>
                <a:cs typeface="Segoe UI"/>
              </a:rPr>
              <a:t>Bảng 1 phân tầng theo tiếp nhận điều trị với các kiểm định hợp lý.</a:t>
            </a:r>
          </a:p>
          <a:p>
            <a:pPr marL="274320" indent="-274320" algn="l">
              <a:lnSpc>
                <a:spcPct val="106000"/>
              </a:lnSpc>
              <a:spcBef>
                <a:spcPts val="520"/>
              </a:spcBef>
              <a:buFont typeface="Arial"/>
              <a:buChar char="•"/>
            </a:pPr>
            <a:r>
              <a:rPr lang="en-US" sz="1650" dirty="0">
                <a:solidFill>
                  <a:srgbClr val="000000"/>
                </a:solidFill>
                <a:latin typeface="Segoe UI"/>
                <a:cs typeface="Segoe UI"/>
              </a:rPr>
              <a:t>Tỷ số chênh hiệu chỉnh (aOR) kèm khoảng tin cậy 95% (KTC 95%) và mức tham chiếu đúng.</a:t>
            </a:r>
          </a:p>
          <a:p>
            <a:pPr marL="274320" indent="-274320" algn="l">
              <a:lnSpc>
                <a:spcPct val="106000"/>
              </a:lnSpc>
              <a:spcBef>
                <a:spcPts val="520"/>
              </a:spcBef>
              <a:buFont typeface="Arial"/>
              <a:buChar char="•"/>
            </a:pPr>
            <a:r>
              <a:rPr lang="en-US" sz="1650" dirty="0">
                <a:solidFill>
                  <a:srgbClr val="000000"/>
                </a:solidFill>
                <a:latin typeface="Segoe UI"/>
                <a:cs typeface="Segoe UI"/>
              </a:rPr>
              <a:t>Đoạn văn Kết quả khớp với con số và được đóng khung lâm sàng.</a:t>
            </a:r>
          </a:p>
          <a:p>
            <a:pPr marL="274320" indent="-274320" algn="l">
              <a:lnSpc>
                <a:spcPct val="106000"/>
              </a:lnSpc>
              <a:spcBef>
                <a:spcPts val="520"/>
              </a:spcBef>
              <a:buFont typeface="Arial"/>
              <a:buChar char="•"/>
            </a:pPr>
            <a:r>
              <a:rPr lang="en-US" sz="1650" dirty="0">
                <a:solidFill>
                  <a:srgbClr val="000000"/>
                </a:solidFill>
                <a:latin typeface="Segoe UI"/>
                <a:cs typeface="Segoe UI"/>
              </a:rPr>
              <a:t>Một script chạy trơn tru từ dữ liệu thô đến kết quả.</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Segoe UI"/>
                <a:cs typeface="Segoe UI"/>
              </a:rPr>
              <a:t>Những chỗ thường mất điểm</a:t>
            </a:r>
          </a:p>
          <a:p>
            <a:pPr marL="274320" indent="-274320" algn="l">
              <a:lnSpc>
                <a:spcPct val="106000"/>
              </a:lnSpc>
              <a:spcBef>
                <a:spcPts val="520"/>
              </a:spcBef>
              <a:buFont typeface="Arial"/>
              <a:buChar char="•"/>
            </a:pPr>
            <a:r>
              <a:rPr lang="en-US" sz="1650" dirty="0">
                <a:solidFill>
                  <a:srgbClr val="000000"/>
                </a:solidFill>
                <a:latin typeface="Segoe UI"/>
                <a:cs typeface="Segoe UI"/>
              </a:rPr>
              <a:t>Để nguyên 999 / -99 như số thực.</a:t>
            </a:r>
          </a:p>
          <a:p>
            <a:pPr marL="274320" indent="-274320" algn="l">
              <a:lnSpc>
                <a:spcPct val="106000"/>
              </a:lnSpc>
              <a:spcBef>
                <a:spcPts val="520"/>
              </a:spcBef>
              <a:buFont typeface="Arial"/>
              <a:buChar char="•"/>
            </a:pPr>
            <a:r>
              <a:rPr lang="en-US" sz="1650" dirty="0">
                <a:solidFill>
                  <a:srgbClr val="000000"/>
                </a:solidFill>
                <a:latin typeface="Segoe UI"/>
                <a:cs typeface="Segoe UI"/>
              </a:rPr>
              <a:t>Phân tích cả 1,500 thay vì chỉ bệnh nhân đã được chẩn đoán.</a:t>
            </a:r>
          </a:p>
          <a:p>
            <a:pPr marL="274320" indent="-274320" algn="l">
              <a:lnSpc>
                <a:spcPct val="106000"/>
              </a:lnSpc>
              <a:spcBef>
                <a:spcPts val="520"/>
              </a:spcBef>
              <a:buFont typeface="Arial"/>
              <a:buChar char="•"/>
            </a:pPr>
            <a:r>
              <a:rPr lang="en-US" sz="1650" dirty="0">
                <a:solidFill>
                  <a:srgbClr val="000000"/>
                </a:solidFill>
                <a:latin typeface="Segoe UI"/>
                <a:cs typeface="Segoe UI"/>
              </a:rPr>
              <a:t>Báo cáo log-odds thay vì tỷ số chênh (OR).</a:t>
            </a:r>
          </a:p>
          <a:p>
            <a:pPr marL="274320" indent="-274320" algn="l">
              <a:lnSpc>
                <a:spcPct val="106000"/>
              </a:lnSpc>
              <a:spcBef>
                <a:spcPts val="520"/>
              </a:spcBef>
              <a:buFont typeface="Arial"/>
              <a:buChar char="•"/>
            </a:pPr>
            <a:r>
              <a:rPr lang="en-US" sz="1650" dirty="0">
                <a:solidFill>
                  <a:srgbClr val="000000"/>
                </a:solidFill>
                <a:latin typeface="Segoe UI"/>
                <a:cs typeface="Segoe UI"/>
              </a:rPr>
              <a:t>Diễn giải một kết quả không có ý nghĩa thống kê là 'không có tác động'.</a:t>
            </a:r>
          </a:p>
          <a:p>
            <a:pPr marL="274320" indent="-274320" algn="l">
              <a:lnSpc>
                <a:spcPct val="106000"/>
              </a:lnSpc>
              <a:spcBef>
                <a:spcPts val="520"/>
              </a:spcBef>
              <a:buFont typeface="Arial"/>
              <a:buChar char="•"/>
            </a:pPr>
            <a:r>
              <a:rPr lang="en-US" sz="1650" dirty="0">
                <a:solidFill>
                  <a:srgbClr val="000000"/>
                </a:solidFill>
                <a:latin typeface="Segoe UI"/>
                <a:cs typeface="Segoe UI"/>
              </a:rPr>
              <a:t>Đường dẫn tuyệt đối hỏng trên máy tính khác.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Segoe UI"/>
                <a:cs typeface="Segoe UI"/>
              </a:rPr>
              <a:t>Tài nguyên &amp; Đọc thêm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Segoe UI"/>
                <a:cs typeface="Segoe UI"/>
              </a:rPr>
              <a:t>Trong gói tài liệu khóa học</a:t>
            </a:r>
          </a:p>
          <a:p>
            <a:pPr marL="0" indent="0" algn="l">
              <a:lnSpc>
                <a:spcPct val="108000"/>
              </a:lnSpc>
              <a:spcBef>
                <a:spcPts val="440"/>
              </a:spcBef>
              <a:buNone/>
            </a:pPr>
            <a:r>
              <a:rPr lang="en-US" sz="1800" dirty="0">
                <a:solidFill>
                  <a:srgbClr val="000000"/>
                </a:solidFill>
                <a:latin typeface="Segoe UI"/>
                <a:cs typeface="Segoe UI"/>
              </a:rPr>
              <a:t>Bảng tra cứu lệnh R và hướng dẫn cài đặt gói.</a:t>
            </a:r>
          </a:p>
          <a:p>
            <a:pPr marL="0" indent="0" algn="l">
              <a:lnSpc>
                <a:spcPct val="108000"/>
              </a:lnSpc>
              <a:spcBef>
                <a:spcPts val="440"/>
              </a:spcBef>
              <a:buNone/>
            </a:pPr>
            <a:r>
              <a:rPr lang="en-US" sz="1800" dirty="0">
                <a:solidFill>
                  <a:srgbClr val="000000"/>
                </a:solidFill>
                <a:latin typeface="Segoe UI"/>
                <a:cs typeface="Segoe UI"/>
              </a:rPr>
              <a:t>Tất cả script demo và lời giải mẫu.</a:t>
            </a:r>
          </a:p>
          <a:p>
            <a:pPr marL="0" indent="0" algn="l">
              <a:lnSpc>
                <a:spcPct val="108000"/>
              </a:lnSpc>
              <a:spcBef>
                <a:spcPts val="440"/>
              </a:spcBef>
              <a:buNone/>
            </a:pPr>
            <a:r>
              <a:rPr lang="en-US" sz="1800" dirty="0">
                <a:solidFill>
                  <a:srgbClr val="000000"/>
                </a:solidFill>
                <a:latin typeface="Segoe UI"/>
                <a:cs typeface="Segoe UI"/>
              </a:rPr>
              <a:t>Bộ dữ liệu, từ điển dữ liệu và bộ slide này.</a:t>
            </a:r>
          </a:p>
          <a:p>
            <a:pPr>
              <a:buNone/>
            </a:pPr>
            <a:endParaRPr sz="1050"/>
          </a:p>
          <a:p>
            <a:pPr marL="0" indent="0" algn="l">
              <a:spcBef>
                <a:spcPts val="360"/>
              </a:spcBef>
              <a:buNone/>
            </a:pPr>
            <a:r>
              <a:rPr lang="en-US" sz="2050" b="1" dirty="0">
                <a:solidFill>
                  <a:srgbClr val="0D7377"/>
                </a:solidFill>
                <a:latin typeface="Segoe UI"/>
                <a:cs typeface="Segoe UI"/>
              </a:rPr>
              <a:t>Để đi xa hơn</a:t>
            </a:r>
          </a:p>
          <a:p>
            <a:pPr marL="0" indent="0" algn="l">
              <a:lnSpc>
                <a:spcPct val="108000"/>
              </a:lnSpc>
              <a:spcBef>
                <a:spcPts val="440"/>
              </a:spcBef>
              <a:buNone/>
            </a:pPr>
            <a:r>
              <a:rPr lang="en-US" sz="1800" dirty="0">
                <a:solidFill>
                  <a:srgbClr val="000000"/>
                </a:solidFill>
                <a:latin typeface="Segoe UI"/>
                <a:cs typeface="Segoe UI"/>
              </a:rPr>
              <a:t>R for Data Science (Wickham &amp; Grolemund) - miễn phí trực tuyến.</a:t>
            </a:r>
          </a:p>
          <a:p>
            <a:pPr marL="0" indent="0" algn="l">
              <a:lnSpc>
                <a:spcPct val="108000"/>
              </a:lnSpc>
              <a:spcBef>
                <a:spcPts val="440"/>
              </a:spcBef>
              <a:buNone/>
            </a:pPr>
            <a:r>
              <a:rPr lang="en-US" sz="1800" dirty="0">
                <a:solidFill>
                  <a:srgbClr val="000000"/>
                </a:solidFill>
                <a:latin typeface="Segoe UI"/>
                <a:cs typeface="Segoe UI"/>
              </a:rPr>
              <a:t>Regression Modeling Strategies (Harrell).</a:t>
            </a:r>
          </a:p>
          <a:p>
            <a:pPr marL="0" indent="0" algn="l">
              <a:lnSpc>
                <a:spcPct val="108000"/>
              </a:lnSpc>
              <a:spcBef>
                <a:spcPts val="440"/>
              </a:spcBef>
              <a:buNone/>
            </a:pPr>
            <a:r>
              <a:rPr lang="en-US" sz="1800" dirty="0">
                <a:solidFill>
                  <a:srgbClr val="000000"/>
                </a:solidFill>
                <a:latin typeface="Segoe UI"/>
                <a:cs typeface="Segoe UI"/>
              </a:rPr>
              <a:t>Các trang tài liệu gtsummary và ggplot2.</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Segoe UI"/>
                <a:cs typeface="Segoe UI"/>
              </a:rPr>
              <a:t>MẸO  -  Tiếp tục luyện tập</a:t>
            </a:r>
          </a:p>
          <a:p>
            <a:pPr marL="0" indent="0" algn="l">
              <a:spcBef>
                <a:spcPts val="100"/>
              </a:spcBef>
              <a:buNone/>
            </a:pPr>
            <a:r>
              <a:rPr lang="en-US" sz="1300" dirty="0">
                <a:solidFill>
                  <a:srgbClr val="000000"/>
                </a:solidFill>
                <a:latin typeface="Segoe UI"/>
                <a:cs typeface="Segoe UI"/>
              </a:rPr>
              <a:t>Chạy lại các script của tuần trên dữ liệu của chính bạn - đó là nơi kỹ năng trở nên bền vững.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Segoe UI"/>
                <a:cs typeface="Segoe UI"/>
              </a:rPr>
              <a:t>Cảm ơn &amp; Hỏi đáp</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Segoe UI"/>
                <a:cs typeface="Segoe UI"/>
              </a:rPr>
              <a:t>Giữ liên lạc</a:t>
            </a:r>
          </a:p>
          <a:p>
            <a:pPr>
              <a:buNone/>
            </a:pPr>
            <a:endParaRPr sz="800"/>
          </a:p>
          <a:p>
            <a:pPr marL="274320" indent="-274320" algn="l">
              <a:spcBef>
                <a:spcPts val="440"/>
              </a:spcBef>
              <a:buFont typeface="Arial"/>
              <a:buChar char="•"/>
            </a:pPr>
            <a:r>
              <a:rPr lang="en-US" sz="1900" dirty="0">
                <a:solidFill>
                  <a:srgbClr val="000000"/>
                </a:solidFill>
                <a:latin typeface="Segoe UI"/>
                <a:cs typeface="Segoe UI"/>
              </a:rPr>
              <a:t>Bạn giờ đã có thể nhập, làm sạch, phân tích và báo cáo dữ liệu lâm sàng bằng R</a:t>
            </a:r>
          </a:p>
          <a:p>
            <a:pPr marL="274320" indent="-274320" algn="l">
              <a:spcBef>
                <a:spcPts val="440"/>
              </a:spcBef>
              <a:buFont typeface="Arial"/>
              <a:buChar char="•"/>
            </a:pPr>
            <a:r>
              <a:rPr lang="en-US" sz="1900" dirty="0">
                <a:solidFill>
                  <a:srgbClr val="000000"/>
                </a:solidFill>
                <a:latin typeface="Segoe UI"/>
                <a:cs typeface="Segoe UI"/>
              </a:rPr>
              <a:t>Luyện tập trên các bộ dữ liệu của riêng bạn</a:t>
            </a:r>
          </a:p>
          <a:p>
            <a:pPr marL="274320" indent="-274320" algn="l">
              <a:spcBef>
                <a:spcPts val="440"/>
              </a:spcBef>
              <a:buFont typeface="Arial"/>
              <a:buChar char="•"/>
            </a:pPr>
            <a:r>
              <a:rPr lang="en-US" sz="1900" dirty="0">
                <a:solidFill>
                  <a:srgbClr val="000000"/>
                </a:solidFill>
                <a:latin typeface="Segoe UI"/>
                <a:cs typeface="Segoe UI"/>
              </a:rPr>
              <a:t>Giai đoạn II: phân tích sống còn, mô hình hỗn hợp và dự báo</a:t>
            </a:r>
          </a:p>
          <a:p>
            <a:pPr marL="274320" indent="-274320" algn="l">
              <a:spcBef>
                <a:spcPts val="440"/>
              </a:spcBef>
              <a:buFont typeface="Arial"/>
              <a:buChar char="•"/>
            </a:pPr>
            <a:r>
              <a:rPr lang="en-US" sz="1900" dirty="0">
                <a:solidFill>
                  <a:srgbClr val="000000"/>
                </a:solidFill>
                <a:latin typeface="Segoe UI"/>
                <a:cs typeface="Segoe UI"/>
              </a:rPr>
              <a:t>Liên hệ: Neudata  -  #ClearDataClearImpact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Segoe UI"/>
                <a:cs typeface="Segoe UI"/>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31652</Words>
  <Application>Microsoft Office PowerPoint</Application>
  <PresentationFormat>Widescreen</PresentationFormat>
  <Paragraphs>2373</Paragraphs>
  <Slides>123</Slides>
  <Notes>123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123</vt:i4>
      </vt:variant>
    </vt:vector>
  </HeadingPairs>
  <TitlesOfParts>
    <vt:vector size="130" baseType="lpstr">
      <vt:lpstr>Arial</vt:lpstr>
      <vt:lpstr>Calibri</vt:lpstr>
      <vt:lpstr>Consolas</vt:lpstr>
      <vt:lpstr>Courier New</vt:lpstr>
      <vt:lpstr>Segoe UI</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My Luong Vuong</cp:lastModifiedBy>
  <cp:revision>75</cp:revision>
  <dcterms:created xsi:type="dcterms:W3CDTF">2013-01-27T09:14:16Z</dcterms:created>
  <dcterms:modified xsi:type="dcterms:W3CDTF">2026-09-07T08:47:28Z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