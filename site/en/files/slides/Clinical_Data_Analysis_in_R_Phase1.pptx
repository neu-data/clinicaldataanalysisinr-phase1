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8"/>
  </p:notesMasterIdLst>
  <p:handoutMasterIdLst>
    <p:handoutMasterId r:id="rId129"/>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microsoft.com/office/2016/11/relationships/changesInfo" Target="changesInfos/changesInfo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handoutMaster" Target="handoutMasters/handout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presProps" Target="pres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heme" Target="theme/theme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 Luong Vuong" userId="5aae12bc-8908-4eb1-901e-ac5e7d3d92fa" providerId="ADAL" clId="{564E09FA-B8F3-423D-9D6E-093B32FA934F}"/>
    <pc:docChg chg="custSel modSld">
      <pc:chgData name="My Luong Vuong" userId="5aae12bc-8908-4eb1-901e-ac5e7d3d92fa" providerId="ADAL" clId="{564E09FA-B8F3-423D-9D6E-093B32FA934F}" dt="2026-09-07T08:48:07.297" v="12" actId="20577"/>
      <pc:docMkLst>
        <pc:docMk/>
      </pc:docMkLst>
      <pc:sldChg chg="modSp mod">
        <pc:chgData name="My Luong Vuong" userId="5aae12bc-8908-4eb1-901e-ac5e7d3d92fa" providerId="ADAL" clId="{564E09FA-B8F3-423D-9D6E-093B32FA934F}" dt="2026-09-07T08:48:07.297" v="12" actId="20577"/>
        <pc:sldMkLst>
          <pc:docMk/>
          <pc:sldMk cId="0" sldId="266"/>
        </pc:sldMkLst>
        <pc:spChg chg="mod">
          <ac:chgData name="My Luong Vuong" userId="5aae12bc-8908-4eb1-901e-ac5e7d3d92fa" providerId="ADAL" clId="{564E09FA-B8F3-423D-9D6E-093B32FA934F}" dt="2026-09-07T08:48:07.297" v="12" actId="20577"/>
          <ac:spMkLst>
            <pc:docMk/>
            <pc:sldMk cId="0" sldId="266"/>
            <ac:spMk id="2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9/7/2026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TITLE SLIDE.</a:t>
            </a:r>
          </a:p>
          <a:p>
            <a:r>
              <a:rPr lang="en-US" sz="1400" b="0" dirty="0"/>
              <a:t>Welcome participants to Phase I of Clinical Data Analysis in R.</a:t>
            </a:r>
          </a:p>
          <a:p>
            <a:r>
              <a:rPr lang="en-US" sz="1400" b="0" dirty="0"/>
              <a:t>Key teaching point: by the final session every participant will import, clean, analyse and report a real clinical dataset, with no prior coding.</a:t>
            </a:r>
          </a:p>
          <a:p>
            <a:r>
              <a:rPr lang="en-US" sz="1400" b="0" dirty="0"/>
              <a:t>Demo tip: ask the room who has opened R before - calibrate pace.</a:t>
            </a:r>
          </a:p>
          <a:p>
            <a:r>
              <a:rPr lang="en-US" sz="1400" b="0" dirty="0"/>
              <a:t>Audience question: what do you hope to analyse in your own work? Expected answer: trial/survey/audit data - reassure all fit this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Set the tone: supportive, practical, clinically relevant.</a:t>
            </a:r>
          </a:p>
          <a:p>
            <a:r>
              <a:rPr lang="en-US" sz="1400" b="0" dirty="0"/>
              <a:t>Common misconception: 'I am not a maths/computer person so R is not for me.' Reframe: R is a skill like using a new clinical device - learnable with practice.</a:t>
            </a:r>
          </a:p>
          <a:p>
            <a:r>
              <a:rPr lang="en-US" sz="1400" b="0" dirty="0"/>
              <a:t>Clinical interpretation: reproducibility protects you in audits, revisions and re-analysis.</a:t>
            </a:r>
          </a:p>
          <a:p>
            <a:r>
              <a:rPr lang="en-US" sz="1400" b="0" dirty="0"/>
              <a:t>Audience question: how many currently use Excel/SPSS/Stata? Expected: most - bridge from there.</a:t>
            </a:r>
          </a:p>
          <a:p>
            <a:r>
              <a:rPr lang="en-US" sz="1400" b="0" dirty="0"/>
              <a:t>Demo tip: keep the first day light on jargon.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Establish the shared starting point.</a:t>
            </a:r>
          </a:p>
          <a:p>
            <a:r>
              <a:rPr lang="en-US" sz="1400" b="0" dirty="0"/>
              <a:t>Key teaching point: the mix of backgrounds is a strength - pair confident with less confident learners.</a:t>
            </a:r>
          </a:p>
          <a:p>
            <a:r>
              <a:rPr lang="en-US" sz="1400" b="0" dirty="0"/>
              <a:t>Common misconception: that statisticians and clinicians need different tools - they do not.</a:t>
            </a:r>
          </a:p>
          <a:p>
            <a:r>
              <a:rPr lang="en-US" sz="1400" b="0" dirty="0"/>
              <a:t>Audience question: what is your single biggest data frustration today? Expected: cleaning, or 'I cannot reproduce last year's analysis'.</a:t>
            </a:r>
          </a:p>
          <a:p>
            <a:r>
              <a:rPr lang="en-US" sz="1400" b="0" dirty="0"/>
              <a:t>Demo tip: note names/roles to tailor examples.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Walk through objectives 1-7 (the data-handling and description skills).</a:t>
            </a:r>
          </a:p>
          <a:p>
            <a:r>
              <a:rPr lang="en-US" sz="1400" b="0" dirty="0"/>
              <a:t>Key teaching point: these map one-to-one onto the five days.</a:t>
            </a:r>
          </a:p>
          <a:p>
            <a:r>
              <a:rPr lang="en-US" sz="1400" b="0" dirty="0"/>
              <a:t>Clinical interpretation: each objective is a step in a real manuscript workflow.</a:t>
            </a:r>
          </a:p>
          <a:p>
            <a:r>
              <a:rPr lang="en-US" sz="1400" b="0" dirty="0"/>
              <a:t>Audience question: which objective matters most to you? Expected: varies - reassure all are covered.</a:t>
            </a:r>
          </a:p>
          <a:p>
            <a:r>
              <a:rPr lang="en-US" sz="1400" b="0" dirty="0"/>
              <a:t>Demo tip: return to this list at each day's recap to show progress.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Objectives 8-13 (the analysis, inference and reporting skills).</a:t>
            </a:r>
          </a:p>
          <a:p>
            <a:r>
              <a:rPr lang="en-US" sz="1400" b="0" dirty="0"/>
              <a:t>Key teaching point: interpretation is weighted as heavily as computation throughout.</a:t>
            </a:r>
          </a:p>
          <a:p>
            <a:r>
              <a:rPr lang="en-US" sz="1400" b="0" dirty="0"/>
              <a:t>Common misconception: that running the test is the hard part - interpreting and reporting it well is harder.</a:t>
            </a:r>
          </a:p>
          <a:p>
            <a:r>
              <a:rPr lang="en-US" sz="1400" b="0" dirty="0"/>
              <a:t>Audience question: who has had a paper criticised for statistics? Expected: a few - this course prevents that.</a:t>
            </a:r>
          </a:p>
          <a:p>
            <a:r>
              <a:rPr lang="en-US" sz="1400" b="0" dirty="0"/>
              <a:t>Demo tip: emphasise we always ask 'what does this mean clinically?'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Give the map of the whole week.</a:t>
            </a:r>
          </a:p>
          <a:p>
            <a:r>
              <a:rPr lang="en-US" sz="1400" b="0" dirty="0"/>
              <a:t>Key teaching point: skills are cumulative - Day 2's clean data feeds every later day.</a:t>
            </a:r>
          </a:p>
          <a:p>
            <a:r>
              <a:rPr lang="en-US" sz="1400" b="0" dirty="0"/>
              <a:t>Clinical interpretation: this is exactly how a real analysis project flows, start to finish.</a:t>
            </a:r>
          </a:p>
          <a:p>
            <a:r>
              <a:rPr lang="en-US" sz="1400" b="0" dirty="0"/>
              <a:t>Audience question: which day looks most daunting? Expected: Days 4-5 - reassure we build up gently.</a:t>
            </a:r>
          </a:p>
          <a:p>
            <a:r>
              <a:rPr lang="en-US" sz="1400" b="0" dirty="0"/>
              <a:t>Demo tip: keep this slide handy to re-orient anyone who feels lost.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Explain the format so participants know what to expect each session.</a:t>
            </a:r>
          </a:p>
          <a:p>
            <a:r>
              <a:rPr lang="en-US" sz="1400" b="0" dirty="0"/>
              <a:t>Key teaching point: watching then doing (the demo-then-exercise pattern) is how coding is learned.</a:t>
            </a:r>
          </a:p>
          <a:p>
            <a:r>
              <a:rPr lang="en-US" sz="1400" b="0" dirty="0"/>
              <a:t>Common mistake: trying to type along during the demo and falling behind - watch first, code in the exercise.</a:t>
            </a:r>
          </a:p>
          <a:p>
            <a:r>
              <a:rPr lang="en-US" sz="1400" b="0" dirty="0"/>
              <a:t>Audience question: prefer to type along or watch then do? Expected: mixed - explain why watch-first works.</a:t>
            </a:r>
          </a:p>
          <a:p>
            <a:r>
              <a:rPr lang="en-US" sz="1400" b="0" dirty="0"/>
              <a:t>Demo tip: share your screen with a large font (e.g. 16-18pt).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Introduce the single dataset that anchors every exercise.</a:t>
            </a:r>
          </a:p>
          <a:p>
            <a:r>
              <a:rPr lang="en-US" sz="1400" b="0" dirty="0"/>
              <a:t>Key teaching point: using one realistic dataset all week lets skills compound.</a:t>
            </a:r>
          </a:p>
          <a:p>
            <a:r>
              <a:rPr lang="en-US" sz="1400" b="0" dirty="0"/>
              <a:t>Clinical interpretation: treatment uptake is a real implementation-science question - many diagnosed patients never start therapy.</a:t>
            </a:r>
          </a:p>
          <a:p>
            <a:r>
              <a:rPr lang="en-US" sz="1400" b="0" dirty="0"/>
              <a:t>Audience question: why might a diagnosed patient not be on treatment? Expected: cost, distance, beliefs, no insurance - these are our predictors.</a:t>
            </a:r>
          </a:p>
          <a:p>
            <a:r>
              <a:rPr lang="en-US" sz="1400" b="0" dirty="0"/>
              <a:t>Demo tip: this is simulated data built to behave realistically - safe to share and reproduce.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Preview the data dictionary so variables are familiar before Day 1's import.</a:t>
            </a:r>
          </a:p>
          <a:p>
            <a:r>
              <a:rPr lang="en-US" sz="1400" b="0" dirty="0"/>
              <a:t>Key teaching point: knowing your variables and their types is half of good analysis.</a:t>
            </a:r>
          </a:p>
          <a:p>
            <a:r>
              <a:rPr lang="en-US" sz="1400" b="0" dirty="0"/>
              <a:t>Common misconception: more variables is always better - we will discuss parsimony on Day 5.</a:t>
            </a:r>
          </a:p>
          <a:p>
            <a:r>
              <a:rPr lang="en-US" sz="1400" b="0" dirty="0"/>
              <a:t>Clinical interpretation: these span the determinants framework (predisposing, enabling, need factors).</a:t>
            </a:r>
          </a:p>
          <a:p>
            <a:r>
              <a:rPr lang="en-US" sz="1400" b="0" dirty="0"/>
              <a:t>Audience question: which variable would you expect to predict uptake? Expected: insurance, diabetes, education - we will test this.</a:t>
            </a:r>
          </a:p>
          <a:p>
            <a:r>
              <a:rPr lang="en-US" sz="1400" b="0" dirty="0"/>
              <a:t>Demo tip: hand out the printed data dictionary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Show the throughline so participants see the destination from Day 1.</a:t>
            </a:r>
          </a:p>
          <a:p>
            <a:r>
              <a:rPr lang="en-US" sz="1400" b="0" dirty="0"/>
              <a:t>Key teaching point: analysis is a pipeline, not a single magic command.</a:t>
            </a:r>
          </a:p>
          <a:p>
            <a:r>
              <a:rPr lang="en-US" sz="1400" b="0" dirty="0"/>
              <a:t>Clinical interpretation: reproducibility means a reviewer could rerun your script and get your numbers.</a:t>
            </a:r>
          </a:p>
          <a:p>
            <a:r>
              <a:rPr lang="en-US" sz="1400" b="0" dirty="0"/>
              <a:t>Audience question: where do most analyses go wrong? Expected: cleaning and interpretation - hence two full sessions on them.</a:t>
            </a:r>
          </a:p>
          <a:p>
            <a:r>
              <a:rPr lang="en-US" sz="1400" b="0" dirty="0"/>
              <a:t>Demo tip: revisit this pipeline diagram at each session's start.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Use this slide to confirm logistics and introduce the teaching team.</a:t>
            </a:r>
          </a:p>
          <a:p>
            <a:r>
              <a:rPr lang="en-US" sz="1400" b="0" dirty="0"/>
              <a:t>Key teaching point: three trainers means plenty of help during the guided exercises.</a:t>
            </a:r>
          </a:p>
          <a:p>
            <a:r>
              <a:rPr lang="en-US" sz="1400" b="0" dirty="0"/>
              <a:t>Housekeeping: share the registration link/QR and the enquiries email for colleagues who want to join a future cohort.</a:t>
            </a:r>
          </a:p>
          <a:p>
            <a:r>
              <a:rPr lang="en-US" sz="1400" b="0" dirty="0"/>
              <a:t>Demo tip: invite each trainer to say one line about themselves.</a:t>
            </a:r>
          </a:p>
          <a:p>
            <a:r>
              <a:rPr lang="en-US" sz="1400" b="0" dirty="0"/>
              <a:t>Audience question: any scheduling or access questions before we begin? Expected: confirm the Tuesday evening slot works.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this whole day is about getting comfortable, not memorising. By tonight every participant will have imported a real clinical dataset and looked at it.</a:t>
            </a:r>
          </a:p>
          <a:p>
            <a:r>
              <a:rPr lang="en-US" sz="1400" b="0" dirty="0"/>
              <a:t>Common misconception: that you must be a programmer. You do not; R is a tool like a calculator or a stethoscope.</a:t>
            </a:r>
          </a:p>
          <a:p>
            <a:r>
              <a:rPr lang="en-US" sz="1400" b="0" dirty="0"/>
              <a:t>Clinical interpretation: reproducible analysis means a colleague or a regulator can re-run your work and get the same numbers.</a:t>
            </a:r>
          </a:p>
          <a:p>
            <a:r>
              <a:rPr lang="en-US" sz="1400" b="0" dirty="0"/>
              <a:t>Ask the audience: who has used Excel for research? Expected answer: almost everyone. Bridge: R does what Excel does, but it records every step.</a:t>
            </a:r>
          </a:p>
          <a:p>
            <a:r>
              <a:rPr lang="en-US" sz="1400" b="0" dirty="0"/>
              <a:t>Demo tip: keep RStudio open on screen behind you so people see the real thing, not just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headline advantage is reproducibility plus zero cost. Click-by-click in Excel is hard to reproduce; a script is the recipe.</a:t>
            </a:r>
          </a:p>
          <a:p>
            <a:r>
              <a:rPr lang="en-US" sz="1400" b="0" dirty="0"/>
              <a:t>Common misconception: that free means low quality. R is used by FDA, EMA reviewers, and most major epidemiology groups.</a:t>
            </a:r>
          </a:p>
          <a:p>
            <a:r>
              <a:rPr lang="en-US" sz="1400" b="0" dirty="0"/>
              <a:t>Clinical interpretation: when a reviewer asks how you derived a number, you point to a line of code, not your memory.</a:t>
            </a:r>
          </a:p>
          <a:p>
            <a:r>
              <a:rPr lang="en-US" sz="1400" b="0" dirty="0"/>
              <a:t>Ask the audience: what happens if you redo last year's analysis in Excel by hand? Expected answer: you may get slightly different numbers. A script removes that risk.</a:t>
            </a:r>
          </a:p>
          <a:p>
            <a:r>
              <a:rPr lang="en-US" sz="1400" b="0" dirty="0"/>
              <a:t>Demo tip: mention that the figures in many NEJM and Lancet papers are made in 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R is the engine, RStudio is the dashboard. You need both, and you install R first.</a:t>
            </a:r>
          </a:p>
          <a:p>
            <a:r>
              <a:rPr lang="en-US" sz="1400" b="0" dirty="0"/>
              <a:t>Common mistake: people try to open R directly and find a bare console. Always open RStudio instead.</a:t>
            </a:r>
          </a:p>
          <a:p>
            <a:r>
              <a:rPr lang="en-US" sz="1400" b="0" dirty="0"/>
              <a:t>Clinical interpretation: think of R as the lab analyser and RStudio as the technician's interface to it.</a:t>
            </a:r>
          </a:p>
          <a:p>
            <a:r>
              <a:rPr lang="en-US" sz="1400" b="0" dirty="0"/>
              <a:t>Ask the audience: which one do you double-click each morning? Expected answer: RStudio.</a:t>
            </a:r>
          </a:p>
          <a:p>
            <a:r>
              <a:rPr lang="en-US" sz="1400" b="0" dirty="0"/>
              <a:t>Demo tip: show both icons on the desktop so the distinction is concrete.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just four panes. Source and Console on the left, Environment and the Files/Plots/Help tabs on the right.</a:t>
            </a:r>
          </a:p>
          <a:p>
            <a:r>
              <a:rPr lang="en-US" sz="1400" b="0" dirty="0"/>
              <a:t>Common misconception: that the layout is fixed; it is configurable, but the defaults are fine for beginners.</a:t>
            </a:r>
          </a:p>
          <a:p>
            <a:r>
              <a:rPr lang="en-US" sz="1400" b="0" dirty="0"/>
              <a:t>Clinical interpretation: the Environment pane is your worktop, it shows what data is currently loaded.</a:t>
            </a:r>
          </a:p>
          <a:p>
            <a:r>
              <a:rPr lang="en-US" sz="1400" b="0" dirty="0"/>
              <a:t>Ask the audience: where will a graph appear? Expected answer: bottom-right, the Plots tab.</a:t>
            </a:r>
          </a:p>
          <a:p>
            <a:r>
              <a:rPr lang="en-US" sz="1400" b="0" dirty="0"/>
              <a:t>Demo tip: type a line in the Console and the same line in the Source, and show that only the saved Source persists.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an RStudio Project sets the working directory for you and makes paths portable.</a:t>
            </a:r>
          </a:p>
          <a:p>
            <a:r>
              <a:rPr lang="en-US" sz="1400" b="0" dirty="0"/>
              <a:t>Common mistake: setwd("C:/Users/me/Desktop/...") at the top of a script. It works only on that one computer.</a:t>
            </a:r>
          </a:p>
          <a:p>
            <a:r>
              <a:rPr lang="en-US" sz="1400" b="0" dirty="0"/>
              <a:t>Clinical interpretation: portability matters when you share an analysis with a statistician or a collaborator at another site.</a:t>
            </a:r>
          </a:p>
          <a:p>
            <a:r>
              <a:rPr lang="en-US" sz="1400" b="0" dirty="0"/>
              <a:t>Ask the audience: what is wrong with writing the full C: path? Expected answer: nobody else has that exact folder.</a:t>
            </a:r>
          </a:p>
          <a:p>
            <a:r>
              <a:rPr lang="en-US" sz="1400" b="0" dirty="0"/>
              <a:t>Demo tip: run getwd() once so people see what the current folder actually is, then open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script is the reproducible record; the console is a scratchpad.</a:t>
            </a:r>
          </a:p>
          <a:p>
            <a:r>
              <a:rPr lang="en-US" sz="1400" b="0" dirty="0"/>
              <a:t>Common misconception: that typing in the console is enough. It vanishes on close.</a:t>
            </a:r>
          </a:p>
          <a:p>
            <a:r>
              <a:rPr lang="en-US" sz="1400" b="0" dirty="0"/>
              <a:t>Clinical interpretation: the saved script is your analysis audit trail, like a signed lab notebook.</a:t>
            </a:r>
          </a:p>
          <a:p>
            <a:r>
              <a:rPr lang="en-US" sz="1400" b="0" dirty="0"/>
              <a:t>Ask the audience: where should the real analysis live? Expected answer: in a saved script.</a:t>
            </a:r>
          </a:p>
          <a:p>
            <a:r>
              <a:rPr lang="en-US" sz="1400" b="0" dirty="0"/>
              <a:t>Demo tip: run a line with Ctrl+Enter from the script and show the result appearing in the console below.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 is first and foremost a calculator - functions like sqrt() and arithmetic (+, -, *, /) work exactly as you expect.</a:t>
            </a:r>
          </a:p>
          <a:p>
            <a:r>
              <a:rPr lang="en-US" sz="1400" b="0" dirty="0"/>
              <a:t>Common misconception: that you must memorise commands before you can do anything. You can explore by just typing sums.</a:t>
            </a:r>
          </a:p>
          <a:p>
            <a:r>
              <a:rPr lang="en-US" sz="1400" b="0" dirty="0"/>
              <a:t>Clinical interpretation: a blood-pressure ratio or a quick mean of a few readings is real, useful work on day one.</a:t>
            </a:r>
          </a:p>
          <a:p>
            <a:r>
              <a:rPr lang="en-US" sz="1400" b="0" dirty="0"/>
              <a:t>Audience question: what does 140 / 90 give, and what might it represent? Expected answer: about 1.56 - a crude systolic-to-diastolic ratio.</a:t>
            </a:r>
          </a:p>
          <a:p>
            <a:r>
              <a:rPr lang="en-US" sz="1400" b="0" dirty="0"/>
              <a:t>Demo tip: let participants call out sums and type them live; build confidence before introducing objects.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&lt;- stores a value in a named object; the name then behaves like the value.</a:t>
            </a:r>
          </a:p>
          <a:p>
            <a:r>
              <a:rPr lang="en-US" sz="1400" b="0" dirty="0"/>
              <a:t>Common mistake: writing sbp = 152 (works but is discouraged) or calling it Sbp later and getting an error.</a:t>
            </a:r>
          </a:p>
          <a:p>
            <a:r>
              <a:rPr lang="en-US" sz="1400" b="0" dirty="0"/>
              <a:t>Clinical interpretation: an object is just a labelled container, like a labelled specimen tube.</a:t>
            </a:r>
          </a:p>
          <a:p>
            <a:r>
              <a:rPr lang="en-US" sz="1400" b="0" dirty="0"/>
              <a:t>Ask the audience: is Age the same as age in R? Expected answer: no, R is case-sensitive.</a:t>
            </a:r>
          </a:p>
          <a:p>
            <a:r>
              <a:rPr lang="en-US" sz="1400" b="0" dirty="0"/>
              <a:t>Demo tip: type the shortcut Alt+- (Alt and minus) to insert &lt;- automatically, and show the case-sensitivity error live.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 combines values into a vector; functions like length(), mean() and sd() act on the whole vector at once.</a:t>
            </a:r>
          </a:p>
          <a:p>
            <a:r>
              <a:rPr lang="en-US" sz="1400" b="0" dirty="0"/>
              <a:t>Common mistake: forgetting the commas inside c(), or mixing text and numbers in one vector.</a:t>
            </a:r>
          </a:p>
          <a:p>
            <a:r>
              <a:rPr lang="en-US" sz="1400" b="0" dirty="0"/>
              <a:t>Clinical interpretation: a vector is one column of readings, six systolic measurements here.</a:t>
            </a:r>
          </a:p>
          <a:p>
            <a:r>
              <a:rPr lang="en-US" sz="1400" b="0" dirty="0"/>
              <a:t>Ask the audience: what does length() tell us? Expected answer: how many values are in the vector, here six.</a:t>
            </a:r>
          </a:p>
          <a:p>
            <a:r>
              <a:rPr lang="en-US" sz="1400" b="0" dirty="0"/>
              <a:t>Demo tip: also run summary(sbp_readings) and max(sbp_readings) so they see more functions on the same object.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numeric, character and logical are the three types beginners need. Each column of data is one type.</a:t>
            </a:r>
          </a:p>
          <a:p>
            <a:r>
              <a:rPr lang="en-US" sz="1400" b="0" dirty="0"/>
              <a:t>Common misconception: that a number stored as text behaves like a number; it does not, you cannot average it.</a:t>
            </a:r>
          </a:p>
          <a:p>
            <a:r>
              <a:rPr lang="en-US" sz="1400" b="0" dirty="0"/>
              <a:t>Clinical interpretation: if age was imported as text (because of a stray value like 200 or a letter), means will fail until it is fixed.</a:t>
            </a:r>
          </a:p>
          <a:p>
            <a:r>
              <a:rPr lang="en-US" sz="1400" b="0" dirty="0"/>
              <a:t>Ask the audience: what type is "Yes"/"No"? Expected answer: character text; we will recode it later.</a:t>
            </a:r>
          </a:p>
          <a:p>
            <a:r>
              <a:rPr lang="en-US" sz="1400" b="0" dirty="0"/>
              <a:t>Demo tip: create high_bp &lt;- sbp_readings &gt;= 140 and show the TRUE/FALSE logical vector, then sum() it to count.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data frame (or tibble) is the rectangular table that holds your study, rows = patients, columns = variables.</a:t>
            </a:r>
          </a:p>
          <a:p>
            <a:r>
              <a:rPr lang="en-US" sz="1400" b="0" dirty="0"/>
              <a:t>Common misconception: that R data looks like a spreadsheet with merged cells and colours; it is plain tidy columns.</a:t>
            </a:r>
          </a:p>
          <a:p>
            <a:r>
              <a:rPr lang="en-US" sz="1400" b="0" dirty="0"/>
              <a:t>Clinical interpretation: this rows-are-patients, columns-are-variables layout is exactly the tidy structure analyses expect.</a:t>
            </a:r>
          </a:p>
          <a:p>
            <a:r>
              <a:rPr lang="en-US" sz="1400" b="0" dirty="0"/>
              <a:t>Ask the audience: in our data, what does one row represent? Expected answer: one adult attending a PHC facility.</a:t>
            </a:r>
          </a:p>
          <a:p>
            <a:r>
              <a:rPr lang="en-US" sz="1400" b="0" dirty="0"/>
              <a:t>Demo tip: contrast a tibble print (clean, shows types) with a base data.frame print so they appreciate tibbles.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install once (downloads from the internet), library() every time you start R. Two separate jobs.</a:t>
            </a:r>
          </a:p>
          <a:p>
            <a:r>
              <a:rPr lang="en-US" sz="1400" b="0" dirty="0"/>
              <a:t>Common mistake: putting install.packages() at the top of a script that runs daily; it re-downloads needlessly and fails offline.</a:t>
            </a:r>
          </a:p>
          <a:p>
            <a:r>
              <a:rPr lang="en-US" sz="1400" b="0" dirty="0"/>
              <a:t>Clinical interpretation: a package is a toolbox of extra functions; tidyverse and readxl are the ones we need for import.</a:t>
            </a:r>
          </a:p>
          <a:p>
            <a:r>
              <a:rPr lang="en-US" sz="1400" b="0" dirty="0"/>
              <a:t>Ask the audience: do you install a package every session? Expected answer: no, you only library() it.</a:t>
            </a:r>
          </a:p>
          <a:p>
            <a:r>
              <a:rPr lang="en-US" sz="1400" b="0" dirty="0"/>
              <a:t>Demo tip: show library(tidyverse) printing its attaching message, and note that is normal, not an error.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read_csv() reads the CSV, read_excel() reads the Excel; both land in a tibble. The paths are relative because we are in a Project.</a:t>
            </a:r>
          </a:p>
          <a:p>
            <a:r>
              <a:rPr lang="en-US" sz="1400" b="0" dirty="0"/>
              <a:t>Common mistake: forgetting library(readxl) before read_excel, or a wrong path/file name (case and spelling must match exactly).</a:t>
            </a:r>
          </a:p>
          <a:p>
            <a:r>
              <a:rPr lang="en-US" sz="1400" b="0" dirty="0"/>
              <a:t>Clinical interpretation: 1503 rows but the study enrolled 1,500, so three duplicate records are hiding in here.</a:t>
            </a:r>
          </a:p>
          <a:p>
            <a:r>
              <a:rPr lang="en-US" sz="1400" b="0" dirty="0"/>
              <a:t>Ask the audience: why 1503 and not 1500? Expected answer: there are 3 duplicate records, which we fix on Day 2.</a:t>
            </a:r>
          </a:p>
          <a:p>
            <a:r>
              <a:rPr lang="en-US" sz="1400" b="0" dirty="0"/>
              <a:t>Demo tip: point out the column specification message read_csv prints; it is informational, not an error.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fixed first-look routine, dim, names, glimpse, head, View, then $ to inspect single variables with summary and table.</a:t>
            </a:r>
          </a:p>
          <a:p>
            <a:r>
              <a:rPr lang="en-US" sz="1400" b="0" dirty="0"/>
              <a:t>Common mistake: jumping straight to analysis without looking; many data problems are visible in the first thirty seconds.</a:t>
            </a:r>
          </a:p>
          <a:p>
            <a:r>
              <a:rPr lang="en-US" sz="1400" b="0" dirty="0"/>
              <a:t>Clinical interpretation: summary() and table() are your screening tests for the data; they flag impossible values and messy categories.</a:t>
            </a:r>
          </a:p>
          <a:p>
            <a:r>
              <a:rPr lang="en-US" sz="1400" b="0" dirty="0"/>
              <a:t>Ask the audience: what does htn$age return? Expected answer: the age column as a single vector.</a:t>
            </a:r>
          </a:p>
          <a:p>
            <a:r>
              <a:rPr lang="en-US" sz="1400" b="0" dirty="0"/>
              <a:t>Demo tip: run View(htn) so people see the familiar spreadsheet grid, then close it and rely on glimpse().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summary() on age and table() on sex immediately expose problems, an impossible max of 200 and many spellings of the same category.</a:t>
            </a:r>
          </a:p>
          <a:p>
            <a:r>
              <a:rPr lang="en-US" sz="1400" b="0" dirty="0"/>
              <a:t>Common misconception: that imported data is clean; raw clinical data almost never is.</a:t>
            </a:r>
          </a:p>
          <a:p>
            <a:r>
              <a:rPr lang="en-US" sz="1400" b="0" dirty="0"/>
              <a:t>Clinical interpretation: an age of 200 (and a 0) cannot be real; Female/female/F/f are all the same group recorded inconsistently.</a:t>
            </a:r>
          </a:p>
          <a:p>
            <a:r>
              <a:rPr lang="en-US" sz="1400" b="0" dirty="0"/>
              <a:t>Ask the audience: how many true sex categories should there be? Expected answer: two, but the table shows eight labels.</a:t>
            </a:r>
          </a:p>
          <a:p>
            <a:r>
              <a:rPr lang="en-US" sz="1400" b="0" dirty="0"/>
              <a:t>Demo tip: also run table(htn$facility) to reveal stray spaces, and tell them Day 2 fixes all of this.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most beginner errors are one of four things, missing library(), wrong operator, a case/spelling slip, or a bad path.</a:t>
            </a:r>
          </a:p>
          <a:p>
            <a:r>
              <a:rPr lang="en-US" sz="1400" b="0" dirty="0"/>
              <a:t>Common mistake: panicking at red text. Read the message; it usually names the problem.</a:t>
            </a:r>
          </a:p>
          <a:p>
            <a:r>
              <a:rPr lang="en-US" sz="1400" b="0" dirty="0"/>
              <a:t>Clinical interpretation: debugging is like differential diagnosis, read the sign (the error), form a hypothesis, test the fix.</a:t>
            </a:r>
          </a:p>
          <a:p>
            <a:r>
              <a:rPr lang="en-US" sz="1400" b="0" dirty="0"/>
              <a:t>Ask the audience: you get could not find function read_csv, what is wrong? Expected answer: tidyverse is not loaded; run library(tidyverse).</a:t>
            </a:r>
          </a:p>
          <a:p>
            <a:r>
              <a:rPr lang="en-US" sz="1400" b="0" dirty="0"/>
              <a:t>Demo tip: deliberately trigger one error live (mistype the file name) and walk through reading the message calmly.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first look has already surfaced the three big issues, impossible values, inconsistent categories, and duplicate rows.</a:t>
            </a:r>
          </a:p>
          <a:p>
            <a:r>
              <a:rPr lang="en-US" sz="1400" b="0" dirty="0"/>
              <a:t>Common misconception: that finding problems means you did something wrong; finding them early is exactly the goal.</a:t>
            </a:r>
          </a:p>
          <a:p>
            <a:r>
              <a:rPr lang="en-US" sz="1400" b="0" dirty="0"/>
              <a:t>Clinical interpretation: analysing before cleaning would bias every result, the mean age would be pulled up by the 200.</a:t>
            </a:r>
          </a:p>
          <a:p>
            <a:r>
              <a:rPr lang="en-US" sz="1400" b="0" dirty="0"/>
              <a:t>Ask the audience: should we calculate mean age right now? Expected answer: no, fix the impossible values first.</a:t>
            </a:r>
          </a:p>
          <a:p>
            <a:r>
              <a:rPr lang="en-US" sz="1400" b="0" dirty="0"/>
              <a:t>Demo tip: foreshadow Day 2 by showing how a single 200 distorts mean(htn$age); it motivates the cleaning day.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exercise is the whole Day 1 workflow end to end, project, packages, import both formats, then inspect.</a:t>
            </a:r>
          </a:p>
          <a:p>
            <a:r>
              <a:rPr lang="en-US" sz="1400" b="0" dirty="0"/>
              <a:t>Common mistake: forgetting a library() call, or a path typo; circulate and check these first.</a:t>
            </a:r>
          </a:p>
          <a:p>
            <a:r>
              <a:rPr lang="en-US" sz="1400" b="0" dirty="0"/>
              <a:t>Clinical interpretation: by importing and inspecting, participants experience the same data-quality red flags we just discussed.</a:t>
            </a:r>
          </a:p>
          <a:p>
            <a:r>
              <a:rPr lang="en-US" sz="1400" b="0" dirty="0"/>
              <a:t>Ask the audience: after table(sex), how many distinct labels do you see? Expected answer: eight, for two real categories.</a:t>
            </a:r>
          </a:p>
          <a:p>
            <a:r>
              <a:rPr lang="en-US" sz="1400" b="0" dirty="0"/>
              <a:t>Demo tip: give a fixed time (about 15 minutes), then debrief by asking who found the age of 200 first.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consolidate the arc, from never having opened R to importing and inspecting a real dataset, then preview cleaning.</a:t>
            </a:r>
          </a:p>
          <a:p>
            <a:r>
              <a:rPr lang="en-US" sz="1400" b="0" dirty="0"/>
              <a:t>Common misconception: that we will start analysing tomorrow; first we clean, because trustworthy analysis needs clean data.</a:t>
            </a:r>
          </a:p>
          <a:p>
            <a:r>
              <a:rPr lang="en-US" sz="1400" b="0" dirty="0"/>
              <a:t>Clinical interpretation: today was data IN and a first look; Day 2 turns the raw, messy file into an analysis-ready dataset.</a:t>
            </a:r>
          </a:p>
          <a:p>
            <a:r>
              <a:rPr lang="en-US" sz="1400" b="0" dirty="0"/>
              <a:t>Ask the audience: what are the three data problems we must fix tomorrow? Expected answer: impossible values, inconsistent categories, duplicate rows.</a:t>
            </a:r>
          </a:p>
          <a:p>
            <a:r>
              <a:rPr lang="en-US" sz="1400" b="0" dirty="0"/>
              <a:t>Demo tip: end by re-opening their script and re-running it top to bottom, proving reproducibility in one keystroke.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today we turn a messy raw file into a tidy, analysis-ready dataset and save it once for the whole week.</a:t>
            </a:r>
          </a:p>
          <a:p>
            <a:r>
              <a:rPr lang="en-US" sz="1400" b="0" dirty="0"/>
              <a:t>Misconception: cleaning is not a quick step before the 'real' work; it IS most of the work.</a:t>
            </a:r>
          </a:p>
          <a:p>
            <a:r>
              <a:rPr lang="en-US" sz="1400" b="0" dirty="0"/>
              <a:t>Clinical interpretation: every later result depends on decisions made today.</a:t>
            </a:r>
          </a:p>
          <a:p>
            <a:r>
              <a:rPr lang="en-US" sz="1400" b="0" dirty="0"/>
              <a:t>Ask: who has ever found an error in their data after running the analysis? Expected: most hands go up, often after submission.</a:t>
            </a:r>
          </a:p>
          <a:p>
            <a:r>
              <a:rPr lang="en-US" sz="1400" b="0" dirty="0"/>
              <a:t>Demo tip: keep the raw file open beside the script so people see the mess we are taming.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cleaning is the majority of real-world analysis time and the part reviewers scrutinise most.</a:t>
            </a:r>
          </a:p>
          <a:p>
            <a:r>
              <a:rPr lang="en-US" sz="1400" b="0" dirty="0"/>
              <a:t>Misconception: 'the data manager already cleaned it' - someone must still check it against clinical sense.</a:t>
            </a:r>
          </a:p>
          <a:p>
            <a:r>
              <a:rPr lang="en-US" sz="1400" b="0" dirty="0"/>
              <a:t>Clinical interpretation: an SBP of 7 or an age of 200 will quietly distort means and models.</a:t>
            </a:r>
          </a:p>
          <a:p>
            <a:r>
              <a:rPr lang="en-US" sz="1400" b="0" dirty="0"/>
              <a:t>Ask: what is a realistic resting SBP range for an adult? Expected: roughly 90-180; this intuition is exactly what we encode as validation rules.</a:t>
            </a:r>
          </a:p>
          <a:p>
            <a:r>
              <a:rPr lang="en-US" sz="1400" b="0" dirty="0"/>
              <a:t>Demo tip: show one impossible value and ask what it would do to a mean.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choosing the right type up front controls every later summary, plot and model.</a:t>
            </a:r>
          </a:p>
          <a:p>
            <a:r>
              <a:rPr lang="en-US" sz="1400" b="0" dirty="0"/>
              <a:t>Misconception: 'a number is always continuous' - coded categories (1=Yes) are numbers but are categorical.</a:t>
            </a:r>
          </a:p>
          <a:p>
            <a:r>
              <a:rPr lang="en-US" sz="1400" b="0" dirty="0"/>
              <a:t>Clinical interpretation: ordinal education should keep its order; facility should not be treated as a ranked scale.</a:t>
            </a:r>
          </a:p>
          <a:p>
            <a:r>
              <a:rPr lang="en-US" sz="1400" b="0" dirty="0"/>
              <a:t>Ask: is a Likert pain score 0-10 continuous or ordinal? Expected: defensible either way; the point is to decide deliberately.</a:t>
            </a:r>
          </a:p>
          <a:p>
            <a:r>
              <a:rPr lang="en-US" sz="1400" b="0" dirty="0"/>
              <a:t>Demo tip: map each row to a column in the open raw file.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category exists only if its label is written identically every time.</a:t>
            </a:r>
          </a:p>
          <a:p>
            <a:r>
              <a:rPr lang="en-US" sz="1400" b="0" dirty="0"/>
              <a:t>Misconception: R is smart enough to know 'Y' means 'Yes' - it is not.</a:t>
            </a:r>
          </a:p>
          <a:p>
            <a:r>
              <a:rPr lang="en-US" sz="1400" b="0" dirty="0"/>
              <a:t>Clinical interpretation: a split sex variable would bias any sex-adjusted estimate.</a:t>
            </a:r>
          </a:p>
          <a:p>
            <a:r>
              <a:rPr lang="en-US" sz="1400" b="0" dirty="0"/>
              <a:t>Ask: how many distinct values of sex might a free-text field produce? Expected: surprisingly many; we will see eight.</a:t>
            </a:r>
          </a:p>
          <a:p>
            <a:r>
              <a:rPr lang="en-US" sz="1400" b="0" dirty="0"/>
              <a:t>Demo tip: run table() before cleaning to reveal the chaos.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define missingness at import so sentinels never enter the analysis as numbers.</a:t>
            </a:r>
          </a:p>
          <a:p>
            <a:r>
              <a:rPr lang="en-US" sz="1400" b="0" dirty="0"/>
              <a:t>Misconception: blanks are the only kind of missing - numeric sentinels are the dangerous ones.</a:t>
            </a:r>
          </a:p>
          <a:p>
            <a:r>
              <a:rPr lang="en-US" sz="1400" b="0" dirty="0"/>
              <a:t>Clinical interpretation: 999 systolic would inflate the mean and falsely raise hypertension prevalence.</a:t>
            </a:r>
          </a:p>
          <a:p>
            <a:r>
              <a:rPr lang="en-US" sz="1400" b="0" dirty="0"/>
              <a:t>Ask: what happens to mean(sbp) if one 999 is read as a real value? Expected: it jumps; the example sells the na= argument.</a:t>
            </a:r>
          </a:p>
          <a:p>
            <a:r>
              <a:rPr lang="en-US" sz="1400" b="0" dirty="0"/>
              <a:t>Demo tip: import once without na= and once with it; compare summary().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duplicates are a false sample-size increase and must go before any counting.</a:t>
            </a:r>
          </a:p>
          <a:p>
            <a:r>
              <a:rPr lang="en-US" sz="1400" b="0" dirty="0"/>
              <a:t>Misconception: distinct() drops rows you wanted - it only removes exact full-row copies here.</a:t>
            </a:r>
          </a:p>
          <a:p>
            <a:r>
              <a:rPr lang="en-US" sz="1400" b="0" dirty="0"/>
              <a:t>Clinical interpretation: a duplicated patient double-counts their outcome, biasing prevalence.</a:t>
            </a:r>
          </a:p>
          <a:p>
            <a:r>
              <a:rPr lang="en-US" sz="1400" b="0" dirty="0"/>
              <a:t>Ask: why check n_distinct(patient_id) as well as nrow? Expected: to catch same-ID-different-row data-entry errors distinct() would keep.</a:t>
            </a:r>
          </a:p>
          <a:p>
            <a:r>
              <a:rPr lang="en-US" sz="1400" b="0" dirty="0"/>
              <a:t>Demo tip: print nrow before and after so the 1503 to 1500 drop is visible.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normalise case and spacing first, then map a small set of known values.</a:t>
            </a:r>
          </a:p>
          <a:p>
            <a:r>
              <a:rPr lang="en-US" sz="1400" b="0" dirty="0"/>
              <a:t>Misconception: you must list every variant by hand - lowercasing collapses half of them instantly.</a:t>
            </a:r>
          </a:p>
          <a:p>
            <a:r>
              <a:rPr lang="en-US" sz="1400" b="0" dirty="0"/>
              <a:t>Clinical interpretation: never invent a sex for an unreadable entry; NA is honest.</a:t>
            </a:r>
          </a:p>
          <a:p>
            <a:r>
              <a:rPr lang="en-US" sz="1400" b="0" dirty="0"/>
              <a:t>Ask: why send unknowns to NA rather than to the larger group? Expected: guessing introduces bias; NA is transparent.</a:t>
            </a:r>
          </a:p>
          <a:p>
            <a:r>
              <a:rPr lang="en-US" sz="1400" b="0" dirty="0"/>
              <a:t>Demo tip: show table(sex) before and after the case_when.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helper function makes the same cleaning rule consistent and auditable across columns.</a:t>
            </a:r>
          </a:p>
          <a:p>
            <a:r>
              <a:rPr lang="en-US" sz="1400" b="0" dirty="0"/>
              <a:t>Misconception: you should repeat case_when for each variable - across() avoids copy-paste errors.</a:t>
            </a:r>
          </a:p>
          <a:p>
            <a:r>
              <a:rPr lang="en-US" sz="1400" b="0" dirty="0"/>
              <a:t>Clinical interpretation: treatment_uptake must be a clean Yes/No before it can be an outcome.</a:t>
            </a:r>
          </a:p>
          <a:p>
            <a:r>
              <a:rPr lang="en-US" sz="1400" b="0" dirty="0"/>
              <a:t>Ask: why coerce as.character first? Expected: a column read as numeric 0/1 would not match the text patterns otherwise.</a:t>
            </a:r>
          </a:p>
          <a:p>
            <a:r>
              <a:rPr lang="en-US" sz="1400" b="0" dirty="0"/>
              <a:t>Demo tip: call to_yesno(c("Y"," no ",1)) on its own to show it working.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encode clinical plausibility as explicit ranges and convert violations to NA.</a:t>
            </a:r>
          </a:p>
          <a:p>
            <a:r>
              <a:rPr lang="en-US" sz="1400" b="0" dirty="0"/>
              <a:t>Misconception: outliers and impossible values are the same - a true SBP of 185 is plausible and must stay.</a:t>
            </a:r>
          </a:p>
          <a:p>
            <a:r>
              <a:rPr lang="en-US" sz="1400" b="0" dirty="0"/>
              <a:t>Clinical interpretation: ranges should reflect the population; an adult study justifies age &gt;= 18.</a:t>
            </a:r>
          </a:p>
          <a:p>
            <a:r>
              <a:rPr lang="en-US" sz="1400" b="0" dirty="0"/>
              <a:t>Ask: should we delete the whole row for one bad height? Expected: no - blank only that cell so the other valid fields survive.</a:t>
            </a:r>
          </a:p>
          <a:p>
            <a:r>
              <a:rPr lang="en-US" sz="1400" b="0" dirty="0"/>
              <a:t>Demo tip: show summary() before and after; the min and max snap into a sensible range.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derive variables from cleaned inputs so the derived value inherits the cleaning.</a:t>
            </a:r>
          </a:p>
          <a:p>
            <a:r>
              <a:rPr lang="en-US" sz="1400" b="0" dirty="0"/>
              <a:t>Misconception: recomputing BMI is redundant - the supplied column may be stale or wrong.</a:t>
            </a:r>
          </a:p>
          <a:p>
            <a:r>
              <a:rPr lang="en-US" sz="1400" b="0" dirty="0"/>
              <a:t>Clinical interpretation: bp_category uses guideline cut-offs (&gt;=140/90 hypertension, &gt;=130/80 elevated).</a:t>
            </a:r>
          </a:p>
          <a:p>
            <a:r>
              <a:rPr lang="en-US" sz="1400" b="0" dirty="0"/>
              <a:t>Ask: why recompute BMI instead of keeping the file's column? Expected: it guarantees consistency with the validated height and weight.</a:t>
            </a:r>
          </a:p>
          <a:p>
            <a:r>
              <a:rPr lang="en-US" sz="1400" b="0" dirty="0"/>
              <a:t>Demo tip: show one row where the supplied BMI disagrees with the recomputed value.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order case_when from most specific to most general, and trap NA before the TRUE branch.</a:t>
            </a:r>
          </a:p>
          <a:p>
            <a:r>
              <a:rPr lang="en-US" sz="1400" b="0" dirty="0"/>
              <a:t>Misconception: NA falls through to the last TRUE branch - so a missing BP would be wrongly labelled Normal.</a:t>
            </a:r>
          </a:p>
          <a:p>
            <a:r>
              <a:rPr lang="en-US" sz="1400" b="0" dirty="0"/>
              <a:t>Clinical interpretation: misclassifying missing BP as Normal would understate hypertension burden.</a:t>
            </a:r>
          </a:p>
          <a:p>
            <a:r>
              <a:rPr lang="en-US" sz="1400" b="0" dirty="0"/>
              <a:t>Ask: what would happen if the is.na line were removed? Expected: patients with missing BP get labelled Normal - a silent error.</a:t>
            </a:r>
          </a:p>
          <a:p>
            <a:r>
              <a:rPr lang="en-US" sz="1400" b="0" dirty="0"/>
              <a:t>Demo tip: deliberately drop the is.na line, run table(bp_category), then restore it.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lubridate's parse_date_time tries each format in turn, taming mixed entry styles.</a:t>
            </a:r>
          </a:p>
          <a:p>
            <a:r>
              <a:rPr lang="en-US" sz="1400" b="0" dirty="0"/>
              <a:t>Misconception: dates are just text - stored as text they cannot be sorted or differenced.</a:t>
            </a:r>
          </a:p>
          <a:p>
            <a:r>
              <a:rPr lang="en-US" sz="1400" b="0" dirty="0"/>
              <a:t>Clinical interpretation: a real Date lets you compute follow-up time and check enrolment windows.</a:t>
            </a:r>
          </a:p>
          <a:p>
            <a:r>
              <a:rPr lang="en-US" sz="1400" b="0" dirty="0"/>
              <a:t>Ask: why check sum(is.na(enroll_date)) afterwards? Expected: a spike means a format we did not list and must add.</a:t>
            </a:r>
          </a:p>
          <a:p>
            <a:r>
              <a:rPr lang="en-US" sz="1400" b="0" dirty="0"/>
              <a:t>Demo tip: feed parse_date_time a few sample strings to show each order matching.</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first factor level is the reference, and it sets how every odds ratio is interpreted.</a:t>
            </a:r>
          </a:p>
          <a:p>
            <a:r>
              <a:rPr lang="en-US" sz="1400" b="0" dirty="0"/>
              <a:t>Misconception: level order is cosmetic - it silently flips the direction of model estimates.</a:t>
            </a:r>
          </a:p>
          <a:p>
            <a:r>
              <a:rPr lang="en-US" sz="1400" b="0" dirty="0"/>
              <a:t>Clinical interpretation: with 'No' as reference, OR &gt; 1 means higher odds of the outcome, as clinicians expect.</a:t>
            </a:r>
          </a:p>
          <a:p>
            <a:r>
              <a:rPr lang="en-US" sz="1400" b="0" dirty="0"/>
              <a:t>Ask: what does an OR of 3.56 for diabetes mean with 'No' as reference? Expected: diabetics have 3.56 times the odds of treatment uptake versus non-diabetics.</a:t>
            </a:r>
          </a:p>
          <a:p>
            <a:r>
              <a:rPr lang="en-US" sz="1400" b="0" dirty="0"/>
              <a:t>Demo tip: refit with levels reversed to show the OR invert to 1/3.56.</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audit missingness per column and distinguish structural NA from data problems.</a:t>
            </a:r>
          </a:p>
          <a:p>
            <a:r>
              <a:rPr lang="en-US" sz="1400" b="0" dirty="0"/>
              <a:t>Misconception: all NA is bad - adherence is undefined for someone not on treatment, so its NA is expected.</a:t>
            </a:r>
          </a:p>
          <a:p>
            <a:r>
              <a:rPr lang="en-US" sz="1400" b="0" dirty="0"/>
              <a:t>Clinical interpretation: only patients on treatment can have an adherence or BP-control status.</a:t>
            </a:r>
          </a:p>
          <a:p>
            <a:r>
              <a:rPr lang="en-US" sz="1400" b="0" dirty="0"/>
              <a:t>Ask: should we impute adherence for untreated patients? Expected: no - it is structurally missing, not unknown.</a:t>
            </a:r>
          </a:p>
          <a:p>
            <a:r>
              <a:rPr lang="en-US" sz="1400" b="0" dirty="0"/>
              <a:t>Demo tip: cross-tabulate adherence missingness against treatment_uptake to show the by-design pattern.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saved .rds is the single source of truth for the rest of the course.</a:t>
            </a:r>
          </a:p>
          <a:p>
            <a:r>
              <a:rPr lang="en-US" sz="1400" b="0" dirty="0"/>
              <a:t>Misconception: CSV preserves everything - it loses factor levels and ordering, so .rds is the analysis file.</a:t>
            </a:r>
          </a:p>
          <a:p>
            <a:r>
              <a:rPr lang="en-US" sz="1400" b="0" dirty="0"/>
              <a:t>Clinical interpretation: a fixed clean dataset makes every later result reproducible and auditable.</a:t>
            </a:r>
          </a:p>
          <a:p>
            <a:r>
              <a:rPr lang="en-US" sz="1400" b="0" dirty="0"/>
              <a:t>Ask: why prefer .rds over .csv for the analysis? Expected: it restores factors and ordered levels exactly, no re-cleaning needed.</a:t>
            </a:r>
          </a:p>
          <a:p>
            <a:r>
              <a:rPr lang="en-US" sz="1400" b="0" dirty="0"/>
              <a:t>Demo tip: save, clear the workspace, then readRDS to prove the factors survive.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most cleaning bugs are silent; build the habit of inspecting after every step.</a:t>
            </a:r>
          </a:p>
          <a:p>
            <a:r>
              <a:rPr lang="en-US" sz="1400" b="0" dirty="0"/>
              <a:t>Misconception: no error message means the step worked - wrong results often run without complaint.</a:t>
            </a:r>
          </a:p>
          <a:p>
            <a:r>
              <a:rPr lang="en-US" sz="1400" b="0" dirty="0"/>
              <a:t>Clinical interpretation: a silently mis-coded outcome can change the entire study conclusion.</a:t>
            </a:r>
          </a:p>
          <a:p>
            <a:r>
              <a:rPr lang="en-US" sz="1400" b="0" dirty="0"/>
              <a:t>Ask: how would you catch a forgotten na= argument? Expected: an implausible max in summary(), e.g. an SBP of 999.</a:t>
            </a:r>
          </a:p>
          <a:p>
            <a:r>
              <a:rPr lang="en-US" sz="1400" b="0" dirty="0"/>
              <a:t>Demo tip: trigger each mistake live, then show the diagnostic that catches it.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exercise reproduces the full contract so each participant ends with an identical clean file.</a:t>
            </a:r>
          </a:p>
          <a:p>
            <a:r>
              <a:rPr lang="en-US" sz="1400" b="0" dirty="0"/>
              <a:t>Misconception: skipping a step is fine if numbers 'look ok' - later days will fail to load a wrong-typed file.</a:t>
            </a:r>
          </a:p>
          <a:p>
            <a:r>
              <a:rPr lang="en-US" sz="1400" b="0" dirty="0"/>
              <a:t>Clinical interpretation: the expected end state is the validated dataset used for all later analyses.</a:t>
            </a:r>
          </a:p>
          <a:p>
            <a:r>
              <a:rPr lang="en-US" sz="1400" b="0" dirty="0"/>
              <a:t>Ask: how will you know your file is correct? Expected: 1500 rows, clean factors, and the audit matching the demo counts.</a:t>
            </a:r>
          </a:p>
          <a:p>
            <a:r>
              <a:rPr lang="en-US" sz="1400" b="0" dirty="0"/>
              <a:t>Demo tip: have them readRDS their own file and glimpse() it to self-check against yours.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clean, saved dataset is the bridge into descriptive analysis on Day 3.</a:t>
            </a:r>
          </a:p>
          <a:p>
            <a:r>
              <a:rPr lang="en-US" sz="1400" b="0" dirty="0"/>
              <a:t>Misconception: cleaning is finished forever - revisit it if Day 3 plots reveal new anomalies.</a:t>
            </a:r>
          </a:p>
          <a:p>
            <a:r>
              <a:rPr lang="en-US" sz="1400" b="0" dirty="0"/>
              <a:t>Clinical interpretation: trustworthy description requires the validated data we built today.</a:t>
            </a:r>
          </a:p>
          <a:p>
            <a:r>
              <a:rPr lang="en-US" sz="1400" b="0" dirty="0"/>
              <a:t>Ask: what is the first thing you do on Day 3? Expected: readRDS the analysis file and glimpse it, not re-import the raw CSV.</a:t>
            </a:r>
          </a:p>
          <a:p>
            <a:r>
              <a:rPr lang="en-US" sz="1400" b="0" dirty="0"/>
              <a:t>Demo tip: open tomorrow's script header to show it begins with readRDS.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Day 3. Today we move from cleaning data to describing it.</a:t>
            </a:r>
          </a:p>
          <a:p>
            <a:r>
              <a:rPr lang="en-US" sz="1400" b="0" dirty="0"/>
              <a:t>The goal is simple: tell the reader who is in our study and what they look like, using numbers and pictures a journal will accept.</a:t>
            </a:r>
          </a:p>
          <a:p>
            <a:r>
              <a:rPr lang="en-US" sz="1400" b="0" dirty="0"/>
              <a:t>Key teaching point: descriptive statistics come BEFORE any model. You cannot interpret an odds ratio if you do not first know the sample.</a:t>
            </a:r>
          </a:p>
          <a:p>
            <a:r>
              <a:rPr lang="en-US" sz="1400" b="0" dirty="0"/>
              <a:t>Clinical framing: everything we build today feeds the Table 1 and the figures of the hypertension treatment-uptake manuscript.</a:t>
            </a:r>
          </a:p>
          <a:p>
            <a:r>
              <a:rPr lang="en-US" sz="1400" b="0" dirty="0"/>
              <a:t>Ask the audience: what is the first table you see in almost every clinical paper? Expected answer: baseline characteristics, Table 1. That is our destination.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slide sets expectations. Read each outcome as a promise.</a:t>
            </a:r>
          </a:p>
          <a:p>
            <a:r>
              <a:rPr lang="en-US" sz="1400" b="0" dirty="0"/>
              <a:t>Key teaching point: these are practical, hands-on skills, not theory. Everyone will produce a Table 1 in the exercise.</a:t>
            </a:r>
          </a:p>
          <a:p>
            <a:r>
              <a:rPr lang="en-US" sz="1400" b="0" dirty="0"/>
              <a:t>Common misconception: that statistics requires heavy maths. Today is about choosing and reporting the right summary, which is judgement, not algebra.</a:t>
            </a:r>
          </a:p>
          <a:p>
            <a:r>
              <a:rPr lang="en-US" sz="1400" b="0" dirty="0"/>
              <a:t>Demonstration tip: keep the demo script open beside the slides so learners see the slide point then the live code.</a:t>
            </a:r>
          </a:p>
          <a:p>
            <a:r>
              <a:rPr lang="en-US" sz="1400" b="0" dirty="0"/>
              <a:t>Suggested question: which of these do you already do in your current work? Expected: most report means and counts but few use a reproducible Table 1 tool.</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a short bridge from Day 2. We do not repeat cleaning; we read the analysis-ready file.</a:t>
            </a:r>
          </a:p>
          <a:p>
            <a:r>
              <a:rPr lang="en-US" sz="1400" b="0" dirty="0"/>
              <a:t>Key teaching point: readRDS restores the exact R object, including factor levels and types, which a CSV would lose.</a:t>
            </a:r>
          </a:p>
          <a:p>
            <a:r>
              <a:rPr lang="en-US" sz="1400" b="0" dirty="0"/>
              <a:t>Common mistake: re-importing the raw 1,503-row file and re-cleaning by hand each session, which silently introduces differences.</a:t>
            </a:r>
          </a:p>
          <a:p>
            <a:r>
              <a:rPr lang="en-US" sz="1400" b="0" dirty="0"/>
              <a:t>Clinical interpretation: reproducibility means a co-author or reviewer can rerun and get the same Table 1.</a:t>
            </a:r>
          </a:p>
          <a:p>
            <a:r>
              <a:rPr lang="en-US" sz="1400" b="0" dirty="0"/>
              <a:t>Demonstration tip: run glimpse and point out that types are already correct, so we can go straight to describing.</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Central tendency answers: where is the middle of the data?</a:t>
            </a:r>
          </a:p>
          <a:p>
            <a:r>
              <a:rPr lang="en-US" sz="1400" b="0" dirty="0"/>
              <a:t>Key teaching point: the mean and median agree when data are symmetric and diverge when data are skewed.</a:t>
            </a:r>
          </a:p>
          <a:p>
            <a:r>
              <a:rPr lang="en-US" sz="1400" b="0" dirty="0"/>
              <a:t>Clinical interpretation: skewed clinical variables like distance to facility, fasting glucose, and triglycerides have a long right tail; a few very high values drag the mean up, so the median is the fairer summary.</a:t>
            </a:r>
          </a:p>
          <a:p>
            <a:r>
              <a:rPr lang="en-US" sz="1400" b="0" dirty="0"/>
              <a:t>Common misconception: that the mean is always the right summary. It is not.</a:t>
            </a:r>
          </a:p>
          <a:p>
            <a:r>
              <a:rPr lang="en-US" sz="1400" b="0" dirty="0"/>
              <a:t>Suggested question: if one patient lives 200 km away and the rest within 5 km, which summary describes a typical patient? Expected answer: the median.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slide turns the mean-versus-median choice into a decision rule learners can apply on the spot.</a:t>
            </a:r>
          </a:p>
          <a:p>
            <a:r>
              <a:rPr lang="en-US" sz="1400" b="0" dirty="0"/>
              <a:t>Key teaching point: compare mean and median first, then decide which to report. Do not default blindly to the mean.</a:t>
            </a:r>
          </a:p>
          <a:p>
            <a:r>
              <a:rPr lang="en-US" sz="1400" b="0" dirty="0"/>
              <a:t>Clinical interpretation: in our hypertension cohort, systolic BP and BMI are mildly right-skewed; reporting the median with IQR avoids overstating the typical value.</a:t>
            </a:r>
          </a:p>
          <a:p>
            <a:r>
              <a:rPr lang="en-US" sz="1400" b="0" dirty="0"/>
              <a:t>Common mistake: reporting mean (SD) for a clearly skewed cost or glucose variable, which misleads readers.</a:t>
            </a:r>
          </a:p>
          <a:p>
            <a:r>
              <a:rPr lang="en-US" sz="1400" b="0" dirty="0"/>
              <a:t>Suggested question: how would you check skew quickly? Expected answer: compare mean and median, or look at a histogram, which we do later today.</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Spread tells the reader how much patients differ from one another, not just the average.</a:t>
            </a:r>
          </a:p>
          <a:p>
            <a:r>
              <a:rPr lang="en-US" sz="1400" b="0" dirty="0"/>
              <a:t>Key teaching point: always pair a centre with a matching spread. Mean goes with SD, median goes with IQR.</a:t>
            </a:r>
          </a:p>
          <a:p>
            <a:r>
              <a:rPr lang="en-US" sz="1400" b="0" dirty="0"/>
              <a:t>Clinical interpretation: two groups can share a mean SBP but differ greatly in spread; the SD or IQR reveals that variability.</a:t>
            </a:r>
          </a:p>
          <a:p>
            <a:r>
              <a:rPr lang="en-US" sz="1400" b="0" dirty="0"/>
              <a:t>Common misconception: that the range is a good summary of spread. It is driven entirely by the two most extreme patients, so the IQR is usually preferable.</a:t>
            </a:r>
          </a:p>
          <a:p>
            <a:r>
              <a:rPr lang="en-US" sz="1400" b="0" dirty="0"/>
              <a:t>Suggested question: what does an IQR of 20 mmHg mean for SBP? Expected answer: the middle half of patients span a 20 mmHg window.</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single most common frustration for new R users, so we give it its own slide.</a:t>
            </a:r>
          </a:p>
          <a:p>
            <a:r>
              <a:rPr lang="en-US" sz="1400" b="0" dirty="0"/>
              <a:t>Key teaching point: NA is contagious. One missing value makes the whole summary NA unless you tell R to ignore missings.</a:t>
            </a:r>
          </a:p>
          <a:p>
            <a:r>
              <a:rPr lang="en-US" sz="1400" b="0" dirty="0"/>
              <a:t>Common mistake: assuming the data are broken when in fact na.rm was simply omitted.</a:t>
            </a:r>
          </a:p>
          <a:p>
            <a:r>
              <a:rPr lang="en-US" sz="1400" b="0" dirty="0"/>
              <a:t>Clinical interpretation: na.rm = TRUE performs a complete-case summary for that variable; always note how many values were missing so readers know the denominator.</a:t>
            </a:r>
          </a:p>
          <a:p>
            <a:r>
              <a:rPr lang="en-US" sz="1400" b="0" dirty="0"/>
              <a:t>Demonstration tip: in the live demo, run mean(sbp) first to show the NA, then add na.rm = TRUE to show the fix. The before-and-after lands the point.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2 of the demo script.</a:t>
            </a:r>
          </a:p>
          <a:p>
            <a:r>
              <a:rPr lang="en-US" sz="1400" b="0" dirty="0"/>
              <a:t>Key teaching point: the first NA is deliberate. Pause on it before fixing it.</a:t>
            </a:r>
          </a:p>
          <a:p>
            <a:r>
              <a:rPr lang="en-US" sz="1400" b="0" dirty="0"/>
              <a:t>Clinical interpretation: median age 52 with IQR 23 years describes a middle-aged primary-care population; quantiles give the five-number summary in one call.</a:t>
            </a:r>
          </a:p>
          <a:p>
            <a:r>
              <a:rPr lang="en-US" sz="1400" b="0" dirty="0"/>
              <a:t>Common mistake: typing probs without na.rm and getting NA again across the board.</a:t>
            </a:r>
          </a:p>
          <a:p>
            <a:r>
              <a:rPr lang="en-US" sz="1400" b="0" dirty="0"/>
              <a:t>Demonstration tip: ask the room to predict the first line before you run it. Expected answer: NA, because sbp has missing values.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3 of the demo. summary() is the quick eyeball; the grouped across() table is the reusable version.</a:t>
            </a:r>
          </a:p>
          <a:p>
            <a:r>
              <a:rPr lang="en-US" sz="1400" b="0" dirty="0"/>
              <a:t>Key teaching point: across() applies one set of functions to many columns at once, and .names makes self-documenting columns like age_mean.</a:t>
            </a:r>
          </a:p>
          <a:p>
            <a:r>
              <a:rPr lang="en-US" sz="1400" b="0" dirty="0"/>
              <a:t>Clinical interpretation: treated patients here have higher mean age and SBP, an early hint that older, sicker patients are the ones being started on treatment. We confirm this formally in Table 1.</a:t>
            </a:r>
          </a:p>
          <a:p>
            <a:r>
              <a:rPr lang="en-US" sz="1400" b="0" dirty="0"/>
              <a:t>Common mistake: forgetting .groups = drop and being surprised the result stays grouped.</a:t>
            </a:r>
          </a:p>
          <a:p>
            <a:r>
              <a:rPr lang="en-US" sz="1400" b="0" dirty="0"/>
              <a:t>Suggested question: why group by treatment_uptake? Expected answer: it is our primary outcome, so we compare the two groups.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Categorical variables like sex, education and bp_category are described by counts and percentages.</a:t>
            </a:r>
          </a:p>
          <a:p>
            <a:r>
              <a:rPr lang="en-US" sz="1400" b="0" dirty="0"/>
              <a:t>Key teaching point: counts answer how many, proportions answer what share. Report both.</a:t>
            </a:r>
          </a:p>
          <a:p>
            <a:r>
              <a:rPr lang="en-US" sz="1400" b="0" dirty="0"/>
              <a:t>Common mistake: table() dropping NAs silently, so the percentages are computed on a smaller denominator than the reader assumes. useNA = ifany fixes this.</a:t>
            </a:r>
          </a:p>
          <a:p>
            <a:r>
              <a:rPr lang="en-US" sz="1400" b="0" dirty="0"/>
              <a:t>Clinical interpretation: a percentage is only meaningful if you know the denominator; always state n.</a:t>
            </a:r>
          </a:p>
          <a:p>
            <a:r>
              <a:rPr lang="en-US" sz="1400" b="0" dirty="0"/>
              <a:t>Suggested question: if 40 of 50 non-missing patients are female but 10 sex values are missing, what is the female percentage? Expected answer: it depends on whether you count the missings, which is why we make them visible.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4 of the demo.</a:t>
            </a:r>
          </a:p>
          <a:p>
            <a:r>
              <a:rPr lang="en-US" sz="1400" b="0" dirty="0"/>
              <a:t>Key teaching point: prop.table on a table gives proportions; multiply by 100 and round for readable percentages.</a:t>
            </a:r>
          </a:p>
          <a:p>
            <a:r>
              <a:rPr lang="en-US" sz="1400" b="0" dirty="0"/>
              <a:t>Clinical interpretation: a 54 to 46 percent female-to-male split is typical of a primary-care attendance sample.</a:t>
            </a:r>
          </a:p>
          <a:p>
            <a:r>
              <a:rPr lang="en-US" sz="1400" b="0" dirty="0"/>
              <a:t>Common mistake: forgetting useNA = ifany on education and under-reporting missingness.</a:t>
            </a:r>
          </a:p>
          <a:p>
            <a:r>
              <a:rPr lang="en-US" sz="1400" b="0" dirty="0"/>
              <a:t>Demonstration tip: show that count() output is a tibble you can pipe into ggplot, unlike base table() output.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Cross-tabulation is how we relate the outcome to a categorical predictor before any modelling.</a:t>
            </a:r>
          </a:p>
          <a:p>
            <a:r>
              <a:rPr lang="en-US" sz="1400" b="0" dirty="0"/>
              <a:t>Key teaching point: the margin argument decides the denominator, and the denominator changes the meaning entirely.</a:t>
            </a:r>
          </a:p>
          <a:p>
            <a:r>
              <a:rPr lang="en-US" sz="1400" b="0" dirty="0"/>
              <a:t>Clinical interpretation: choose the percentage that answers your clinical question. Reporting the wrong margin is one of the most common errors in manuscripts.</a:t>
            </a:r>
          </a:p>
          <a:p>
            <a:r>
              <a:rPr lang="en-US" sz="1400" b="0" dirty="0"/>
              <a:t>Common mistake: reading a row percentage as if it were a column percentage.</a:t>
            </a:r>
          </a:p>
          <a:p>
            <a:r>
              <a:rPr lang="en-US" sz="1400" b="0" dirty="0"/>
              <a:t>Suggested question: what proportion of diabetics are on treatment uses which margin? Expected answer: column percent, margin = 2.</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5 of the demo.</a:t>
            </a:r>
          </a:p>
          <a:p>
            <a:r>
              <a:rPr lang="en-US" sz="1400" b="0" dirty="0"/>
              <a:t>Key teaching point: store the table in an object once, then take proportions two ways from it.</a:t>
            </a:r>
          </a:p>
          <a:p>
            <a:r>
              <a:rPr lang="en-US" sz="1400" b="0" dirty="0"/>
              <a:t>Clinical interpretation: with margin = 2 you can say what share of diabetics are on treatment, supporting the later finding that diabetes is strongly associated with uptake, adjusted OR about 3.56.</a:t>
            </a:r>
          </a:p>
          <a:p>
            <a:r>
              <a:rPr lang="en-US" sz="1400" b="0" dirty="0"/>
              <a:t>Common mistake: recomputing the table twice instead of reusing xtab.</a:t>
            </a:r>
          </a:p>
          <a:p>
            <a:r>
              <a:rPr lang="en-US" sz="1400" b="0" dirty="0"/>
              <a:t>Suggested question: which margin supports the sentence among diabetics, X percent received treatment? Expected answer: column percent, margin = 2.</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Table 1 is the destination for everything we learned today; it bundles central tendency, spread, and frequencies into one publishable object.</a:t>
            </a:r>
          </a:p>
          <a:p>
            <a:r>
              <a:rPr lang="en-US" sz="1400" b="0" dirty="0"/>
              <a:t>Key teaching point: Table 1 describes the sample; it is descriptive, not a causal test, even when it carries p-values.</a:t>
            </a:r>
          </a:p>
          <a:p>
            <a:r>
              <a:rPr lang="en-US" sz="1400" b="0" dirty="0"/>
              <a:t>Clinical interpretation: splitting by treatment_uptake lets reviewers see how treated and untreated patients differ at baseline.</a:t>
            </a:r>
          </a:p>
          <a:p>
            <a:r>
              <a:rPr lang="en-US" sz="1400" b="0" dirty="0"/>
              <a:t>Common misconception: that a small p-value in Table 1 proves an effect. It only flags a baseline difference.</a:t>
            </a:r>
          </a:p>
          <a:p>
            <a:r>
              <a:rPr lang="en-US" sz="1400" b="0" dirty="0"/>
              <a:t>Suggested question: why do we report median (IQR) for some rows and mean (SD) for others? Expected answer: skewed variables get the median.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6 of the demo and is the core deliverable of the day.</a:t>
            </a:r>
          </a:p>
          <a:p>
            <a:r>
              <a:rPr lang="en-US" sz="1400" b="0" dirty="0"/>
              <a:t>Key teaching point: tbl_summary picks mean (SD) or median (IQR) for numerics and n (percent) for categoricals automatically, and labels missing data for you.</a:t>
            </a:r>
          </a:p>
          <a:p>
            <a:r>
              <a:rPr lang="en-US" sz="1400" b="0" dirty="0"/>
              <a:t>Clinical interpretation: the p-value column flags baseline imbalance between treated and untreated patients; significant age and diabetes differences foreshadow the regression results.</a:t>
            </a:r>
          </a:p>
          <a:p>
            <a:r>
              <a:rPr lang="en-US" sz="1400" b="0" dirty="0"/>
              <a:t>Common mistake: forgetting library(gtsummary), or expecting tbl_summary to fit a model. It only describes.</a:t>
            </a:r>
          </a:p>
          <a:p>
            <a:r>
              <a:rPr lang="en-US" sz="1400" b="0" dirty="0"/>
              <a:t>Demonstration tip: show the table rendering in the Viewer, then mention as_flex_table for Word export.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Before drawing anything, match the chart to the variable type. This single habit prevents most bad figures.</a:t>
            </a:r>
          </a:p>
          <a:p>
            <a:r>
              <a:rPr lang="en-US" sz="1400" b="0" dirty="0"/>
              <a:t>Key teaching point: histograms reveal shape and skew; boxplots compare groups; bar charts count categories; scatterplots show relationships.</a:t>
            </a:r>
          </a:p>
          <a:p>
            <a:r>
              <a:rPr lang="en-US" sz="1400" b="0" dirty="0"/>
              <a:t>Common mistake: using a bar chart of group means instead of a boxplot, which hides the spread and the outliers.</a:t>
            </a:r>
          </a:p>
          <a:p>
            <a:r>
              <a:rPr lang="en-US" sz="1400" b="0" dirty="0"/>
              <a:t>Clinical interpretation: a histogram of SBP tells you immediately whether to summarise it with a mean or a median.</a:t>
            </a:r>
          </a:p>
          <a:p>
            <a:r>
              <a:rPr lang="en-US" sz="1400" b="0" dirty="0"/>
              <a:t>Suggested question: which chart compares BMI across blood-pressure categories? Expected answer: a boxplot.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real figure produced by ggsave in the demo, section 7a.</a:t>
            </a:r>
          </a:p>
          <a:p>
            <a:r>
              <a:rPr lang="en-US" sz="1400" b="0" dirty="0"/>
              <a:t>Key teaching point: a histogram answers two questions at once: where is the centre, and is the distribution skewed?</a:t>
            </a:r>
          </a:p>
          <a:p>
            <a:r>
              <a:rPr lang="en-US" sz="1400" b="0" dirty="0"/>
              <a:t>Clinical interpretation: the sample concentrates in middle age, consistent with a hypertension primary-care population; the near-symmetry justifies reporting mean age.</a:t>
            </a:r>
          </a:p>
          <a:p>
            <a:r>
              <a:rPr lang="en-US" sz="1400" b="0" dirty="0"/>
              <a:t>Common mistake: choosing a binwidth so wide the shape disappears or so narrow it looks noisy. Here binwidth is 5 years.</a:t>
            </a:r>
          </a:p>
          <a:p>
            <a:r>
              <a:rPr lang="en-US" sz="1400" b="0" dirty="0"/>
              <a:t>Suggested question: from this shape, mean or median for age? Expected answer: either is fine because it is roughly symmetric.</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7b, with a density curve overlaid on the histogram.</a:t>
            </a:r>
          </a:p>
          <a:p>
            <a:r>
              <a:rPr lang="en-US" sz="1400" b="0" dirty="0"/>
              <a:t>Key teaching point: the density overlay smooths the bars so the shape, and any right-skew, is easier to see.</a:t>
            </a:r>
          </a:p>
          <a:p>
            <a:r>
              <a:rPr lang="en-US" sz="1400" b="0" dirty="0"/>
              <a:t>Clinical interpretation: SBP shows a right tail of high readings, so median (IQR) is the safer summary; this is the visual proof behind the earlier rule of thumb.</a:t>
            </a:r>
          </a:p>
          <a:p>
            <a:r>
              <a:rPr lang="en-US" sz="1400" b="0" dirty="0"/>
              <a:t>Common mistake: forgetting aes(y = after_stat(density)) so the histogram and density are on different scales and the curve looks flat.</a:t>
            </a:r>
          </a:p>
          <a:p>
            <a:r>
              <a:rPr lang="en-US" sz="1400" b="0" dirty="0"/>
              <a:t>Suggested question: what does the right tail mean clinically? Expected answer: a subgroup of patients with markedly elevated blood pressure.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7c.</a:t>
            </a:r>
          </a:p>
          <a:p>
            <a:r>
              <a:rPr lang="en-US" sz="1400" b="0" dirty="0"/>
              <a:t>Key teaching point: geom_bar counts the categories itself, so you do not pre-summarise the data.</a:t>
            </a:r>
          </a:p>
          <a:p>
            <a:r>
              <a:rPr lang="en-US" sz="1400" b="0" dirty="0"/>
              <a:t>Clinical interpretation: the education distribution matters because higher education shows a trend toward greater treatment uptake, adjusted OR about 1.96; the bar chart shows how many patients sit in each level.</a:t>
            </a:r>
          </a:p>
          <a:p>
            <a:r>
              <a:rPr lang="en-US" sz="1400" b="0" dirty="0"/>
              <a:t>Common mistake: pre-aggregating then using geom_bar, which double-counts; use geom_col only when you already have counts.</a:t>
            </a:r>
          </a:p>
          <a:p>
            <a:r>
              <a:rPr lang="en-US" sz="1400" b="0" dirty="0"/>
              <a:t>Suggested question: why must the y-axis start at zero? Expected answer: a truncated axis exaggerates differences between bars.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7d.</a:t>
            </a:r>
          </a:p>
          <a:p>
            <a:r>
              <a:rPr lang="en-US" sz="1400" b="0" dirty="0"/>
              <a:t>Key teaching point: a boxplot compresses a whole distribution into five numbers per group, ideal for comparing treated and untreated patients.</a:t>
            </a:r>
          </a:p>
          <a:p>
            <a:r>
              <a:rPr lang="en-US" sz="1400" b="0" dirty="0"/>
              <a:t>Clinical interpretation: if the treated group sits higher, it suggests treatment is started in patients with worse blood pressure, matching the higher mean SBP we saw in the grouped summary.</a:t>
            </a:r>
          </a:p>
          <a:p>
            <a:r>
              <a:rPr lang="en-US" sz="1400" b="0" dirty="0"/>
              <a:t>Common mistake: forgetting na.rm = TRUE, which makes ggplot drop rows with a warning.</a:t>
            </a:r>
          </a:p>
          <a:p>
            <a:r>
              <a:rPr lang="en-US" sz="1400" b="0" dirty="0"/>
              <a:t>Suggested question: what do the dots beyond the whiskers represent? Expected answer: outlying patients, not errors to delete automatically.</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7e.</a:t>
            </a:r>
          </a:p>
          <a:p>
            <a:r>
              <a:rPr lang="en-US" sz="1400" b="0" dirty="0"/>
              <a:t>Key teaching point: boxplots across an ordered categorical variable reveal a dose-response style gradient at a glance.</a:t>
            </a:r>
          </a:p>
          <a:p>
            <a:r>
              <a:rPr lang="en-US" sz="1400" b="0" dirty="0"/>
              <a:t>Clinical interpretation: if median BMI rises from normal to hypertensive categories, it is consistent with obesity as a hypertension risk factor.</a:t>
            </a:r>
          </a:p>
          <a:p>
            <a:r>
              <a:rPr lang="en-US" sz="1400" b="0" dirty="0"/>
              <a:t>Common mistake: reading box width as sample size; by default it is not. Use varwidth = TRUE if you want that.</a:t>
            </a:r>
          </a:p>
          <a:p>
            <a:r>
              <a:rPr lang="en-US" sz="1400" b="0" dirty="0"/>
              <a:t>Suggested question: does this prove obesity causes hypertension? Expected answer: no, it shows association across categories, not causation.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7f.</a:t>
            </a:r>
          </a:p>
          <a:p>
            <a:r>
              <a:rPr lang="en-US" sz="1400" b="0" dirty="0"/>
              <a:t>Key teaching point: a scatterplot is the right chart for two continuous variables, and geom_smooth(method = lm) adds the trend line.</a:t>
            </a:r>
          </a:p>
          <a:p>
            <a:r>
              <a:rPr lang="en-US" sz="1400" b="0" dirty="0"/>
              <a:t>Clinical interpretation: an upward slope suggests higher BMI accompanies higher systolic BP, consistent with obesity as a risk factor. This is association, not proof of causation.</a:t>
            </a:r>
          </a:p>
          <a:p>
            <a:r>
              <a:rPr lang="en-US" sz="1400" b="0" dirty="0"/>
              <a:t>Common mistake: over-plotting so the cloud is solid; we use alpha = 0.3 transparency so density is visible.</a:t>
            </a:r>
          </a:p>
          <a:p>
            <a:r>
              <a:rPr lang="en-US" sz="1400" b="0" dirty="0"/>
              <a:t>Suggested question: does a clear line mean BMI causes high BP? Expected answer: no, confounders could drive both; a model is needed.</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the figure-building pattern in demo section 7.</a:t>
            </a:r>
          </a:p>
          <a:p>
            <a:r>
              <a:rPr lang="en-US" sz="1400" b="0" dirty="0"/>
              <a:t>Key teaching point: build the plot as an object, then ggsave that object so the saved file matches what you reviewed on screen.</a:t>
            </a:r>
          </a:p>
          <a:p>
            <a:r>
              <a:rPr lang="en-US" sz="1400" b="0" dirty="0"/>
              <a:t>Clinical interpretation: 300 dpi ensures the figure stays sharp in print; axis labels carry units so the figure is self-explanatory.</a:t>
            </a:r>
          </a:p>
          <a:p>
            <a:r>
              <a:rPr lang="en-US" sz="1400" b="0" dirty="0"/>
              <a:t>Common mistake: relying on ggsave with no plot argument, which saves the last printed plot and can grab the wrong one.</a:t>
            </a:r>
          </a:p>
          <a:p>
            <a:r>
              <a:rPr lang="en-US" sz="1400" b="0" dirty="0"/>
              <a:t>Demonstration tip: open the saved PNG from the Resources folder so learners see the real output file.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demo section 8 plus the gtsummary export comments.</a:t>
            </a:r>
          </a:p>
          <a:p>
            <a:r>
              <a:rPr lang="en-US" sz="1400" b="0" dirty="0"/>
              <a:t>Key teaching point: outputs should be generated by code into a folder, never assembled by hand, so they regenerate identically every time.</a:t>
            </a:r>
          </a:p>
          <a:p>
            <a:r>
              <a:rPr lang="en-US" sz="1400" b="0" dirty="0"/>
              <a:t>Clinical interpretation: a reviewer who asks for a corrected n can be answered by rerunning one script, not re-editing a Word table cell by cell.</a:t>
            </a:r>
          </a:p>
          <a:p>
            <a:r>
              <a:rPr lang="en-US" sz="1400" b="0" dirty="0"/>
              <a:t>Common mistake: pasting numbers from the console into the manuscript, which breaks when the data update.</a:t>
            </a:r>
          </a:p>
          <a:p>
            <a:r>
              <a:rPr lang="en-US" sz="1400" b="0" dirty="0"/>
              <a:t>Suggested question: where do our figures and tables land? Expected answer: the Resources folder, written by ggsave and write_csv.</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hands-on consolidation of the whole day.</a:t>
            </a:r>
          </a:p>
          <a:p>
            <a:r>
              <a:rPr lang="en-US" sz="1400" b="0" dirty="0"/>
              <a:t>Key teaching point: the exercise reproduces the manuscript deliverables: one Table 1 and at least two figures.</a:t>
            </a:r>
          </a:p>
          <a:p>
            <a:r>
              <a:rPr lang="en-US" sz="1400" b="0" dirty="0"/>
              <a:t>Clinical interpretation: encourage learners to write one sentence interpreting their Table 1, for example which groups differ at baseline.</a:t>
            </a:r>
          </a:p>
          <a:p>
            <a:r>
              <a:rPr lang="en-US" sz="1400" b="0" dirty="0"/>
              <a:t>Common mistake: forgetting na.rm or library(gtsummary); remind them before they start.</a:t>
            </a:r>
          </a:p>
          <a:p>
            <a:r>
              <a:rPr lang="en-US" sz="1400" b="0" dirty="0"/>
              <a:t>Demonstration tip: circulate while learners work; the most common blocker is an un-loaded package or a typo in a variable name. Expected output is a rendered table plus two PNGs in Resources.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Close the loop and set up Day 4.</a:t>
            </a:r>
          </a:p>
          <a:p>
            <a:r>
              <a:rPr lang="en-US" sz="1400" b="0" dirty="0"/>
              <a:t>Key teaching point: today was description; tomorrow is inference. Table 1 told us groups differ, but not whether differences are independent.</a:t>
            </a:r>
          </a:p>
          <a:p>
            <a:r>
              <a:rPr lang="en-US" sz="1400" b="0" dirty="0"/>
              <a:t>Clinical interpretation: Day 4 fits logistic regression for treatment uptake, where we will interpret adjusted odds ratios such as diabetes 3.56 and health insurance 2.05.</a:t>
            </a:r>
          </a:p>
          <a:p>
            <a:r>
              <a:rPr lang="en-US" sz="1400" b="0" dirty="0"/>
              <a:t>Common misconception: that a baseline p-value already answers the research question. It does not; adjustment is needed.</a:t>
            </a:r>
          </a:p>
          <a:p>
            <a:r>
              <a:rPr lang="en-US" sz="1400" b="0" dirty="0"/>
              <a:t>Suggested question: why move beyond Table 1? Expected answer: to adjust for confounders and estimate independent effects, which is Day 4.</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Day 4. Yesterday we DESCRIBED the data; today we ASK QUESTIONS of it with statistical tests.</a:t>
            </a:r>
          </a:p>
          <a:p>
            <a:r>
              <a:rPr lang="en-US" sz="1400" b="0" dirty="0"/>
              <a:t>Key framing: every test answers a question - are two groups different? are two variables associated?</a:t>
            </a:r>
          </a:p>
          <a:p>
            <a:r>
              <a:rPr lang="en-US" sz="1400" b="0" dirty="0"/>
              <a:t>Reassure clinicians: the maths is automatic in R; your job is to choose the right test and interpret it.</a:t>
            </a:r>
          </a:p>
          <a:p>
            <a:r>
              <a:rPr lang="en-US" sz="1400" b="0" dirty="0"/>
              <a:t>Bridge: today is tests; next week (Day 5) we introduce regression to model several predictors at once.</a:t>
            </a:r>
          </a:p>
          <a:p>
            <a:r>
              <a:rPr lang="en-US" sz="1400" b="0" dirty="0"/>
              <a:t>Demo tip: keep the day4_demo.R script open and run blocks live as you reach each slide.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Roadmap for the day: the common medical statistical tests, and how to choose between them.</a:t>
            </a:r>
          </a:p>
          <a:p>
            <a:r>
              <a:rPr lang="en-US" sz="1400" b="0" dirty="0"/>
              <a:t>Emphasise the logical thread: outcome type + number of groups + paired vs independent -&gt; the right test.</a:t>
            </a:r>
          </a:p>
          <a:p>
            <a:r>
              <a:rPr lang="en-US" sz="1400" b="0" dirty="0"/>
              <a:t>Bridge: these tests compare groups two at a time; Day 5 introduces regression to study several predictors together.</a:t>
            </a:r>
          </a:p>
          <a:p>
            <a:r>
              <a:rPr lang="en-US" sz="1400" b="0" dirty="0"/>
              <a:t>Audience question: what decides which test we use? Answer: the type of the outcome and how many groups we compare.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define the analytic population explicitly and once, before any test.</a:t>
            </a:r>
          </a:p>
          <a:p>
            <a:r>
              <a:rPr lang="en-US" sz="1400" b="0" dirty="0"/>
              <a:t>Clinical logic: you cannot take up treatment for a disease you have not been diagnosed with.</a:t>
            </a:r>
          </a:p>
          <a:p>
            <a:r>
              <a:rPr lang="en-US" sz="1400" b="0" dirty="0"/>
              <a:t>Common mistake: running the analysis on the full 1,500 - it mixes in undefined outcomes and biases estimates.</a:t>
            </a:r>
          </a:p>
          <a:p>
            <a:r>
              <a:rPr lang="en-US" sz="1400" b="0" dirty="0"/>
              <a:t>Demo tip: show dx &lt;- filter(analysis_data, htn_diagnosed == "Yes") then nrow(dx) and table(dx$treatment_uptake).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p-value answers 'how surprising is my data if nothing is going on?'</a:t>
            </a:r>
          </a:p>
          <a:p>
            <a:r>
              <a:rPr lang="en-US" sz="1400" b="0" dirty="0"/>
              <a:t>Common misinterpretation: p is NOT the chance the null is true, and (1 - p) is NOT the chance H1 is true.</a:t>
            </a:r>
          </a:p>
          <a:p>
            <a:r>
              <a:rPr lang="en-US" sz="1400" b="0" dirty="0"/>
              <a:t>Clinical interpretation: significance is about evidence against H0, not about importance or effect size.</a:t>
            </a:r>
          </a:p>
          <a:p>
            <a:r>
              <a:rPr lang="en-US" sz="1400" b="0" dirty="0"/>
              <a:t>Audience question: does p = 0.04 prove the effect is real? Answer: no - it is one piece of evidence, judged with the effect size and context.</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p-value is necessary but not sufficient - it ignores effect size.</a:t>
            </a:r>
          </a:p>
          <a:p>
            <a:r>
              <a:rPr lang="en-US" sz="1400" b="0" dirty="0"/>
              <a:t>Common mistake: dichotomising at 0.05 as if 0.049 and 0.051 are fundamentally different.</a:t>
            </a:r>
          </a:p>
          <a:p>
            <a:r>
              <a:rPr lang="en-US" sz="1400" b="0" dirty="0"/>
              <a:t>Clinical interpretation: a CI shows both the magnitude and the precision; prefer it to a bare p-value.</a:t>
            </a:r>
          </a:p>
          <a:p>
            <a:r>
              <a:rPr lang="en-US" sz="1400" b="0" dirty="0"/>
              <a:t>Audience question: which is more useful, 'p = 0.03' or 'OR 3.6 (95% CI 1.5 to 9.6)'? Answer: the second - it shows direction, size and uncertainty.</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plot before you test - the eye catches what a single p-value hides.</a:t>
            </a:r>
          </a:p>
          <a:p>
            <a:r>
              <a:rPr lang="en-US" sz="1400" b="0" dirty="0"/>
              <a:t>Common mistake: trusting Shapiro-Wilk alone in large samples; with ~1,089 rows it flags trivial departures as significant.</a:t>
            </a:r>
          </a:p>
          <a:p>
            <a:r>
              <a:rPr lang="en-US" sz="1400" b="0" dirty="0"/>
              <a:t>Clinical interpretation: a near-straight Q-Q plot and a symmetric histogram matter more than the Shapiro p here.</a:t>
            </a:r>
          </a:p>
          <a:p>
            <a:r>
              <a:rPr lang="en-US" sz="1400" b="0" dirty="0"/>
              <a:t>Demo tip: run hist(dx$age), qqnorm/qqline, then shapiro.test(dx$age) and contrast the verdicts.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statistical power is a double-edged sword - in large n the normality test over-flags.</a:t>
            </a:r>
          </a:p>
          <a:p>
            <a:r>
              <a:rPr lang="en-US" sz="1400" b="0" dirty="0"/>
              <a:t>Common mistake: switching to non-parametric tests purely because Shapiro returned p &lt; 0.05.</a:t>
            </a:r>
          </a:p>
          <a:p>
            <a:r>
              <a:rPr lang="en-US" sz="1400" b="0" dirty="0"/>
              <a:t>Clinical interpretation: judge normality by shape and Q-Q linearity; reserve non-parametric tests for clear skew or small n.</a:t>
            </a:r>
          </a:p>
          <a:p>
            <a:r>
              <a:rPr lang="en-US" sz="1400" b="0" dirty="0"/>
              <a:t>Audience question: Shapiro says p &lt; 0.001 but the Q-Q is straight - what do you do? Answer: trust the plot and use the parametric test.</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question is the same (do two groups differ?); the test depends on the data shape.</a:t>
            </a:r>
          </a:p>
          <a:p>
            <a:r>
              <a:rPr lang="en-US" sz="1400" b="0" dirty="0"/>
              <a:t>Clinical interpretation example: mean age is higher among those on treatment, consistent with older patients taking up more.</a:t>
            </a:r>
          </a:p>
          <a:p>
            <a:r>
              <a:rPr lang="en-US" sz="1400" b="0" dirty="0"/>
              <a:t>Common mistake: defaulting to the classic Student t-test - Welch is safer because it does not assume equal variances.</a:t>
            </a:r>
          </a:p>
          <a:p>
            <a:r>
              <a:rPr lang="en-US" sz="1400" b="0" dirty="0"/>
              <a:t>Demo tip: run both t.test and wilcox.test on age ~ treatment_uptake; note they usually agree for large, symmetric data.</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read three things - the two group means, the 95% CI for their difference, and the p-value.</a:t>
            </a:r>
          </a:p>
          <a:p>
            <a:r>
              <a:rPr lang="en-US" sz="1400" b="0" dirty="0"/>
              <a:t>Clinical interpretation: a ~5-year mean age gap, with a CI that excludes zero, supports older patients taking up more.</a:t>
            </a:r>
          </a:p>
          <a:p>
            <a:r>
              <a:rPr lang="en-US" sz="1400" b="0" dirty="0"/>
              <a:t>Common mistake: reporting only the p-value and omitting the means and the CI for the difference.</a:t>
            </a:r>
          </a:p>
          <a:p>
            <a:r>
              <a:rPr lang="en-US" sz="1400" b="0" dirty="0"/>
              <a:t>Demo tip: run wilcox.test(age ~ treatment_uptake, data = dx) alongside and show they agree.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when the normality or sample-size assumptions of the t-test or chi-square fail, the rank-based Wilcoxon test and Fisher's exact test give valid answers.</a:t>
            </a:r>
          </a:p>
          <a:p>
            <a:r>
              <a:rPr lang="en-US" sz="1400" b="0" dirty="0"/>
              <a:t>Clinical interpretation: lab values and costs are often skewed - the Wilcoxon test on medians is frequently the honest choice.</a:t>
            </a:r>
          </a:p>
          <a:p>
            <a:r>
              <a:rPr lang="en-US" sz="1400" b="0" dirty="0"/>
              <a:t>Common mistake: forcing a t-test on clearly skewed data, or using chi-square when a cell has an expected count below 5.</a:t>
            </a:r>
          </a:p>
          <a:p>
            <a:r>
              <a:rPr lang="en-US" sz="1400" b="0" dirty="0"/>
              <a:t>Audience question: when would you prefer Fisher's exact over chi-square? Expected answer: small samples or sparse tables with low expected counts.</a:t>
            </a:r>
          </a:p>
          <a:p>
            <a:r>
              <a:rPr lang="en-US" sz="1400" b="0" dirty="0"/>
              <a:t>Demo tip: show that Wilcoxon and the t-test agree here (large, roughly symmetric sample), then contrive a small table to motivate Fisher's exact.</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ANOVA is the multi-group t-test; it controls the family-wide error a stack of t-tests would not.</a:t>
            </a:r>
          </a:p>
          <a:p>
            <a:r>
              <a:rPr lang="en-US" sz="1400" b="0" dirty="0"/>
              <a:t>Common mistake: running every pairwise t-test - inflates false positives. Run ANOVA, then a post-hoc only if it is significant.</a:t>
            </a:r>
          </a:p>
          <a:p>
            <a:r>
              <a:rPr lang="en-US" sz="1400" b="0" dirty="0"/>
              <a:t>Clinical interpretation: a Tukey table shows which specific education pairs differ in mean age.</a:t>
            </a:r>
          </a:p>
          <a:p>
            <a:r>
              <a:rPr lang="en-US" sz="1400" b="0" dirty="0"/>
              <a:t>Audience question: ANOVA p is significant - are all groups different? Answer: no, at least one pair is; Tukey says which.</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chi-square asks whether two categorical variables move together; the table shows the direction.</a:t>
            </a:r>
          </a:p>
          <a:p>
            <a:r>
              <a:rPr lang="en-US" sz="1400" b="0" dirty="0"/>
              <a:t>Common mistake: applying chi-square when expected counts are below 5 - switch to Fisher's exact in that case.</a:t>
            </a:r>
          </a:p>
          <a:p>
            <a:r>
              <a:rPr lang="en-US" sz="1400" b="0" dirty="0"/>
              <a:t>Clinical interpretation: a higher proportion of diabetics on treatment suggests a positive association, quantified later by the OR.</a:t>
            </a:r>
          </a:p>
          <a:p>
            <a:r>
              <a:rPr lang="en-US" sz="1400" b="0" dirty="0"/>
              <a:t>Demo tip: show table(dx$treatment_uptake, dx$diabetes), then chisq.test, its $expected, and fisher.test.</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 ranges from -1 to +1; ~0-0.3 weak, 0.3-0.7 moderate, 0.7-1.0 strong; the sign gives direction.</a:t>
            </a:r>
          </a:p>
          <a:p>
            <a:r>
              <a:rPr lang="en-US" sz="1400" b="0" dirty="0"/>
              <a:t>Common mistake: confusing a significant p with a strong relationship - in big samples a tiny r (0.08) is significant yet trivial.</a:t>
            </a:r>
          </a:p>
          <a:p>
            <a:r>
              <a:rPr lang="en-US" sz="1400" b="0" dirty="0"/>
              <a:t>Clinical interpretation: always report and judge r, not just the p-value; remember correlation is not causation.</a:t>
            </a:r>
          </a:p>
          <a:p>
            <a:r>
              <a:rPr lang="en-US" sz="1400" b="0" dirty="0"/>
              <a:t>Audience question: r = 0.1, p &lt; 0.001 - strong link? Answer: no, statistically detectable but clinically negligible.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p-value confirms the link is real; r tells you it is weak.</a:t>
            </a:r>
          </a:p>
          <a:p>
            <a:r>
              <a:rPr lang="en-US" sz="1400" b="0" dirty="0"/>
              <a:t>Clinical interpretation: SBP and BMI rise together a little, but BMI explains very little of SBP variation.</a:t>
            </a:r>
          </a:p>
          <a:p>
            <a:r>
              <a:rPr lang="en-US" sz="1400" b="0" dirty="0"/>
              <a:t>Common mistake: headlining 'significant correlation' while hiding that r is only 0.18.</a:t>
            </a:r>
          </a:p>
          <a:p>
            <a:r>
              <a:rPr lang="en-US" sz="1400" b="0" dirty="0"/>
              <a:t>Demo tip: rerun with method = "spearman" and note the rank correlation is similar, confirming robustness.</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test is determined by the outcome type and the predictor type - not by habit.</a:t>
            </a:r>
          </a:p>
          <a:p>
            <a:r>
              <a:rPr lang="en-US" sz="1400" b="0" dirty="0"/>
              <a:t>Demo tip: keep this table on screen as a decision aid for the exercise.</a:t>
            </a:r>
          </a:p>
          <a:p>
            <a:r>
              <a:rPr lang="en-US" sz="1400" b="0" dirty="0"/>
              <a:t>Clinical interpretation: when the outcome is binary and we want several predictors at once, we move to logistic regression - that is Day 5.</a:t>
            </a:r>
          </a:p>
          <a:p>
            <a:r>
              <a:rPr lang="en-US" sz="1400" b="0" dirty="0"/>
              <a:t>Audience question: outcome is Yes/No and we want to adjust for several factors - which method? Answer: logistic regression, next session.</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deliverable is the reasoning - question -&gt; variable types -&gt; test -&gt; interpretation.</a:t>
            </a:r>
          </a:p>
          <a:p>
            <a:r>
              <a:rPr lang="en-US" sz="1400" b="0" dirty="0"/>
              <a:t>Common mistake: reaching for a t-test out of habit without checking the outcome type or distribution.</a:t>
            </a:r>
          </a:p>
          <a:p>
            <a:r>
              <a:rPr lang="en-US" sz="1400" b="0" dirty="0"/>
              <a:t>Clinical interpretation: expect the SBP-BMI correlation to be weak but significant; sex-uptake association may be modest.</a:t>
            </a:r>
          </a:p>
          <a:p>
            <a:r>
              <a:rPr lang="en-US" sz="1400" b="0" dirty="0"/>
              <a:t>Demo tip: circulate and check that students report the estimate and CI, not just the p-value.</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today was about choosing and interpreting single tests; Day 5 introduces regression to handle many predictors together.</a:t>
            </a:r>
          </a:p>
          <a:p>
            <a:r>
              <a:rPr lang="en-US" sz="1400" b="0" dirty="0"/>
              <a:t>Clinical interpretation: tests compare two things at a time; regression adjusts for several factors simultaneously.</a:t>
            </a:r>
          </a:p>
          <a:p>
            <a:r>
              <a:rPr lang="en-US" sz="1400" b="0" dirty="0"/>
              <a:t>Common mistake: stopping at p-values; next session we focus on effect sizes and clear reporting.</a:t>
            </a:r>
          </a:p>
          <a:p>
            <a:r>
              <a:rPr lang="en-US" sz="1400" b="0" dirty="0"/>
              <a:t>Audience question: what if we want to study several predictors of a Yes/No outcome at once? Answer: logistic regression - that is Day 5.</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the capstone day.</a:t>
            </a:r>
          </a:p>
          <a:p>
            <a:r>
              <a:rPr lang="en-US" sz="1400" b="0" dirty="0"/>
              <a:t>Key point: today we turn a fitted model into a publishable, reproducible result.</a:t>
            </a:r>
          </a:p>
          <a:p>
            <a:r>
              <a:rPr lang="en-US" sz="1400" b="0" dirty="0"/>
              <a:t>This ties together everything from Days 1-4: importing, cleaning, summarising, and now modelling and reporting.</a:t>
            </a:r>
          </a:p>
          <a:p>
            <a:r>
              <a:rPr lang="en-US" sz="1400" b="0" dirty="0"/>
              <a:t>Tell the class the goal is not more statistics but better judgement and cleaner reporting.</a:t>
            </a:r>
          </a:p>
          <a:p>
            <a:r>
              <a:rPr lang="en-US" sz="1400" b="0" dirty="0"/>
              <a:t>Demonstration tip: keep day5_demo.R open in RStudio throughout.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Set concrete, checkable goals for the day.</a:t>
            </a:r>
          </a:p>
          <a:p>
            <a:r>
              <a:rPr lang="en-US" sz="1400" b="0" dirty="0"/>
              <a:t>Key teaching point: these objectives map one-to-one onto the exercise deliverable.</a:t>
            </a:r>
          </a:p>
          <a:p>
            <a:r>
              <a:rPr lang="en-US" sz="1400" b="0" dirty="0"/>
              <a:t>Clinical interpretation: each skill is something they will use on their own studies, not abstract theory.</a:t>
            </a:r>
          </a:p>
          <a:p>
            <a:r>
              <a:rPr lang="en-US" sz="1400" b="0" dirty="0"/>
              <a:t>Audience question: which of these feels least familiar? Use the show of hands to pace the day.</a:t>
            </a:r>
          </a:p>
          <a:p>
            <a:r>
              <a:rPr lang="en-US" sz="1400" b="0" dirty="0"/>
              <a:t>Demonstration tip: return to this list at the wrap-up and tick items off.</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Orient the audience: this is a coherent pipeline, not isolated tricks.</a:t>
            </a:r>
          </a:p>
          <a:p>
            <a:r>
              <a:rPr lang="en-US" sz="1400" b="0" dirty="0"/>
              <a:t>Common misconception: that modelling is the hard part. The judgement (which variables, how to report) is harder.</a:t>
            </a:r>
          </a:p>
          <a:p>
            <a:r>
              <a:rPr lang="en-US" sz="1400" b="0" dirty="0"/>
              <a:t>Clinical interpretation: only diagnosed patients can take up treatment, so we restrict to them.</a:t>
            </a:r>
          </a:p>
          <a:p>
            <a:r>
              <a:rPr lang="en-US" sz="1400" b="0" dirty="0"/>
              <a:t>Audience question: why model only the 1,089 diagnosed and not all 1,500? Expected answer: people without a diagnosis cannot have a treatment-uptake decision; including them biases the estimates.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linear regression is for a continuous outcome; the slope is a change per unit.</a:t>
            </a:r>
          </a:p>
          <a:p>
            <a:r>
              <a:rPr lang="en-US" sz="1400" b="0" dirty="0"/>
              <a:t>Clinical interpretation: the intercept is rarely meaningful; the slopes are what we report.</a:t>
            </a:r>
          </a:p>
          <a:p>
            <a:r>
              <a:rPr lang="en-US" sz="1400" b="0" dirty="0"/>
              <a:t>Common mistake: using linear regression for a Yes/No outcome - that needs logistic regression (next).</a:t>
            </a:r>
          </a:p>
          <a:p>
            <a:r>
              <a:rPr lang="en-US" sz="1400" b="0" dirty="0"/>
              <a:t>Audience question: outcome is systolic BP (a number) and predictor is age - which model? Answer: linear regression.</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read each slope as an adjusted change per unit, with its 95% CI.</a:t>
            </a:r>
          </a:p>
          <a:p>
            <a:r>
              <a:rPr lang="en-US" sz="1400" b="0" dirty="0"/>
              <a:t>Clinical interpretation: age and BMI are independently associated with SBP; sex is not (CI crosses 0, p = 0.74).</a:t>
            </a:r>
          </a:p>
          <a:p>
            <a:r>
              <a:rPr lang="en-US" sz="1400" b="0" dirty="0"/>
              <a:t>Common mistake: reporting the intercept as if it were clinically meaningful.</a:t>
            </a:r>
          </a:p>
          <a:p>
            <a:r>
              <a:rPr lang="en-US" sz="1400" b="0" dirty="0"/>
              <a:t>Demo tip: run summary(m1) first (crude), then the adjusted m2, and note the age slope barely changes.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binary outcome calls for logistic regression, which models odds rather than a mean.</a:t>
            </a:r>
          </a:p>
          <a:p>
            <a:r>
              <a:rPr lang="en-US" sz="1400" b="0" dirty="0"/>
              <a:t>Clinical interpretation: the odds ratio is the deliverable - it travels straight into the manuscript and the forest plot.</a:t>
            </a:r>
          </a:p>
          <a:p>
            <a:r>
              <a:rPr lang="en-US" sz="1400" b="0" dirty="0"/>
              <a:t>Common mistake: trying to fit a linear model to a Yes/No outcome.</a:t>
            </a:r>
          </a:p>
          <a:p>
            <a:r>
              <a:rPr lang="en-US" sz="1400" b="0" dirty="0"/>
              <a:t>Audience question: what are the odds if 3 of 4 patients take up treatment? Answer: 3 to 1, i.e. odds = 3.</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read an OR as direction (vs 1) plus significance (does the CI cross 1?).</a:t>
            </a:r>
          </a:p>
          <a:p>
            <a:r>
              <a:rPr lang="en-US" sz="1400" b="0" dirty="0"/>
              <a:t>Common mistake: reading the raw coefficient (log-odds) as if it were the OR - always exponentiate first.</a:t>
            </a:r>
          </a:p>
          <a:p>
            <a:r>
              <a:rPr lang="en-US" sz="1400" b="0" dirty="0"/>
              <a:t>Clinical interpretation: 'OR excludes 1' is the regression equivalent of p &lt; 0.05, but with magnitude attached.</a:t>
            </a:r>
          </a:p>
          <a:p>
            <a:r>
              <a:rPr lang="en-US" sz="1400" b="0" dirty="0"/>
              <a:t>Audience question: OR 0.7 with CI 0.5 to 0.9 - what does it mean? Answer: a real protective effect, 30% lower odds.</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family = binomial tells glm the outcome is 0/1; exp() turns log-odds into an interpretable OR.</a:t>
            </a:r>
          </a:p>
          <a:p>
            <a:r>
              <a:rPr lang="en-US" sz="1400" b="0" dirty="0"/>
              <a:t>Common mistake: reporting exp(coef) but forgetting the reference level - here diabetesYes is compared with No.</a:t>
            </a:r>
          </a:p>
          <a:p>
            <a:r>
              <a:rPr lang="en-US" sz="1400" b="0" dirty="0"/>
              <a:t>Clinical interpretation: the unadjusted OR will shrink once we adjust for confounders such as age.</a:t>
            </a:r>
          </a:p>
          <a:p>
            <a:r>
              <a:rPr lang="en-US" sz="1400" b="0" dirty="0"/>
              <a:t>Demo tip: show summary(m_diab) first so they see the log-odds, then exp() to make it a clinician-friendly OR.</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for a continuous predictor the OR is per one-unit change - choose a unit people care about.</a:t>
            </a:r>
          </a:p>
          <a:p>
            <a:r>
              <a:rPr lang="en-US" sz="1400" b="0" dirty="0"/>
              <a:t>Common mistake: dismissing age as unimportant because OR ~1.03 looks trivial per single year.</a:t>
            </a:r>
          </a:p>
          <a:p>
            <a:r>
              <a:rPr lang="en-US" sz="1400" b="0" dirty="0"/>
              <a:t>Clinical interpretation: per-decade framing (about 1.34) shows age is a meaningful driver of uptake.</a:t>
            </a:r>
          </a:p>
          <a:p>
            <a:r>
              <a:rPr lang="en-US" sz="1400" b="0" dirty="0"/>
              <a:t>Demo tip: run exp(coef(m_age)['age'] * 10) live to convert per-year into per-decade.</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Core philosophy slide: clinically-motivated selection beats blind automation.</a:t>
            </a:r>
          </a:p>
          <a:p>
            <a:r>
              <a:rPr lang="en-US" sz="1400" b="0" dirty="0"/>
              <a:t>Key teaching point: a pre-specified model is defensible to reviewers and reproducible.</a:t>
            </a:r>
          </a:p>
          <a:p>
            <a:r>
              <a:rPr lang="en-US" sz="1400" b="0" dirty="0"/>
              <a:t>Common mistake: letting the computer pick variables, then telling a clinical story around whatever survived.</a:t>
            </a:r>
          </a:p>
          <a:p>
            <a:r>
              <a:rPr lang="en-US" sz="1400" b="0" dirty="0"/>
              <a:t>Clinical interpretation: in an explanatory study we keep known confounders even if non-significant.</a:t>
            </a:r>
          </a:p>
          <a:p>
            <a:r>
              <a:rPr lang="en-US" sz="1400" b="0" dirty="0"/>
              <a:t>Audience question: should we drop a variable just because p &gt; 0.05? Expected answer: no, not if it is a known confounder; dropping it can reintroduce bias.</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Confounding is the single most important modelling concept for clinicians.</a:t>
            </a:r>
          </a:p>
          <a:p>
            <a:r>
              <a:rPr lang="en-US" sz="1400" b="0" dirty="0"/>
              <a:t>Key teaching point: adjustment is how observational studies approximate a fair comparison.</a:t>
            </a:r>
          </a:p>
          <a:p>
            <a:r>
              <a:rPr lang="en-US" sz="1400" b="0" dirty="0"/>
              <a:t>Common mistake: reporting and interpreting the crude OR.</a:t>
            </a:r>
          </a:p>
          <a:p>
            <a:r>
              <a:rPr lang="en-US" sz="1400" b="0" dirty="0"/>
              <a:t>Clinical interpretation: the crude urban effect is partly explained by age and insurance; after adjustment a genuine residual urban advantage of about 1.87 remains.</a:t>
            </a:r>
          </a:p>
          <a:p>
            <a:r>
              <a:rPr lang="en-US" sz="1400" b="0" dirty="0"/>
              <a:t>Demonstration tip: in the next slide we show the crude vs adjusted numbers from R.</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sections 2-3.</a:t>
            </a:r>
          </a:p>
          <a:p>
            <a:r>
              <a:rPr lang="en-US" sz="1400" b="0" dirty="0"/>
              <a:t>Key teaching point: exp() converts log-odds to an odds ratio.</a:t>
            </a:r>
          </a:p>
          <a:p>
            <a:r>
              <a:rPr lang="en-US" sz="1400" b="0" dirty="0"/>
              <a:t>Common mistake: forgetting that glm needs family = binomial for a logistic model.</a:t>
            </a:r>
          </a:p>
          <a:p>
            <a:r>
              <a:rPr lang="en-US" sz="1400" b="0" dirty="0"/>
              <a:t>Clinical interpretation: a &gt;10% drop confirms confounding; the adjusted 1.87 is what we report.</a:t>
            </a:r>
          </a:p>
          <a:p>
            <a:r>
              <a:rPr lang="en-US" sz="1400" b="0" dirty="0"/>
              <a:t>Audience question: why does the urban effect shrink? Expected answer: because urban residents differ on age and insurance, which independently raise uptake.</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 7.</a:t>
            </a:r>
          </a:p>
          <a:p>
            <a:r>
              <a:rPr lang="en-US" sz="1400" b="0" dirty="0"/>
              <a:t>Key teaching point: broom::tidy() converts a model object into a clean data frame, ready to plot or export.</a:t>
            </a:r>
          </a:p>
          <a:p>
            <a:r>
              <a:rPr lang="en-US" sz="1400" b="0" dirty="0"/>
              <a:t>Common mistake: hand-copying numbers from summary() into a Word table - error-prone and unreproducible.</a:t>
            </a:r>
          </a:p>
          <a:p>
            <a:r>
              <a:rPr lang="en-US" sz="1400" b="0" dirty="0"/>
              <a:t>Clinical interpretation: every CI shown excludes 1, so all are significant; diabetes has the largest OR but the widest CI.</a:t>
            </a:r>
          </a:p>
          <a:p>
            <a:r>
              <a:rPr lang="en-US" sz="1400" b="0" dirty="0"/>
              <a:t>Audience question: why is the diabetes CI so wide? Expected answer: diabetics are a smaller subgroup, so the estimate is less precise.</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These are the canonical numbers from key_findings.md - cite them accurately.</a:t>
            </a:r>
          </a:p>
          <a:p>
            <a:r>
              <a:rPr lang="en-US" sz="1400" b="0" dirty="0"/>
              <a:t>Key teaching point: this is the manuscript's main results table.</a:t>
            </a:r>
          </a:p>
          <a:p>
            <a:r>
              <a:rPr lang="en-US" sz="1400" b="0" dirty="0"/>
              <a:t>Common mistake: omitting the CI or the n; reviewers always ask.</a:t>
            </a:r>
          </a:p>
          <a:p>
            <a:r>
              <a:rPr lang="en-US" sz="1400" b="0" dirty="0"/>
              <a:t>Clinical interpretation: distance is in the expected protective-against-uptake direction (OR 0.98) but not significant - report it as such, do not call it null.</a:t>
            </a:r>
          </a:p>
          <a:p>
            <a:r>
              <a:rPr lang="en-US" sz="1400" b="0" dirty="0"/>
              <a:t>Audience question: which predictor matters most? Expected answer: diabetes has the largest OR (3.56), but caution - its CI is widest, so precision is lower.</a:t>
            </a:r>
          </a:p>
          <a:p>
            <a:r>
              <a:rPr lang="en-US" sz="1400" b="0" dirty="0"/>
              <a:t>Demonstration tip: family history and knowledge are in the caption to keep the table within the row limit.</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forest plot communicates the whole model at a glance.</a:t>
            </a:r>
          </a:p>
          <a:p>
            <a:r>
              <a:rPr lang="en-US" sz="1400" b="0" dirty="0"/>
              <a:t>The x-axis is on a log scale so the CIs appear symmetric around each point.</a:t>
            </a:r>
          </a:p>
          <a:p>
            <a:r>
              <a:rPr lang="en-US" sz="1400" b="0" dirty="0"/>
              <a:t>Common mistake: putting the OR axis on a linear scale, which squashes the small ORs.</a:t>
            </a:r>
          </a:p>
          <a:p>
            <a:r>
              <a:rPr lang="en-US" sz="1400" b="0" dirty="0"/>
              <a:t>Clinical interpretation: any CI whisker that crosses the dashed line at 1 is non-significant - here only distance does.</a:t>
            </a:r>
          </a:p>
          <a:p>
            <a:r>
              <a:rPr lang="en-US" sz="1400" b="0" dirty="0"/>
              <a:t>Audience question: why does distance look different from the others? Expected answer: its interval straddles 1, so we cannot rule out no effect.</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sections 8-9.</a:t>
            </a:r>
          </a:p>
          <a:p>
            <a:r>
              <a:rPr lang="en-US" sz="1400" b="0" dirty="0"/>
              <a:t>Key teaching point: tables and figures should be generated from code, never retyped.</a:t>
            </a:r>
          </a:p>
          <a:p>
            <a:r>
              <a:rPr lang="en-US" sz="1400" b="0" dirty="0"/>
              <a:t>Common mistake: editing numbers by hand in Word, which breaks reproducibility and invites transcription errors.</a:t>
            </a:r>
          </a:p>
          <a:p>
            <a:r>
              <a:rPr lang="en-US" sz="1400" b="0" dirty="0"/>
              <a:t>Clinical interpretation: the saved PNG is the exact figure on the previous slide.</a:t>
            </a:r>
          </a:p>
          <a:p>
            <a:r>
              <a:rPr lang="en-US" sz="1400" b="0" dirty="0"/>
              <a:t>Demonstration tip: show as_gt(tbl) |&gt; gtsave("Resources/regression_table.html") to export the table too; mention a write_csv fallback if gtsummary is unavailable.</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outputs are artefacts of code, not hand-built files.</a:t>
            </a:r>
          </a:p>
          <a:p>
            <a:r>
              <a:rPr lang="en-US" sz="1400" b="0" dirty="0"/>
              <a:t>Common mistake: screenshotting a plot from the RStudio viewer instead of using ggsave - low resolution and not reproducible.</a:t>
            </a:r>
          </a:p>
          <a:p>
            <a:r>
              <a:rPr lang="en-US" sz="1400" b="0" dirty="0"/>
              <a:t>Clinical interpretation: a reviewer who asks for a tweak gets it by editing one line and re-running.</a:t>
            </a:r>
          </a:p>
          <a:p>
            <a:r>
              <a:rPr lang="en-US" sz="1400" b="0" dirty="0"/>
              <a:t>Audience question: what dpi for a print figure? Expected answer: 300.</a:t>
            </a:r>
          </a:p>
          <a:p>
            <a:r>
              <a:rPr lang="en-US" sz="1400" b="0" dirty="0"/>
              <a:t>Demonstration tip: run ggsave and gtsave live, then open the Resources/ folder to show the files appear.</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Results section is structured translation, not invention.</a:t>
            </a:r>
          </a:p>
          <a:p>
            <a:r>
              <a:rPr lang="en-US" sz="1400" b="0" dirty="0"/>
              <a:t>Each OR becomes one clear clause: direction, magnitude, comparator, precision.</a:t>
            </a:r>
          </a:p>
          <a:p>
            <a:r>
              <a:rPr lang="en-US" sz="1400" b="0" dirty="0"/>
              <a:t>Common mistake: writing 'X caused Y' from an observational OR - use 'was associated with'.</a:t>
            </a:r>
          </a:p>
          <a:p>
            <a:r>
              <a:rPr lang="en-US" sz="1400" b="0" dirty="0"/>
              <a:t>Clinical interpretation: an OR of 0.74 for male sex means men had about 26% lower odds than women.</a:t>
            </a:r>
          </a:p>
          <a:p>
            <a:r>
              <a:rPr lang="en-US" sz="1400" b="0" dirty="0"/>
              <a:t>Audience question: how do you phrase a non-significant finding? Expected answer: report the estimate and CI and state it was not statistically significant - do not claim 'no effect'.</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a model answer the class can adapt for the exercise.</a:t>
            </a:r>
          </a:p>
          <a:p>
            <a:r>
              <a:rPr lang="en-US" sz="1400" b="0" dirty="0"/>
              <a:t>Key teaching point: lead with the analytic n, list significant determinants with ORs and CIs, then report the non-significant one and overall fit.</a:t>
            </a:r>
          </a:p>
          <a:p>
            <a:r>
              <a:rPr lang="en-US" sz="1400" b="0" dirty="0"/>
              <a:t>Common mistake: causal language ('diabetes increases uptake') from a cross-sectional study.</a:t>
            </a:r>
          </a:p>
          <a:p>
            <a:r>
              <a:rPr lang="en-US" sz="1400" b="0" dirty="0"/>
              <a:t>Clinical interpretation: the paragraph mirrors exactly the directions in key_findings.md.</a:t>
            </a:r>
          </a:p>
          <a:p>
            <a:r>
              <a:rPr lang="en-US" sz="1400" b="0" dirty="0"/>
              <a:t>Audience question: what belongs in the very first sentence? Expected answer: the sample size and outcome, so the reader knows the basis of every number that follows.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result you cannot reproduce is a result you cannot defend.</a:t>
            </a:r>
          </a:p>
          <a:p>
            <a:r>
              <a:rPr lang="en-US" sz="1400" b="0" dirty="0"/>
              <a:t>Click-menu analyses leave no trace; scripts do.</a:t>
            </a:r>
          </a:p>
          <a:p>
            <a:r>
              <a:rPr lang="en-US" sz="1400" b="0" dirty="0"/>
              <a:t>Common mistake: hard-coding an absolute path that only works on your laptop - it breaks for every collaborator.</a:t>
            </a:r>
          </a:p>
          <a:p>
            <a:r>
              <a:rPr lang="en-US" sz="1400" b="0" dirty="0"/>
              <a:t>Clinical interpretation: reproducibility is part of research integrity, not an optional extra.</a:t>
            </a:r>
          </a:p>
          <a:p>
            <a:r>
              <a:rPr lang="en-US" sz="1400" b="0" dirty="0"/>
              <a:t>Audience question: why set a seed if logistic regression is deterministic? Expected answer: so the whole script - including any resampling or simulation - reproduces identically end to end.</a:t>
            </a:r>
          </a:p>
          <a:p>
            <a:r>
              <a:rPr lang="en-US" sz="1400" b="0" dirty="0"/>
              <a:t>Demonstration tip: show the folder structure Data/ Scripts/ Solutions/ Resources/ References/.</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sections 0-1 and 10.</a:t>
            </a:r>
          </a:p>
          <a:p>
            <a:r>
              <a:rPr lang="en-US" sz="1400" b="0" dirty="0"/>
              <a:t>Key teaching point: these three habits - seed, relative path, recorded environment - cover most reproducibility failures.</a:t>
            </a:r>
          </a:p>
          <a:p>
            <a:r>
              <a:rPr lang="en-US" sz="1400" b="0" dirty="0"/>
              <a:t>Common mistake: re-cleaning data inside the analysis script; cleaning belongs in its own script (separation of concerns).</a:t>
            </a:r>
          </a:p>
          <a:p>
            <a:r>
              <a:rPr lang="en-US" sz="1400" b="0" dirty="0"/>
              <a:t>Clinical interpretation: readRDS loads the already-cleaned, analysis-ready data.</a:t>
            </a:r>
          </a:p>
          <a:p>
            <a:r>
              <a:rPr lang="en-US" sz="1400" b="0" dirty="0"/>
              <a:t>Demonstration tip: open References/session_info.txt after running to show what was captured.</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this exercise integrates the whole week into one deliverable.</a:t>
            </a:r>
          </a:p>
          <a:p>
            <a:r>
              <a:rPr lang="en-US" sz="1400" b="0" dirty="0"/>
              <a:t>Common mistake: forgetting to restrict to htn_diagnosed == 'Yes', or reporting crude instead of adjusted ORs.</a:t>
            </a:r>
          </a:p>
          <a:p>
            <a:r>
              <a:rPr lang="en-US" sz="1400" b="0" dirty="0"/>
              <a:t>Clinical interpretation: the marking rubric (key_findings.md) rewards correct method and interpretation, not 2nd-decimal matches.</a:t>
            </a:r>
          </a:p>
          <a:p>
            <a:r>
              <a:rPr lang="en-US" sz="1400" b="0" dirty="0"/>
              <a:t>Audience question: how long should the Results paragraph be? Expected answer: a tight 4-6 sentences - n and outcome, significant determinants with ORs and CIs, the non-significant one, then AUC.</a:t>
            </a:r>
          </a:p>
          <a:p>
            <a:r>
              <a:rPr lang="en-US" sz="1400" b="0" dirty="0"/>
              <a:t>Demonstration tip: point them to day5_demo.R as a scaffold and circulate while they work.</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celebrate the distance travelled - they started with no programming background.</a:t>
            </a:r>
          </a:p>
          <a:p>
            <a:r>
              <a:rPr lang="en-US" sz="1400" b="0" dirty="0"/>
              <a:t>Reassure them that fluency comes with practice on their own data.</a:t>
            </a:r>
          </a:p>
          <a:p>
            <a:r>
              <a:rPr lang="en-US" sz="1400" b="0" dirty="0"/>
              <a:t>Clinical interpretation: they now own a defensible, reproducible workflow they can take to their own studies.</a:t>
            </a:r>
          </a:p>
          <a:p>
            <a:r>
              <a:rPr lang="en-US" sz="1400" b="0" dirty="0"/>
              <a:t>Audience question: what is the single most valuable habit to keep? Expected answer: do everything in a script so it is reproducible.</a:t>
            </a:r>
          </a:p>
          <a:p>
            <a:r>
              <a:rPr lang="en-US" sz="1400" b="0" dirty="0"/>
              <a:t>Demonstration tip: invite one or two participants to share what surprised them most.</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today's logistic model is the foundation; Phase II generalises it.</a:t>
            </a:r>
          </a:p>
          <a:p>
            <a:r>
              <a:rPr lang="en-US" sz="1400" b="0" dirty="0"/>
              <a:t>Clinical interpretation: their 6-facility study is naturally clustered, which motivates mixed models in Phase II.</a:t>
            </a:r>
          </a:p>
          <a:p>
            <a:r>
              <a:rPr lang="en-US" sz="1400" b="0" dirty="0"/>
              <a:t>Common misconception: that survival and logistic regression are unrelated - both are regression, just for different outcome types.</a:t>
            </a:r>
          </a:p>
          <a:p>
            <a:r>
              <a:rPr lang="en-US" sz="1400" b="0" dirty="0"/>
              <a:t>Audience question: which Phase II topic fits a study following patients over time? Expected answer: survival analysis, because the outcome is time-to-event.</a:t>
            </a:r>
          </a:p>
          <a:p>
            <a:r>
              <a:rPr lang="en-US" sz="1400" b="0" dirty="0"/>
              <a:t>Demonstration tip: thank the class, point to References/ for further reading, and close with #ClearDataClearImpact.</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Introduce the capstone assessment.</a:t>
            </a:r>
          </a:p>
          <a:p>
            <a:r>
              <a:rPr lang="en-US" sz="1400" b="0" dirty="0"/>
              <a:t>Key teaching point: this consolidates all five days into one independent analysis.</a:t>
            </a:r>
          </a:p>
          <a:p>
            <a:r>
              <a:rPr lang="en-US" sz="1400" b="0" dirty="0"/>
              <a:t>Clinical interpretation: it mirrors writing the analysis for a real paper.</a:t>
            </a:r>
          </a:p>
          <a:p>
            <a:r>
              <a:rPr lang="en-US" sz="1400" b="0" dirty="0"/>
              <a:t>Audience question: how long should you budget? Expected: a few focused sessions across the week.</a:t>
            </a:r>
          </a:p>
          <a:p>
            <a:r>
              <a:rPr lang="en-US" sz="1400" b="0" dirty="0"/>
              <a:t>Demo tip: encourage starting from their saved Day 2 cleaning script.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Spell out exactly what to deliver.</a:t>
            </a:r>
          </a:p>
          <a:p>
            <a:r>
              <a:rPr lang="en-US" sz="1400" b="0" dirty="0"/>
              <a:t>Key teaching point: reproducibility is graded - the script must run on a clean machine.</a:t>
            </a:r>
          </a:p>
          <a:p>
            <a:r>
              <a:rPr lang="en-US" sz="1400" b="0" dirty="0"/>
              <a:t>Common mistake: submitting only output with no script, or a script with hard-coded absolute paths.</a:t>
            </a:r>
          </a:p>
          <a:p>
            <a:r>
              <a:rPr lang="en-US" sz="1400" b="0" dirty="0"/>
              <a:t>Clinical interpretation: the Results section should read like a journal submission.</a:t>
            </a:r>
          </a:p>
          <a:p>
            <a:r>
              <a:rPr lang="en-US" sz="1400" b="0" dirty="0"/>
              <a:t>Audience question: what makes a script reproducible? Expected: relative paths, library() calls, set.seed, no manual steps.</a:t>
            </a:r>
          </a:p>
          <a:p>
            <a:r>
              <a:rPr lang="en-US" sz="1400" b="0" dirty="0"/>
              <a:t>Demo tip: point them to the Day 5 results draft as a template.</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Clarify the mechanics of submission.</a:t>
            </a:r>
          </a:p>
          <a:p>
            <a:r>
              <a:rPr lang="en-US" sz="1400" b="0" dirty="0"/>
              <a:t>Key teaching point: clear, commented code is part of the grade, not an afterthought.</a:t>
            </a:r>
          </a:p>
          <a:p>
            <a:r>
              <a:rPr lang="en-US" sz="1400" b="0" dirty="0"/>
              <a:t>Common mistake: figures saved at screen resolution - require 300 dpi via ggsave.</a:t>
            </a:r>
          </a:p>
          <a:p>
            <a:r>
              <a:rPr lang="en-US" sz="1400" b="0" dirty="0"/>
              <a:t>Clinical interpretation: a tidy submission reflects a tidy analyst.</a:t>
            </a:r>
          </a:p>
          <a:p>
            <a:r>
              <a:rPr lang="en-US" sz="1400" b="0" dirty="0"/>
              <a:t>Audience question: R script or Quarto? Expected: either - Quarto earns the reproducibility marks easily.</a:t>
            </a:r>
          </a:p>
          <a:p>
            <a:r>
              <a:rPr lang="en-US" sz="1400" b="0" dirty="0"/>
              <a:t>Demo tip: show the folder structure you expect.</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Make grading transparent.</a:t>
            </a:r>
          </a:p>
          <a:p>
            <a:r>
              <a:rPr lang="en-US" sz="1400" b="0" dirty="0"/>
              <a:t>Key teaching point: cleaning and regression carry the most weight (20 each) - spend time there.</a:t>
            </a:r>
          </a:p>
          <a:p>
            <a:r>
              <a:rPr lang="en-US" sz="1400" b="0" dirty="0"/>
              <a:t>Clinical interpretation: interpretation is explicitly rewarded, not just computation.</a:t>
            </a:r>
          </a:p>
          <a:p>
            <a:r>
              <a:rPr lang="en-US" sz="1400" b="0" dirty="0"/>
              <a:t>Common mistake: perfect code, wrong interpretation - you lose the 15 interpretation marks.</a:t>
            </a:r>
          </a:p>
          <a:p>
            <a:r>
              <a:rPr lang="en-US" sz="1400" b="0" dirty="0"/>
              <a:t>Audience question: where will you focus your effort? Expected: cleaning + modelling - correct.</a:t>
            </a:r>
          </a:p>
          <a:p>
            <a:r>
              <a:rPr lang="en-US" sz="1400" b="0" dirty="0"/>
              <a:t>Demo tip: the full marking guide with point-by-point criteria is in the instructor pack.</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Give participants a concrete picture of excellent vs weak work.</a:t>
            </a:r>
          </a:p>
          <a:p>
            <a:r>
              <a:rPr lang="en-US" sz="1400" b="0" dirty="0"/>
              <a:t>Key teaching point: most marks are lost on avoidable cleaning and interpretation errors.</a:t>
            </a:r>
          </a:p>
          <a:p>
            <a:r>
              <a:rPr lang="en-US" sz="1400" b="0" dirty="0"/>
              <a:t>Clinical interpretation: 'not significant' means 'insufficient evidence', not 'no effect'.</a:t>
            </a:r>
          </a:p>
          <a:p>
            <a:r>
              <a:rPr lang="en-US" sz="1400" b="0" dirty="0"/>
              <a:t>Common mistake: forgetting to restrict to htn_diagnosed == Yes for the uptake analysis.</a:t>
            </a:r>
          </a:p>
          <a:p>
            <a:r>
              <a:rPr lang="en-US" sz="1400" b="0" dirty="0"/>
              <a:t>Audience question: why analyse only diagnosed patients? Expected: uptake is only defined once diagnosed.</a:t>
            </a:r>
          </a:p>
          <a:p>
            <a:r>
              <a:rPr lang="en-US" sz="1400" b="0" dirty="0"/>
              <a:t>Demo tip: hand out this slide as a self-check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Point to everything they can take away and where to grow next.</a:t>
            </a:r>
          </a:p>
          <a:p>
            <a:r>
              <a:rPr lang="en-US" sz="1400" b="0" dirty="0"/>
              <a:t>Key teaching point: the reference sheet answers 80% of day-to-day questions.</a:t>
            </a:r>
          </a:p>
          <a:p>
            <a:r>
              <a:rPr lang="en-US" sz="1400" b="0" dirty="0"/>
              <a:t>Clinical interpretation: applying R to their OWN data is the real test of learning.</a:t>
            </a:r>
          </a:p>
          <a:p>
            <a:r>
              <a:rPr lang="en-US" sz="1400" b="0" dirty="0"/>
              <a:t>Audience question: what will you analyse first after the course? Expected: an audit or a stalled project.</a:t>
            </a:r>
          </a:p>
          <a:p>
            <a:r>
              <a:rPr lang="en-US" sz="1400" b="0" dirty="0"/>
              <a:t>Demo tip: mention Phase II (survival analysis, mixed models) as the next step.</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Close warmly and open the floor.</a:t>
            </a:r>
          </a:p>
          <a:p>
            <a:r>
              <a:rPr lang="en-US" sz="1400" b="0" dirty="0"/>
              <a:t>Key teaching point: celebrate that everyone went from zero to a full analysis in five days.</a:t>
            </a:r>
          </a:p>
          <a:p>
            <a:r>
              <a:rPr lang="en-US" sz="1400" b="0" dirty="0"/>
              <a:t>Clinical interpretation: encourage them to embed reproducible analysis in their teams.</a:t>
            </a:r>
          </a:p>
          <a:p>
            <a:r>
              <a:rPr lang="en-US" sz="1400" b="0" dirty="0"/>
              <a:t>Audience question: what is your single biggest takeaway? Expected: varies - affirm each.</a:t>
            </a:r>
          </a:p>
          <a:p>
            <a:r>
              <a:rPr lang="en-US" sz="1400" b="0" dirty="0"/>
              <a:t>Demo tip: collect feedback and share contact details for follow-up.</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COPYRIGHT / CLOSING SLIDE.</a:t>
            </a:r>
          </a:p>
          <a:p>
            <a:r>
              <a:rPr lang="en-US" sz="1400" b="0" dirty="0"/>
              <a:t>Standard Neudata copyright. Thank participants and the host institution.</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9/7/2026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0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Century Gothic"/>
                <a:cs typeface="Century Gothic"/>
              </a:rPr>
              <a:t>Clinical Data Analysis in R</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Segoe UI"/>
                <a:cs typeface="Segoe UI"/>
              </a:rPr>
              <a:t>Phase I  -  Introduction to R for Clinical Research</a:t>
            </a:r>
          </a:p>
          <a:p>
            <a:pPr marL="0" indent="0" algn="ctr">
              <a:spcBef>
                <a:spcPts val="440"/>
              </a:spcBef>
              <a:buNone/>
            </a:pPr>
            <a:r>
              <a:rPr lang="en-US" sz="2000" dirty="0">
                <a:solidFill>
                  <a:srgbClr val="000000"/>
                </a:solidFill>
                <a:latin typeface="Segoe UI"/>
                <a:cs typeface="Segoe UI"/>
              </a:rPr>
              <a:t>A five-session evening short course  -  Tuesdays, 8:00 PM</a:t>
            </a:r>
          </a:p>
          <a:p>
            <a:pPr marL="0" indent="0" algn="ctr">
              <a:spcBef>
                <a:spcPts val="440"/>
              </a:spcBef>
              <a:buNone/>
            </a:pPr>
            <a:r>
              <a:rPr lang="en-US" sz="2000" dirty="0">
                <a:solidFill>
                  <a:srgbClr val="000000"/>
                </a:solidFill>
                <a:latin typeface="Segoe UI"/>
                <a:cs typeface="Segoe UI"/>
              </a:rPr>
              <a:t>Trainers: Bernard Osang'ir &amp; My Luong Vuong</a:t>
            </a: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Segoe UI"/>
                <a:cs typeface="Segoe UI"/>
              </a:rPr>
              <a:t>Date: 8 September - 6 October 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Welcome &amp; Course Aim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Why this course</a:t>
            </a:r>
          </a:p>
          <a:p>
            <a:pPr marL="0" indent="0" algn="l">
              <a:lnSpc>
                <a:spcPct val="108000"/>
              </a:lnSpc>
              <a:spcBef>
                <a:spcPts val="440"/>
              </a:spcBef>
              <a:buNone/>
            </a:pPr>
            <a:r>
              <a:rPr lang="en-US" sz="1800" dirty="0">
                <a:solidFill>
                  <a:srgbClr val="000000"/>
                </a:solidFill>
                <a:latin typeface="Century Gothic"/>
                <a:cs typeface="Century Gothic"/>
              </a:rPr>
              <a:t>Clinicians increasingly need to analyse their own data and read statistics critically.</a:t>
            </a:r>
          </a:p>
          <a:p>
            <a:pPr marL="0" indent="0" algn="l">
              <a:lnSpc>
                <a:spcPct val="108000"/>
              </a:lnSpc>
              <a:spcBef>
                <a:spcPts val="440"/>
              </a:spcBef>
              <a:buNone/>
            </a:pPr>
            <a:r>
              <a:rPr lang="en-US" sz="1800" dirty="0">
                <a:solidFill>
                  <a:srgbClr val="000000"/>
                </a:solidFill>
                <a:latin typeface="Century Gothic"/>
                <a:cs typeface="Century Gothic"/>
              </a:rPr>
              <a:t>R is free, reproducible and the standard tool in modern clinical research.</a:t>
            </a:r>
          </a:p>
          <a:p>
            <a:pPr>
              <a:buNone/>
            </a:pPr>
            <a:endParaRPr sz="1050"/>
          </a:p>
          <a:p>
            <a:pPr marL="0" indent="0" algn="l">
              <a:spcBef>
                <a:spcPts val="360"/>
              </a:spcBef>
              <a:buNone/>
            </a:pPr>
            <a:r>
              <a:rPr lang="en-US" sz="2050" b="1" dirty="0">
                <a:solidFill>
                  <a:srgbClr val="0D7377"/>
                </a:solidFill>
                <a:latin typeface="Century Gothic"/>
                <a:cs typeface="Century Gothic"/>
              </a:rPr>
              <a:t>Our promise</a:t>
            </a:r>
          </a:p>
          <a:p>
            <a:pPr marL="0" indent="0" algn="l">
              <a:lnSpc>
                <a:spcPct val="108000"/>
              </a:lnSpc>
              <a:spcBef>
                <a:spcPts val="440"/>
              </a:spcBef>
              <a:buNone/>
            </a:pPr>
            <a:r>
              <a:rPr lang="en-US" sz="1800" dirty="0">
                <a:solidFill>
                  <a:srgbClr val="000000"/>
                </a:solidFill>
                <a:latin typeface="Century Gothic"/>
                <a:cs typeface="Century Gothic"/>
              </a:rPr>
              <a:t>Start from zero - no programming background assumed.</a:t>
            </a:r>
          </a:p>
          <a:p>
            <a:pPr marL="0" indent="0" algn="l">
              <a:lnSpc>
                <a:spcPct val="108000"/>
              </a:lnSpc>
              <a:spcBef>
                <a:spcPts val="440"/>
              </a:spcBef>
              <a:buNone/>
            </a:pPr>
            <a:r>
              <a:rPr lang="en-US" sz="1800" dirty="0">
                <a:solidFill>
                  <a:srgbClr val="000000"/>
                </a:solidFill>
                <a:latin typeface="Century Gothic"/>
                <a:cs typeface="Century Gothic"/>
              </a:rPr>
              <a:t>Learn by doing, using ONE real clinical dataset all week.</a:t>
            </a:r>
          </a:p>
          <a:p>
            <a:pPr marL="0" indent="0" algn="l">
              <a:lnSpc>
                <a:spcPct val="108000"/>
              </a:lnSpc>
              <a:spcBef>
                <a:spcPts val="440"/>
              </a:spcBef>
              <a:buNone/>
            </a:pPr>
            <a:r>
              <a:rPr lang="en-US" sz="1800" dirty="0">
                <a:solidFill>
                  <a:srgbClr val="000000"/>
                </a:solidFill>
                <a:latin typeface="Century Gothic"/>
                <a:cs typeface="Century Gothic"/>
              </a:rPr>
              <a:t>Finish able to produce publication-ready tables, figures and regression results.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Learning by analogy</a:t>
            </a:r>
          </a:p>
          <a:p>
            <a:pPr marL="0" indent="0" algn="l">
              <a:spcBef>
                <a:spcPts val="100"/>
              </a:spcBef>
              <a:buNone/>
            </a:pPr>
            <a:r>
              <a:rPr lang="en-US" sz="1300" dirty="0">
                <a:solidFill>
                  <a:srgbClr val="000000"/>
                </a:solidFill>
                <a:latin typeface="Century Gothic"/>
                <a:cs typeface="Century Gothic"/>
              </a:rPr>
              <a:t>Think of R as a very precise research assistant: you write the instructions once, it repeats them perfectly forever.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Who This Course Is For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Designed for busy clinical professionals - no programming experience needed.</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Medical doctors and residents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Nurses and hospital research staff</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Clinical and hospital pharmacists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Clinical researchers and trial coordinators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Public health professionals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Masters students and PhD candidates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Anyone who collects or interprets clinical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Learning Objectives (1 of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By the end of the week you will be able to</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Navigate R and RStudio with confidence.</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Understand the structure of clinical datasets.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Import data from Excel and CSV files.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Clean, validate and recode clinical data.</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Perform and interpret descriptive statistics.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Generate publication-quality tables (a manuscript Table 1).</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Generate publication-quality figures.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Learning Objectives (2 of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You will also be able to</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Choose and perform common statistical tests.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Interpret statistical output correctly.</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Perform simple and multiple logistic regression.</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Report odds ratios with confidence intervals.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Write reproducible analysis scripts.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Export publication-ready outputs.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Interpret findings for medical publications.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Course Structure - Five Sessions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637568"/>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380000">
                <a:tc>
                  <a:txBody>
                    <a:bodyPr/>
                    <a:lstStyle/>
                    <a:p>
                      <a:pPr algn="l"/>
                      <a:r>
                        <a:rPr lang="en-US" sz="1300" b="1" dirty="0">
                          <a:solidFill>
                            <a:srgbClr val="FFFFFF"/>
                          </a:solidFill>
                          <a:latin typeface="Century Gothic"/>
                        </a:rPr>
                        <a:t>Session</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Theme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Core skill</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Exercise output</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Century Gothic"/>
                        </a:rPr>
                        <a:t>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Introduction to R &amp; RStudio</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Import data</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Dataset imported</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Century Gothic"/>
                        </a:rPr>
                        <a:t>2</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Understanding &amp; Cleaning Clinical Data</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Clean &amp; recode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Analysis-ready data</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Century Gothic"/>
                        </a:rPr>
                        <a:t>3</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Descriptive Statistics, Tables &amp; 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Tables &amp; 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Manuscript Table 1</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Century Gothic"/>
                        </a:rPr>
                        <a:t>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Common Medical Statistical Tests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t-test, Chi-square, Non-parametric</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Correct test chosen</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Century Gothic"/>
                        </a:rPr>
                        <a:t>5</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Introduction to Regression &amp; Interpreting Output</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Modelling &amp; reporting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Short Results section</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Five evening sessions (Tuesdays, 90 minutes each); each session builds on the last.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How Each Session Runs (90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A predictable evening rhythm</a:t>
            </a:r>
          </a:p>
          <a:p>
            <a:pPr marL="0" indent="0" algn="l">
              <a:lnSpc>
                <a:spcPct val="108000"/>
              </a:lnSpc>
              <a:spcBef>
                <a:spcPts val="440"/>
              </a:spcBef>
              <a:buNone/>
            </a:pPr>
            <a:r>
              <a:rPr lang="en-US" sz="1800" dirty="0">
                <a:solidFill>
                  <a:srgbClr val="000000"/>
                </a:solidFill>
                <a:latin typeface="Century Gothic"/>
                <a:cs typeface="Century Gothic"/>
              </a:rPr>
              <a:t>Recap &amp; set-up - about 10 minutes: reconnect to last week.</a:t>
            </a:r>
          </a:p>
          <a:p>
            <a:pPr marL="0" indent="0" algn="l">
              <a:lnSpc>
                <a:spcPct val="108000"/>
              </a:lnSpc>
              <a:spcBef>
                <a:spcPts val="440"/>
              </a:spcBef>
              <a:buNone/>
            </a:pPr>
            <a:r>
              <a:rPr lang="en-US" sz="1800" dirty="0">
                <a:solidFill>
                  <a:srgbClr val="000000"/>
                </a:solidFill>
                <a:latin typeface="Century Gothic"/>
                <a:cs typeface="Century Gothic"/>
              </a:rPr>
              <a:t>Lecture &amp; live demo - about 55 minutes: concepts, then the trainer codes as you watch.</a:t>
            </a:r>
          </a:p>
          <a:p>
            <a:pPr marL="0" indent="0" algn="l">
              <a:lnSpc>
                <a:spcPct val="108000"/>
              </a:lnSpc>
              <a:spcBef>
                <a:spcPts val="440"/>
              </a:spcBef>
              <a:buNone/>
            </a:pPr>
            <a:r>
              <a:rPr lang="en-US" sz="1800" dirty="0">
                <a:solidFill>
                  <a:srgbClr val="000000"/>
                </a:solidFill>
                <a:latin typeface="Century Gothic"/>
                <a:cs typeface="Century Gothic"/>
              </a:rPr>
              <a:t>Guided exercise - about 20 minutes: you code, we help.</a:t>
            </a:r>
          </a:p>
          <a:p>
            <a:pPr marL="0" indent="0" algn="l">
              <a:lnSpc>
                <a:spcPct val="108000"/>
              </a:lnSpc>
              <a:spcBef>
                <a:spcPts val="440"/>
              </a:spcBef>
              <a:buNone/>
            </a:pPr>
            <a:r>
              <a:rPr lang="en-US" sz="1800" dirty="0">
                <a:solidFill>
                  <a:srgbClr val="000000"/>
                </a:solidFill>
                <a:latin typeface="Century Gothic"/>
                <a:cs typeface="Century Gothic"/>
              </a:rPr>
              <a:t>Wrap-up &amp; questions - throughout and in the last 5 minutes.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Bring</a:t>
            </a:r>
          </a:p>
          <a:p>
            <a:pPr marL="0" indent="0" algn="l">
              <a:spcBef>
                <a:spcPts val="100"/>
              </a:spcBef>
              <a:buNone/>
            </a:pPr>
            <a:r>
              <a:rPr lang="en-US" sz="1300" dirty="0">
                <a:solidFill>
                  <a:srgbClr val="000000"/>
                </a:solidFill>
                <a:latin typeface="Century Gothic"/>
                <a:cs typeface="Century Gothic"/>
              </a:rPr>
              <a:t>A laptop with R and RStudio installed (see the pre-course pack), and the course data folder.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Our Case Study - One Dataset All Week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Study</a:t>
            </a:r>
          </a:p>
          <a:p>
            <a:pPr marL="0" indent="0" algn="l">
              <a:lnSpc>
                <a:spcPct val="108000"/>
              </a:lnSpc>
              <a:spcBef>
                <a:spcPts val="440"/>
              </a:spcBef>
              <a:buNone/>
            </a:pPr>
            <a:r>
              <a:rPr lang="en-US" sz="1800" dirty="0">
                <a:solidFill>
                  <a:srgbClr val="000000"/>
                </a:solidFill>
                <a:latin typeface="Century Gothic"/>
                <a:cs typeface="Century Gothic"/>
              </a:rPr>
              <a:t>Determinants of Hypertension Treatment Uptake among Adults attending Primary Healthcare Facilities.</a:t>
            </a:r>
          </a:p>
          <a:p>
            <a:pPr>
              <a:buNone/>
            </a:pPr>
            <a:endParaRPr sz="1050"/>
          </a:p>
          <a:p>
            <a:pPr marL="0" indent="0" algn="l">
              <a:spcBef>
                <a:spcPts val="360"/>
              </a:spcBef>
              <a:buNone/>
            </a:pPr>
            <a:r>
              <a:rPr lang="en-US" sz="2050" b="1" dirty="0">
                <a:solidFill>
                  <a:srgbClr val="0D7377"/>
                </a:solidFill>
                <a:latin typeface="Century Gothic"/>
                <a:cs typeface="Century Gothic"/>
              </a:rPr>
              <a:t>Design</a:t>
            </a:r>
          </a:p>
          <a:p>
            <a:pPr marL="0" indent="0" algn="l">
              <a:lnSpc>
                <a:spcPct val="108000"/>
              </a:lnSpc>
              <a:spcBef>
                <a:spcPts val="440"/>
              </a:spcBef>
              <a:buNone/>
            </a:pPr>
            <a:r>
              <a:rPr lang="en-US" sz="1800" dirty="0">
                <a:solidFill>
                  <a:srgbClr val="000000"/>
                </a:solidFill>
                <a:latin typeface="Century Gothic"/>
                <a:cs typeface="Century Gothic"/>
              </a:rPr>
              <a:t>Multicentre cross-sectional study - 6 primary healthcare facilities.</a:t>
            </a:r>
          </a:p>
          <a:p>
            <a:pPr marL="0" indent="0" algn="l">
              <a:lnSpc>
                <a:spcPct val="108000"/>
              </a:lnSpc>
              <a:spcBef>
                <a:spcPts val="440"/>
              </a:spcBef>
              <a:buNone/>
            </a:pPr>
            <a:r>
              <a:rPr lang="en-US" sz="1800" dirty="0">
                <a:solidFill>
                  <a:srgbClr val="000000"/>
                </a:solidFill>
                <a:latin typeface="Century Gothic"/>
                <a:cs typeface="Century Gothic"/>
              </a:rPr>
              <a:t>1,500 adult attendees screened for hypertension.</a:t>
            </a:r>
          </a:p>
          <a:p>
            <a:pPr marL="0" indent="0" algn="l">
              <a:lnSpc>
                <a:spcPct val="108000"/>
              </a:lnSpc>
              <a:spcBef>
                <a:spcPts val="440"/>
              </a:spcBef>
              <a:buNone/>
            </a:pPr>
            <a:r>
              <a:rPr lang="en-US" sz="1800" dirty="0">
                <a:solidFill>
                  <a:srgbClr val="000000"/>
                </a:solidFill>
                <a:latin typeface="Century Gothic"/>
                <a:cs typeface="Century Gothic"/>
              </a:rPr>
              <a:t>Facilities: Bugando PHC, Kisesa HC, Nyamagana PHC, Ilemela HC, Buzuruga PHC, Igoma HC.</a:t>
            </a:r>
          </a:p>
          <a:p>
            <a:pPr>
              <a:buNone/>
            </a:pPr>
            <a:endParaRPr sz="1050"/>
          </a:p>
          <a:p>
            <a:pPr marL="0" indent="0" algn="l">
              <a:spcBef>
                <a:spcPts val="360"/>
              </a:spcBef>
              <a:buNone/>
            </a:pPr>
            <a:r>
              <a:rPr lang="en-US" sz="2050" b="1" dirty="0">
                <a:solidFill>
                  <a:srgbClr val="0D7377"/>
                </a:solidFill>
                <a:latin typeface="Century Gothic"/>
                <a:cs typeface="Century Gothic"/>
              </a:rPr>
              <a:t>Primary outcome</a:t>
            </a:r>
          </a:p>
          <a:p>
            <a:pPr marL="0" indent="0" algn="l">
              <a:lnSpc>
                <a:spcPct val="108000"/>
              </a:lnSpc>
              <a:spcBef>
                <a:spcPts val="440"/>
              </a:spcBef>
              <a:buNone/>
            </a:pPr>
            <a:r>
              <a:rPr lang="en-US" sz="1800" dirty="0">
                <a:solidFill>
                  <a:srgbClr val="000000"/>
                </a:solidFill>
                <a:latin typeface="Century Gothic"/>
                <a:cs typeface="Century Gothic"/>
              </a:rPr>
              <a:t>Treatment uptake - whether a diagnosed patient is currently on antihypertensive therapy.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Variables We Will Use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Demographics &amp; social</a:t>
            </a:r>
          </a:p>
          <a:p>
            <a:pPr marL="0" indent="0" algn="l">
              <a:lnSpc>
                <a:spcPct val="108000"/>
              </a:lnSpc>
              <a:spcBef>
                <a:spcPts val="440"/>
              </a:spcBef>
              <a:buNone/>
            </a:pPr>
            <a:r>
              <a:rPr lang="en-US" sz="1800" dirty="0">
                <a:solidFill>
                  <a:srgbClr val="000000"/>
                </a:solidFill>
                <a:latin typeface="Century Gothic"/>
                <a:cs typeface="Century Gothic"/>
              </a:rPr>
              <a:t>Age, sex, residence, education, occupation, marital status, health insurance.</a:t>
            </a:r>
          </a:p>
          <a:p>
            <a:pPr>
              <a:buNone/>
            </a:pPr>
            <a:endParaRPr sz="1050"/>
          </a:p>
          <a:p>
            <a:pPr marL="0" indent="0" algn="l">
              <a:spcBef>
                <a:spcPts val="360"/>
              </a:spcBef>
              <a:buNone/>
            </a:pPr>
            <a:r>
              <a:rPr lang="en-US" sz="2050" b="1" dirty="0">
                <a:solidFill>
                  <a:srgbClr val="0D7377"/>
                </a:solidFill>
                <a:latin typeface="Century Gothic"/>
                <a:cs typeface="Century Gothic"/>
              </a:rPr>
              <a:t>Behavioural &amp; clinical</a:t>
            </a:r>
          </a:p>
          <a:p>
            <a:pPr marL="0" indent="0" algn="l">
              <a:lnSpc>
                <a:spcPct val="108000"/>
              </a:lnSpc>
              <a:spcBef>
                <a:spcPts val="440"/>
              </a:spcBef>
              <a:buNone/>
            </a:pPr>
            <a:r>
              <a:rPr lang="en-US" sz="1800" dirty="0">
                <a:solidFill>
                  <a:srgbClr val="000000"/>
                </a:solidFill>
                <a:latin typeface="Century Gothic"/>
                <a:cs typeface="Century Gothic"/>
              </a:rPr>
              <a:t>Smoking, alcohol, physical activity, BMI, diabetes, family history, blood pressure.</a:t>
            </a:r>
          </a:p>
          <a:p>
            <a:pPr>
              <a:buNone/>
            </a:pPr>
            <a:endParaRPr sz="1050"/>
          </a:p>
          <a:p>
            <a:pPr marL="0" indent="0" algn="l">
              <a:spcBef>
                <a:spcPts val="360"/>
              </a:spcBef>
              <a:buNone/>
            </a:pPr>
            <a:r>
              <a:rPr lang="en-US" sz="2050" b="1" dirty="0">
                <a:solidFill>
                  <a:srgbClr val="0D7377"/>
                </a:solidFill>
                <a:latin typeface="Century Gothic"/>
                <a:cs typeface="Century Gothic"/>
              </a:rPr>
              <a:t>Laboratory &amp; outcomes</a:t>
            </a:r>
          </a:p>
          <a:p>
            <a:pPr marL="0" indent="0" algn="l">
              <a:lnSpc>
                <a:spcPct val="108000"/>
              </a:lnSpc>
              <a:spcBef>
                <a:spcPts val="440"/>
              </a:spcBef>
              <a:buNone/>
            </a:pPr>
            <a:r>
              <a:rPr lang="en-US" sz="1800" dirty="0">
                <a:solidFill>
                  <a:srgbClr val="000000"/>
                </a:solidFill>
                <a:latin typeface="Century Gothic"/>
                <a:cs typeface="Century Gothic"/>
              </a:rPr>
              <a:t>Cholesterol panel, glucose, creatinine, electrolytes; treatment uptake, adherence, BP control.</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Data dictionary</a:t>
            </a:r>
          </a:p>
          <a:p>
            <a:pPr marL="0" indent="0" algn="l">
              <a:spcBef>
                <a:spcPts val="100"/>
              </a:spcBef>
              <a:buNone/>
            </a:pPr>
            <a:r>
              <a:rPr lang="en-US" sz="1300" dirty="0">
                <a:solidFill>
                  <a:srgbClr val="000000"/>
                </a:solidFill>
                <a:latin typeface="Century Gothic"/>
                <a:cs typeface="Century Gothic"/>
              </a:rPr>
              <a:t>A full data dictionary (36 variables) is provided - keep it open during every exercise.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How the Week Builds to a Published Result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analysis pipeline</a:t>
            </a:r>
          </a:p>
          <a:p>
            <a:pPr marL="0" indent="0" algn="l">
              <a:lnSpc>
                <a:spcPct val="108000"/>
              </a:lnSpc>
              <a:spcBef>
                <a:spcPts val="440"/>
              </a:spcBef>
              <a:buNone/>
            </a:pPr>
            <a:r>
              <a:rPr lang="en-US" sz="1800" dirty="0">
                <a:solidFill>
                  <a:srgbClr val="000000"/>
                </a:solidFill>
                <a:latin typeface="Century Gothic"/>
                <a:cs typeface="Century Gothic"/>
              </a:rPr>
              <a:t>Import (Day 1)  -&gt;  Clean &amp; validate (Day 2)  -&gt;  Describe (Day 3)</a:t>
            </a:r>
          </a:p>
          <a:p>
            <a:pPr marL="0" indent="0" algn="l">
              <a:lnSpc>
                <a:spcPct val="108000"/>
              </a:lnSpc>
              <a:spcBef>
                <a:spcPts val="440"/>
              </a:spcBef>
              <a:buNone/>
            </a:pPr>
            <a:r>
              <a:rPr lang="en-US" sz="1800" dirty="0">
                <a:solidFill>
                  <a:srgbClr val="000000"/>
                </a:solidFill>
                <a:latin typeface="Century Gothic"/>
                <a:cs typeface="Century Gothic"/>
              </a:rPr>
              <a:t>Test &amp; model (Day 4)  -&gt;  Final model, interpret &amp; report (Day 5).</a:t>
            </a:r>
          </a:p>
          <a:p>
            <a:pPr>
              <a:buNone/>
            </a:pPr>
            <a:endParaRPr sz="1050"/>
          </a:p>
          <a:p>
            <a:pPr marL="0" indent="0" algn="l">
              <a:spcBef>
                <a:spcPts val="360"/>
              </a:spcBef>
              <a:buNone/>
            </a:pPr>
            <a:r>
              <a:rPr lang="en-US" sz="2050" b="1" dirty="0">
                <a:solidFill>
                  <a:srgbClr val="0D7377"/>
                </a:solidFill>
                <a:latin typeface="Century Gothic"/>
                <a:cs typeface="Century Gothic"/>
              </a:rPr>
              <a:t>Your final deliverable</a:t>
            </a:r>
          </a:p>
          <a:p>
            <a:pPr marL="0" indent="0" algn="l">
              <a:lnSpc>
                <a:spcPct val="108000"/>
              </a:lnSpc>
              <a:spcBef>
                <a:spcPts val="440"/>
              </a:spcBef>
              <a:buNone/>
            </a:pPr>
            <a:r>
              <a:rPr lang="en-US" sz="1800" dirty="0">
                <a:solidFill>
                  <a:srgbClr val="000000"/>
                </a:solidFill>
                <a:latin typeface="Century Gothic"/>
                <a:cs typeface="Century Gothic"/>
              </a:rPr>
              <a:t>A short, reproducible Results section identifying the determinants of treatment uptake -</a:t>
            </a:r>
          </a:p>
          <a:p>
            <a:pPr marL="0" indent="0" algn="l">
              <a:lnSpc>
                <a:spcPct val="108000"/>
              </a:lnSpc>
              <a:spcBef>
                <a:spcPts val="440"/>
              </a:spcBef>
              <a:buNone/>
            </a:pPr>
            <a:r>
              <a:rPr lang="en-US" sz="1800" dirty="0">
                <a:solidFill>
                  <a:srgbClr val="000000"/>
                </a:solidFill>
                <a:latin typeface="Century Gothic"/>
                <a:cs typeface="Century Gothic"/>
              </a:rPr>
              <a:t>exactly what a journal would expect.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The big idea</a:t>
            </a:r>
          </a:p>
          <a:p>
            <a:pPr marL="0" indent="0" algn="l">
              <a:spcBef>
                <a:spcPts val="100"/>
              </a:spcBef>
              <a:buNone/>
            </a:pPr>
            <a:r>
              <a:rPr lang="en-US" sz="1300" dirty="0">
                <a:solidFill>
                  <a:srgbClr val="000000"/>
                </a:solidFill>
                <a:latin typeface="Century Gothic"/>
                <a:cs typeface="Century Gothic"/>
              </a:rPr>
              <a:t>Every day produces one piece of a real manuscript; by Friday the pieces form a whole analysis.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Sessions, Trainers &amp; How to Register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When we meet</a:t>
            </a:r>
          </a:p>
          <a:p>
            <a:pPr marL="0" indent="0" algn="l">
              <a:lnSpc>
                <a:spcPct val="108000"/>
              </a:lnSpc>
              <a:spcBef>
                <a:spcPts val="440"/>
              </a:spcBef>
              <a:buNone/>
            </a:pPr>
            <a:r>
              <a:rPr lang="en-US" sz="1800" dirty="0">
                <a:solidFill>
                  <a:srgbClr val="000000"/>
                </a:solidFill>
                <a:latin typeface="Century Gothic"/>
                <a:cs typeface="Century Gothic"/>
              </a:rPr>
              <a:t>Five evening sessions - every Tuesday, 8:00 PM, 90 minutes each.</a:t>
            </a:r>
          </a:p>
          <a:p>
            <a:pPr marL="0" indent="0" algn="l">
              <a:lnSpc>
                <a:spcPct val="108000"/>
              </a:lnSpc>
              <a:spcBef>
                <a:spcPts val="440"/>
              </a:spcBef>
              <a:buNone/>
            </a:pPr>
            <a:r>
              <a:rPr lang="en-US" sz="1800" dirty="0">
                <a:solidFill>
                  <a:srgbClr val="000000"/>
                </a:solidFill>
                <a:latin typeface="Century Gothic"/>
                <a:cs typeface="Century Gothic"/>
              </a:rPr>
              <a:t>8 September to 6 October 2026.</a:t>
            </a:r>
          </a:p>
          <a:p>
            <a:pPr marL="0" indent="0" algn="l">
              <a:lnSpc>
                <a:spcPct val="108000"/>
              </a:lnSpc>
              <a:spcBef>
                <a:spcPts val="440"/>
              </a:spcBef>
              <a:buNone/>
            </a:pPr>
            <a:r>
              <a:rPr lang="en-US" sz="1800" dirty="0">
                <a:solidFill>
                  <a:srgbClr val="000000"/>
                </a:solidFill>
                <a:latin typeface="Century Gothic"/>
                <a:cs typeface="Century Gothic"/>
              </a:rPr>
              <a:t>Online delivery - join from anywhere with a laptop.</a:t>
            </a:r>
          </a:p>
          <a:p>
            <a:pPr>
              <a:buNone/>
            </a:pPr>
            <a:endParaRPr sz="1050" dirty="0"/>
          </a:p>
          <a:p>
            <a:pPr marL="0" indent="0" algn="l">
              <a:spcBef>
                <a:spcPts val="360"/>
              </a:spcBef>
              <a:buNone/>
            </a:pPr>
            <a:r>
              <a:rPr lang="en-US" sz="2050" b="1" dirty="0">
                <a:solidFill>
                  <a:srgbClr val="0D7377"/>
                </a:solidFill>
                <a:latin typeface="Century Gothic"/>
                <a:cs typeface="Century Gothic"/>
              </a:rPr>
              <a:t>Your trainers</a:t>
            </a:r>
          </a:p>
          <a:p>
            <a:pPr marL="0" indent="0" algn="l">
              <a:lnSpc>
                <a:spcPct val="108000"/>
              </a:lnSpc>
              <a:spcBef>
                <a:spcPts val="440"/>
              </a:spcBef>
              <a:buNone/>
            </a:pPr>
            <a:r>
              <a:rPr lang="en-US" sz="1800" dirty="0">
                <a:solidFill>
                  <a:srgbClr val="000000"/>
                </a:solidFill>
                <a:latin typeface="Century Gothic"/>
                <a:cs typeface="Century Gothic"/>
              </a:rPr>
              <a:t>Bernard Osang'ir - Senior Biostatistician (lead trainer).</a:t>
            </a:r>
          </a:p>
          <a:p>
            <a:pPr marL="0" indent="0" algn="l">
              <a:lnSpc>
                <a:spcPct val="108000"/>
              </a:lnSpc>
              <a:spcBef>
                <a:spcPts val="440"/>
              </a:spcBef>
              <a:buNone/>
            </a:pPr>
            <a:r>
              <a:rPr lang="en-US" sz="1800" dirty="0">
                <a:solidFill>
                  <a:srgbClr val="000000"/>
                </a:solidFill>
                <a:latin typeface="Century Gothic"/>
                <a:cs typeface="Century Gothic"/>
              </a:rPr>
              <a:t>My Luong Vuong – </a:t>
            </a:r>
            <a:r>
              <a:rPr lang="en-BE" sz="1800">
                <a:solidFill>
                  <a:srgbClr val="000000"/>
                </a:solidFill>
                <a:latin typeface="Century Gothic"/>
                <a:cs typeface="Century Gothic"/>
              </a:rPr>
              <a:t>Pharmacist, </a:t>
            </a:r>
            <a:r>
              <a:rPr lang="en-US" sz="1800">
                <a:solidFill>
                  <a:srgbClr val="000000"/>
                </a:solidFill>
                <a:latin typeface="Century Gothic"/>
                <a:cs typeface="Century Gothic"/>
              </a:rPr>
              <a:t>Biostatistician </a:t>
            </a:r>
            <a:r>
              <a:rPr lang="en-US" sz="1800" dirty="0">
                <a:solidFill>
                  <a:srgbClr val="000000"/>
                </a:solidFill>
                <a:latin typeface="Century Gothic"/>
                <a:cs typeface="Century Gothic"/>
              </a:rPr>
              <a:t>&amp; Epidemiologist.</a:t>
            </a:r>
          </a:p>
          <a:p>
            <a:pPr>
              <a:buNone/>
            </a:pPr>
            <a:endParaRPr sz="1050" dirty="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Register / enquire</a:t>
            </a:r>
          </a:p>
          <a:p>
            <a:pPr marL="0" indent="0" algn="l">
              <a:spcBef>
                <a:spcPts val="100"/>
              </a:spcBef>
              <a:buNone/>
            </a:pPr>
            <a:r>
              <a:rPr lang="en-US" sz="1300" dirty="0">
                <a:solidFill>
                  <a:srgbClr val="000000"/>
                </a:solidFill>
                <a:latin typeface="Century Gothic"/>
                <a:cs typeface="Century Gothic"/>
              </a:rPr>
              <a:t>My Luong Vuong  -  myluong1710@gmail.com  -  www.neu-data.com  -  scan the poster QR code to register.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1: Introduction to R &amp; RStudio</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Today's 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Why R for clinical research</a:t>
            </a:r>
          </a:p>
          <a:p>
            <a:pPr marL="274320" indent="-274320" algn="l">
              <a:spcBef>
                <a:spcPts val="440"/>
              </a:spcBef>
              <a:buFont typeface="Arial"/>
              <a:buChar char="•"/>
            </a:pPr>
            <a:r>
              <a:rPr lang="en-US" sz="1900" dirty="0">
                <a:solidFill>
                  <a:srgbClr val="000000"/>
                </a:solidFill>
                <a:latin typeface="Century Gothic"/>
                <a:cs typeface="Century Gothic"/>
              </a:rPr>
              <a:t>R vs RStudio: install and the interface</a:t>
            </a:r>
          </a:p>
          <a:p>
            <a:pPr marL="274320" indent="-274320" algn="l">
              <a:spcBef>
                <a:spcPts val="440"/>
              </a:spcBef>
              <a:buFont typeface="Arial"/>
              <a:buChar char="•"/>
            </a:pPr>
            <a:r>
              <a:rPr lang="en-US" sz="1900" dirty="0">
                <a:solidFill>
                  <a:srgbClr val="000000"/>
                </a:solidFill>
                <a:latin typeface="Century Gothic"/>
                <a:cs typeface="Century Gothic"/>
              </a:rPr>
              <a:t>Projects, scripts, objects and vectors</a:t>
            </a:r>
          </a:p>
          <a:p>
            <a:pPr marL="274320" indent="-274320" algn="l">
              <a:spcBef>
                <a:spcPts val="440"/>
              </a:spcBef>
              <a:buFont typeface="Arial"/>
              <a:buChar char="•"/>
            </a:pPr>
            <a:r>
              <a:rPr lang="en-US" sz="1900" dirty="0">
                <a:solidFill>
                  <a:srgbClr val="000000"/>
                </a:solidFill>
                <a:latin typeface="Century Gothic"/>
                <a:cs typeface="Century Gothic"/>
              </a:rPr>
              <a:t>Data frames and packages (tidyverse)</a:t>
            </a:r>
          </a:p>
          <a:p>
            <a:pPr marL="274320" indent="-274320" algn="l">
              <a:spcBef>
                <a:spcPts val="440"/>
              </a:spcBef>
              <a:buFont typeface="Arial"/>
              <a:buChar char="•"/>
            </a:pPr>
            <a:r>
              <a:rPr lang="en-US" sz="1900" dirty="0">
                <a:solidFill>
                  <a:srgbClr val="000000"/>
                </a:solidFill>
                <a:latin typeface="Century Gothic"/>
                <a:cs typeface="Century Gothic"/>
              </a:rPr>
              <a:t>Importing and a first look at the study data</a:t>
            </a:r>
          </a:p>
          <a:p>
            <a:pPr marL="274320" indent="-274320" algn="l">
              <a:spcBef>
                <a:spcPts val="440"/>
              </a:spcBef>
              <a:buFont typeface="Arial"/>
              <a:buChar char="•"/>
            </a:pPr>
            <a:r>
              <a:rPr lang="en-US" sz="1900" dirty="0">
                <a:solidFill>
                  <a:srgbClr val="000000"/>
                </a:solidFill>
                <a:latin typeface="Century Gothic"/>
                <a:cs typeface="Century Gothic"/>
              </a:rPr>
              <a:t>Hands-on exercise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Why R for Clinical Research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R gives you</a:t>
            </a:r>
          </a:p>
          <a:p>
            <a:pPr marL="0" indent="0" algn="l">
              <a:lnSpc>
                <a:spcPct val="108000"/>
              </a:lnSpc>
              <a:spcBef>
                <a:spcPts val="440"/>
              </a:spcBef>
              <a:buNone/>
            </a:pPr>
            <a:r>
              <a:rPr lang="en-US" sz="1800" dirty="0">
                <a:solidFill>
                  <a:srgbClr val="000000"/>
                </a:solidFill>
                <a:latin typeface="Century Gothic"/>
                <a:cs typeface="Century Gothic"/>
              </a:rPr>
              <a:t>A free, open-source language for statistics and data</a:t>
            </a:r>
          </a:p>
          <a:p>
            <a:pPr marL="0" indent="0" algn="l">
              <a:lnSpc>
                <a:spcPct val="108000"/>
              </a:lnSpc>
              <a:spcBef>
                <a:spcPts val="440"/>
              </a:spcBef>
              <a:buNone/>
            </a:pPr>
            <a:r>
              <a:rPr lang="en-US" sz="1800" dirty="0">
                <a:solidFill>
                  <a:srgbClr val="000000"/>
                </a:solidFill>
                <a:latin typeface="Century Gothic"/>
                <a:cs typeface="Century Gothic"/>
              </a:rPr>
              <a:t>Used in clinical trials, epidemiology and journals</a:t>
            </a:r>
          </a:p>
          <a:p>
            <a:pPr marL="0" indent="0" algn="l">
              <a:lnSpc>
                <a:spcPct val="108000"/>
              </a:lnSpc>
              <a:spcBef>
                <a:spcPts val="440"/>
              </a:spcBef>
              <a:buNone/>
            </a:pPr>
            <a:r>
              <a:rPr lang="en-US" sz="1800" dirty="0">
                <a:solidFill>
                  <a:srgbClr val="000000"/>
                </a:solidFill>
                <a:latin typeface="Century Gothic"/>
                <a:cs typeface="Century Gothic"/>
              </a:rPr>
              <a:t>Handles import, cleaning, analysis and plots in one place</a:t>
            </a:r>
          </a:p>
          <a:p>
            <a:pPr>
              <a:buNone/>
            </a:pPr>
            <a:endParaRPr sz="1050"/>
          </a:p>
          <a:p>
            <a:pPr marL="0" indent="0" algn="l">
              <a:spcBef>
                <a:spcPts val="360"/>
              </a:spcBef>
              <a:buNone/>
            </a:pPr>
            <a:r>
              <a:rPr lang="en-US" sz="2050" b="1" dirty="0">
                <a:solidFill>
                  <a:srgbClr val="0D7377"/>
                </a:solidFill>
                <a:latin typeface="Century Gothic"/>
                <a:cs typeface="Century Gothic"/>
              </a:rPr>
              <a:t>Why it matters</a:t>
            </a:r>
          </a:p>
          <a:p>
            <a:pPr marL="0" indent="0" algn="l">
              <a:lnSpc>
                <a:spcPct val="108000"/>
              </a:lnSpc>
              <a:spcBef>
                <a:spcPts val="440"/>
              </a:spcBef>
              <a:buNone/>
            </a:pPr>
            <a:r>
              <a:rPr lang="en-US" sz="1800" dirty="0">
                <a:solidFill>
                  <a:srgbClr val="000000"/>
                </a:solidFill>
                <a:latin typeface="Century Gothic"/>
                <a:cs typeface="Century Gothic"/>
              </a:rPr>
              <a:t>Every step is written down, so the analysis is repeatable</a:t>
            </a:r>
          </a:p>
          <a:p>
            <a:pPr marL="0" indent="0" algn="l">
              <a:lnSpc>
                <a:spcPct val="108000"/>
              </a:lnSpc>
              <a:spcBef>
                <a:spcPts val="440"/>
              </a:spcBef>
              <a:buNone/>
            </a:pPr>
            <a:r>
              <a:rPr lang="en-US" sz="1800" dirty="0">
                <a:solidFill>
                  <a:srgbClr val="000000"/>
                </a:solidFill>
                <a:latin typeface="Century Gothic"/>
                <a:cs typeface="Century Gothic"/>
              </a:rPr>
              <a:t>No cost and no licence: install on any computer</a:t>
            </a:r>
          </a:p>
          <a:p>
            <a:pPr marL="0" indent="0" algn="l">
              <a:lnSpc>
                <a:spcPct val="108000"/>
              </a:lnSpc>
              <a:spcBef>
                <a:spcPts val="440"/>
              </a:spcBef>
              <a:buNone/>
            </a:pPr>
            <a:r>
              <a:rPr lang="en-US" sz="1800" dirty="0">
                <a:solidFill>
                  <a:srgbClr val="000000"/>
                </a:solidFill>
                <a:latin typeface="Century Gothic"/>
                <a:cs typeface="Century Gothic"/>
              </a:rPr>
              <a:t>A huge community and packages for medical research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Reproducibility</a:t>
            </a:r>
          </a:p>
          <a:p>
            <a:pPr marL="0" indent="0" algn="l">
              <a:spcBef>
                <a:spcPts val="100"/>
              </a:spcBef>
              <a:buNone/>
            </a:pPr>
            <a:r>
              <a:rPr lang="en-US" sz="1300" dirty="0">
                <a:solidFill>
                  <a:srgbClr val="000000"/>
                </a:solidFill>
                <a:latin typeface="Century Gothic"/>
                <a:cs typeface="Century Gothic"/>
              </a:rPr>
              <a:t>If you can re-run the script, you can defend the result.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 vs RStudio: Two Different Things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R (the engine)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actual statistical language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Does the computation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You install it first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Rarely opened on its own</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RStudio (the dashboard)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 friendly workspace around R</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Editor, console, plots, help</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Install it second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This is what you open daily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RStudio Interface: Four Panes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Top-left: Source (Script editor)</a:t>
            </a:r>
          </a:p>
          <a:p>
            <a:pPr marL="0" indent="0" algn="l">
              <a:lnSpc>
                <a:spcPct val="108000"/>
              </a:lnSpc>
              <a:spcBef>
                <a:spcPts val="440"/>
              </a:spcBef>
              <a:buNone/>
            </a:pPr>
            <a:r>
              <a:rPr lang="en-US" sz="1800" dirty="0">
                <a:solidFill>
                  <a:srgbClr val="000000"/>
                </a:solidFill>
                <a:latin typeface="Century Gothic"/>
                <a:cs typeface="Century Gothic"/>
              </a:rPr>
              <a:t>Where you write and save your code</a:t>
            </a:r>
          </a:p>
          <a:p>
            <a:pPr>
              <a:buNone/>
            </a:pPr>
            <a:endParaRPr sz="1050"/>
          </a:p>
          <a:p>
            <a:pPr marL="0" indent="0" algn="l">
              <a:spcBef>
                <a:spcPts val="360"/>
              </a:spcBef>
              <a:buNone/>
            </a:pPr>
            <a:r>
              <a:rPr lang="en-US" sz="2050" b="1" dirty="0">
                <a:solidFill>
                  <a:srgbClr val="0D7377"/>
                </a:solidFill>
                <a:latin typeface="Century Gothic"/>
                <a:cs typeface="Century Gothic"/>
              </a:rPr>
              <a:t>Bottom-left: Console</a:t>
            </a:r>
          </a:p>
          <a:p>
            <a:pPr marL="0" indent="0" algn="l">
              <a:lnSpc>
                <a:spcPct val="108000"/>
              </a:lnSpc>
              <a:spcBef>
                <a:spcPts val="440"/>
              </a:spcBef>
              <a:buNone/>
            </a:pPr>
            <a:r>
              <a:rPr lang="en-US" sz="1800" dirty="0">
                <a:solidFill>
                  <a:srgbClr val="000000"/>
                </a:solidFill>
                <a:latin typeface="Century Gothic"/>
                <a:cs typeface="Century Gothic"/>
              </a:rPr>
              <a:t>Where code runs and results appear</a:t>
            </a:r>
          </a:p>
          <a:p>
            <a:pPr>
              <a:buNone/>
            </a:pPr>
            <a:endParaRPr sz="1050"/>
          </a:p>
          <a:p>
            <a:pPr marL="0" indent="0" algn="l">
              <a:spcBef>
                <a:spcPts val="360"/>
              </a:spcBef>
              <a:buNone/>
            </a:pPr>
            <a:r>
              <a:rPr lang="en-US" sz="2050" b="1" dirty="0">
                <a:solidFill>
                  <a:srgbClr val="0D7377"/>
                </a:solidFill>
                <a:latin typeface="Century Gothic"/>
                <a:cs typeface="Century Gothic"/>
              </a:rPr>
              <a:t>Top-right: Environment</a:t>
            </a:r>
          </a:p>
          <a:p>
            <a:pPr marL="0" indent="0" algn="l">
              <a:lnSpc>
                <a:spcPct val="108000"/>
              </a:lnSpc>
              <a:spcBef>
                <a:spcPts val="440"/>
              </a:spcBef>
              <a:buNone/>
            </a:pPr>
            <a:r>
              <a:rPr lang="en-US" sz="1800" dirty="0">
                <a:solidFill>
                  <a:srgbClr val="000000"/>
                </a:solidFill>
                <a:latin typeface="Century Gothic"/>
                <a:cs typeface="Century Gothic"/>
              </a:rPr>
              <a:t>The objects and data you have created</a:t>
            </a:r>
          </a:p>
          <a:p>
            <a:pPr>
              <a:buNone/>
            </a:pPr>
            <a:endParaRPr sz="1050"/>
          </a:p>
          <a:p>
            <a:pPr marL="0" indent="0" algn="l">
              <a:spcBef>
                <a:spcPts val="360"/>
              </a:spcBef>
              <a:buNone/>
            </a:pPr>
            <a:r>
              <a:rPr lang="en-US" sz="2050" b="1" dirty="0">
                <a:solidFill>
                  <a:srgbClr val="0D7377"/>
                </a:solidFill>
                <a:latin typeface="Century Gothic"/>
                <a:cs typeface="Century Gothic"/>
              </a:rPr>
              <a:t>Bottom-right: Files / Plots / Help</a:t>
            </a:r>
          </a:p>
          <a:p>
            <a:pPr marL="0" indent="0" algn="l">
              <a:lnSpc>
                <a:spcPct val="108000"/>
              </a:lnSpc>
              <a:spcBef>
                <a:spcPts val="440"/>
              </a:spcBef>
              <a:buNone/>
            </a:pPr>
            <a:r>
              <a:rPr lang="en-US" sz="1800" dirty="0">
                <a:solidFill>
                  <a:srgbClr val="000000"/>
                </a:solidFill>
                <a:latin typeface="Century Gothic"/>
                <a:cs typeface="Century Gothic"/>
              </a:rPr>
              <a:t>Folders, your graphs, and documentation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Orientation</a:t>
            </a:r>
          </a:p>
          <a:p>
            <a:pPr marL="0" indent="0" algn="l">
              <a:spcBef>
                <a:spcPts val="100"/>
              </a:spcBef>
              <a:buNone/>
            </a:pPr>
            <a:r>
              <a:rPr lang="en-US" sz="1300" dirty="0">
                <a:solidFill>
                  <a:srgbClr val="000000"/>
                </a:solidFill>
                <a:latin typeface="Century Gothic"/>
                <a:cs typeface="Century Gothic"/>
              </a:rPr>
              <a:t>Spend two minutes finding each pane before you type.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RStudio Projects and the Working Directory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working directory</a:t>
            </a:r>
          </a:p>
          <a:p>
            <a:pPr marL="0" indent="0" algn="l">
              <a:lnSpc>
                <a:spcPct val="108000"/>
              </a:lnSpc>
              <a:spcBef>
                <a:spcPts val="440"/>
              </a:spcBef>
              <a:buNone/>
            </a:pPr>
            <a:r>
              <a:rPr lang="en-US" sz="1800" dirty="0">
                <a:solidFill>
                  <a:srgbClr val="000000"/>
                </a:solidFill>
                <a:latin typeface="Century Gothic"/>
                <a:cs typeface="Century Gothic"/>
              </a:rPr>
              <a:t>The folder R looks in when you open a file</a:t>
            </a:r>
          </a:p>
          <a:p>
            <a:pPr marL="0" indent="0" algn="l">
              <a:lnSpc>
                <a:spcPct val="108000"/>
              </a:lnSpc>
              <a:spcBef>
                <a:spcPts val="440"/>
              </a:spcBef>
              <a:buNone/>
            </a:pPr>
            <a:r>
              <a:rPr lang="en-US" sz="1800" dirty="0">
                <a:solidFill>
                  <a:srgbClr val="000000"/>
                </a:solidFill>
                <a:latin typeface="Century Gothic"/>
                <a:cs typeface="Century Gothic"/>
              </a:rPr>
              <a:t>Check it with getwd()</a:t>
            </a:r>
          </a:p>
          <a:p>
            <a:pPr>
              <a:buNone/>
            </a:pPr>
            <a:endParaRPr sz="1050"/>
          </a:p>
          <a:p>
            <a:pPr marL="0" indent="0" algn="l">
              <a:spcBef>
                <a:spcPts val="360"/>
              </a:spcBef>
              <a:buNone/>
            </a:pPr>
            <a:r>
              <a:rPr lang="en-US" sz="2050" b="1" dirty="0">
                <a:solidFill>
                  <a:srgbClr val="0D7377"/>
                </a:solidFill>
                <a:latin typeface="Century Gothic"/>
                <a:cs typeface="Century Gothic"/>
              </a:rPr>
              <a:t>Use a Project, not setwd()</a:t>
            </a:r>
          </a:p>
          <a:p>
            <a:pPr marL="0" indent="0" algn="l">
              <a:lnSpc>
                <a:spcPct val="108000"/>
              </a:lnSpc>
              <a:spcBef>
                <a:spcPts val="440"/>
              </a:spcBef>
              <a:buNone/>
            </a:pPr>
            <a:r>
              <a:rPr lang="en-US" sz="1800" dirty="0">
                <a:solidFill>
                  <a:srgbClr val="000000"/>
                </a:solidFill>
                <a:latin typeface="Century Gothic"/>
                <a:cs typeface="Century Gothic"/>
              </a:rPr>
              <a:t>File &gt; New Project keeps everything in one folder</a:t>
            </a:r>
          </a:p>
          <a:p>
            <a:pPr marL="0" indent="0" algn="l">
              <a:lnSpc>
                <a:spcPct val="108000"/>
              </a:lnSpc>
              <a:spcBef>
                <a:spcPts val="440"/>
              </a:spcBef>
              <a:buNone/>
            </a:pPr>
            <a:r>
              <a:rPr lang="en-US" sz="1800" dirty="0">
                <a:solidFill>
                  <a:srgbClr val="000000"/>
                </a:solidFill>
                <a:latin typeface="Century Gothic"/>
                <a:cs typeface="Century Gothic"/>
              </a:rPr>
              <a:t>Paths become relative, like Data/file.csv</a:t>
            </a:r>
          </a:p>
          <a:p>
            <a:pPr marL="0" indent="0" algn="l">
              <a:lnSpc>
                <a:spcPct val="108000"/>
              </a:lnSpc>
              <a:spcBef>
                <a:spcPts val="440"/>
              </a:spcBef>
              <a:buNone/>
            </a:pPr>
            <a:r>
              <a:rPr lang="en-US" sz="1800" dirty="0">
                <a:solidFill>
                  <a:srgbClr val="000000"/>
                </a:solidFill>
                <a:latin typeface="Century Gothic"/>
                <a:cs typeface="Century Gothic"/>
              </a:rPr>
              <a:t>The work runs on any computer, unchanged</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Avoid setwd()</a:t>
            </a:r>
          </a:p>
          <a:p>
            <a:pPr marL="0" indent="0" algn="l">
              <a:spcBef>
                <a:spcPts val="100"/>
              </a:spcBef>
              <a:buNone/>
            </a:pPr>
            <a:r>
              <a:rPr lang="en-US" sz="1300" dirty="0">
                <a:solidFill>
                  <a:srgbClr val="000000"/>
                </a:solidFill>
                <a:latin typeface="Century Gothic"/>
                <a:cs typeface="Century Gothic"/>
              </a:rPr>
              <a:t>A hard-coded path breaks on every other machine.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Script vs Console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Console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Type, press Enter, get an answer</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Good for quick tries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Not saved when you close</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Script (Source)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You write, then save as a .R file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Re-run any time, line by line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This is your reproducible record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First Steps: R as a Calculator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The simplest way to start - just type sums into the Console.</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2 + 2</a:t>
            </a:r>
          </a:p>
          <a:p>
            <a:pPr marL="0" indent="0" algn="l">
              <a:lnSpc>
                <a:spcPct val="100000"/>
              </a:lnSpc>
              <a:buNone/>
            </a:pPr>
            <a:r>
              <a:rPr lang="en-US" sz="1300" dirty="0">
                <a:solidFill>
                  <a:srgbClr val="1B3A4B"/>
                </a:solidFill>
                <a:latin typeface="Consolas"/>
                <a:cs typeface="Consolas"/>
              </a:rPr>
              <a:t>140 / 90        # a blood-pressure ratio</a:t>
            </a:r>
          </a:p>
          <a:p>
            <a:pPr marL="0" indent="0" algn="l">
              <a:lnSpc>
                <a:spcPct val="100000"/>
              </a:lnSpc>
              <a:buNone/>
            </a:pPr>
            <a:r>
              <a:rPr lang="en-US" sz="1300" dirty="0">
                <a:solidFill>
                  <a:srgbClr val="1B3A4B"/>
                </a:solidFill>
                <a:latin typeface="Consolas"/>
                <a:cs typeface="Consolas"/>
              </a:rPr>
              <a:t>sqrt(16)</a:t>
            </a:r>
          </a:p>
          <a:p>
            <a:pPr marL="0" indent="0" algn="l">
              <a:lnSpc>
                <a:spcPct val="100000"/>
              </a:lnSpc>
              <a:buNone/>
            </a:pPr>
            <a:r>
              <a:rPr lang="en-US" sz="1300" dirty="0">
                <a:solidFill>
                  <a:srgbClr val="1B3A4B"/>
                </a:solidFill>
                <a:latin typeface="Consolas"/>
                <a:cs typeface="Consolas"/>
              </a:rPr>
              <a:t>(120 + 130 + 145 + 150) / 4   # mean of four readings</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1.555556</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136.25</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Everything in R is built from small steps like these - start simple, then build up.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Objects and the Assignment Arrow</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Store a value in an object</a:t>
            </a:r>
          </a:p>
          <a:p>
            <a:pPr marL="0" indent="0" algn="l">
              <a:lnSpc>
                <a:spcPct val="108000"/>
              </a:lnSpc>
              <a:spcBef>
                <a:spcPts val="440"/>
              </a:spcBef>
              <a:buNone/>
            </a:pPr>
            <a:r>
              <a:rPr lang="en-US" sz="1800" dirty="0">
                <a:solidFill>
                  <a:srgbClr val="000000"/>
                </a:solidFill>
                <a:latin typeface="Century Gothic"/>
                <a:cs typeface="Century Gothic"/>
              </a:rPr>
              <a:t>sbp &lt;- 152 means store 152 in an object named sbp</a:t>
            </a:r>
          </a:p>
          <a:p>
            <a:pPr marL="0" indent="0" algn="l">
              <a:lnSpc>
                <a:spcPct val="108000"/>
              </a:lnSpc>
              <a:spcBef>
                <a:spcPts val="440"/>
              </a:spcBef>
              <a:buNone/>
            </a:pPr>
            <a:r>
              <a:rPr lang="en-US" sz="1800" dirty="0">
                <a:solidFill>
                  <a:srgbClr val="000000"/>
                </a:solidFill>
                <a:latin typeface="Century Gothic"/>
                <a:cs typeface="Century Gothic"/>
              </a:rPr>
              <a:t>Type the name sbp to print it back</a:t>
            </a:r>
          </a:p>
          <a:p>
            <a:pPr marL="0" indent="0" algn="l">
              <a:lnSpc>
                <a:spcPct val="108000"/>
              </a:lnSpc>
              <a:spcBef>
                <a:spcPts val="440"/>
              </a:spcBef>
              <a:buNone/>
            </a:pPr>
            <a:r>
              <a:rPr lang="en-US" sz="1800" dirty="0">
                <a:solidFill>
                  <a:srgbClr val="000000"/>
                </a:solidFill>
                <a:latin typeface="Century Gothic"/>
                <a:cs typeface="Century Gothic"/>
              </a:rPr>
              <a:t>The arrow &lt;- is the assignment operator</a:t>
            </a:r>
          </a:p>
          <a:p>
            <a:pPr>
              <a:buNone/>
            </a:pPr>
            <a:endParaRPr sz="1050"/>
          </a:p>
          <a:p>
            <a:pPr marL="0" indent="0" algn="l">
              <a:spcBef>
                <a:spcPts val="360"/>
              </a:spcBef>
              <a:buNone/>
            </a:pPr>
            <a:r>
              <a:rPr lang="en-US" sz="2050" b="1" dirty="0">
                <a:solidFill>
                  <a:srgbClr val="0D7377"/>
                </a:solidFill>
                <a:latin typeface="Century Gothic"/>
                <a:cs typeface="Century Gothic"/>
              </a:rPr>
              <a:t>R is case-sensitive</a:t>
            </a:r>
          </a:p>
          <a:p>
            <a:pPr marL="0" indent="0" algn="l">
              <a:lnSpc>
                <a:spcPct val="108000"/>
              </a:lnSpc>
              <a:spcBef>
                <a:spcPts val="440"/>
              </a:spcBef>
              <a:buNone/>
            </a:pPr>
            <a:r>
              <a:rPr lang="en-US" sz="1800" dirty="0">
                <a:solidFill>
                  <a:srgbClr val="000000"/>
                </a:solidFill>
                <a:latin typeface="Century Gothic"/>
                <a:cs typeface="Century Gothic"/>
              </a:rPr>
              <a:t>SBP and sbp are two different objects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Common slips</a:t>
            </a:r>
          </a:p>
          <a:p>
            <a:pPr marL="0" indent="0" algn="l">
              <a:spcBef>
                <a:spcPts val="100"/>
              </a:spcBef>
              <a:buNone/>
            </a:pPr>
            <a:r>
              <a:rPr lang="en-US" sz="1300" dirty="0">
                <a:solidFill>
                  <a:srgbClr val="000000"/>
                </a:solidFill>
                <a:latin typeface="Century Gothic"/>
                <a:cs typeface="Century Gothic"/>
              </a:rPr>
              <a:t>Using = instead of &lt;-; mixing up upper and lower case.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Objects and Vectors in Action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A vector holds many values of the same type.</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sbp &lt;- 152</a:t>
            </a:r>
          </a:p>
          <a:p>
            <a:pPr marL="0" indent="0" algn="l">
              <a:lnSpc>
                <a:spcPct val="100000"/>
              </a:lnSpc>
              <a:buNone/>
            </a:pPr>
            <a:r>
              <a:rPr lang="en-US" sz="1300" dirty="0">
                <a:solidFill>
                  <a:srgbClr val="1B3A4B"/>
                </a:solidFill>
                <a:latin typeface="Consolas"/>
                <a:cs typeface="Consolas"/>
              </a:rPr>
              <a:t>sbp</a:t>
            </a:r>
          </a:p>
          <a:p>
            <a:pPr marL="0" indent="0" algn="l">
              <a:lnSpc>
                <a:spcPct val="100000"/>
              </a:lnSpc>
              <a:buNone/>
            </a:pPr>
            <a:r>
              <a:rPr lang="en-US" sz="1300" dirty="0">
                <a:solidFill>
                  <a:srgbClr val="1B3A4B"/>
                </a:solidFill>
                <a:latin typeface="Consolas"/>
                <a:cs typeface="Consolas"/>
              </a:rPr>
              <a:t>sbp_readings &lt;- c(152, 138, 145, 160, 129, 142)</a:t>
            </a:r>
          </a:p>
          <a:p>
            <a:pPr marL="0" indent="0" algn="l">
              <a:lnSpc>
                <a:spcPct val="100000"/>
              </a:lnSpc>
              <a:buNone/>
            </a:pPr>
            <a:r>
              <a:rPr lang="en-US" sz="1300" dirty="0">
                <a:solidFill>
                  <a:srgbClr val="1B3A4B"/>
                </a:solidFill>
                <a:latin typeface="Consolas"/>
                <a:cs typeface="Consolas"/>
              </a:rPr>
              <a:t>length(sbp_readings)</a:t>
            </a:r>
          </a:p>
          <a:p>
            <a:pPr marL="0" indent="0" algn="l">
              <a:lnSpc>
                <a:spcPct val="100000"/>
              </a:lnSpc>
              <a:buNone/>
            </a:pPr>
            <a:r>
              <a:rPr lang="en-US" sz="1300" dirty="0">
                <a:solidFill>
                  <a:srgbClr val="1B3A4B"/>
                </a:solidFill>
                <a:latin typeface="Consolas"/>
                <a:cs typeface="Consolas"/>
              </a:rPr>
              <a:t>mean(sbp_readings)</a:t>
            </a:r>
          </a:p>
          <a:p>
            <a:pPr marL="0" indent="0" algn="l">
              <a:lnSpc>
                <a:spcPct val="100000"/>
              </a:lnSpc>
              <a:buNone/>
            </a:pPr>
            <a:r>
              <a:rPr lang="en-US" sz="1300" dirty="0">
                <a:solidFill>
                  <a:srgbClr val="1B3A4B"/>
                </a:solidFill>
                <a:latin typeface="Consolas"/>
                <a:cs typeface="Consolas"/>
              </a:rPr>
              <a:t>sd(sbp_readings)</a:t>
            </a:r>
          </a:p>
        </p:txBody>
      </p:sp>
      <p:sp>
        <p:nvSpPr>
          <p:cNvPr id="31" name="Output"/>
          <p:cNvSpPr/>
          <p:nvPr/>
        </p:nvSpPr>
        <p:spPr>
          <a:xfrm>
            <a:off x="457200" y="323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152</a:t>
            </a:r>
          </a:p>
          <a:p>
            <a:pPr marL="0" indent="0" algn="l">
              <a:lnSpc>
                <a:spcPct val="100000"/>
              </a:lnSpc>
              <a:buNone/>
            </a:pPr>
            <a:r>
              <a:rPr lang="en-US" sz="1250" dirty="0">
                <a:solidFill>
                  <a:srgbClr val="1A1A1A"/>
                </a:solidFill>
                <a:latin typeface="Consolas"/>
                <a:cs typeface="Consolas"/>
              </a:rPr>
              <a:t>[1] 6</a:t>
            </a:r>
          </a:p>
          <a:p>
            <a:pPr marL="0" indent="0" algn="l">
              <a:lnSpc>
                <a:spcPct val="100000"/>
              </a:lnSpc>
              <a:buNone/>
            </a:pPr>
            <a:r>
              <a:rPr lang="en-US" sz="1250" dirty="0">
                <a:solidFill>
                  <a:srgbClr val="1A1A1A"/>
                </a:solidFill>
                <a:latin typeface="Consolas"/>
                <a:cs typeface="Consolas"/>
              </a:rPr>
              <a:t>[1] 144.3333</a:t>
            </a:r>
          </a:p>
          <a:p>
            <a:pPr marL="0" indent="0" algn="l">
              <a:lnSpc>
                <a:spcPct val="100000"/>
              </a:lnSpc>
              <a:buNone/>
            </a:pPr>
            <a:r>
              <a:rPr lang="en-US" sz="1250" dirty="0">
                <a:solidFill>
                  <a:srgbClr val="1A1A1A"/>
                </a:solidFill>
                <a:latin typeface="Consolas"/>
                <a:cs typeface="Consolas"/>
              </a:rPr>
              <a:t>[1] 11.23239</a:t>
            </a:r>
          </a:p>
        </p:txBody>
      </p:sp>
      <p:sp>
        <p:nvSpPr>
          <p:cNvPr id="32" name="Note"/>
          <p:cNvSpPr/>
          <p:nvPr/>
        </p:nvSpPr>
        <p:spPr>
          <a:xfrm>
            <a:off x="457200" y="44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c() means combine; mean() and sd() summarise the whole vector.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Data Types You Will Meet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Three everyday types</a:t>
            </a:r>
          </a:p>
          <a:p>
            <a:pPr marL="0" indent="0" algn="l">
              <a:lnSpc>
                <a:spcPct val="108000"/>
              </a:lnSpc>
              <a:spcBef>
                <a:spcPts val="440"/>
              </a:spcBef>
              <a:buNone/>
            </a:pPr>
            <a:r>
              <a:rPr lang="en-US" sz="1800" dirty="0">
                <a:solidFill>
                  <a:srgbClr val="000000"/>
                </a:solidFill>
                <a:latin typeface="Century Gothic"/>
                <a:cs typeface="Century Gothic"/>
              </a:rPr>
              <a:t>numeric: numbers, like age or sbp (60, 152)</a:t>
            </a:r>
          </a:p>
          <a:p>
            <a:pPr marL="0" indent="0" algn="l">
              <a:lnSpc>
                <a:spcPct val="108000"/>
              </a:lnSpc>
              <a:spcBef>
                <a:spcPts val="440"/>
              </a:spcBef>
              <a:buNone/>
            </a:pPr>
            <a:r>
              <a:rPr lang="en-US" sz="1800" dirty="0">
                <a:solidFill>
                  <a:srgbClr val="000000"/>
                </a:solidFill>
                <a:latin typeface="Century Gothic"/>
                <a:cs typeface="Century Gothic"/>
              </a:rPr>
              <a:t>character: text in quotes, like "Female"</a:t>
            </a:r>
          </a:p>
          <a:p>
            <a:pPr marL="0" indent="0" algn="l">
              <a:lnSpc>
                <a:spcPct val="108000"/>
              </a:lnSpc>
              <a:spcBef>
                <a:spcPts val="440"/>
              </a:spcBef>
              <a:buNone/>
            </a:pPr>
            <a:r>
              <a:rPr lang="en-US" sz="1800" dirty="0">
                <a:solidFill>
                  <a:srgbClr val="000000"/>
                </a:solidFill>
                <a:latin typeface="Century Gothic"/>
                <a:cs typeface="Century Gothic"/>
              </a:rPr>
              <a:t>logical: TRUE or FALSE, like sbp &gt;= 140</a:t>
            </a:r>
          </a:p>
          <a:p>
            <a:pPr>
              <a:buNone/>
            </a:pPr>
            <a:endParaRPr sz="1050"/>
          </a:p>
          <a:p>
            <a:pPr marL="0" indent="0" algn="l">
              <a:spcBef>
                <a:spcPts val="360"/>
              </a:spcBef>
              <a:buNone/>
            </a:pPr>
            <a:r>
              <a:rPr lang="en-US" sz="2050" b="1" dirty="0">
                <a:solidFill>
                  <a:srgbClr val="0D7377"/>
                </a:solidFill>
                <a:latin typeface="Century Gothic"/>
                <a:cs typeface="Century Gothic"/>
              </a:rPr>
              <a:t>Why type matters</a:t>
            </a:r>
          </a:p>
          <a:p>
            <a:pPr marL="0" indent="0" algn="l">
              <a:lnSpc>
                <a:spcPct val="108000"/>
              </a:lnSpc>
              <a:spcBef>
                <a:spcPts val="440"/>
              </a:spcBef>
              <a:buNone/>
            </a:pPr>
            <a:r>
              <a:rPr lang="en-US" sz="1800" dirty="0">
                <a:solidFill>
                  <a:srgbClr val="000000"/>
                </a:solidFill>
                <a:latin typeface="Century Gothic"/>
                <a:cs typeface="Century Gothic"/>
              </a:rPr>
              <a:t>You can average numbers, not text</a:t>
            </a:r>
          </a:p>
          <a:p>
            <a:pPr marL="0" indent="0" algn="l">
              <a:lnSpc>
                <a:spcPct val="108000"/>
              </a:lnSpc>
              <a:spcBef>
                <a:spcPts val="440"/>
              </a:spcBef>
              <a:buNone/>
            </a:pPr>
            <a:r>
              <a:rPr lang="en-US" sz="1800" dirty="0">
                <a:solidFill>
                  <a:srgbClr val="000000"/>
                </a:solidFill>
                <a:latin typeface="Century Gothic"/>
                <a:cs typeface="Century Gothic"/>
              </a:rPr>
              <a:t>R picks the type when it reads your data</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Tip</a:t>
            </a:r>
          </a:p>
          <a:p>
            <a:pPr marL="0" indent="0" algn="l">
              <a:spcBef>
                <a:spcPts val="100"/>
              </a:spcBef>
              <a:buNone/>
            </a:pPr>
            <a:r>
              <a:rPr lang="en-US" sz="1300" dirty="0">
                <a:solidFill>
                  <a:srgbClr val="000000"/>
                </a:solidFill>
                <a:latin typeface="Century Gothic"/>
                <a:cs typeface="Century Gothic"/>
              </a:rPr>
              <a:t>glimpse() shows the type of every column at a glance.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Data Frames and Tibbles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shape of a dataset</a:t>
            </a:r>
          </a:p>
          <a:p>
            <a:pPr marL="0" indent="0" algn="l">
              <a:lnSpc>
                <a:spcPct val="108000"/>
              </a:lnSpc>
              <a:spcBef>
                <a:spcPts val="440"/>
              </a:spcBef>
              <a:buNone/>
            </a:pPr>
            <a:r>
              <a:rPr lang="en-US" sz="1800" dirty="0">
                <a:solidFill>
                  <a:srgbClr val="000000"/>
                </a:solidFill>
                <a:latin typeface="Century Gothic"/>
                <a:cs typeface="Century Gothic"/>
              </a:rPr>
              <a:t>A data frame is a table: rows and columns</a:t>
            </a:r>
          </a:p>
          <a:p>
            <a:pPr marL="0" indent="0" algn="l">
              <a:lnSpc>
                <a:spcPct val="108000"/>
              </a:lnSpc>
              <a:spcBef>
                <a:spcPts val="440"/>
              </a:spcBef>
              <a:buNone/>
            </a:pPr>
            <a:r>
              <a:rPr lang="en-US" sz="1800" dirty="0">
                <a:solidFill>
                  <a:srgbClr val="000000"/>
                </a:solidFill>
                <a:latin typeface="Century Gothic"/>
                <a:cs typeface="Century Gothic"/>
              </a:rPr>
              <a:t>Each row is one patient (one observation)</a:t>
            </a:r>
          </a:p>
          <a:p>
            <a:pPr marL="0" indent="0" algn="l">
              <a:lnSpc>
                <a:spcPct val="108000"/>
              </a:lnSpc>
              <a:spcBef>
                <a:spcPts val="440"/>
              </a:spcBef>
              <a:buNone/>
            </a:pPr>
            <a:r>
              <a:rPr lang="en-US" sz="1800" dirty="0">
                <a:solidFill>
                  <a:srgbClr val="000000"/>
                </a:solidFill>
                <a:latin typeface="Century Gothic"/>
                <a:cs typeface="Century Gothic"/>
              </a:rPr>
              <a:t>Each column is one variable (age, sex, sbp)</a:t>
            </a:r>
          </a:p>
          <a:p>
            <a:pPr>
              <a:buNone/>
            </a:pPr>
            <a:endParaRPr sz="1050"/>
          </a:p>
          <a:p>
            <a:pPr marL="0" indent="0" algn="l">
              <a:spcBef>
                <a:spcPts val="360"/>
              </a:spcBef>
              <a:buNone/>
            </a:pPr>
            <a:r>
              <a:rPr lang="en-US" sz="2050" b="1" dirty="0">
                <a:solidFill>
                  <a:srgbClr val="0D7377"/>
                </a:solidFill>
                <a:latin typeface="Century Gothic"/>
                <a:cs typeface="Century Gothic"/>
              </a:rPr>
              <a:t>Tibble</a:t>
            </a:r>
          </a:p>
          <a:p>
            <a:pPr marL="0" indent="0" algn="l">
              <a:lnSpc>
                <a:spcPct val="108000"/>
              </a:lnSpc>
              <a:spcBef>
                <a:spcPts val="440"/>
              </a:spcBef>
              <a:buNone/>
            </a:pPr>
            <a:r>
              <a:rPr lang="en-US" sz="1800" dirty="0">
                <a:solidFill>
                  <a:srgbClr val="000000"/>
                </a:solidFill>
                <a:latin typeface="Century Gothic"/>
                <a:cs typeface="Century Gothic"/>
              </a:rPr>
              <a:t>The tidyverse version of a data frame</a:t>
            </a:r>
          </a:p>
          <a:p>
            <a:pPr marL="0" indent="0" algn="l">
              <a:lnSpc>
                <a:spcPct val="108000"/>
              </a:lnSpc>
              <a:spcBef>
                <a:spcPts val="440"/>
              </a:spcBef>
              <a:buNone/>
            </a:pPr>
            <a:r>
              <a:rPr lang="en-US" sz="1800" dirty="0">
                <a:solidFill>
                  <a:srgbClr val="000000"/>
                </a:solidFill>
                <a:latin typeface="Century Gothic"/>
                <a:cs typeface="Century Gothic"/>
              </a:rPr>
              <a:t>Prints neatly and shows column types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Read it as a clinic</a:t>
            </a:r>
          </a:p>
          <a:p>
            <a:pPr marL="0" indent="0" algn="l">
              <a:spcBef>
                <a:spcPts val="100"/>
              </a:spcBef>
              <a:buNone/>
            </a:pPr>
            <a:r>
              <a:rPr lang="en-US" sz="1300" dirty="0">
                <a:solidFill>
                  <a:srgbClr val="000000"/>
                </a:solidFill>
                <a:latin typeface="Century Gothic"/>
                <a:cs typeface="Century Gothic"/>
              </a:rPr>
              <a:t>Rows are people; columns are what you measured.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Packages: Install Once, Load Each Session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Two different commands</a:t>
            </a:r>
          </a:p>
          <a:p>
            <a:pPr marL="0" indent="0" algn="l">
              <a:lnSpc>
                <a:spcPct val="108000"/>
              </a:lnSpc>
              <a:spcBef>
                <a:spcPts val="440"/>
              </a:spcBef>
              <a:buNone/>
            </a:pPr>
            <a:r>
              <a:rPr lang="en-US" sz="1800" dirty="0">
                <a:solidFill>
                  <a:srgbClr val="000000"/>
                </a:solidFill>
                <a:latin typeface="Century Gothic"/>
                <a:cs typeface="Century Gothic"/>
              </a:rPr>
              <a:t>install.packages("tidyverse") downloads it once</a:t>
            </a:r>
          </a:p>
          <a:p>
            <a:pPr marL="0" indent="0" algn="l">
              <a:lnSpc>
                <a:spcPct val="108000"/>
              </a:lnSpc>
              <a:spcBef>
                <a:spcPts val="440"/>
              </a:spcBef>
              <a:buNone/>
            </a:pPr>
            <a:r>
              <a:rPr lang="en-US" sz="1800" dirty="0">
                <a:solidFill>
                  <a:srgbClr val="000000"/>
                </a:solidFill>
                <a:latin typeface="Century Gothic"/>
                <a:cs typeface="Century Gothic"/>
              </a:rPr>
              <a:t>library(tidyverse) loads it every new session</a:t>
            </a:r>
          </a:p>
          <a:p>
            <a:pPr>
              <a:buNone/>
            </a:pPr>
            <a:endParaRPr sz="1050"/>
          </a:p>
          <a:p>
            <a:pPr marL="0" indent="0" algn="l">
              <a:spcBef>
                <a:spcPts val="360"/>
              </a:spcBef>
              <a:buNone/>
            </a:pPr>
            <a:r>
              <a:rPr lang="en-US" sz="2050" b="1" dirty="0">
                <a:solidFill>
                  <a:srgbClr val="0D7377"/>
                </a:solidFill>
                <a:latin typeface="Century Gothic"/>
                <a:cs typeface="Century Gothic"/>
              </a:rPr>
              <a:t>Packages we use today</a:t>
            </a:r>
          </a:p>
          <a:p>
            <a:pPr marL="0" indent="0" algn="l">
              <a:lnSpc>
                <a:spcPct val="108000"/>
              </a:lnSpc>
              <a:spcBef>
                <a:spcPts val="440"/>
              </a:spcBef>
              <a:buNone/>
            </a:pPr>
            <a:r>
              <a:rPr lang="en-US" sz="1800" dirty="0">
                <a:solidFill>
                  <a:srgbClr val="000000"/>
                </a:solidFill>
                <a:latin typeface="Century Gothic"/>
                <a:cs typeface="Century Gothic"/>
              </a:rPr>
              <a:t>tidyverse: import, wrangle, plot</a:t>
            </a:r>
          </a:p>
          <a:p>
            <a:pPr marL="0" indent="0" algn="l">
              <a:lnSpc>
                <a:spcPct val="108000"/>
              </a:lnSpc>
              <a:spcBef>
                <a:spcPts val="440"/>
              </a:spcBef>
              <a:buNone/>
            </a:pPr>
            <a:r>
              <a:rPr lang="en-US" sz="1800" dirty="0">
                <a:solidFill>
                  <a:srgbClr val="000000"/>
                </a:solidFill>
                <a:latin typeface="Century Gothic"/>
                <a:cs typeface="Century Gothic"/>
              </a:rPr>
              <a:t>readxl: read Excel .xlsx files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Common mistake</a:t>
            </a:r>
          </a:p>
          <a:p>
            <a:pPr marL="0" indent="0" algn="l">
              <a:spcBef>
                <a:spcPts val="100"/>
              </a:spcBef>
              <a:buNone/>
            </a:pPr>
            <a:r>
              <a:rPr lang="en-US" sz="1300" dirty="0">
                <a:solidFill>
                  <a:srgbClr val="000000"/>
                </a:solidFill>
                <a:latin typeface="Century Gothic"/>
                <a:cs typeface="Century Gothic"/>
              </a:rPr>
              <a:t>Running install.packages() every time (slow, needs internet).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Importing the Study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Load packages first, then read the file.</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library(readxl)</a:t>
            </a:r>
          </a:p>
          <a:p>
            <a:pPr marL="0" indent="0" algn="l">
              <a:lnSpc>
                <a:spcPct val="100000"/>
              </a:lnSpc>
              <a:buNone/>
            </a:pPr>
            <a:r>
              <a:rPr lang="en-US" sz="1300" dirty="0">
                <a:solidFill>
                  <a:srgbClr val="1B3A4B"/>
                </a:solidFill>
                <a:latin typeface="Consolas"/>
                <a:cs typeface="Consolas"/>
              </a:rPr>
              <a:t>htn &lt;- read_csv("Data/hypertension_phc_raw.csv")</a:t>
            </a:r>
          </a:p>
          <a:p>
            <a:pPr marL="0" indent="0" algn="l">
              <a:lnSpc>
                <a:spcPct val="100000"/>
              </a:lnSpc>
              <a:buNone/>
            </a:pPr>
            <a:r>
              <a:rPr lang="en-US" sz="1300" dirty="0">
                <a:solidFill>
                  <a:srgbClr val="1B3A4B"/>
                </a:solidFill>
                <a:latin typeface="Consolas"/>
                <a:cs typeface="Consolas"/>
              </a:rPr>
              <a:t>htn_xl &lt;- read_excel(</a:t>
            </a:r>
          </a:p>
          <a:p>
            <a:pPr marL="0" indent="0" algn="l">
              <a:lnSpc>
                <a:spcPct val="100000"/>
              </a:lnSpc>
              <a:buNone/>
            </a:pPr>
            <a:r>
              <a:rPr lang="en-US" sz="1300" dirty="0">
                <a:solidFill>
                  <a:srgbClr val="1B3A4B"/>
                </a:solidFill>
                <a:latin typeface="Consolas"/>
                <a:cs typeface="Consolas"/>
              </a:rPr>
              <a:t>  "Data/hypertension_phc_raw.xlsx", sheet = "data")</a:t>
            </a:r>
          </a:p>
          <a:p>
            <a:pPr marL="0" indent="0" algn="l">
              <a:lnSpc>
                <a:spcPct val="100000"/>
              </a:lnSpc>
              <a:buNone/>
            </a:pPr>
            <a:r>
              <a:rPr lang="en-US" sz="1300" dirty="0">
                <a:solidFill>
                  <a:srgbClr val="1B3A4B"/>
                </a:solidFill>
                <a:latin typeface="Consolas"/>
                <a:cs typeface="Consolas"/>
              </a:rPr>
              <a:t>dim(htn)</a:t>
            </a:r>
          </a:p>
        </p:txBody>
      </p:sp>
      <p:sp>
        <p:nvSpPr>
          <p:cNvPr id="31" name="Output"/>
          <p:cNvSpPr/>
          <p:nvPr/>
        </p:nvSpPr>
        <p:spPr>
          <a:xfrm>
            <a:off x="457200" y="3230000"/>
            <a:ext cx="11277600" cy="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Rows: 1503  Columns: 36</a:t>
            </a:r>
          </a:p>
          <a:p>
            <a:pPr marL="0" indent="0" algn="l">
              <a:lnSpc>
                <a:spcPct val="100000"/>
              </a:lnSpc>
              <a:buNone/>
            </a:pPr>
            <a:r>
              <a:rPr lang="en-US" sz="1250" dirty="0">
                <a:solidFill>
                  <a:srgbClr val="1A1A1A"/>
                </a:solidFill>
                <a:latin typeface="Consolas"/>
                <a:cs typeface="Consolas"/>
              </a:rPr>
              <a:t>[1] 1503   36</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read_csv for CSV, read_excel for Excel. Note 1503, not 1500.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First Look: Knowing Your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Run these the moment any dataset is imported.</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dim(htn): how many rows and columns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names(htn): the variable names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glimpse(htn): every column with its type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head(htn): the first few rows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View(htn): open the spreadsheet viewer</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htn$age: pull one column out with the dollar sign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summary(htn$age): min, mean, max of a variable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table(htn$sex): counts of each category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Inspecting Single Variables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The $ extracts one column to summarise.</a:t>
            </a:r>
          </a:p>
        </p:txBody>
      </p:sp>
      <p:sp>
        <p:nvSpPr>
          <p:cNvPr id="30" name="Code"/>
          <p:cNvSpPr/>
          <p:nvPr/>
        </p:nvSpPr>
        <p:spPr>
          <a:xfrm>
            <a:off x="457200" y="1640000"/>
            <a:ext cx="11277600" cy="60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summary(htn$age)</a:t>
            </a:r>
          </a:p>
          <a:p>
            <a:pPr marL="0" indent="0" algn="l">
              <a:lnSpc>
                <a:spcPct val="100000"/>
              </a:lnSpc>
              <a:buNone/>
            </a:pPr>
            <a:r>
              <a:rPr lang="en-US" sz="1300" dirty="0">
                <a:solidFill>
                  <a:srgbClr val="1B3A4B"/>
                </a:solidFill>
                <a:latin typeface="Consolas"/>
                <a:cs typeface="Consolas"/>
              </a:rPr>
              <a:t>table(htn$sex)</a:t>
            </a:r>
          </a:p>
        </p:txBody>
      </p:sp>
      <p:sp>
        <p:nvSpPr>
          <p:cNvPr id="31" name="Output"/>
          <p:cNvSpPr/>
          <p:nvPr/>
        </p:nvSpPr>
        <p:spPr>
          <a:xfrm>
            <a:off x="457200" y="239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   Min. 1st Qu.  Median    Mean 3rd Qu.    Max.</a:t>
            </a:r>
          </a:p>
          <a:p>
            <a:pPr marL="0" indent="0" algn="l">
              <a:lnSpc>
                <a:spcPct val="100000"/>
              </a:lnSpc>
              <a:buNone/>
            </a:pPr>
            <a:r>
              <a:rPr lang="en-US" sz="1250" dirty="0">
                <a:solidFill>
                  <a:srgbClr val="1A1A1A"/>
                </a:solidFill>
                <a:latin typeface="Consolas"/>
                <a:cs typeface="Consolas"/>
              </a:rPr>
              <a:t>   0.0    38.0    52.0    53.4    66.0   200.0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f      F female Female      m ...</a:t>
            </a:r>
          </a:p>
          <a:p>
            <a:pPr marL="0" indent="0" algn="l">
              <a:lnSpc>
                <a:spcPct val="100000"/>
              </a:lnSpc>
              <a:buNone/>
            </a:pPr>
            <a:r>
              <a:rPr lang="en-US" sz="1250" dirty="0">
                <a:solidFill>
                  <a:srgbClr val="1A1A1A"/>
                </a:solidFill>
                <a:latin typeface="Consolas"/>
                <a:cs typeface="Consolas"/>
              </a:rPr>
              <a:t>    11     63    402    498     14 ...</a:t>
            </a:r>
          </a:p>
        </p:txBody>
      </p:sp>
      <p:sp>
        <p:nvSpPr>
          <p:cNvPr id="32" name="Note"/>
          <p:cNvSpPr/>
          <p:nvPr/>
        </p:nvSpPr>
        <p:spPr>
          <a:xfrm>
            <a:off x="457200" y="383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Max age 200 and eight spellings of sex: this data needs cleaning.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Common Mistakes and Quick Debugging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When it does not work, check</a:t>
            </a:r>
          </a:p>
          <a:p>
            <a:pPr marL="0" indent="0" algn="l">
              <a:lnSpc>
                <a:spcPct val="108000"/>
              </a:lnSpc>
              <a:spcBef>
                <a:spcPts val="440"/>
              </a:spcBef>
              <a:buNone/>
            </a:pPr>
            <a:r>
              <a:rPr lang="en-US" sz="1800" dirty="0">
                <a:solidFill>
                  <a:srgbClr val="000000"/>
                </a:solidFill>
                <a:latin typeface="Century Gothic"/>
                <a:cs typeface="Century Gothic"/>
              </a:rPr>
              <a:t>Did you run library() for the package?</a:t>
            </a:r>
          </a:p>
          <a:p>
            <a:pPr marL="0" indent="0" algn="l">
              <a:lnSpc>
                <a:spcPct val="108000"/>
              </a:lnSpc>
              <a:spcBef>
                <a:spcPts val="440"/>
              </a:spcBef>
              <a:buNone/>
            </a:pPr>
            <a:r>
              <a:rPr lang="en-US" sz="1800" dirty="0">
                <a:solidFill>
                  <a:srgbClr val="000000"/>
                </a:solidFill>
                <a:latin typeface="Century Gothic"/>
                <a:cs typeface="Century Gothic"/>
              </a:rPr>
              <a:t>Did you use &lt;- and not = for assignment?</a:t>
            </a:r>
          </a:p>
          <a:p>
            <a:pPr marL="0" indent="0" algn="l">
              <a:lnSpc>
                <a:spcPct val="108000"/>
              </a:lnSpc>
              <a:spcBef>
                <a:spcPts val="440"/>
              </a:spcBef>
              <a:buNone/>
            </a:pPr>
            <a:r>
              <a:rPr lang="en-US" sz="1800" dirty="0">
                <a:solidFill>
                  <a:srgbClr val="000000"/>
                </a:solidFill>
                <a:latin typeface="Century Gothic"/>
                <a:cs typeface="Century Gothic"/>
              </a:rPr>
              <a:t>Is the spelling and CASE exactly right?</a:t>
            </a:r>
          </a:p>
          <a:p>
            <a:pPr marL="0" indent="0" algn="l">
              <a:lnSpc>
                <a:spcPct val="108000"/>
              </a:lnSpc>
              <a:spcBef>
                <a:spcPts val="440"/>
              </a:spcBef>
              <a:buNone/>
            </a:pPr>
            <a:r>
              <a:rPr lang="en-US" sz="1800" dirty="0">
                <a:solidFill>
                  <a:srgbClr val="000000"/>
                </a:solidFill>
                <a:latin typeface="Century Gothic"/>
                <a:cs typeface="Century Gothic"/>
              </a:rPr>
              <a:t>Is the file path and name correct?</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could not find function</a:t>
            </a:r>
          </a:p>
          <a:p>
            <a:pPr marL="0" indent="0" algn="l">
              <a:spcBef>
                <a:spcPts val="100"/>
              </a:spcBef>
              <a:buNone/>
            </a:pPr>
            <a:r>
              <a:rPr lang="en-US" sz="1300" dirty="0">
                <a:solidFill>
                  <a:srgbClr val="000000"/>
                </a:solidFill>
                <a:latin typeface="Century Gothic"/>
                <a:cs typeface="Century Gothic"/>
              </a:rPr>
              <a:t>Usually means the package is not loaded: run library().</a:t>
            </a:r>
          </a:p>
        </p:txBody>
      </p:sp>
      <p:sp>
        <p:nvSpPr>
          <p:cNvPr id="41"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cannot open file</a:t>
            </a:r>
          </a:p>
          <a:p>
            <a:pPr marL="0" indent="0" algn="l">
              <a:spcBef>
                <a:spcPts val="100"/>
              </a:spcBef>
              <a:buNone/>
            </a:pPr>
            <a:r>
              <a:rPr lang="en-US" sz="1300" dirty="0">
                <a:solidFill>
                  <a:srgbClr val="000000"/>
                </a:solidFill>
                <a:latin typeface="Century Gothic"/>
                <a:cs typeface="Century Gothic"/>
              </a:rPr>
              <a:t>Wrong path or file name; check the Files pane.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the Data Is Already Telling Us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Problems visible on the first look</a:t>
            </a:r>
          </a:p>
          <a:p>
            <a:pPr marL="0" indent="0" algn="l">
              <a:lnSpc>
                <a:spcPct val="108000"/>
              </a:lnSpc>
              <a:spcBef>
                <a:spcPts val="440"/>
              </a:spcBef>
              <a:buNone/>
            </a:pPr>
            <a:r>
              <a:rPr lang="en-US" sz="1800" dirty="0">
                <a:solidFill>
                  <a:srgbClr val="000000"/>
                </a:solidFill>
                <a:latin typeface="Century Gothic"/>
                <a:cs typeface="Century Gothic"/>
              </a:rPr>
              <a:t>Age = 200 and age = 0: impossible values</a:t>
            </a:r>
          </a:p>
          <a:p>
            <a:pPr marL="0" indent="0" algn="l">
              <a:lnSpc>
                <a:spcPct val="108000"/>
              </a:lnSpc>
              <a:spcBef>
                <a:spcPts val="440"/>
              </a:spcBef>
              <a:buNone/>
            </a:pPr>
            <a:r>
              <a:rPr lang="en-US" sz="1800" dirty="0">
                <a:solidFill>
                  <a:srgbClr val="000000"/>
                </a:solidFill>
                <a:latin typeface="Century Gothic"/>
                <a:cs typeface="Century Gothic"/>
              </a:rPr>
              <a:t>Sex recorded eight different ways</a:t>
            </a:r>
          </a:p>
          <a:p>
            <a:pPr marL="0" indent="0" algn="l">
              <a:lnSpc>
                <a:spcPct val="108000"/>
              </a:lnSpc>
              <a:spcBef>
                <a:spcPts val="440"/>
              </a:spcBef>
              <a:buNone/>
            </a:pPr>
            <a:r>
              <a:rPr lang="en-US" sz="1800" dirty="0">
                <a:solidFill>
                  <a:srgbClr val="000000"/>
                </a:solidFill>
                <a:latin typeface="Century Gothic"/>
                <a:cs typeface="Century Gothic"/>
              </a:rPr>
              <a:t>1503 rows for 1,500 people: duplicates</a:t>
            </a:r>
          </a:p>
          <a:p>
            <a:pPr>
              <a:buNone/>
            </a:pPr>
            <a:endParaRPr sz="1050"/>
          </a:p>
          <a:p>
            <a:pPr marL="0" indent="0" algn="l">
              <a:spcBef>
                <a:spcPts val="360"/>
              </a:spcBef>
              <a:buNone/>
            </a:pPr>
            <a:r>
              <a:rPr lang="en-US" sz="2050" b="1" dirty="0">
                <a:solidFill>
                  <a:srgbClr val="0D7377"/>
                </a:solidFill>
                <a:latin typeface="Century Gothic"/>
                <a:cs typeface="Century Gothic"/>
              </a:rPr>
              <a:t>Why this is good news</a:t>
            </a:r>
          </a:p>
          <a:p>
            <a:pPr marL="0" indent="0" algn="l">
              <a:lnSpc>
                <a:spcPct val="108000"/>
              </a:lnSpc>
              <a:spcBef>
                <a:spcPts val="440"/>
              </a:spcBef>
              <a:buNone/>
            </a:pPr>
            <a:r>
              <a:rPr lang="en-US" sz="1800" dirty="0">
                <a:solidFill>
                  <a:srgbClr val="000000"/>
                </a:solidFill>
                <a:latin typeface="Century Gothic"/>
                <a:cs typeface="Century Gothic"/>
              </a:rPr>
              <a:t>We found it in seconds, before any analysis</a:t>
            </a:r>
          </a:p>
          <a:p>
            <a:pPr marL="0" indent="0" algn="l">
              <a:lnSpc>
                <a:spcPct val="108000"/>
              </a:lnSpc>
              <a:spcBef>
                <a:spcPts val="440"/>
              </a:spcBef>
              <a:buNone/>
            </a:pPr>
            <a:r>
              <a:rPr lang="en-US" sz="1800" dirty="0">
                <a:solidFill>
                  <a:srgbClr val="000000"/>
                </a:solidFill>
                <a:latin typeface="Century Gothic"/>
                <a:cs typeface="Century Gothic"/>
              </a:rPr>
              <a:t>Cleaning is the topic of Day 2</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Garbage in, garbage out</a:t>
            </a:r>
          </a:p>
          <a:p>
            <a:pPr marL="0" indent="0" algn="l">
              <a:spcBef>
                <a:spcPts val="100"/>
              </a:spcBef>
              <a:buNone/>
            </a:pPr>
            <a:r>
              <a:rPr lang="en-US" sz="1300" dirty="0">
                <a:solidFill>
                  <a:srgbClr val="000000"/>
                </a:solidFill>
                <a:latin typeface="Century Gothic"/>
                <a:cs typeface="Century Gothic"/>
              </a:rPr>
              <a:t>No statistic is trustworthy on uncleaned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1 Exercise: Import the Clinical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Open the course RStudio Project</a:t>
            </a:r>
          </a:p>
          <a:p>
            <a:pPr marL="0" indent="0" algn="l">
              <a:lnSpc>
                <a:spcPct val="108000"/>
              </a:lnSpc>
              <a:spcBef>
                <a:spcPts val="440"/>
              </a:spcBef>
              <a:buNone/>
            </a:pPr>
            <a:r>
              <a:rPr lang="en-US" sz="1800" dirty="0">
                <a:solidFill>
                  <a:srgbClr val="000000"/>
                </a:solidFill>
                <a:latin typeface="Century Gothic"/>
                <a:cs typeface="Century Gothic"/>
              </a:rPr>
              <a:t>library(tidyverse) and library(readxl)</a:t>
            </a:r>
          </a:p>
          <a:p>
            <a:pPr marL="0" indent="0" algn="l">
              <a:lnSpc>
                <a:spcPct val="108000"/>
              </a:lnSpc>
              <a:spcBef>
                <a:spcPts val="440"/>
              </a:spcBef>
              <a:buNone/>
            </a:pPr>
            <a:r>
              <a:rPr lang="en-US" sz="1800" dirty="0">
                <a:solidFill>
                  <a:srgbClr val="000000"/>
                </a:solidFill>
                <a:latin typeface="Century Gothic"/>
                <a:cs typeface="Century Gothic"/>
              </a:rPr>
              <a:t>Import the CSV with read_csv()</a:t>
            </a:r>
          </a:p>
          <a:p>
            <a:pPr marL="0" indent="0" algn="l">
              <a:lnSpc>
                <a:spcPct val="108000"/>
              </a:lnSpc>
              <a:spcBef>
                <a:spcPts val="440"/>
              </a:spcBef>
              <a:buNone/>
            </a:pPr>
            <a:r>
              <a:rPr lang="en-US" sz="1800" dirty="0">
                <a:solidFill>
                  <a:srgbClr val="000000"/>
                </a:solidFill>
                <a:latin typeface="Century Gothic"/>
                <a:cs typeface="Century Gothic"/>
              </a:rPr>
              <a:t>Import the Excel file with read_excel()</a:t>
            </a:r>
          </a:p>
          <a:p>
            <a:pPr marL="0" indent="0" algn="l">
              <a:lnSpc>
                <a:spcPct val="108000"/>
              </a:lnSpc>
              <a:spcBef>
                <a:spcPts val="440"/>
              </a:spcBef>
              <a:buNone/>
            </a:pPr>
            <a:r>
              <a:rPr lang="en-US" sz="1800" dirty="0">
                <a:solidFill>
                  <a:srgbClr val="000000"/>
                </a:solidFill>
                <a:latin typeface="Century Gothic"/>
                <a:cs typeface="Century Gothic"/>
              </a:rPr>
              <a:t>Run glimpse() on the data</a:t>
            </a:r>
          </a:p>
          <a:p>
            <a:pPr marL="0" indent="0" algn="l">
              <a:lnSpc>
                <a:spcPct val="108000"/>
              </a:lnSpc>
              <a:spcBef>
                <a:spcPts val="440"/>
              </a:spcBef>
              <a:buNone/>
            </a:pPr>
            <a:r>
              <a:rPr lang="en-US" sz="1800" dirty="0">
                <a:solidFill>
                  <a:srgbClr val="000000"/>
                </a:solidFill>
                <a:latin typeface="Century Gothic"/>
                <a:cs typeface="Century Gothic"/>
              </a:rPr>
              <a:t>summary() the age column, table() the sex column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What to notice</a:t>
            </a:r>
          </a:p>
          <a:p>
            <a:pPr marL="0" indent="0" algn="l">
              <a:spcBef>
                <a:spcPts val="100"/>
              </a:spcBef>
              <a:buNone/>
            </a:pPr>
            <a:r>
              <a:rPr lang="en-US" sz="1300" dirty="0">
                <a:solidFill>
                  <a:srgbClr val="000000"/>
                </a:solidFill>
                <a:latin typeface="Century Gothic"/>
                <a:cs typeface="Century Gothic"/>
              </a:rPr>
              <a:t>Spot the impossible age, the many sex spellings, 1503 rows.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Today you learned to</a:t>
            </a:r>
          </a:p>
          <a:p>
            <a:pPr marL="0" indent="0" algn="l">
              <a:lnSpc>
                <a:spcPct val="108000"/>
              </a:lnSpc>
              <a:spcBef>
                <a:spcPts val="440"/>
              </a:spcBef>
              <a:buNone/>
            </a:pPr>
            <a:r>
              <a:rPr lang="en-US" sz="1800" dirty="0">
                <a:solidFill>
                  <a:srgbClr val="000000"/>
                </a:solidFill>
                <a:latin typeface="Century Gothic"/>
                <a:cs typeface="Century Gothic"/>
              </a:rPr>
              <a:t>Tell R from RStudio and find the four panes</a:t>
            </a:r>
          </a:p>
          <a:p>
            <a:pPr marL="0" indent="0" algn="l">
              <a:lnSpc>
                <a:spcPct val="108000"/>
              </a:lnSpc>
              <a:spcBef>
                <a:spcPts val="440"/>
              </a:spcBef>
              <a:buNone/>
            </a:pPr>
            <a:r>
              <a:rPr lang="en-US" sz="1800" dirty="0">
                <a:solidFill>
                  <a:srgbClr val="000000"/>
                </a:solidFill>
                <a:latin typeface="Century Gothic"/>
                <a:cs typeface="Century Gothic"/>
              </a:rPr>
              <a:t>Work in a Project with a saved script</a:t>
            </a:r>
          </a:p>
          <a:p>
            <a:pPr marL="0" indent="0" algn="l">
              <a:lnSpc>
                <a:spcPct val="108000"/>
              </a:lnSpc>
              <a:spcBef>
                <a:spcPts val="440"/>
              </a:spcBef>
              <a:buNone/>
            </a:pPr>
            <a:r>
              <a:rPr lang="en-US" sz="1800" dirty="0">
                <a:solidFill>
                  <a:srgbClr val="000000"/>
                </a:solidFill>
                <a:latin typeface="Century Gothic"/>
                <a:cs typeface="Century Gothic"/>
              </a:rPr>
              <a:t>Make objects (&lt;-) and vectors (c())</a:t>
            </a:r>
          </a:p>
          <a:p>
            <a:pPr marL="0" indent="0" algn="l">
              <a:lnSpc>
                <a:spcPct val="108000"/>
              </a:lnSpc>
              <a:spcBef>
                <a:spcPts val="440"/>
              </a:spcBef>
              <a:buNone/>
            </a:pPr>
            <a:r>
              <a:rPr lang="en-US" sz="1800" dirty="0">
                <a:solidFill>
                  <a:srgbClr val="000000"/>
                </a:solidFill>
                <a:latin typeface="Century Gothic"/>
                <a:cs typeface="Century Gothic"/>
              </a:rPr>
              <a:t>Load packages and import CSV and Excel data</a:t>
            </a:r>
          </a:p>
          <a:p>
            <a:pPr marL="0" indent="0" algn="l">
              <a:lnSpc>
                <a:spcPct val="108000"/>
              </a:lnSpc>
              <a:spcBef>
                <a:spcPts val="440"/>
              </a:spcBef>
              <a:buNone/>
            </a:pPr>
            <a:r>
              <a:rPr lang="en-US" sz="1800" dirty="0">
                <a:solidFill>
                  <a:srgbClr val="000000"/>
                </a:solidFill>
                <a:latin typeface="Century Gothic"/>
                <a:cs typeface="Century Gothic"/>
              </a:rPr>
              <a:t>Inspect data with glimpse, summary and table</a:t>
            </a:r>
          </a:p>
          <a:p>
            <a:pPr>
              <a:buNone/>
            </a:pPr>
            <a:endParaRPr sz="1050"/>
          </a:p>
          <a:p>
            <a:pPr marL="0" indent="0" algn="l">
              <a:spcBef>
                <a:spcPts val="360"/>
              </a:spcBef>
              <a:buNone/>
            </a:pPr>
            <a:r>
              <a:rPr lang="en-US" sz="2050" b="1" dirty="0">
                <a:solidFill>
                  <a:srgbClr val="0D7377"/>
                </a:solidFill>
                <a:latin typeface="Century Gothic"/>
                <a:cs typeface="Century Gothic"/>
              </a:rPr>
              <a:t>Tomorrow: Day 2</a:t>
            </a:r>
          </a:p>
          <a:p>
            <a:pPr marL="0" indent="0" algn="l">
              <a:lnSpc>
                <a:spcPct val="108000"/>
              </a:lnSpc>
              <a:spcBef>
                <a:spcPts val="440"/>
              </a:spcBef>
              <a:buNone/>
            </a:pPr>
            <a:r>
              <a:rPr lang="en-US" sz="1800" dirty="0">
                <a:solidFill>
                  <a:srgbClr val="000000"/>
                </a:solidFill>
                <a:latin typeface="Century Gothic"/>
                <a:cs typeface="Century Gothic"/>
              </a:rPr>
              <a:t>Cleaning the mess: fix ages, unify categories</a:t>
            </a:r>
          </a:p>
          <a:p>
            <a:pPr marL="0" indent="0" algn="l">
              <a:lnSpc>
                <a:spcPct val="108000"/>
              </a:lnSpc>
              <a:spcBef>
                <a:spcPts val="440"/>
              </a:spcBef>
              <a:buNone/>
            </a:pPr>
            <a:r>
              <a:rPr lang="en-US" sz="1800" dirty="0">
                <a:solidFill>
                  <a:srgbClr val="000000"/>
                </a:solidFill>
                <a:latin typeface="Century Gothic"/>
                <a:cs typeface="Century Gothic"/>
              </a:rPr>
              <a:t>Remove duplicates and handle missing values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Well done</a:t>
            </a:r>
          </a:p>
          <a:p>
            <a:pPr marL="0" indent="0" algn="l">
              <a:spcBef>
                <a:spcPts val="100"/>
              </a:spcBef>
              <a:buNone/>
            </a:pPr>
            <a:r>
              <a:rPr lang="en-US" sz="1300" dirty="0">
                <a:solidFill>
                  <a:srgbClr val="000000"/>
                </a:solidFill>
                <a:latin typeface="Century Gothic"/>
                <a:cs typeface="Century Gothic"/>
              </a:rPr>
              <a:t>You imported real clinical data on day 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2: Understanding &amp; Cleaning Clinical Data</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Why cleaning matters: garbage in, garbage out</a:t>
            </a:r>
          </a:p>
          <a:p>
            <a:pPr marL="274320" indent="-274320" algn="l">
              <a:spcBef>
                <a:spcPts val="440"/>
              </a:spcBef>
              <a:buFont typeface="Arial"/>
              <a:buChar char="•"/>
            </a:pPr>
            <a:r>
              <a:rPr lang="en-US" sz="1900" dirty="0">
                <a:solidFill>
                  <a:srgbClr val="000000"/>
                </a:solidFill>
                <a:latin typeface="Century Gothic"/>
                <a:cs typeface="Century Gothic"/>
              </a:rPr>
              <a:t>Variable types and clinical coding</a:t>
            </a:r>
          </a:p>
          <a:p>
            <a:pPr marL="274320" indent="-274320" algn="l">
              <a:spcBef>
                <a:spcPts val="440"/>
              </a:spcBef>
              <a:buFont typeface="Arial"/>
              <a:buChar char="•"/>
            </a:pPr>
            <a:r>
              <a:rPr lang="en-US" sz="1900" dirty="0">
                <a:solidFill>
                  <a:srgbClr val="000000"/>
                </a:solidFill>
                <a:latin typeface="Century Gothic"/>
                <a:cs typeface="Century Gothic"/>
              </a:rPr>
              <a:t>Missing data, duplicates, inconsistent categories</a:t>
            </a:r>
          </a:p>
          <a:p>
            <a:pPr marL="274320" indent="-274320" algn="l">
              <a:spcBef>
                <a:spcPts val="440"/>
              </a:spcBef>
              <a:buFont typeface="Arial"/>
              <a:buChar char="•"/>
            </a:pPr>
            <a:r>
              <a:rPr lang="en-US" sz="1900" dirty="0">
                <a:solidFill>
                  <a:srgbClr val="000000"/>
                </a:solidFill>
                <a:latin typeface="Century Gothic"/>
                <a:cs typeface="Century Gothic"/>
              </a:rPr>
              <a:t>Validation, recoding, dates and factors</a:t>
            </a:r>
          </a:p>
          <a:p>
            <a:pPr marL="274320" indent="-274320" algn="l">
              <a:spcBef>
                <a:spcPts val="440"/>
              </a:spcBef>
              <a:buFont typeface="Arial"/>
              <a:buChar char="•"/>
            </a:pPr>
            <a:r>
              <a:rPr lang="en-US" sz="1900" dirty="0">
                <a:solidFill>
                  <a:srgbClr val="000000"/>
                </a:solidFill>
                <a:latin typeface="Century Gothic"/>
                <a:cs typeface="Century Gothic"/>
              </a:rPr>
              <a:t>Save the clean dataset: the contract for Days 3-5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Why Data Cleaning Matters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Garbage in, garbage out</a:t>
            </a:r>
          </a:p>
          <a:p>
            <a:pPr marL="0" indent="0" algn="l">
              <a:lnSpc>
                <a:spcPct val="108000"/>
              </a:lnSpc>
              <a:spcBef>
                <a:spcPts val="440"/>
              </a:spcBef>
              <a:buNone/>
            </a:pPr>
            <a:r>
              <a:rPr lang="en-US" sz="1800" dirty="0">
                <a:solidFill>
                  <a:srgbClr val="000000"/>
                </a:solidFill>
                <a:latin typeface="Century Gothic"/>
                <a:cs typeface="Century Gothic"/>
              </a:rPr>
              <a:t>A p-value cannot rescue a mistyped blood pressure.</a:t>
            </a:r>
          </a:p>
          <a:p>
            <a:pPr marL="0" indent="0" algn="l">
              <a:lnSpc>
                <a:spcPct val="108000"/>
              </a:lnSpc>
              <a:spcBef>
                <a:spcPts val="440"/>
              </a:spcBef>
              <a:buNone/>
            </a:pPr>
            <a:r>
              <a:rPr lang="en-US" sz="1800" dirty="0">
                <a:solidFill>
                  <a:srgbClr val="000000"/>
                </a:solidFill>
                <a:latin typeface="Century Gothic"/>
                <a:cs typeface="Century Gothic"/>
              </a:rPr>
              <a:t>Errors do not announce themselves; they hide in plausible numbers.</a:t>
            </a:r>
          </a:p>
          <a:p>
            <a:pPr marL="0" indent="0" algn="l">
              <a:lnSpc>
                <a:spcPct val="108000"/>
              </a:lnSpc>
              <a:spcBef>
                <a:spcPts val="440"/>
              </a:spcBef>
              <a:buNone/>
            </a:pPr>
            <a:r>
              <a:rPr lang="en-US" sz="1800" dirty="0">
                <a:solidFill>
                  <a:srgbClr val="000000"/>
                </a:solidFill>
                <a:latin typeface="Century Gothic"/>
                <a:cs typeface="Century Gothic"/>
              </a:rPr>
              <a:t>Clean data is the foundation of a credible result.</a:t>
            </a:r>
          </a:p>
          <a:p>
            <a:pPr>
              <a:buNone/>
            </a:pPr>
            <a:endParaRPr sz="1050"/>
          </a:p>
          <a:p>
            <a:pPr marL="0" indent="0" algn="l">
              <a:spcBef>
                <a:spcPts val="360"/>
              </a:spcBef>
              <a:buNone/>
            </a:pPr>
            <a:r>
              <a:rPr lang="en-US" sz="2050" b="1" dirty="0">
                <a:solidFill>
                  <a:srgbClr val="0D7377"/>
                </a:solidFill>
                <a:latin typeface="Century Gothic"/>
                <a:cs typeface="Century Gothic"/>
              </a:rPr>
              <a:t>How much of a project is cleaning?</a:t>
            </a:r>
          </a:p>
          <a:p>
            <a:pPr marL="0" indent="0" algn="l">
              <a:lnSpc>
                <a:spcPct val="108000"/>
              </a:lnSpc>
              <a:spcBef>
                <a:spcPts val="440"/>
              </a:spcBef>
              <a:buNone/>
            </a:pPr>
            <a:r>
              <a:rPr lang="en-US" sz="1800" dirty="0">
                <a:solidFill>
                  <a:srgbClr val="000000"/>
                </a:solidFill>
                <a:latin typeface="Century Gothic"/>
                <a:cs typeface="Century Gothic"/>
              </a:rPr>
              <a:t>Typically 60-80% of total analysis time.</a:t>
            </a:r>
          </a:p>
          <a:p>
            <a:pPr marL="0" indent="0" algn="l">
              <a:lnSpc>
                <a:spcPct val="108000"/>
              </a:lnSpc>
              <a:spcBef>
                <a:spcPts val="440"/>
              </a:spcBef>
              <a:buNone/>
            </a:pPr>
            <a:r>
              <a:rPr lang="en-US" sz="1800" dirty="0">
                <a:solidFill>
                  <a:srgbClr val="000000"/>
                </a:solidFill>
                <a:latin typeface="Century Gothic"/>
                <a:cs typeface="Century Gothic"/>
              </a:rPr>
              <a:t>Skipping it does not save time; it moves the cost to peer review.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Why clinicians should care</a:t>
            </a:r>
          </a:p>
          <a:p>
            <a:pPr marL="0" indent="0" algn="l">
              <a:spcBef>
                <a:spcPts val="100"/>
              </a:spcBef>
              <a:buNone/>
            </a:pPr>
            <a:r>
              <a:rPr lang="en-US" sz="1300" dirty="0">
                <a:solidFill>
                  <a:srgbClr val="000000"/>
                </a:solidFill>
                <a:latin typeface="Century Gothic"/>
                <a:cs typeface="Century Gothic"/>
              </a:rPr>
              <a:t>A wrong cut-off or unit can flip a clinical conclusion.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Variable Types in Clinical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0000">
                <a:tc>
                  <a:txBody>
                    <a:bodyPr/>
                    <a:lstStyle/>
                    <a:p>
                      <a:pPr algn="l"/>
                      <a:r>
                        <a:rPr lang="en-US" sz="1300" b="1" dirty="0">
                          <a:solidFill>
                            <a:srgbClr val="FFFFFF"/>
                          </a:solidFill>
                          <a:latin typeface="Century Gothic"/>
                        </a:rPr>
                        <a:t>Type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What it is</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Example in our data</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Numbers on a scale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age, sbp_mmhg, weight_kg</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Century Gothic"/>
                        </a:rPr>
                        <a:t>Binary</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Two categories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diabetes (Yes/No)</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Century Gothic"/>
                        </a:rPr>
                        <a:t>Categorical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Unordered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facility, occupation</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Century Gothic"/>
                        </a:rPr>
                        <a:t>Ordinal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Ordered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education (None to Tertiary)</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Century Gothic"/>
                        </a:rPr>
                        <a:t>Date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Calendar time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enroll_date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The type decides how R stores, summarises and models a variable.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Clinical Coding: Consistent Codes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coding means</a:t>
            </a:r>
          </a:p>
          <a:p>
            <a:pPr marL="0" indent="0" algn="l">
              <a:lnSpc>
                <a:spcPct val="108000"/>
              </a:lnSpc>
              <a:spcBef>
                <a:spcPts val="440"/>
              </a:spcBef>
              <a:buNone/>
            </a:pPr>
            <a:r>
              <a:rPr lang="en-US" sz="1800" dirty="0">
                <a:solidFill>
                  <a:srgbClr val="000000"/>
                </a:solidFill>
                <a:latin typeface="Century Gothic"/>
                <a:cs typeface="Century Gothic"/>
              </a:rPr>
              <a:t>Agreeing one written value per real-world category.</a:t>
            </a:r>
          </a:p>
          <a:p>
            <a:pPr marL="0" indent="0" algn="l">
              <a:lnSpc>
                <a:spcPct val="108000"/>
              </a:lnSpc>
              <a:spcBef>
                <a:spcPts val="440"/>
              </a:spcBef>
              <a:buNone/>
            </a:pPr>
            <a:r>
              <a:rPr lang="en-US" sz="1800" dirty="0">
                <a:solidFill>
                  <a:srgbClr val="000000"/>
                </a:solidFill>
                <a:latin typeface="Century Gothic"/>
                <a:cs typeface="Century Gothic"/>
              </a:rPr>
              <a:t>Sex stored as Female / Male, not F / f / female.</a:t>
            </a:r>
          </a:p>
          <a:p>
            <a:pPr marL="0" indent="0" algn="l">
              <a:lnSpc>
                <a:spcPct val="108000"/>
              </a:lnSpc>
              <a:spcBef>
                <a:spcPts val="440"/>
              </a:spcBef>
              <a:buNone/>
            </a:pPr>
            <a:r>
              <a:rPr lang="en-US" sz="1800" dirty="0">
                <a:solidFill>
                  <a:srgbClr val="000000"/>
                </a:solidFill>
                <a:latin typeface="Century Gothic"/>
                <a:cs typeface="Century Gothic"/>
              </a:rPr>
              <a:t>Binaries stored as Yes / No, not a mix of Y, 1, true.</a:t>
            </a:r>
          </a:p>
          <a:p>
            <a:pPr>
              <a:buNone/>
            </a:pPr>
            <a:endParaRPr sz="1050"/>
          </a:p>
          <a:p>
            <a:pPr marL="0" indent="0" algn="l">
              <a:spcBef>
                <a:spcPts val="360"/>
              </a:spcBef>
              <a:buNone/>
            </a:pPr>
            <a:r>
              <a:rPr lang="en-US" sz="2050" b="1" dirty="0">
                <a:solidFill>
                  <a:srgbClr val="0D7377"/>
                </a:solidFill>
                <a:latin typeface="Century Gothic"/>
                <a:cs typeface="Century Gothic"/>
              </a:rPr>
              <a:t>Why it matters</a:t>
            </a:r>
          </a:p>
          <a:p>
            <a:pPr marL="0" indent="0" algn="l">
              <a:lnSpc>
                <a:spcPct val="108000"/>
              </a:lnSpc>
              <a:spcBef>
                <a:spcPts val="440"/>
              </a:spcBef>
              <a:buNone/>
            </a:pPr>
            <a:r>
              <a:rPr lang="en-US" sz="1800" dirty="0">
                <a:solidFill>
                  <a:srgbClr val="000000"/>
                </a:solidFill>
                <a:latin typeface="Century Gothic"/>
                <a:cs typeface="Century Gothic"/>
              </a:rPr>
              <a:t>R treats 'Yes' and 'yes' as two different groups.</a:t>
            </a:r>
          </a:p>
          <a:p>
            <a:pPr marL="0" indent="0" algn="l">
              <a:lnSpc>
                <a:spcPct val="108000"/>
              </a:lnSpc>
              <a:spcBef>
                <a:spcPts val="440"/>
              </a:spcBef>
              <a:buNone/>
            </a:pPr>
            <a:r>
              <a:rPr lang="en-US" sz="1800" dirty="0">
                <a:solidFill>
                  <a:srgbClr val="000000"/>
                </a:solidFill>
                <a:latin typeface="Century Gothic"/>
                <a:cs typeface="Century Gothic"/>
              </a:rPr>
              <a:t>Inconsistent codes split one category into several.</a:t>
            </a:r>
          </a:p>
          <a:p>
            <a:pPr marL="0" indent="0" algn="l">
              <a:lnSpc>
                <a:spcPct val="108000"/>
              </a:lnSpc>
              <a:spcBef>
                <a:spcPts val="440"/>
              </a:spcBef>
              <a:buNone/>
            </a:pPr>
            <a:r>
              <a:rPr lang="en-US" sz="1800" dirty="0">
                <a:solidFill>
                  <a:srgbClr val="000000"/>
                </a:solidFill>
                <a:latin typeface="Century Gothic"/>
                <a:cs typeface="Century Gothic"/>
              </a:rPr>
              <a:t>Consistent codes make tables and models trustworthy.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Common trap</a:t>
            </a:r>
          </a:p>
          <a:p>
            <a:pPr marL="0" indent="0" algn="l">
              <a:spcBef>
                <a:spcPts val="100"/>
              </a:spcBef>
              <a:buNone/>
            </a:pPr>
            <a:r>
              <a:rPr lang="en-US" sz="1300" dirty="0">
                <a:solidFill>
                  <a:srgbClr val="000000"/>
                </a:solidFill>
                <a:latin typeface="Century Gothic"/>
                <a:cs typeface="Century Gothic"/>
              </a:rPr>
              <a:t>Eight spellings of sex become eight phantom categories.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Missing Data: How It Hides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It rarely looks like one thing</a:t>
            </a:r>
          </a:p>
          <a:p>
            <a:pPr marL="0" indent="0" algn="l">
              <a:lnSpc>
                <a:spcPct val="108000"/>
              </a:lnSpc>
              <a:spcBef>
                <a:spcPts val="440"/>
              </a:spcBef>
              <a:buNone/>
            </a:pPr>
            <a:r>
              <a:rPr lang="en-US" sz="1800" dirty="0">
                <a:solidFill>
                  <a:srgbClr val="000000"/>
                </a:solidFill>
                <a:latin typeface="Century Gothic"/>
                <a:cs typeface="Century Gothic"/>
              </a:rPr>
              <a:t>Blank cells, the word NA, and sentinel codes 999 or -99.</a:t>
            </a:r>
          </a:p>
          <a:p>
            <a:pPr marL="0" indent="0" algn="l">
              <a:lnSpc>
                <a:spcPct val="108000"/>
              </a:lnSpc>
              <a:spcBef>
                <a:spcPts val="440"/>
              </a:spcBef>
              <a:buNone/>
            </a:pPr>
            <a:r>
              <a:rPr lang="en-US" sz="1800" dirty="0">
                <a:solidFill>
                  <a:srgbClr val="000000"/>
                </a:solidFill>
                <a:latin typeface="Century Gothic"/>
                <a:cs typeface="Century Gothic"/>
              </a:rPr>
              <a:t>If R does not recognise them, 999 is treated as a real value.</a:t>
            </a:r>
          </a:p>
          <a:p>
            <a:pPr marL="0" indent="0" algn="l">
              <a:lnSpc>
                <a:spcPct val="108000"/>
              </a:lnSpc>
              <a:spcBef>
                <a:spcPts val="440"/>
              </a:spcBef>
              <a:buNone/>
            </a:pPr>
            <a:r>
              <a:rPr lang="en-US" sz="1800" dirty="0">
                <a:solidFill>
                  <a:srgbClr val="000000"/>
                </a:solidFill>
                <a:latin typeface="Century Gothic"/>
                <a:cs typeface="Century Gothic"/>
              </a:rPr>
              <a:t>A single 999 can wreck a mean or a regression.</a:t>
            </a:r>
          </a:p>
          <a:p>
            <a:pPr>
              <a:buNone/>
            </a:pPr>
            <a:endParaRPr sz="1050"/>
          </a:p>
          <a:p>
            <a:pPr marL="0" indent="0" algn="l">
              <a:spcBef>
                <a:spcPts val="360"/>
              </a:spcBef>
              <a:buNone/>
            </a:pPr>
            <a:r>
              <a:rPr lang="en-US" sz="2050" b="1" dirty="0">
                <a:solidFill>
                  <a:srgbClr val="0D7377"/>
                </a:solidFill>
                <a:latin typeface="Century Gothic"/>
                <a:cs typeface="Century Gothic"/>
              </a:rPr>
              <a:t>Read it correctly at import</a:t>
            </a:r>
          </a:p>
          <a:p>
            <a:pPr marL="0" indent="0" algn="l">
              <a:lnSpc>
                <a:spcPct val="108000"/>
              </a:lnSpc>
              <a:spcBef>
                <a:spcPts val="440"/>
              </a:spcBef>
              <a:buNone/>
            </a:pPr>
            <a:r>
              <a:rPr lang="en-US" sz="1800" dirty="0">
                <a:solidFill>
                  <a:srgbClr val="000000"/>
                </a:solidFill>
                <a:latin typeface="Century Gothic"/>
                <a:cs typeface="Century Gothic"/>
              </a:rPr>
              <a:t>Tell read_csv which strings mean missing.</a:t>
            </a:r>
          </a:p>
          <a:p>
            <a:pPr marL="0" indent="0" algn="l">
              <a:lnSpc>
                <a:spcPct val="108000"/>
              </a:lnSpc>
              <a:spcBef>
                <a:spcPts val="440"/>
              </a:spcBef>
              <a:buNone/>
            </a:pPr>
            <a:r>
              <a:rPr lang="en-US" sz="1800" dirty="0">
                <a:solidFill>
                  <a:srgbClr val="000000"/>
                </a:solidFill>
                <a:latin typeface="Century Gothic"/>
                <a:cs typeface="Century Gothic"/>
              </a:rPr>
              <a:t>na = c("", "NA", "999", "-99")</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Types of missingness (brief)</a:t>
            </a:r>
          </a:p>
          <a:p>
            <a:pPr marL="0" indent="0" algn="l">
              <a:spcBef>
                <a:spcPts val="100"/>
              </a:spcBef>
              <a:buNone/>
            </a:pPr>
            <a:r>
              <a:rPr lang="en-US" sz="1300" dirty="0">
                <a:solidFill>
                  <a:srgbClr val="000000"/>
                </a:solidFill>
                <a:latin typeface="Century Gothic"/>
                <a:cs typeface="Century Gothic"/>
              </a:rPr>
              <a:t>MCAR, MAR, MNAR - the pattern affects how we handle it later.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Duplicates: 1503 vs 1500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story</a:t>
            </a:r>
          </a:p>
          <a:p>
            <a:pPr marL="0" indent="0" algn="l">
              <a:lnSpc>
                <a:spcPct val="108000"/>
              </a:lnSpc>
              <a:spcBef>
                <a:spcPts val="440"/>
              </a:spcBef>
              <a:buNone/>
            </a:pPr>
            <a:r>
              <a:rPr lang="en-US" sz="1800" dirty="0">
                <a:solidFill>
                  <a:srgbClr val="000000"/>
                </a:solidFill>
                <a:latin typeface="Century Gothic"/>
                <a:cs typeface="Century Gothic"/>
              </a:rPr>
              <a:t>The raw file has 1503 rows but only 1500 patients.</a:t>
            </a:r>
          </a:p>
          <a:p>
            <a:pPr marL="0" indent="0" algn="l">
              <a:lnSpc>
                <a:spcPct val="108000"/>
              </a:lnSpc>
              <a:spcBef>
                <a:spcPts val="440"/>
              </a:spcBef>
              <a:buNone/>
            </a:pPr>
            <a:r>
              <a:rPr lang="en-US" sz="1800" dirty="0">
                <a:solidFill>
                  <a:srgbClr val="000000"/>
                </a:solidFill>
                <a:latin typeface="Century Gothic"/>
                <a:cs typeface="Century Gothic"/>
              </a:rPr>
              <a:t>Three records were entered twice - exact duplicates.</a:t>
            </a:r>
          </a:p>
          <a:p>
            <a:pPr marL="0" indent="0" algn="l">
              <a:lnSpc>
                <a:spcPct val="108000"/>
              </a:lnSpc>
              <a:spcBef>
                <a:spcPts val="440"/>
              </a:spcBef>
              <a:buNone/>
            </a:pPr>
            <a:r>
              <a:rPr lang="en-US" sz="1800" dirty="0">
                <a:solidFill>
                  <a:srgbClr val="000000"/>
                </a:solidFill>
                <a:latin typeface="Century Gothic"/>
                <a:cs typeface="Century Gothic"/>
              </a:rPr>
              <a:t>Duplicates inflate the sample and distort estimates.</a:t>
            </a:r>
          </a:p>
          <a:p>
            <a:pPr>
              <a:buNone/>
            </a:pPr>
            <a:endParaRPr sz="1050"/>
          </a:p>
          <a:p>
            <a:pPr marL="0" indent="0" algn="l">
              <a:spcBef>
                <a:spcPts val="360"/>
              </a:spcBef>
              <a:buNone/>
            </a:pPr>
            <a:r>
              <a:rPr lang="en-US" sz="2050" b="1" dirty="0">
                <a:solidFill>
                  <a:srgbClr val="0D7377"/>
                </a:solidFill>
                <a:latin typeface="Century Gothic"/>
                <a:cs typeface="Century Gothic"/>
              </a:rPr>
              <a:t>Detect and remove</a:t>
            </a:r>
          </a:p>
          <a:p>
            <a:pPr marL="0" indent="0" algn="l">
              <a:lnSpc>
                <a:spcPct val="108000"/>
              </a:lnSpc>
              <a:spcBef>
                <a:spcPts val="440"/>
              </a:spcBef>
              <a:buNone/>
            </a:pPr>
            <a:r>
              <a:rPr lang="en-US" sz="1800" dirty="0">
                <a:solidFill>
                  <a:srgbClr val="000000"/>
                </a:solidFill>
                <a:latin typeface="Century Gothic"/>
                <a:cs typeface="Century Gothic"/>
              </a:rPr>
              <a:t>sum(duplicated(raw)) shows how many full duplicates.</a:t>
            </a:r>
          </a:p>
          <a:p>
            <a:pPr marL="0" indent="0" algn="l">
              <a:lnSpc>
                <a:spcPct val="108000"/>
              </a:lnSpc>
              <a:spcBef>
                <a:spcPts val="440"/>
              </a:spcBef>
              <a:buNone/>
            </a:pPr>
            <a:r>
              <a:rPr lang="en-US" sz="1800" dirty="0">
                <a:solidFill>
                  <a:srgbClr val="000000"/>
                </a:solidFill>
                <a:latin typeface="Century Gothic"/>
                <a:cs typeface="Century Gothic"/>
              </a:rPr>
              <a:t>distinct(raw) keeps one copy of each unique row.</a:t>
            </a:r>
          </a:p>
          <a:p>
            <a:pPr marL="0" indent="0" algn="l">
              <a:lnSpc>
                <a:spcPct val="108000"/>
              </a:lnSpc>
              <a:spcBef>
                <a:spcPts val="440"/>
              </a:spcBef>
              <a:buNone/>
            </a:pPr>
            <a:r>
              <a:rPr lang="en-US" sz="1800" dirty="0">
                <a:solidFill>
                  <a:srgbClr val="000000"/>
                </a:solidFill>
                <a:latin typeface="Century Gothic"/>
                <a:cs typeface="Century Gothic"/>
              </a:rPr>
              <a:t>n_distinct(raw$patient_id) should then equal nrow(raw).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Always re-check</a:t>
            </a:r>
          </a:p>
          <a:p>
            <a:pPr marL="0" indent="0" algn="l">
              <a:spcBef>
                <a:spcPts val="100"/>
              </a:spcBef>
              <a:buNone/>
            </a:pPr>
            <a:r>
              <a:rPr lang="en-US" sz="1300" dirty="0">
                <a:solidFill>
                  <a:srgbClr val="000000"/>
                </a:solidFill>
                <a:latin typeface="Century Gothic"/>
                <a:cs typeface="Century Gothic"/>
              </a:rPr>
              <a:t>Confirm row count is 1500 after distinct().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Inconsistent Categories: the 8 Spellings of Sex</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mess</a:t>
            </a:r>
          </a:p>
          <a:p>
            <a:pPr marL="0" indent="0" algn="l">
              <a:lnSpc>
                <a:spcPct val="108000"/>
              </a:lnSpc>
              <a:spcBef>
                <a:spcPts val="440"/>
              </a:spcBef>
              <a:buNone/>
            </a:pPr>
            <a:r>
              <a:rPr lang="en-US" sz="1800" dirty="0">
                <a:solidFill>
                  <a:srgbClr val="000000"/>
                </a:solidFill>
                <a:latin typeface="Century Gothic"/>
                <a:cs typeface="Century Gothic"/>
              </a:rPr>
              <a:t>Female, F, female, f and Male, M, male, m.</a:t>
            </a:r>
          </a:p>
          <a:p>
            <a:pPr marL="0" indent="0" algn="l">
              <a:lnSpc>
                <a:spcPct val="108000"/>
              </a:lnSpc>
              <a:spcBef>
                <a:spcPts val="440"/>
              </a:spcBef>
              <a:buNone/>
            </a:pPr>
            <a:r>
              <a:rPr lang="en-US" sz="1800" dirty="0">
                <a:solidFill>
                  <a:srgbClr val="000000"/>
                </a:solidFill>
                <a:latin typeface="Century Gothic"/>
                <a:cs typeface="Century Gothic"/>
              </a:rPr>
              <a:t>Stray spaces make even more variants.</a:t>
            </a:r>
          </a:p>
          <a:p>
            <a:pPr marL="0" indent="0" algn="l">
              <a:lnSpc>
                <a:spcPct val="108000"/>
              </a:lnSpc>
              <a:spcBef>
                <a:spcPts val="440"/>
              </a:spcBef>
              <a:buNone/>
            </a:pPr>
            <a:r>
              <a:rPr lang="en-US" sz="1800" dirty="0">
                <a:solidFill>
                  <a:srgbClr val="000000"/>
                </a:solidFill>
                <a:latin typeface="Century Gothic"/>
                <a:cs typeface="Century Gothic"/>
              </a:rPr>
              <a:t>Eight labels for two real groups.</a:t>
            </a:r>
          </a:p>
          <a:p>
            <a:pPr>
              <a:buNone/>
            </a:pPr>
            <a:endParaRPr sz="1050"/>
          </a:p>
          <a:p>
            <a:pPr marL="0" indent="0" algn="l">
              <a:spcBef>
                <a:spcPts val="360"/>
              </a:spcBef>
              <a:buNone/>
            </a:pPr>
            <a:r>
              <a:rPr lang="en-US" sz="2050" b="1" dirty="0">
                <a:solidFill>
                  <a:srgbClr val="0D7377"/>
                </a:solidFill>
                <a:latin typeface="Century Gothic"/>
                <a:cs typeface="Century Gothic"/>
              </a:rPr>
              <a:t>The fix</a:t>
            </a:r>
          </a:p>
          <a:p>
            <a:pPr marL="0" indent="0" algn="l">
              <a:lnSpc>
                <a:spcPct val="108000"/>
              </a:lnSpc>
              <a:spcBef>
                <a:spcPts val="440"/>
              </a:spcBef>
              <a:buNone/>
            </a:pPr>
            <a:r>
              <a:rPr lang="en-US" sz="1800" dirty="0">
                <a:solidFill>
                  <a:srgbClr val="000000"/>
                </a:solidFill>
                <a:latin typeface="Century Gothic"/>
                <a:cs typeface="Century Gothic"/>
              </a:rPr>
              <a:t>str_trim() removes leading and trailing spaces.</a:t>
            </a:r>
          </a:p>
          <a:p>
            <a:pPr marL="0" indent="0" algn="l">
              <a:lnSpc>
                <a:spcPct val="108000"/>
              </a:lnSpc>
              <a:spcBef>
                <a:spcPts val="440"/>
              </a:spcBef>
              <a:buNone/>
            </a:pPr>
            <a:r>
              <a:rPr lang="en-US" sz="1800" dirty="0">
                <a:solidFill>
                  <a:srgbClr val="000000"/>
                </a:solidFill>
                <a:latin typeface="Century Gothic"/>
                <a:cs typeface="Century Gothic"/>
              </a:rPr>
              <a:t>str_to_lower() makes case irrelevant.</a:t>
            </a:r>
          </a:p>
          <a:p>
            <a:pPr marL="0" indent="0" algn="l">
              <a:lnSpc>
                <a:spcPct val="108000"/>
              </a:lnSpc>
              <a:spcBef>
                <a:spcPts val="440"/>
              </a:spcBef>
              <a:buNone/>
            </a:pPr>
            <a:r>
              <a:rPr lang="en-US" sz="1800" dirty="0">
                <a:solidFill>
                  <a:srgbClr val="000000"/>
                </a:solidFill>
                <a:latin typeface="Century Gothic"/>
                <a:cs typeface="Century Gothic"/>
              </a:rPr>
              <a:t>case_when() maps every variant to Female or Male.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Clinical sense</a:t>
            </a:r>
          </a:p>
          <a:p>
            <a:pPr marL="0" indent="0" algn="l">
              <a:spcBef>
                <a:spcPts val="100"/>
              </a:spcBef>
              <a:buNone/>
            </a:pPr>
            <a:r>
              <a:rPr lang="en-US" sz="1300" dirty="0">
                <a:solidFill>
                  <a:srgbClr val="000000"/>
                </a:solidFill>
                <a:latin typeface="Century Gothic"/>
                <a:cs typeface="Century Gothic"/>
              </a:rPr>
              <a:t>Anything unexpected becomes NA, not a guess.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Standardising Binaries with a Helper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One reusable function fixes every Yes/No variable.</a:t>
            </a:r>
          </a:p>
        </p:txBody>
      </p:sp>
      <p:sp>
        <p:nvSpPr>
          <p:cNvPr id="30" name="Code"/>
          <p:cNvSpPr/>
          <p:nvPr/>
        </p:nvSpPr>
        <p:spPr>
          <a:xfrm>
            <a:off x="457200" y="1640000"/>
            <a:ext cx="11277600" cy="228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to_yesno &lt;- function(x) {</a:t>
            </a:r>
          </a:p>
          <a:p>
            <a:pPr marL="0" indent="0" algn="l">
              <a:lnSpc>
                <a:spcPct val="100000"/>
              </a:lnSpc>
              <a:buNone/>
            </a:pPr>
            <a:r>
              <a:rPr lang="en-US" sz="1300" dirty="0">
                <a:solidFill>
                  <a:srgbClr val="1B3A4B"/>
                </a:solidFill>
                <a:latin typeface="Consolas"/>
                <a:cs typeface="Consolas"/>
              </a:rPr>
              <a:t>  x &lt;- str_to_lower(str_trim(as.character(x)))</a:t>
            </a:r>
          </a:p>
          <a:p>
            <a:pPr marL="0" indent="0" algn="l">
              <a:lnSpc>
                <a:spcPct val="100000"/>
              </a:lnSpc>
              <a:buNone/>
            </a:pPr>
            <a:r>
              <a:rPr lang="en-US" sz="1300" dirty="0">
                <a:solidFill>
                  <a:srgbClr val="1B3A4B"/>
                </a:solidFill>
                <a:latin typeface="Consolas"/>
                <a:cs typeface="Consolas"/>
              </a:rPr>
              <a:t>  case_when(</a:t>
            </a:r>
          </a:p>
          <a:p>
            <a:pPr marL="0" indent="0" algn="l">
              <a:lnSpc>
                <a:spcPct val="100000"/>
              </a:lnSpc>
              <a:buNone/>
            </a:pPr>
            <a:r>
              <a:rPr lang="en-US" sz="1300" dirty="0">
                <a:solidFill>
                  <a:srgbClr val="1B3A4B"/>
                </a:solidFill>
                <a:latin typeface="Consolas"/>
                <a:cs typeface="Consolas"/>
              </a:rPr>
              <a:t>    x %in% c("yes","y","1","true") ~ "Yes",</a:t>
            </a:r>
          </a:p>
          <a:p>
            <a:pPr marL="0" indent="0" algn="l">
              <a:lnSpc>
                <a:spcPct val="100000"/>
              </a:lnSpc>
              <a:buNone/>
            </a:pPr>
            <a:r>
              <a:rPr lang="en-US" sz="1300" dirty="0">
                <a:solidFill>
                  <a:srgbClr val="1B3A4B"/>
                </a:solidFill>
                <a:latin typeface="Consolas"/>
                <a:cs typeface="Consolas"/>
              </a:rPr>
              <a:t>    x %in% c("no","n","0","false") ~ "No",</a:t>
            </a:r>
          </a:p>
          <a:p>
            <a:pPr marL="0" indent="0" algn="l">
              <a:lnSpc>
                <a:spcPct val="100000"/>
              </a:lnSpc>
              <a:buNone/>
            </a:pPr>
            <a:r>
              <a:rPr lang="en-US" sz="1300" dirty="0">
                <a:solidFill>
                  <a:srgbClr val="1B3A4B"/>
                </a:solidFill>
                <a:latin typeface="Consolas"/>
                <a:cs typeface="Consolas"/>
              </a:rPr>
              <a:t>    TRUE ~ NA_character_)</a:t>
            </a:r>
          </a:p>
          <a:p>
            <a:pPr marL="0" indent="0" algn="l">
              <a:lnSpc>
                <a:spcPct val="100000"/>
              </a:lnSpc>
              <a:buNone/>
            </a:pPr>
            <a:r>
              <a:rPr lang="en-US" sz="1300" dirty="0">
                <a:solidFill>
                  <a:srgbClr val="1B3A4B"/>
                </a:solidFill>
                <a:latin typeface="Consolas"/>
                <a:cs typeface="Consolas"/>
              </a:rPr>
              <a:t>}</a:t>
            </a:r>
          </a:p>
          <a:p>
            <a:pPr marL="0" indent="0" algn="l">
              <a:lnSpc>
                <a:spcPct val="100000"/>
              </a:lnSpc>
              <a:buNone/>
            </a:pPr>
            <a:r>
              <a:rPr lang="en-US" sz="1300" dirty="0">
                <a:solidFill>
                  <a:srgbClr val="1B3A4B"/>
                </a:solidFill>
                <a:latin typeface="Consolas"/>
                <a:cs typeface="Consolas"/>
              </a:rPr>
              <a:t>raw &lt;- raw |&gt; mutate(across(</a:t>
            </a:r>
          </a:p>
          <a:p>
            <a:pPr marL="0" indent="0" algn="l">
              <a:lnSpc>
                <a:spcPct val="100000"/>
              </a:lnSpc>
              <a:buNone/>
            </a:pPr>
            <a:r>
              <a:rPr lang="en-US" sz="1300" dirty="0">
                <a:solidFill>
                  <a:srgbClr val="1B3A4B"/>
                </a:solidFill>
                <a:latin typeface="Consolas"/>
                <a:cs typeface="Consolas"/>
              </a:rPr>
              <a:t>  c(diabetes, family_history_htn, health_insurance,</a:t>
            </a:r>
          </a:p>
          <a:p>
            <a:pPr marL="0" indent="0" algn="l">
              <a:lnSpc>
                <a:spcPct val="100000"/>
              </a:lnSpc>
              <a:buNone/>
            </a:pPr>
            <a:r>
              <a:rPr lang="en-US" sz="1300" dirty="0">
                <a:solidFill>
                  <a:srgbClr val="1B3A4B"/>
                </a:solidFill>
                <a:latin typeface="Consolas"/>
                <a:cs typeface="Consolas"/>
              </a:rPr>
              <a:t>    htn_diagnosed, treatment_uptake), to_yesno))</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Write the rule once, apply it to many columns with across().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Validation: Impossible Physiological Values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Spot the impossible</a:t>
            </a:r>
          </a:p>
          <a:p>
            <a:pPr marL="0" indent="0" algn="l">
              <a:lnSpc>
                <a:spcPct val="108000"/>
              </a:lnSpc>
              <a:spcBef>
                <a:spcPts val="440"/>
              </a:spcBef>
              <a:buNone/>
            </a:pPr>
            <a:r>
              <a:rPr lang="en-US" sz="1800" dirty="0">
                <a:solidFill>
                  <a:srgbClr val="000000"/>
                </a:solidFill>
                <a:latin typeface="Century Gothic"/>
                <a:cs typeface="Century Gothic"/>
              </a:rPr>
              <a:t>age 200 and age 0; sbp 0 and sbp 700.</a:t>
            </a:r>
          </a:p>
          <a:p>
            <a:pPr marL="0" indent="0" algn="l">
              <a:lnSpc>
                <a:spcPct val="108000"/>
              </a:lnSpc>
              <a:spcBef>
                <a:spcPts val="440"/>
              </a:spcBef>
              <a:buNone/>
            </a:pPr>
            <a:r>
              <a:rPr lang="en-US" sz="1800" dirty="0">
                <a:solidFill>
                  <a:srgbClr val="000000"/>
                </a:solidFill>
                <a:latin typeface="Century Gothic"/>
                <a:cs typeface="Century Gothic"/>
              </a:rPr>
              <a:t>weight 7 kg; height 17 cm.</a:t>
            </a:r>
          </a:p>
          <a:p>
            <a:pPr marL="0" indent="0" algn="l">
              <a:lnSpc>
                <a:spcPct val="108000"/>
              </a:lnSpc>
              <a:spcBef>
                <a:spcPts val="440"/>
              </a:spcBef>
              <a:buNone/>
            </a:pPr>
            <a:r>
              <a:rPr lang="en-US" sz="1800" dirty="0">
                <a:solidFill>
                  <a:srgbClr val="000000"/>
                </a:solidFill>
                <a:latin typeface="Century Gothic"/>
                <a:cs typeface="Century Gothic"/>
              </a:rPr>
              <a:t>These are data-entry errors, not real patients.</a:t>
            </a:r>
          </a:p>
          <a:p>
            <a:pPr>
              <a:buNone/>
            </a:pPr>
            <a:endParaRPr sz="1050"/>
          </a:p>
          <a:p>
            <a:pPr marL="0" indent="0" algn="l">
              <a:spcBef>
                <a:spcPts val="360"/>
              </a:spcBef>
              <a:buNone/>
            </a:pPr>
            <a:r>
              <a:rPr lang="en-US" sz="2050" b="1" dirty="0">
                <a:solidFill>
                  <a:srgbClr val="0D7377"/>
                </a:solidFill>
                <a:latin typeface="Century Gothic"/>
                <a:cs typeface="Century Gothic"/>
              </a:rPr>
              <a:t>Fix with plausible ranges</a:t>
            </a:r>
          </a:p>
          <a:p>
            <a:pPr marL="0" indent="0" algn="l">
              <a:lnSpc>
                <a:spcPct val="108000"/>
              </a:lnSpc>
              <a:spcBef>
                <a:spcPts val="440"/>
              </a:spcBef>
              <a:buNone/>
            </a:pPr>
            <a:r>
              <a:rPr lang="en-US" sz="1800" dirty="0">
                <a:solidFill>
                  <a:srgbClr val="000000"/>
                </a:solidFill>
                <a:latin typeface="Century Gothic"/>
                <a:cs typeface="Century Gothic"/>
              </a:rPr>
              <a:t>if_else(age &gt;= 18 &amp; age &lt;= 110, age, NA_real_)</a:t>
            </a:r>
          </a:p>
          <a:p>
            <a:pPr marL="0" indent="0" algn="l">
              <a:lnSpc>
                <a:spcPct val="108000"/>
              </a:lnSpc>
              <a:spcBef>
                <a:spcPts val="440"/>
              </a:spcBef>
              <a:buNone/>
            </a:pPr>
            <a:r>
              <a:rPr lang="en-US" sz="1800" dirty="0">
                <a:solidFill>
                  <a:srgbClr val="000000"/>
                </a:solidFill>
                <a:latin typeface="Century Gothic"/>
                <a:cs typeface="Century Gothic"/>
              </a:rPr>
              <a:t>Outside the range becomes NA, not a deletion of the row.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Choosing ranges</a:t>
            </a:r>
          </a:p>
          <a:p>
            <a:pPr marL="0" indent="0" algn="l">
              <a:spcBef>
                <a:spcPts val="100"/>
              </a:spcBef>
              <a:buNone/>
            </a:pPr>
            <a:r>
              <a:rPr lang="en-US" sz="1300" dirty="0">
                <a:solidFill>
                  <a:srgbClr val="000000"/>
                </a:solidFill>
                <a:latin typeface="Century Gothic"/>
                <a:cs typeface="Century Gothic"/>
              </a:rPr>
              <a:t>Set limits from clinical knowledge and your study's population, not from the data alone.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Recoding and Deriving Variables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Recompute BMI from source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bmi = weight_kg / (height_cm/100)^2</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Derive after cleaning height and weight.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Never trust a pre-computed BMI blindly.</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Create clinical categories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bmi_cat with cut(): Underweight to Obese.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bp_category with case_when().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Normal, Elevated, Hypertension.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Recompute BMI and Categorise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24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bmi = round(weight_kg / (height_cm/100)^2, 1),</a:t>
            </a:r>
          </a:p>
          <a:p>
            <a:pPr marL="0" indent="0" algn="l">
              <a:lnSpc>
                <a:spcPct val="100000"/>
              </a:lnSpc>
              <a:buNone/>
            </a:pPr>
            <a:r>
              <a:rPr lang="en-US" sz="1300" dirty="0">
                <a:solidFill>
                  <a:srgbClr val="1B3A4B"/>
                </a:solidFill>
                <a:latin typeface="Consolas"/>
                <a:cs typeface="Consolas"/>
              </a:rPr>
              <a:t>  bmi_cat = cut(bmi,</a:t>
            </a:r>
          </a:p>
          <a:p>
            <a:pPr marL="0" indent="0" algn="l">
              <a:lnSpc>
                <a:spcPct val="100000"/>
              </a:lnSpc>
              <a:buNone/>
            </a:pPr>
            <a:r>
              <a:rPr lang="en-US" sz="1300" dirty="0">
                <a:solidFill>
                  <a:srgbClr val="1B3A4B"/>
                </a:solidFill>
                <a:latin typeface="Consolas"/>
                <a:cs typeface="Consolas"/>
              </a:rPr>
              <a:t>    breaks = c(-Inf, 18.5, 25, 30, Inf),</a:t>
            </a:r>
          </a:p>
          <a:p>
            <a:pPr marL="0" indent="0" algn="l">
              <a:lnSpc>
                <a:spcPct val="100000"/>
              </a:lnSpc>
              <a:buNone/>
            </a:pPr>
            <a:r>
              <a:rPr lang="en-US" sz="1300" dirty="0">
                <a:solidFill>
                  <a:srgbClr val="1B3A4B"/>
                </a:solidFill>
                <a:latin typeface="Consolas"/>
                <a:cs typeface="Consolas"/>
              </a:rPr>
              <a:t>    labels = c("Underweight","Normal",</a:t>
            </a:r>
          </a:p>
          <a:p>
            <a:pPr marL="0" indent="0" algn="l">
              <a:lnSpc>
                <a:spcPct val="100000"/>
              </a:lnSpc>
              <a:buNone/>
            </a:pPr>
            <a:r>
              <a:rPr lang="en-US" sz="1300" dirty="0">
                <a:solidFill>
                  <a:srgbClr val="1B3A4B"/>
                </a:solidFill>
                <a:latin typeface="Consolas"/>
                <a:cs typeface="Consolas"/>
              </a:rPr>
              <a:t>               "Overweight","Obese")),</a:t>
            </a:r>
          </a:p>
          <a:p>
            <a:pPr marL="0" indent="0" algn="l">
              <a:lnSpc>
                <a:spcPct val="100000"/>
              </a:lnSpc>
              <a:buNone/>
            </a:pPr>
            <a:r>
              <a:rPr lang="en-US" sz="1300" dirty="0">
                <a:solidFill>
                  <a:srgbClr val="1B3A4B"/>
                </a:solidFill>
                <a:latin typeface="Consolas"/>
                <a:cs typeface="Consolas"/>
              </a:rPr>
              <a:t>  bp_category = case_when(</a:t>
            </a:r>
          </a:p>
          <a:p>
            <a:pPr marL="0" indent="0" algn="l">
              <a:lnSpc>
                <a:spcPct val="100000"/>
              </a:lnSpc>
              <a:buNone/>
            </a:pPr>
            <a:r>
              <a:rPr lang="en-US" sz="1300" dirty="0">
                <a:solidFill>
                  <a:srgbClr val="1B3A4B"/>
                </a:solidFill>
                <a:latin typeface="Consolas"/>
                <a:cs typeface="Consolas"/>
              </a:rPr>
              <a:t>    is.na(sbp_mmhg) | is.na(dbp_mmhg) ~ NA_character_,</a:t>
            </a:r>
          </a:p>
          <a:p>
            <a:pPr marL="0" indent="0" algn="l">
              <a:lnSpc>
                <a:spcPct val="100000"/>
              </a:lnSpc>
              <a:buNone/>
            </a:pPr>
            <a:r>
              <a:rPr lang="en-US" sz="1300" dirty="0">
                <a:solidFill>
                  <a:srgbClr val="1B3A4B"/>
                </a:solidFill>
                <a:latin typeface="Consolas"/>
                <a:cs typeface="Consolas"/>
              </a:rPr>
              <a:t>    sbp_mmhg &gt;= 140 | dbp_mmhg &gt;= 90 ~ "Hypertension",</a:t>
            </a:r>
          </a:p>
          <a:p>
            <a:pPr marL="0" indent="0" algn="l">
              <a:lnSpc>
                <a:spcPct val="100000"/>
              </a:lnSpc>
              <a:buNone/>
            </a:pPr>
            <a:r>
              <a:rPr lang="en-US" sz="1300" dirty="0">
                <a:solidFill>
                  <a:srgbClr val="1B3A4B"/>
                </a:solidFill>
                <a:latin typeface="Consolas"/>
                <a:cs typeface="Consolas"/>
              </a:rPr>
              <a:t>    sbp_mmhg &gt;= 130 | dbp_mmhg &gt;= 80 ~ "Elevated",</a:t>
            </a:r>
          </a:p>
          <a:p>
            <a:pPr marL="0" indent="0" algn="l">
              <a:lnSpc>
                <a:spcPct val="100000"/>
              </a:lnSpc>
              <a:buNone/>
            </a:pPr>
            <a:r>
              <a:rPr lang="en-US" sz="1300" dirty="0">
                <a:solidFill>
                  <a:srgbClr val="1B3A4B"/>
                </a:solidFill>
                <a:latin typeface="Consolas"/>
                <a:cs typeface="Consolas"/>
              </a:rPr>
              <a:t>    TRUE ~ "Normal"))</a:t>
            </a:r>
          </a:p>
        </p:txBody>
      </p:sp>
      <p:sp>
        <p:nvSpPr>
          <p:cNvPr id="32" name="Note"/>
          <p:cNvSpPr/>
          <p:nvPr/>
        </p:nvSpPr>
        <p:spPr>
          <a:xfrm>
            <a:off x="457200" y="37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Handle NA explicitly first so missing BP never reads as Normal.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Parsing Mixed Date Formats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enroll_date arrives in several different formats.</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library(lubridate)</a:t>
            </a:r>
          </a:p>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enroll_date = parse_date_time(</a:t>
            </a:r>
          </a:p>
          <a:p>
            <a:pPr marL="0" indent="0" algn="l">
              <a:lnSpc>
                <a:spcPct val="100000"/>
              </a:lnSpc>
              <a:buNone/>
            </a:pPr>
            <a:r>
              <a:rPr lang="en-US" sz="1300" dirty="0">
                <a:solidFill>
                  <a:srgbClr val="1B3A4B"/>
                </a:solidFill>
                <a:latin typeface="Consolas"/>
                <a:cs typeface="Consolas"/>
              </a:rPr>
              <a:t>    enroll_date,</a:t>
            </a:r>
          </a:p>
          <a:p>
            <a:pPr marL="0" indent="0" algn="l">
              <a:lnSpc>
                <a:spcPct val="100000"/>
              </a:lnSpc>
              <a:buNone/>
            </a:pPr>
            <a:r>
              <a:rPr lang="en-US" sz="1300" dirty="0">
                <a:solidFill>
                  <a:srgbClr val="1B3A4B"/>
                </a:solidFill>
                <a:latin typeface="Consolas"/>
                <a:cs typeface="Consolas"/>
              </a:rPr>
              <a:t>    orders = c("ymd","dmy","d-b-Y")) |&gt;</a:t>
            </a:r>
          </a:p>
          <a:p>
            <a:pPr marL="0" indent="0" algn="l">
              <a:lnSpc>
                <a:spcPct val="100000"/>
              </a:lnSpc>
              <a:buNone/>
            </a:pPr>
            <a:r>
              <a:rPr lang="en-US" sz="1300" dirty="0">
                <a:solidFill>
                  <a:srgbClr val="1B3A4B"/>
                </a:solidFill>
                <a:latin typeface="Consolas"/>
                <a:cs typeface="Consolas"/>
              </a:rPr>
              <a:t>  as_date())</a:t>
            </a:r>
          </a:p>
          <a:p>
            <a:pPr marL="0" indent="0" algn="l">
              <a:lnSpc>
                <a:spcPct val="100000"/>
              </a:lnSpc>
              <a:buNone/>
            </a:pPr>
            <a:r>
              <a:rPr lang="en-US" sz="1300" dirty="0">
                <a:solidFill>
                  <a:srgbClr val="1B3A4B"/>
                </a:solidFill>
                <a:latin typeface="Consolas"/>
                <a:cs typeface="Consolas"/>
              </a:rPr>
              <a:t>sum(is.na(raw$enroll_date))</a:t>
            </a:r>
          </a:p>
        </p:txBody>
      </p:sp>
      <p:sp>
        <p:nvSpPr>
          <p:cNvPr id="31" name="Output"/>
          <p:cNvSpPr/>
          <p:nvPr/>
        </p:nvSpPr>
        <p:spPr>
          <a:xfrm>
            <a:off x="457200" y="3440000"/>
            <a:ext cx="11277600" cy="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0</a:t>
            </a:r>
          </a:p>
        </p:txBody>
      </p:sp>
      <p:sp>
        <p:nvSpPr>
          <p:cNvPr id="32" name="Note"/>
          <p:cNvSpPr/>
          <p:nvPr/>
        </p:nvSpPr>
        <p:spPr>
          <a:xfrm>
            <a:off x="457200" y="40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orders lists the formats to try, in priority order.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Factors and Reference Levels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Factors give categories structure</a:t>
            </a:r>
          </a:p>
          <a:p>
            <a:pPr marL="0" indent="0" algn="l">
              <a:lnSpc>
                <a:spcPct val="108000"/>
              </a:lnSpc>
              <a:spcBef>
                <a:spcPts val="440"/>
              </a:spcBef>
              <a:buNone/>
            </a:pPr>
            <a:r>
              <a:rPr lang="en-US" sz="1800" dirty="0">
                <a:solidFill>
                  <a:srgbClr val="000000"/>
                </a:solidFill>
                <a:latin typeface="Century Gothic"/>
                <a:cs typeface="Century Gothic"/>
              </a:rPr>
              <a:t>factor() stores categories with defined levels.</a:t>
            </a:r>
          </a:p>
          <a:p>
            <a:pPr marL="0" indent="0" algn="l">
              <a:lnSpc>
                <a:spcPct val="108000"/>
              </a:lnSpc>
              <a:spcBef>
                <a:spcPts val="440"/>
              </a:spcBef>
              <a:buNone/>
            </a:pPr>
            <a:r>
              <a:rPr lang="en-US" sz="1800" dirty="0">
                <a:solidFill>
                  <a:srgbClr val="000000"/>
                </a:solidFill>
                <a:latin typeface="Century Gothic"/>
                <a:cs typeface="Century Gothic"/>
              </a:rPr>
              <a:t>Ordered factors keep ordinal meaning (education, activity).</a:t>
            </a:r>
          </a:p>
          <a:p>
            <a:pPr marL="0" indent="0" algn="l">
              <a:lnSpc>
                <a:spcPct val="108000"/>
              </a:lnSpc>
              <a:spcBef>
                <a:spcPts val="440"/>
              </a:spcBef>
              <a:buNone/>
            </a:pPr>
            <a:r>
              <a:rPr lang="en-US" sz="1800" dirty="0">
                <a:solidFill>
                  <a:srgbClr val="000000"/>
                </a:solidFill>
                <a:latin typeface="Century Gothic"/>
                <a:cs typeface="Century Gothic"/>
              </a:rPr>
              <a:t>Levels control the order in tables and plots.</a:t>
            </a:r>
          </a:p>
          <a:p>
            <a:pPr>
              <a:buNone/>
            </a:pPr>
            <a:endParaRPr sz="1050"/>
          </a:p>
          <a:p>
            <a:pPr marL="0" indent="0" algn="l">
              <a:spcBef>
                <a:spcPts val="360"/>
              </a:spcBef>
              <a:buNone/>
            </a:pPr>
            <a:r>
              <a:rPr lang="en-US" sz="2050" b="1" dirty="0">
                <a:solidFill>
                  <a:srgbClr val="0D7377"/>
                </a:solidFill>
                <a:latin typeface="Century Gothic"/>
                <a:cs typeface="Century Gothic"/>
              </a:rPr>
              <a:t>Set the reference level deliberately</a:t>
            </a:r>
          </a:p>
          <a:p>
            <a:pPr marL="0" indent="0" algn="l">
              <a:lnSpc>
                <a:spcPct val="108000"/>
              </a:lnSpc>
              <a:spcBef>
                <a:spcPts val="440"/>
              </a:spcBef>
              <a:buNone/>
            </a:pPr>
            <a:r>
              <a:rPr lang="en-US" sz="1800" dirty="0">
                <a:solidFill>
                  <a:srgbClr val="000000"/>
                </a:solidFill>
                <a:latin typeface="Century Gothic"/>
                <a:cs typeface="Century Gothic"/>
              </a:rPr>
              <a:t>For binary outcomes, list 'No' first.</a:t>
            </a:r>
          </a:p>
          <a:p>
            <a:pPr marL="0" indent="0" algn="l">
              <a:lnSpc>
                <a:spcPct val="108000"/>
              </a:lnSpc>
              <a:spcBef>
                <a:spcPts val="440"/>
              </a:spcBef>
              <a:buNone/>
            </a:pPr>
            <a:r>
              <a:rPr lang="en-US" sz="1800" dirty="0">
                <a:solidFill>
                  <a:srgbClr val="000000"/>
                </a:solidFill>
                <a:latin typeface="Century Gothic"/>
                <a:cs typeface="Century Gothic"/>
              </a:rPr>
              <a:t>factor(treatment_uptake, levels = c("No","Yes"))</a:t>
            </a:r>
          </a:p>
          <a:p>
            <a:pPr marL="0" indent="0" algn="l">
              <a:lnSpc>
                <a:spcPct val="108000"/>
              </a:lnSpc>
              <a:spcBef>
                <a:spcPts val="440"/>
              </a:spcBef>
              <a:buNone/>
            </a:pPr>
            <a:r>
              <a:rPr lang="en-US" sz="1800" dirty="0">
                <a:solidFill>
                  <a:srgbClr val="000000"/>
                </a:solidFill>
                <a:latin typeface="Century Gothic"/>
                <a:cs typeface="Century Gothic"/>
              </a:rPr>
              <a:t>The first level is the comparison baseline in models.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Why 'No' first</a:t>
            </a:r>
          </a:p>
          <a:p>
            <a:pPr marL="0" indent="0" algn="l">
              <a:spcBef>
                <a:spcPts val="100"/>
              </a:spcBef>
              <a:buNone/>
            </a:pPr>
            <a:r>
              <a:rPr lang="en-US" sz="1300" dirty="0">
                <a:solidFill>
                  <a:srgbClr val="000000"/>
                </a:solidFill>
                <a:latin typeface="Century Gothic"/>
                <a:cs typeface="Century Gothic"/>
              </a:rPr>
              <a:t>Odds ratios then read as the odds of Yes versus No - the natural clinical direction.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Final Missing-Data Audit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81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colSums(is.na(analysis_data)) |&gt;</a:t>
            </a:r>
          </a:p>
          <a:p>
            <a:pPr marL="0" indent="0" algn="l">
              <a:lnSpc>
                <a:spcPct val="100000"/>
              </a:lnSpc>
              <a:buNone/>
            </a:pPr>
            <a:r>
              <a:rPr lang="en-US" sz="1300" dirty="0">
                <a:solidFill>
                  <a:srgbClr val="1B3A4B"/>
                </a:solidFill>
                <a:latin typeface="Consolas"/>
                <a:cs typeface="Consolas"/>
              </a:rPr>
              <a:t>  sort(decreasing = TRUE) |&gt;</a:t>
            </a:r>
          </a:p>
          <a:p>
            <a:pPr marL="0" indent="0" algn="l">
              <a:lnSpc>
                <a:spcPct val="100000"/>
              </a:lnSpc>
              <a:buNone/>
            </a:pPr>
            <a:r>
              <a:rPr lang="en-US" sz="1300" dirty="0">
                <a:solidFill>
                  <a:srgbClr val="1B3A4B"/>
                </a:solidFill>
                <a:latin typeface="Consolas"/>
                <a:cs typeface="Consolas"/>
              </a:rPr>
              <a:t>  head(12)</a:t>
            </a:r>
          </a:p>
        </p:txBody>
      </p:sp>
      <p:sp>
        <p:nvSpPr>
          <p:cNvPr id="31" name="Output"/>
          <p:cNvSpPr/>
          <p:nvPr/>
        </p:nvSpPr>
        <p:spPr>
          <a:xfrm>
            <a:off x="457200" y="20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adherence        411</a:t>
            </a:r>
          </a:p>
          <a:p>
            <a:pPr marL="0" indent="0" algn="l">
              <a:lnSpc>
                <a:spcPct val="100000"/>
              </a:lnSpc>
              <a:buNone/>
            </a:pPr>
            <a:r>
              <a:rPr lang="en-US" sz="1250" dirty="0">
                <a:solidFill>
                  <a:srgbClr val="1A1A1A"/>
                </a:solidFill>
                <a:latin typeface="Consolas"/>
                <a:cs typeface="Consolas"/>
              </a:rPr>
              <a:t>bp_controlled    411</a:t>
            </a:r>
          </a:p>
          <a:p>
            <a:pPr marL="0" indent="0" algn="l">
              <a:lnSpc>
                <a:spcPct val="100000"/>
              </a:lnSpc>
              <a:buNone/>
            </a:pPr>
            <a:r>
              <a:rPr lang="en-US" sz="1250" dirty="0">
                <a:solidFill>
                  <a:srgbClr val="1A1A1A"/>
                </a:solidFill>
                <a:latin typeface="Consolas"/>
                <a:cs typeface="Consolas"/>
              </a:rPr>
              <a:t>bmi               18</a:t>
            </a:r>
          </a:p>
          <a:p>
            <a:pPr marL="0" indent="0" algn="l">
              <a:lnSpc>
                <a:spcPct val="100000"/>
              </a:lnSpc>
              <a:buNone/>
            </a:pPr>
            <a:r>
              <a:rPr lang="en-US" sz="1250" dirty="0">
                <a:solidFill>
                  <a:srgbClr val="1A1A1A"/>
                </a:solidFill>
                <a:latin typeface="Consolas"/>
                <a:cs typeface="Consolas"/>
              </a:rPr>
              <a:t>sbp_mmhg          12</a:t>
            </a:r>
          </a:p>
          <a:p>
            <a:pPr marL="0" indent="0" algn="l">
              <a:lnSpc>
                <a:spcPct val="100000"/>
              </a:lnSpc>
              <a:buNone/>
            </a:pPr>
            <a:r>
              <a:rPr lang="en-US" sz="1250" dirty="0">
                <a:solidFill>
                  <a:srgbClr val="1A1A1A"/>
                </a:solidFill>
                <a:latin typeface="Consolas"/>
                <a:cs typeface="Consolas"/>
              </a:rPr>
              <a:t>age                9</a:t>
            </a:r>
          </a:p>
        </p:txBody>
      </p:sp>
      <p:sp>
        <p:nvSpPr>
          <p:cNvPr id="32" name="Note"/>
          <p:cNvSpPr/>
          <p:nvPr/>
        </p:nvSpPr>
        <p:spPr>
          <a:xfrm>
            <a:off x="457200" y="3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adherence and bp_controlled are NA by design for untreated patients.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Saving the Clean Data: the Contract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Save once, reuse all week</a:t>
            </a:r>
          </a:p>
          <a:p>
            <a:pPr marL="0" indent="0" algn="l">
              <a:lnSpc>
                <a:spcPct val="108000"/>
              </a:lnSpc>
              <a:spcBef>
                <a:spcPts val="440"/>
              </a:spcBef>
              <a:buNone/>
            </a:pPr>
            <a:r>
              <a:rPr lang="en-US" sz="1800" dirty="0">
                <a:solidFill>
                  <a:srgbClr val="000000"/>
                </a:solidFill>
                <a:latin typeface="Century Gothic"/>
                <a:cs typeface="Century Gothic"/>
              </a:rPr>
              <a:t>saveRDS keeps factor types and levels intact.</a:t>
            </a:r>
          </a:p>
          <a:p>
            <a:pPr marL="0" indent="0" algn="l">
              <a:lnSpc>
                <a:spcPct val="108000"/>
              </a:lnSpc>
              <a:spcBef>
                <a:spcPts val="440"/>
              </a:spcBef>
              <a:buNone/>
            </a:pPr>
            <a:r>
              <a:rPr lang="en-US" sz="1800" dirty="0">
                <a:solidFill>
                  <a:srgbClr val="000000"/>
                </a:solidFill>
                <a:latin typeface="Century Gothic"/>
                <a:cs typeface="Century Gothic"/>
              </a:rPr>
              <a:t>write_csv gives a human-readable backup.</a:t>
            </a:r>
          </a:p>
          <a:p>
            <a:pPr marL="0" indent="0" algn="l">
              <a:lnSpc>
                <a:spcPct val="108000"/>
              </a:lnSpc>
              <a:spcBef>
                <a:spcPts val="440"/>
              </a:spcBef>
              <a:buNone/>
            </a:pPr>
            <a:r>
              <a:rPr lang="en-US" sz="1800" dirty="0">
                <a:solidFill>
                  <a:srgbClr val="000000"/>
                </a:solidFill>
                <a:latin typeface="Century Gothic"/>
                <a:cs typeface="Century Gothic"/>
              </a:rPr>
              <a:t>Days 3, 4 and 5 all start from this one file.</a:t>
            </a:r>
          </a:p>
          <a:p>
            <a:pPr>
              <a:buNone/>
            </a:pPr>
            <a:endParaRPr sz="1050"/>
          </a:p>
          <a:p>
            <a:pPr marL="0" indent="0" algn="l">
              <a:spcBef>
                <a:spcPts val="360"/>
              </a:spcBef>
              <a:buNone/>
            </a:pPr>
            <a:r>
              <a:rPr lang="en-US" sz="2050" b="1" dirty="0">
                <a:solidFill>
                  <a:srgbClr val="0D7377"/>
                </a:solidFill>
                <a:latin typeface="Century Gothic"/>
                <a:cs typeface="Century Gothic"/>
              </a:rPr>
              <a:t>The commands</a:t>
            </a:r>
          </a:p>
          <a:p>
            <a:pPr marL="0" indent="0" algn="l">
              <a:lnSpc>
                <a:spcPct val="108000"/>
              </a:lnSpc>
              <a:spcBef>
                <a:spcPts val="440"/>
              </a:spcBef>
              <a:buNone/>
            </a:pPr>
            <a:r>
              <a:rPr lang="en-US" sz="1800" dirty="0">
                <a:solidFill>
                  <a:srgbClr val="000000"/>
                </a:solidFill>
                <a:latin typeface="Century Gothic"/>
                <a:cs typeface="Century Gothic"/>
              </a:rPr>
              <a:t>saveRDS(analysis_data, "Data/analysis_data.rds")</a:t>
            </a:r>
          </a:p>
          <a:p>
            <a:pPr marL="0" indent="0" algn="l">
              <a:lnSpc>
                <a:spcPct val="108000"/>
              </a:lnSpc>
              <a:spcBef>
                <a:spcPts val="440"/>
              </a:spcBef>
              <a:buNone/>
            </a:pPr>
            <a:r>
              <a:rPr lang="en-US" sz="1800" dirty="0">
                <a:solidFill>
                  <a:srgbClr val="000000"/>
                </a:solidFill>
                <a:latin typeface="Century Gothic"/>
                <a:cs typeface="Century Gothic"/>
              </a:rPr>
              <a:t>write_csv(analysis_data, "Data/analysis_data.csv")</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Reload later</a:t>
            </a:r>
          </a:p>
          <a:p>
            <a:pPr marL="0" indent="0" algn="l">
              <a:spcBef>
                <a:spcPts val="100"/>
              </a:spcBef>
              <a:buNone/>
            </a:pPr>
            <a:r>
              <a:rPr lang="en-US" sz="1300" dirty="0">
                <a:solidFill>
                  <a:srgbClr val="000000"/>
                </a:solidFill>
                <a:latin typeface="Century Gothic"/>
                <a:cs typeface="Century Gothic"/>
              </a:rPr>
              <a:t>analysis_data &lt;- readRDS("Data/analysis_data.rds")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Common Mistakes and Debugging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Watch for these</a:t>
            </a:r>
          </a:p>
          <a:p>
            <a:pPr marL="0" indent="0" algn="l">
              <a:lnSpc>
                <a:spcPct val="108000"/>
              </a:lnSpc>
              <a:spcBef>
                <a:spcPts val="440"/>
              </a:spcBef>
              <a:buNone/>
            </a:pPr>
            <a:r>
              <a:rPr lang="en-US" sz="1800" dirty="0">
                <a:solidFill>
                  <a:srgbClr val="000000"/>
                </a:solidFill>
                <a:latin typeface="Century Gothic"/>
                <a:cs typeface="Century Gothic"/>
              </a:rPr>
              <a:t>Forgetting na= so 999 enters as a real number.</a:t>
            </a:r>
          </a:p>
          <a:p>
            <a:pPr marL="0" indent="0" algn="l">
              <a:lnSpc>
                <a:spcPct val="108000"/>
              </a:lnSpc>
              <a:spcBef>
                <a:spcPts val="440"/>
              </a:spcBef>
              <a:buNone/>
            </a:pPr>
            <a:r>
              <a:rPr lang="en-US" sz="1800" dirty="0">
                <a:solidFill>
                  <a:srgbClr val="000000"/>
                </a:solidFill>
                <a:latin typeface="Century Gothic"/>
                <a:cs typeface="Century Gothic"/>
              </a:rPr>
              <a:t>Wrong factor level order flipping every odds ratio.</a:t>
            </a:r>
          </a:p>
          <a:p>
            <a:pPr marL="0" indent="0" algn="l">
              <a:lnSpc>
                <a:spcPct val="108000"/>
              </a:lnSpc>
              <a:spcBef>
                <a:spcPts val="440"/>
              </a:spcBef>
              <a:buNone/>
            </a:pPr>
            <a:r>
              <a:rPr lang="en-US" sz="1800" dirty="0">
                <a:solidFill>
                  <a:srgbClr val="000000"/>
                </a:solidFill>
                <a:latin typeface="Century Gothic"/>
                <a:cs typeface="Century Gothic"/>
              </a:rPr>
              <a:t>Letting NA fall through case_when to the wrong group.</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NA propagation</a:t>
            </a:r>
          </a:p>
          <a:p>
            <a:pPr marL="0" indent="0" algn="l">
              <a:spcBef>
                <a:spcPts val="100"/>
              </a:spcBef>
              <a:buNone/>
            </a:pPr>
            <a:r>
              <a:rPr lang="en-US" sz="1300" dirty="0">
                <a:solidFill>
                  <a:srgbClr val="000000"/>
                </a:solidFill>
                <a:latin typeface="Century Gothic"/>
                <a:cs typeface="Century Gothic"/>
              </a:rPr>
              <a:t>Any arithmetic with NA returns NA; check is.na before computing.</a:t>
            </a:r>
          </a:p>
        </p:txBody>
      </p:sp>
      <p:sp>
        <p:nvSpPr>
          <p:cNvPr id="41"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Debug habit</a:t>
            </a:r>
          </a:p>
          <a:p>
            <a:pPr marL="0" indent="0" algn="l">
              <a:spcBef>
                <a:spcPts val="100"/>
              </a:spcBef>
              <a:buNone/>
            </a:pPr>
            <a:r>
              <a:rPr lang="en-US" sz="1300" dirty="0">
                <a:solidFill>
                  <a:srgbClr val="000000"/>
                </a:solidFill>
                <a:latin typeface="Century Gothic"/>
                <a:cs typeface="Century Gothic"/>
              </a:rPr>
              <a:t>After each step run summary() or table(..., useNA = "ifany").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2 Exercise: Clean the Simulated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Work in Practicals/day2_exercise.R and mirror today's pipeline.</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Import the raw CSV with the correct na= sentinels.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Remove duplicate records with distinct(); confirm 1500 rows.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Recode sex to Female/Male; standardise the Yes/No binaries.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Apply plausible ranges; set impossible values to NA.</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Recompute BMI; derive bmi_cat and bp_category.</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Parse enroll_date; set factors and reference levels.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Run the final missing-data audit and explain each NA.</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Save the result to 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we achieved today</a:t>
            </a:r>
          </a:p>
          <a:p>
            <a:pPr marL="0" indent="0" algn="l">
              <a:lnSpc>
                <a:spcPct val="108000"/>
              </a:lnSpc>
              <a:spcBef>
                <a:spcPts val="440"/>
              </a:spcBef>
              <a:buNone/>
            </a:pPr>
            <a:r>
              <a:rPr lang="en-US" sz="1800" dirty="0">
                <a:solidFill>
                  <a:srgbClr val="000000"/>
                </a:solidFill>
                <a:latin typeface="Century Gothic"/>
                <a:cs typeface="Century Gothic"/>
              </a:rPr>
              <a:t>Imported, de-duplicated and standardised the raw data.</a:t>
            </a:r>
          </a:p>
          <a:p>
            <a:pPr marL="0" indent="0" algn="l">
              <a:lnSpc>
                <a:spcPct val="108000"/>
              </a:lnSpc>
              <a:spcBef>
                <a:spcPts val="440"/>
              </a:spcBef>
              <a:buNone/>
            </a:pPr>
            <a:r>
              <a:rPr lang="en-US" sz="1800" dirty="0">
                <a:solidFill>
                  <a:srgbClr val="000000"/>
                </a:solidFill>
                <a:latin typeface="Century Gothic"/>
                <a:cs typeface="Century Gothic"/>
              </a:rPr>
              <a:t>Validated values, derived variables, parsed dates.</a:t>
            </a:r>
          </a:p>
          <a:p>
            <a:pPr marL="0" indent="0" algn="l">
              <a:lnSpc>
                <a:spcPct val="108000"/>
              </a:lnSpc>
              <a:spcBef>
                <a:spcPts val="440"/>
              </a:spcBef>
              <a:buNone/>
            </a:pPr>
            <a:r>
              <a:rPr lang="en-US" sz="1800" dirty="0">
                <a:solidFill>
                  <a:srgbClr val="000000"/>
                </a:solidFill>
                <a:latin typeface="Century Gothic"/>
                <a:cs typeface="Century Gothic"/>
              </a:rPr>
              <a:t>Set factors and saved analysis_data.rds.</a:t>
            </a:r>
          </a:p>
          <a:p>
            <a:pPr>
              <a:buNone/>
            </a:pPr>
            <a:endParaRPr sz="1050"/>
          </a:p>
          <a:p>
            <a:pPr marL="0" indent="0" algn="l">
              <a:spcBef>
                <a:spcPts val="360"/>
              </a:spcBef>
              <a:buNone/>
            </a:pPr>
            <a:r>
              <a:rPr lang="en-US" sz="2050" b="1" dirty="0">
                <a:solidFill>
                  <a:srgbClr val="0D7377"/>
                </a:solidFill>
                <a:latin typeface="Century Gothic"/>
                <a:cs typeface="Century Gothic"/>
              </a:rPr>
              <a:t>Tomorrow: Day 3</a:t>
            </a:r>
          </a:p>
          <a:p>
            <a:pPr marL="0" indent="0" algn="l">
              <a:lnSpc>
                <a:spcPct val="108000"/>
              </a:lnSpc>
              <a:spcBef>
                <a:spcPts val="440"/>
              </a:spcBef>
              <a:buNone/>
            </a:pPr>
            <a:r>
              <a:rPr lang="en-US" sz="1800" dirty="0">
                <a:solidFill>
                  <a:srgbClr val="000000"/>
                </a:solidFill>
                <a:latin typeface="Century Gothic"/>
                <a:cs typeface="Century Gothic"/>
              </a:rPr>
              <a:t>Explore and describe the clean data.</a:t>
            </a:r>
          </a:p>
          <a:p>
            <a:pPr marL="0" indent="0" algn="l">
              <a:lnSpc>
                <a:spcPct val="108000"/>
              </a:lnSpc>
              <a:spcBef>
                <a:spcPts val="440"/>
              </a:spcBef>
              <a:buNone/>
            </a:pPr>
            <a:r>
              <a:rPr lang="en-US" sz="1800" dirty="0">
                <a:solidFill>
                  <a:srgbClr val="000000"/>
                </a:solidFill>
                <a:latin typeface="Century Gothic"/>
                <a:cs typeface="Century Gothic"/>
              </a:rPr>
              <a:t>Summary tables, distributions and first plots.</a:t>
            </a:r>
          </a:p>
          <a:p>
            <a:pPr marL="0" indent="0" algn="l">
              <a:lnSpc>
                <a:spcPct val="108000"/>
              </a:lnSpc>
              <a:spcBef>
                <a:spcPts val="440"/>
              </a:spcBef>
              <a:buNone/>
            </a:pPr>
            <a:r>
              <a:rPr lang="en-US" sz="1800" dirty="0">
                <a:solidFill>
                  <a:srgbClr val="000000"/>
                </a:solidFill>
                <a:latin typeface="Century Gothic"/>
                <a:cs typeface="Century Gothic"/>
              </a:rPr>
              <a:t>We start from analysis_data.rds - no re-cleaning.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Remember</a:t>
            </a:r>
          </a:p>
          <a:p>
            <a:pPr marL="0" indent="0" algn="l">
              <a:spcBef>
                <a:spcPts val="100"/>
              </a:spcBef>
              <a:buNone/>
            </a:pPr>
            <a:r>
              <a:rPr lang="en-US" sz="1300" dirty="0">
                <a:solidFill>
                  <a:srgbClr val="000000"/>
                </a:solidFill>
                <a:latin typeface="Century Gothic"/>
                <a:cs typeface="Century Gothic"/>
              </a:rPr>
              <a:t>Clean data clear impact - everything downstream rests on today.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3: Descriptive Statistics, Tables &amp; Figures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Central tendency and spread</a:t>
            </a:r>
          </a:p>
          <a:p>
            <a:pPr marL="274320" indent="-274320" algn="l">
              <a:spcBef>
                <a:spcPts val="440"/>
              </a:spcBef>
              <a:buFont typeface="Arial"/>
              <a:buChar char="•"/>
            </a:pPr>
            <a:r>
              <a:rPr lang="en-US" sz="1900" dirty="0">
                <a:solidFill>
                  <a:srgbClr val="000000"/>
                </a:solidFill>
                <a:latin typeface="Century Gothic"/>
                <a:cs typeface="Century Gothic"/>
              </a:rPr>
              <a:t>Frequency and cross-tabulations</a:t>
            </a:r>
          </a:p>
          <a:p>
            <a:pPr marL="274320" indent="-274320" algn="l">
              <a:spcBef>
                <a:spcPts val="440"/>
              </a:spcBef>
              <a:buFont typeface="Arial"/>
              <a:buChar char="•"/>
            </a:pPr>
            <a:r>
              <a:rPr lang="en-US" sz="1900" dirty="0">
                <a:solidFill>
                  <a:srgbClr val="000000"/>
                </a:solidFill>
                <a:latin typeface="Century Gothic"/>
                <a:cs typeface="Century Gothic"/>
              </a:rPr>
              <a:t>Publication Table 1 with gtsummary</a:t>
            </a:r>
          </a:p>
          <a:p>
            <a:pPr marL="274320" indent="-274320" algn="l">
              <a:spcBef>
                <a:spcPts val="440"/>
              </a:spcBef>
              <a:buFont typeface="Arial"/>
              <a:buChar char="•"/>
            </a:pPr>
            <a:r>
              <a:rPr lang="en-US" sz="1900" dirty="0">
                <a:solidFill>
                  <a:srgbClr val="000000"/>
                </a:solidFill>
                <a:latin typeface="Century Gothic"/>
                <a:cs typeface="Century Gothic"/>
              </a:rPr>
              <a:t>Choosing and building figures</a:t>
            </a:r>
          </a:p>
          <a:p>
            <a:pPr marL="274320" indent="-274320" algn="l">
              <a:spcBef>
                <a:spcPts val="440"/>
              </a:spcBef>
              <a:buFont typeface="Arial"/>
              <a:buChar char="•"/>
            </a:pPr>
            <a:r>
              <a:rPr lang="en-US" sz="1900" dirty="0">
                <a:solidFill>
                  <a:srgbClr val="000000"/>
                </a:solidFill>
                <a:latin typeface="Century Gothic"/>
                <a:cs typeface="Century Gothic"/>
              </a:rPr>
              <a:t>Exporting reproducible outputs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we will achieve today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By the end of this session you will be able to:</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Summarise a numeric variable with mean, median, SD and IQR</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Avoid the number-one beginner trap that returns NA</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Build frequency tables and cross-tabulations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Read row versus column percentages correctly</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Produce a manuscript-ready Table 1</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Choose the right chart for each variable type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Save figures at 300 dpi for publication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Bridge: reload the clean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Always start from the saved clean file, never re-clean by hand.</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glimpse(analysis_data)</a:t>
            </a:r>
          </a:p>
          <a:p>
            <a:pPr marL="0" indent="0" algn="l">
              <a:lnSpc>
                <a:spcPct val="100000"/>
              </a:lnSpc>
              <a:buNone/>
            </a:pPr>
            <a:r>
              <a:rPr lang="en-US" sz="1300" dirty="0">
                <a:solidFill>
                  <a:srgbClr val="1B3A4B"/>
                </a:solidFill>
                <a:latin typeface="Consolas"/>
                <a:cs typeface="Consolas"/>
              </a:rPr>
              <a:t>nrow(analysis_data)</a:t>
            </a:r>
          </a:p>
        </p:txBody>
      </p:sp>
      <p:sp>
        <p:nvSpPr>
          <p:cNvPr id="31" name="Output"/>
          <p:cNvSpPr/>
          <p:nvPr/>
        </p:nvSpPr>
        <p:spPr>
          <a:xfrm>
            <a:off x="457200" y="344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Rows: 1,500</a:t>
            </a:r>
          </a:p>
          <a:p>
            <a:pPr marL="0" indent="0" algn="l">
              <a:lnSpc>
                <a:spcPct val="100000"/>
              </a:lnSpc>
              <a:buNone/>
            </a:pPr>
            <a:r>
              <a:rPr lang="en-US" sz="1250" dirty="0">
                <a:solidFill>
                  <a:srgbClr val="1A1A1A"/>
                </a:solidFill>
                <a:latin typeface="Consolas"/>
                <a:cs typeface="Consolas"/>
              </a:rPr>
              <a:t>Columns: 36</a:t>
            </a:r>
          </a:p>
          <a:p>
            <a:pPr marL="0" indent="0" algn="l">
              <a:lnSpc>
                <a:spcPct val="100000"/>
              </a:lnSpc>
              <a:buNone/>
            </a:pPr>
            <a:r>
              <a:rPr lang="en-US" sz="1250" dirty="0">
                <a:solidFill>
                  <a:srgbClr val="1A1A1A"/>
                </a:solidFill>
                <a:latin typeface="Consolas"/>
                <a:cs typeface="Consolas"/>
              </a:rPr>
              <a:t>[1] 1500</a:t>
            </a:r>
          </a:p>
        </p:txBody>
      </p:sp>
      <p:sp>
        <p:nvSpPr>
          <p:cNvPr id="32" name="Note"/>
          <p:cNvSpPr/>
          <p:nvPr/>
        </p:nvSpPr>
        <p:spPr>
          <a:xfrm>
            <a:off x="457200" y="4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Reloading the Day 2 output guarantees Days 3, 4 and 5 all use identical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Central tendency: mean vs median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Mean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arithmetic average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Uses every value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Pulled by extreme values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Best for symmetric data</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Median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middle value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Half above, half below</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Robust to outliers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Best for skewed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When the median is the honest 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Rule of thumb</a:t>
            </a:r>
          </a:p>
          <a:p>
            <a:pPr marL="0" indent="0" algn="l">
              <a:lnSpc>
                <a:spcPct val="108000"/>
              </a:lnSpc>
              <a:spcBef>
                <a:spcPts val="440"/>
              </a:spcBef>
              <a:buNone/>
            </a:pPr>
            <a:r>
              <a:rPr lang="en-US" sz="1800" dirty="0">
                <a:solidFill>
                  <a:srgbClr val="000000"/>
                </a:solidFill>
                <a:latin typeface="Century Gothic"/>
                <a:cs typeface="Century Gothic"/>
              </a:rPr>
              <a:t>Mean close to median means roughly symmetric: report mean (SD)</a:t>
            </a:r>
          </a:p>
          <a:p>
            <a:pPr marL="0" indent="0" algn="l">
              <a:lnSpc>
                <a:spcPct val="108000"/>
              </a:lnSpc>
              <a:spcBef>
                <a:spcPts val="440"/>
              </a:spcBef>
              <a:buNone/>
            </a:pPr>
            <a:r>
              <a:rPr lang="en-US" sz="1800" dirty="0">
                <a:solidFill>
                  <a:srgbClr val="000000"/>
                </a:solidFill>
                <a:latin typeface="Century Gothic"/>
                <a:cs typeface="Century Gothic"/>
              </a:rPr>
              <a:t>Mean well above median means right-skewed: report median (IQR)</a:t>
            </a:r>
          </a:p>
          <a:p>
            <a:pPr>
              <a:buNone/>
            </a:pPr>
            <a:endParaRPr sz="1050"/>
          </a:p>
          <a:p>
            <a:pPr marL="0" indent="0" algn="l">
              <a:spcBef>
                <a:spcPts val="360"/>
              </a:spcBef>
              <a:buNone/>
            </a:pPr>
            <a:r>
              <a:rPr lang="en-US" sz="2050" b="1" dirty="0">
                <a:solidFill>
                  <a:srgbClr val="0D7377"/>
                </a:solidFill>
                <a:latin typeface="Century Gothic"/>
                <a:cs typeface="Century Gothic"/>
              </a:rPr>
              <a:t>Typical right-skewed clinical variables</a:t>
            </a:r>
          </a:p>
          <a:p>
            <a:pPr marL="0" indent="0" algn="l">
              <a:lnSpc>
                <a:spcPct val="108000"/>
              </a:lnSpc>
              <a:spcBef>
                <a:spcPts val="440"/>
              </a:spcBef>
              <a:buNone/>
            </a:pPr>
            <a:r>
              <a:rPr lang="en-US" sz="1800" dirty="0">
                <a:solidFill>
                  <a:srgbClr val="000000"/>
                </a:solidFill>
                <a:latin typeface="Century Gothic"/>
                <a:cs typeface="Century Gothic"/>
              </a:rPr>
              <a:t>Distance to facility, fasting glucose, triglycerides</a:t>
            </a:r>
          </a:p>
          <a:p>
            <a:pPr marL="0" indent="0" algn="l">
              <a:lnSpc>
                <a:spcPct val="108000"/>
              </a:lnSpc>
              <a:spcBef>
                <a:spcPts val="440"/>
              </a:spcBef>
              <a:buNone/>
            </a:pPr>
            <a:r>
              <a:rPr lang="en-US" sz="1800" dirty="0">
                <a:solidFill>
                  <a:srgbClr val="000000"/>
                </a:solidFill>
                <a:latin typeface="Century Gothic"/>
                <a:cs typeface="Century Gothic"/>
              </a:rPr>
              <a:t>Length of stay, cost, biomarker concentrations</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Why it matters</a:t>
            </a:r>
          </a:p>
          <a:p>
            <a:pPr marL="0" indent="0" algn="l">
              <a:spcBef>
                <a:spcPts val="100"/>
              </a:spcBef>
              <a:buNone/>
            </a:pPr>
            <a:r>
              <a:rPr lang="en-US" sz="1300" dirty="0">
                <a:solidFill>
                  <a:srgbClr val="000000"/>
                </a:solidFill>
                <a:latin typeface="Century Gothic"/>
                <a:cs typeface="Century Gothic"/>
              </a:rPr>
              <a:t>For BP and BMI the mean often sits above the median.</a:t>
            </a:r>
          </a:p>
          <a:p>
            <a:pPr marL="0" indent="0" algn="l">
              <a:spcBef>
                <a:spcPts val="100"/>
              </a:spcBef>
              <a:buNone/>
            </a:pPr>
            <a:r>
              <a:rPr lang="en-US" sz="1300" dirty="0">
                <a:solidFill>
                  <a:srgbClr val="000000"/>
                </a:solidFill>
                <a:latin typeface="Century Gothic"/>
                <a:cs typeface="Century Gothic"/>
              </a:rPr>
              <a:t>A few high values inflate the mean, so median (IQR) is safer.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Measures of spread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How scattered are the values?</a:t>
            </a:r>
          </a:p>
          <a:p>
            <a:pPr marL="0" indent="0" algn="l">
              <a:lnSpc>
                <a:spcPct val="108000"/>
              </a:lnSpc>
              <a:spcBef>
                <a:spcPts val="440"/>
              </a:spcBef>
              <a:buNone/>
            </a:pPr>
            <a:r>
              <a:rPr lang="en-US" sz="1800" dirty="0">
                <a:solidFill>
                  <a:srgbClr val="000000"/>
                </a:solidFill>
                <a:latin typeface="Century Gothic"/>
                <a:cs typeface="Century Gothic"/>
              </a:rPr>
              <a:t>Standard deviation (SD): typical distance from the mean</a:t>
            </a:r>
          </a:p>
          <a:p>
            <a:pPr marL="0" indent="0" algn="l">
              <a:lnSpc>
                <a:spcPct val="108000"/>
              </a:lnSpc>
              <a:spcBef>
                <a:spcPts val="440"/>
              </a:spcBef>
              <a:buNone/>
            </a:pPr>
            <a:r>
              <a:rPr lang="en-US" sz="1800" dirty="0">
                <a:solidFill>
                  <a:srgbClr val="000000"/>
                </a:solidFill>
                <a:latin typeface="Century Gothic"/>
                <a:cs typeface="Century Gothic"/>
              </a:rPr>
              <a:t>IQR: the range of the middle 50 percent (Q3 minus Q1)</a:t>
            </a:r>
          </a:p>
          <a:p>
            <a:pPr marL="0" indent="0" algn="l">
              <a:lnSpc>
                <a:spcPct val="108000"/>
              </a:lnSpc>
              <a:spcBef>
                <a:spcPts val="440"/>
              </a:spcBef>
              <a:buNone/>
            </a:pPr>
            <a:r>
              <a:rPr lang="en-US" sz="1800" dirty="0">
                <a:solidFill>
                  <a:srgbClr val="000000"/>
                </a:solidFill>
                <a:latin typeface="Century Gothic"/>
                <a:cs typeface="Century Gothic"/>
              </a:rPr>
              <a:t>Range: minimum to maximum, sensitive to outliers</a:t>
            </a:r>
          </a:p>
          <a:p>
            <a:pPr marL="0" indent="0" algn="l">
              <a:lnSpc>
                <a:spcPct val="108000"/>
              </a:lnSpc>
              <a:spcBef>
                <a:spcPts val="440"/>
              </a:spcBef>
              <a:buNone/>
            </a:pPr>
            <a:r>
              <a:rPr lang="en-US" sz="1800" dirty="0">
                <a:solidFill>
                  <a:srgbClr val="000000"/>
                </a:solidFill>
                <a:latin typeface="Century Gothic"/>
                <a:cs typeface="Century Gothic"/>
              </a:rPr>
              <a:t>Quantiles: cut points such as the five-number summary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Pair the spread with the centre</a:t>
            </a:r>
          </a:p>
          <a:p>
            <a:pPr marL="0" indent="0" algn="l">
              <a:spcBef>
                <a:spcPts val="100"/>
              </a:spcBef>
              <a:buNone/>
            </a:pPr>
            <a:r>
              <a:rPr lang="en-US" sz="1300" dirty="0">
                <a:solidFill>
                  <a:srgbClr val="000000"/>
                </a:solidFill>
                <a:latin typeface="Century Gothic"/>
                <a:cs typeface="Century Gothic"/>
              </a:rPr>
              <a:t>Report SD with the mean; report IQR with the median.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number-one beginner trap: na.rm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happens</a:t>
            </a:r>
          </a:p>
          <a:p>
            <a:pPr marL="0" indent="0" algn="l">
              <a:lnSpc>
                <a:spcPct val="108000"/>
              </a:lnSpc>
              <a:spcBef>
                <a:spcPts val="440"/>
              </a:spcBef>
              <a:buNone/>
            </a:pPr>
            <a:r>
              <a:rPr lang="en-US" sz="1800" dirty="0">
                <a:solidFill>
                  <a:srgbClr val="000000"/>
                </a:solidFill>
                <a:latin typeface="Century Gothic"/>
                <a:cs typeface="Century Gothic"/>
              </a:rPr>
              <a:t>If a column has ANY missing value, mean() and sd() return NA.</a:t>
            </a:r>
          </a:p>
          <a:p>
            <a:pPr marL="0" indent="0" algn="l">
              <a:lnSpc>
                <a:spcPct val="108000"/>
              </a:lnSpc>
              <a:spcBef>
                <a:spcPts val="440"/>
              </a:spcBef>
              <a:buNone/>
            </a:pPr>
            <a:r>
              <a:rPr lang="en-US" sz="1800" dirty="0">
                <a:solidFill>
                  <a:srgbClr val="000000"/>
                </a:solidFill>
                <a:latin typeface="Century Gothic"/>
                <a:cs typeface="Century Gothic"/>
              </a:rPr>
              <a:t>R refuses to guess; it tells you the answer is unknown.</a:t>
            </a:r>
          </a:p>
          <a:p>
            <a:pPr>
              <a:buNone/>
            </a:pPr>
            <a:endParaRPr sz="1050"/>
          </a:p>
          <a:p>
            <a:pPr marL="0" indent="0" algn="l">
              <a:spcBef>
                <a:spcPts val="360"/>
              </a:spcBef>
              <a:buNone/>
            </a:pPr>
            <a:r>
              <a:rPr lang="en-US" sz="2050" b="1" dirty="0">
                <a:solidFill>
                  <a:srgbClr val="0D7377"/>
                </a:solidFill>
                <a:latin typeface="Century Gothic"/>
                <a:cs typeface="Century Gothic"/>
              </a:rPr>
              <a:t>The fix</a:t>
            </a:r>
          </a:p>
          <a:p>
            <a:pPr marL="0" indent="0" algn="l">
              <a:lnSpc>
                <a:spcPct val="108000"/>
              </a:lnSpc>
              <a:spcBef>
                <a:spcPts val="440"/>
              </a:spcBef>
              <a:buNone/>
            </a:pPr>
            <a:r>
              <a:rPr lang="en-US" sz="1800" dirty="0">
                <a:solidFill>
                  <a:srgbClr val="000000"/>
                </a:solidFill>
                <a:latin typeface="Century Gothic"/>
                <a:cs typeface="Century Gothic"/>
              </a:rPr>
              <a:t>Add na.rm = TRUE to ignore the missing values.</a:t>
            </a:r>
          </a:p>
          <a:p>
            <a:pPr marL="0" indent="0" algn="l">
              <a:lnSpc>
                <a:spcPct val="108000"/>
              </a:lnSpc>
              <a:spcBef>
                <a:spcPts val="440"/>
              </a:spcBef>
              <a:buNone/>
            </a:pPr>
            <a:r>
              <a:rPr lang="en-US" sz="1800" dirty="0">
                <a:solidFill>
                  <a:srgbClr val="000000"/>
                </a:solidFill>
                <a:latin typeface="Century Gothic"/>
                <a:cs typeface="Century Gothic"/>
              </a:rPr>
              <a:t>mean(x, na.rm = TRUE) instead of mean(x).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Most common cause of a surprise NA</a:t>
            </a:r>
          </a:p>
          <a:p>
            <a:pPr marL="0" indent="0" algn="l">
              <a:spcBef>
                <a:spcPts val="100"/>
              </a:spcBef>
              <a:buNone/>
            </a:pPr>
            <a:r>
              <a:rPr lang="en-US" sz="1300" dirty="0">
                <a:solidFill>
                  <a:srgbClr val="000000"/>
                </a:solidFill>
                <a:latin typeface="Century Gothic"/>
                <a:cs typeface="Century Gothic"/>
              </a:rPr>
              <a:t>A summary returns NA -&gt; a hidden missing value is present.</a:t>
            </a:r>
          </a:p>
          <a:p>
            <a:pPr marL="0" indent="0" algn="l">
              <a:spcBef>
                <a:spcPts val="100"/>
              </a:spcBef>
              <a:buNone/>
            </a:pPr>
            <a:r>
              <a:rPr lang="en-US" sz="1300" dirty="0">
                <a:solidFill>
                  <a:srgbClr val="000000"/>
                </a:solidFill>
                <a:latin typeface="Century Gothic"/>
                <a:cs typeface="Century Gothic"/>
              </a:rPr>
              <a:t>First thing to check: did you set na.rm = TRUE?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central tendency and spread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Show the trap first, then the fix, on systolic blood pressure.</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mean(analysis_data$sbp_mmhg)</a:t>
            </a:r>
          </a:p>
          <a:p>
            <a:pPr marL="0" indent="0" algn="l">
              <a:lnSpc>
                <a:spcPct val="100000"/>
              </a:lnSpc>
              <a:buNone/>
            </a:pPr>
            <a:r>
              <a:rPr lang="en-US" sz="1300" dirty="0">
                <a:solidFill>
                  <a:srgbClr val="1B3A4B"/>
                </a:solidFill>
                <a:latin typeface="Consolas"/>
                <a:cs typeface="Consolas"/>
              </a:rPr>
              <a:t>mean(analysis_data$sbp_mmhg, na.rm = TRUE)</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median(analysis_data$age, na.rm = TRUE)</a:t>
            </a:r>
          </a:p>
          <a:p>
            <a:pPr marL="0" indent="0" algn="l">
              <a:lnSpc>
                <a:spcPct val="100000"/>
              </a:lnSpc>
              <a:buNone/>
            </a:pPr>
            <a:r>
              <a:rPr lang="en-US" sz="1300" dirty="0">
                <a:solidFill>
                  <a:srgbClr val="1B3A4B"/>
                </a:solidFill>
                <a:latin typeface="Consolas"/>
                <a:cs typeface="Consolas"/>
              </a:rPr>
              <a:t>sd(analysis_data$age, na.rm = TRUE)</a:t>
            </a:r>
          </a:p>
          <a:p>
            <a:pPr marL="0" indent="0" algn="l">
              <a:lnSpc>
                <a:spcPct val="100000"/>
              </a:lnSpc>
              <a:buNone/>
            </a:pPr>
            <a:r>
              <a:rPr lang="en-US" sz="1300" dirty="0">
                <a:solidFill>
                  <a:srgbClr val="1B3A4B"/>
                </a:solidFill>
                <a:latin typeface="Consolas"/>
                <a:cs typeface="Consolas"/>
              </a:rPr>
              <a:t>IQR(analysis_data$age, na.rm = TRUE)</a:t>
            </a:r>
          </a:p>
          <a:p>
            <a:pPr marL="0" indent="0" algn="l">
              <a:lnSpc>
                <a:spcPct val="100000"/>
              </a:lnSpc>
              <a:buNone/>
            </a:pPr>
            <a:r>
              <a:rPr lang="en-US" sz="1300" dirty="0">
                <a:solidFill>
                  <a:srgbClr val="1B3A4B"/>
                </a:solidFill>
                <a:latin typeface="Consolas"/>
                <a:cs typeface="Consolas"/>
              </a:rPr>
              <a:t>quantile(analysis_data$age,</a:t>
            </a:r>
          </a:p>
          <a:p>
            <a:pPr marL="0" indent="0" algn="l">
              <a:lnSpc>
                <a:spcPct val="100000"/>
              </a:lnSpc>
              <a:buNone/>
            </a:pPr>
            <a:r>
              <a:rPr lang="en-US" sz="1300" dirty="0">
                <a:solidFill>
                  <a:srgbClr val="1B3A4B"/>
                </a:solidFill>
                <a:latin typeface="Consolas"/>
                <a:cs typeface="Consolas"/>
              </a:rPr>
              <a:t>         probs = c(0, .25, .5, .75, 1), na.rm = TRUE)</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NA</a:t>
            </a:r>
          </a:p>
          <a:p>
            <a:pPr marL="0" indent="0" algn="l">
              <a:lnSpc>
                <a:spcPct val="100000"/>
              </a:lnSpc>
              <a:buNone/>
            </a:pPr>
            <a:r>
              <a:rPr lang="en-US" sz="1250" dirty="0">
                <a:solidFill>
                  <a:srgbClr val="1A1A1A"/>
                </a:solidFill>
                <a:latin typeface="Consolas"/>
                <a:cs typeface="Consolas"/>
              </a:rPr>
              <a:t>[1] 138.6</a:t>
            </a:r>
          </a:p>
          <a:p>
            <a:pPr marL="0" indent="0" algn="l">
              <a:lnSpc>
                <a:spcPct val="100000"/>
              </a:lnSpc>
              <a:buNone/>
            </a:pPr>
            <a:r>
              <a:rPr lang="en-US" sz="1250" dirty="0">
                <a:solidFill>
                  <a:srgbClr val="1A1A1A"/>
                </a:solidFill>
                <a:latin typeface="Consolas"/>
                <a:cs typeface="Consolas"/>
              </a:rPr>
              <a:t>[1] 52</a:t>
            </a:r>
          </a:p>
          <a:p>
            <a:pPr marL="0" indent="0" algn="l">
              <a:lnSpc>
                <a:spcPct val="100000"/>
              </a:lnSpc>
              <a:buNone/>
            </a:pPr>
            <a:r>
              <a:rPr lang="en-US" sz="1250" dirty="0">
                <a:solidFill>
                  <a:srgbClr val="1A1A1A"/>
                </a:solidFill>
                <a:latin typeface="Consolas"/>
                <a:cs typeface="Consolas"/>
              </a:rPr>
              <a:t>[1] 14.8</a:t>
            </a:r>
          </a:p>
          <a:p>
            <a:pPr marL="0" indent="0" algn="l">
              <a:lnSpc>
                <a:spcPct val="100000"/>
              </a:lnSpc>
              <a:buNone/>
            </a:pPr>
            <a:r>
              <a:rPr lang="en-US" sz="1250" dirty="0">
                <a:solidFill>
                  <a:srgbClr val="1A1A1A"/>
                </a:solidFill>
                <a:latin typeface="Consolas"/>
                <a:cs typeface="Consolas"/>
              </a:rPr>
              <a:t>[1] 23</a:t>
            </a:r>
          </a:p>
          <a:p>
            <a:pPr marL="0" indent="0" algn="l">
              <a:lnSpc>
                <a:spcPct val="100000"/>
              </a:lnSpc>
              <a:buNone/>
            </a:pPr>
            <a:r>
              <a:rPr lang="en-US" sz="1250" dirty="0">
                <a:solidFill>
                  <a:srgbClr val="1A1A1A"/>
                </a:solidFill>
                <a:latin typeface="Consolas"/>
                <a:cs typeface="Consolas"/>
              </a:rPr>
              <a:t>  0%  25%  50%  75% 100%</a:t>
            </a:r>
          </a:p>
          <a:p>
            <a:pPr marL="0" indent="0" algn="l">
              <a:lnSpc>
                <a:spcPct val="100000"/>
              </a:lnSpc>
              <a:buNone/>
            </a:pPr>
            <a:r>
              <a:rPr lang="en-US" sz="1250" dirty="0">
                <a:solidFill>
                  <a:srgbClr val="1A1A1A"/>
                </a:solidFill>
                <a:latin typeface="Consolas"/>
                <a:cs typeface="Consolas"/>
              </a:rPr>
              <a:t>  18   42   52   65   89</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The first line is NA on purpose; na.rm = TRUE produces the real mean.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summarise many variables at once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summary() for a fast look, then a tidy grouped table with across().</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group_by(treatment_uptake) |&gt;</a:t>
            </a:r>
          </a:p>
          <a:p>
            <a:pPr marL="0" indent="0" algn="l">
              <a:lnSpc>
                <a:spcPct val="100000"/>
              </a:lnSpc>
              <a:buNone/>
            </a:pPr>
            <a:r>
              <a:rPr lang="en-US" sz="1300" dirty="0">
                <a:solidFill>
                  <a:srgbClr val="1B3A4B"/>
                </a:solidFill>
                <a:latin typeface="Consolas"/>
                <a:cs typeface="Consolas"/>
              </a:rPr>
              <a:t>  summarise(n = n(),</a:t>
            </a:r>
          </a:p>
          <a:p>
            <a:pPr marL="0" indent="0" algn="l">
              <a:lnSpc>
                <a:spcPct val="100000"/>
              </a:lnSpc>
              <a:buNone/>
            </a:pPr>
            <a:r>
              <a:rPr lang="en-US" sz="1300" dirty="0">
                <a:solidFill>
                  <a:srgbClr val="1B3A4B"/>
                </a:solidFill>
                <a:latin typeface="Consolas"/>
                <a:cs typeface="Consolas"/>
              </a:rPr>
              <a:t>    across(c(age, bmi, sbp_mmhg, dbp_mmhg),</a:t>
            </a:r>
          </a:p>
          <a:p>
            <a:pPr marL="0" indent="0" algn="l">
              <a:lnSpc>
                <a:spcPct val="100000"/>
              </a:lnSpc>
              <a:buNone/>
            </a:pPr>
            <a:r>
              <a:rPr lang="en-US" sz="1300" dirty="0">
                <a:solidFill>
                  <a:srgbClr val="1B3A4B"/>
                </a:solidFill>
                <a:latin typeface="Consolas"/>
                <a:cs typeface="Consolas"/>
              </a:rPr>
              <a:t>      list(mean = ~mean(.x, na.rm = TRUE),</a:t>
            </a:r>
          </a:p>
          <a:p>
            <a:pPr marL="0" indent="0" algn="l">
              <a:lnSpc>
                <a:spcPct val="100000"/>
              </a:lnSpc>
              <a:buNone/>
            </a:pPr>
            <a:r>
              <a:rPr lang="en-US" sz="1300" dirty="0">
                <a:solidFill>
                  <a:srgbClr val="1B3A4B"/>
                </a:solidFill>
                <a:latin typeface="Consolas"/>
                <a:cs typeface="Consolas"/>
              </a:rPr>
              <a:t>           sd   = ~sd(.x,   na.rm = TRUE)),</a:t>
            </a:r>
          </a:p>
          <a:p>
            <a:pPr marL="0" indent="0" algn="l">
              <a:lnSpc>
                <a:spcPct val="100000"/>
              </a:lnSpc>
              <a:buNone/>
            </a:pPr>
            <a:r>
              <a:rPr lang="en-US" sz="1300" dirty="0">
                <a:solidFill>
                  <a:srgbClr val="1B3A4B"/>
                </a:solidFill>
                <a:latin typeface="Consolas"/>
                <a:cs typeface="Consolas"/>
              </a:rPr>
              <a:t>      .names = "{.col}_{.fn}"),</a:t>
            </a:r>
          </a:p>
          <a:p>
            <a:pPr marL="0" indent="0" algn="l">
              <a:lnSpc>
                <a:spcPct val="100000"/>
              </a:lnSpc>
              <a:buNone/>
            </a:pPr>
            <a:r>
              <a:rPr lang="en-US" sz="1300" dirty="0">
                <a:solidFill>
                  <a:srgbClr val="1B3A4B"/>
                </a:solidFill>
                <a:latin typeface="Consolas"/>
                <a:cs typeface="Consolas"/>
              </a:rPr>
              <a:t>    .groups = "drop")</a:t>
            </a:r>
          </a:p>
        </p:txBody>
      </p:sp>
      <p:sp>
        <p:nvSpPr>
          <p:cNvPr id="31" name="Output"/>
          <p:cNvSpPr/>
          <p:nvPr/>
        </p:nvSpPr>
        <p:spPr>
          <a:xfrm>
            <a:off x="457200" y="365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treatment_uptake     n age_mean age_sd sbp_mmhg_mean</a:t>
            </a:r>
          </a:p>
          <a:p>
            <a:pPr marL="0" indent="0" algn="l">
              <a:lnSpc>
                <a:spcPct val="100000"/>
              </a:lnSpc>
              <a:buNone/>
            </a:pPr>
            <a:r>
              <a:rPr lang="en-US" sz="1250" dirty="0">
                <a:solidFill>
                  <a:srgbClr val="1A1A1A"/>
                </a:solidFill>
                <a:latin typeface="Consolas"/>
                <a:cs typeface="Consolas"/>
              </a:rPr>
              <a:t> No                 ...     50.1   14.6         136.2</a:t>
            </a:r>
          </a:p>
          <a:p>
            <a:pPr marL="0" indent="0" algn="l">
              <a:lnSpc>
                <a:spcPct val="100000"/>
              </a:lnSpc>
              <a:buNone/>
            </a:pPr>
            <a:r>
              <a:rPr lang="en-US" sz="1250" dirty="0">
                <a:solidFill>
                  <a:srgbClr val="1A1A1A"/>
                </a:solidFill>
                <a:latin typeface="Consolas"/>
                <a:cs typeface="Consolas"/>
              </a:rPr>
              <a:t> Yes                ...     54.7   14.1         141.8</a:t>
            </a:r>
          </a:p>
        </p:txBody>
      </p:sp>
      <p:sp>
        <p:nvSpPr>
          <p:cNvPr id="32" name="Note"/>
          <p:cNvSpPr/>
          <p:nvPr/>
        </p:nvSpPr>
        <p:spPr>
          <a:xfrm>
            <a:off x="457200" y="46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across() applies the same functions to many columns: no copy-paste, no typos.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Frequency tables for categorical variables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Three tools, know all three</a:t>
            </a:r>
          </a:p>
          <a:p>
            <a:pPr marL="0" indent="0" algn="l">
              <a:lnSpc>
                <a:spcPct val="108000"/>
              </a:lnSpc>
              <a:spcBef>
                <a:spcPts val="440"/>
              </a:spcBef>
              <a:buNone/>
            </a:pPr>
            <a:r>
              <a:rPr lang="en-US" sz="1800" dirty="0">
                <a:solidFill>
                  <a:srgbClr val="000000"/>
                </a:solidFill>
                <a:latin typeface="Century Gothic"/>
                <a:cs typeface="Century Gothic"/>
              </a:rPr>
              <a:t>table() gives raw counts</a:t>
            </a:r>
          </a:p>
          <a:p>
            <a:pPr marL="0" indent="0" algn="l">
              <a:lnSpc>
                <a:spcPct val="108000"/>
              </a:lnSpc>
              <a:spcBef>
                <a:spcPts val="440"/>
              </a:spcBef>
              <a:buNone/>
            </a:pPr>
            <a:r>
              <a:rPr lang="en-US" sz="1800" dirty="0">
                <a:solidFill>
                  <a:srgbClr val="000000"/>
                </a:solidFill>
                <a:latin typeface="Century Gothic"/>
                <a:cs typeface="Century Gothic"/>
              </a:rPr>
              <a:t>prop.table() converts counts to proportions</a:t>
            </a:r>
          </a:p>
          <a:p>
            <a:pPr marL="0" indent="0" algn="l">
              <a:lnSpc>
                <a:spcPct val="108000"/>
              </a:lnSpc>
              <a:spcBef>
                <a:spcPts val="440"/>
              </a:spcBef>
              <a:buNone/>
            </a:pPr>
            <a:r>
              <a:rPr lang="en-US" sz="1800" dirty="0">
                <a:solidFill>
                  <a:srgbClr val="000000"/>
                </a:solidFill>
                <a:latin typeface="Century Gothic"/>
                <a:cs typeface="Century Gothic"/>
              </a:rPr>
              <a:t>count() returns a tidy data frame you can pipe onward</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table() hides missing values</a:t>
            </a:r>
          </a:p>
          <a:p>
            <a:pPr marL="0" indent="0" algn="l">
              <a:spcBef>
                <a:spcPts val="100"/>
              </a:spcBef>
              <a:buNone/>
            </a:pPr>
            <a:r>
              <a:rPr lang="en-US" sz="1300" dirty="0">
                <a:solidFill>
                  <a:srgbClr val="000000"/>
                </a:solidFill>
                <a:latin typeface="Century Gothic"/>
                <a:cs typeface="Century Gothic"/>
              </a:rPr>
              <a:t>By default table() silently drops NAs, so percentages can mislead.</a:t>
            </a:r>
          </a:p>
          <a:p>
            <a:pPr marL="0" indent="0" algn="l">
              <a:spcBef>
                <a:spcPts val="100"/>
              </a:spcBef>
              <a:buNone/>
            </a:pPr>
            <a:r>
              <a:rPr lang="en-US" sz="1300" dirty="0">
                <a:solidFill>
                  <a:srgbClr val="000000"/>
                </a:solidFill>
                <a:latin typeface="Century Gothic"/>
                <a:cs typeface="Century Gothic"/>
              </a:rPr>
              <a:t>Use table(x, useNA = "ifany") to make missing values visible.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frequency tables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Counts, percentages, and the tidy equivalent.</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table(analysis_data$sex)</a:t>
            </a:r>
          </a:p>
          <a:p>
            <a:pPr marL="0" indent="0" algn="l">
              <a:lnSpc>
                <a:spcPct val="100000"/>
              </a:lnSpc>
              <a:buNone/>
            </a:pPr>
            <a:r>
              <a:rPr lang="en-US" sz="1300" dirty="0">
                <a:solidFill>
                  <a:srgbClr val="1B3A4B"/>
                </a:solidFill>
                <a:latin typeface="Consolas"/>
                <a:cs typeface="Consolas"/>
              </a:rPr>
              <a:t>round(100 * prop.table(table(analysis_data$sex)), 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table(analysis_data$education, useNA = "ifany")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count(bp_category) |&gt;</a:t>
            </a:r>
          </a:p>
          <a:p>
            <a:pPr marL="0" indent="0" algn="l">
              <a:lnSpc>
                <a:spcPct val="100000"/>
              </a:lnSpc>
              <a:buNone/>
            </a:pPr>
            <a:r>
              <a:rPr lang="en-US" sz="1300" dirty="0">
                <a:solidFill>
                  <a:srgbClr val="1B3A4B"/>
                </a:solidFill>
                <a:latin typeface="Consolas"/>
                <a:cs typeface="Consolas"/>
              </a:rPr>
              <a:t>  mutate(percent = round(100 * n / sum(n), 1))</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810    690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54.0   46.0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bp_category percentages printed as a tidy tibble</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count() plus mutate() gives a tidy table ready for a report or a plot.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Cross-tabulations: outcome versus predictor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A two-way table</a:t>
            </a:r>
          </a:p>
          <a:p>
            <a:pPr marL="0" indent="0" algn="l">
              <a:lnSpc>
                <a:spcPct val="108000"/>
              </a:lnSpc>
              <a:spcBef>
                <a:spcPts val="440"/>
              </a:spcBef>
              <a:buNone/>
            </a:pPr>
            <a:r>
              <a:rPr lang="en-US" sz="1800" dirty="0">
                <a:solidFill>
                  <a:srgbClr val="000000"/>
                </a:solidFill>
                <a:latin typeface="Century Gothic"/>
                <a:cs typeface="Century Gothic"/>
              </a:rPr>
              <a:t>table(treatment_uptake, diabetes) counts every combination</a:t>
            </a:r>
          </a:p>
          <a:p>
            <a:pPr marL="0" indent="0" algn="l">
              <a:lnSpc>
                <a:spcPct val="108000"/>
              </a:lnSpc>
              <a:spcBef>
                <a:spcPts val="440"/>
              </a:spcBef>
              <a:buNone/>
            </a:pPr>
            <a:r>
              <a:rPr lang="en-US" sz="1800" dirty="0">
                <a:solidFill>
                  <a:srgbClr val="000000"/>
                </a:solidFill>
                <a:latin typeface="Century Gothic"/>
                <a:cs typeface="Century Gothic"/>
              </a:rPr>
              <a:t>Rows are treatment uptake, columns are diabetes status</a:t>
            </a:r>
          </a:p>
          <a:p>
            <a:pPr>
              <a:buNone/>
            </a:pPr>
            <a:endParaRPr sz="1050"/>
          </a:p>
          <a:p>
            <a:pPr marL="0" indent="0" algn="l">
              <a:spcBef>
                <a:spcPts val="360"/>
              </a:spcBef>
              <a:buNone/>
            </a:pPr>
            <a:r>
              <a:rPr lang="en-US" sz="2050" b="1" dirty="0">
                <a:solidFill>
                  <a:srgbClr val="0D7377"/>
                </a:solidFill>
                <a:latin typeface="Century Gothic"/>
                <a:cs typeface="Century Gothic"/>
              </a:rPr>
              <a:t>The margin argument chooses the percentage</a:t>
            </a:r>
          </a:p>
          <a:p>
            <a:pPr marL="0" indent="0" algn="l">
              <a:lnSpc>
                <a:spcPct val="108000"/>
              </a:lnSpc>
              <a:spcBef>
                <a:spcPts val="440"/>
              </a:spcBef>
              <a:buNone/>
            </a:pPr>
            <a:r>
              <a:rPr lang="en-US" sz="1800" dirty="0">
                <a:solidFill>
                  <a:srgbClr val="000000"/>
                </a:solidFill>
                <a:latin typeface="Century Gothic"/>
                <a:cs typeface="Century Gothic"/>
              </a:rPr>
              <a:t>margin = 1 gives ROW percentages (each row sums to 100)</a:t>
            </a:r>
          </a:p>
          <a:p>
            <a:pPr marL="0" indent="0" algn="l">
              <a:lnSpc>
                <a:spcPct val="108000"/>
              </a:lnSpc>
              <a:spcBef>
                <a:spcPts val="440"/>
              </a:spcBef>
              <a:buNone/>
            </a:pPr>
            <a:r>
              <a:rPr lang="en-US" sz="1800" dirty="0">
                <a:solidFill>
                  <a:srgbClr val="000000"/>
                </a:solidFill>
                <a:latin typeface="Century Gothic"/>
                <a:cs typeface="Century Gothic"/>
              </a:rPr>
              <a:t>margin = 2 gives COLUMN percentages (each column sums to 100)</a:t>
            </a:r>
          </a:p>
          <a:p>
            <a:pPr marL="0" indent="0" algn="l">
              <a:lnSpc>
                <a:spcPct val="108000"/>
              </a:lnSpc>
              <a:spcBef>
                <a:spcPts val="440"/>
              </a:spcBef>
              <a:buNone/>
            </a:pPr>
            <a:r>
              <a:rPr lang="en-US" sz="1800" dirty="0">
                <a:solidFill>
                  <a:srgbClr val="000000"/>
                </a:solidFill>
                <a:latin typeface="Century Gothic"/>
                <a:cs typeface="Century Gothic"/>
              </a:rPr>
              <a:t>no margin gives percentage of the grand total</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Match the percentage to the question</a:t>
            </a:r>
          </a:p>
          <a:p>
            <a:pPr marL="0" indent="0" algn="l">
              <a:spcBef>
                <a:spcPts val="100"/>
              </a:spcBef>
              <a:buNone/>
            </a:pPr>
            <a:r>
              <a:rPr lang="en-US" sz="1300" dirty="0">
                <a:solidFill>
                  <a:srgbClr val="000000"/>
                </a:solidFill>
                <a:latin typeface="Century Gothic"/>
                <a:cs typeface="Century Gothic"/>
              </a:rPr>
              <a:t>Share of diabetics on treatment -&gt; column percent.</a:t>
            </a:r>
          </a:p>
          <a:p>
            <a:pPr marL="0" indent="0" algn="l">
              <a:spcBef>
                <a:spcPts val="100"/>
              </a:spcBef>
              <a:buNone/>
            </a:pPr>
            <a:r>
              <a:rPr lang="en-US" sz="1300" dirty="0">
                <a:solidFill>
                  <a:srgbClr val="000000"/>
                </a:solidFill>
                <a:latin typeface="Century Gothic"/>
                <a:cs typeface="Century Gothic"/>
              </a:rPr>
              <a:t>Share of treated who are diabetic -&gt; row percent.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cross-tabulation with percentages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The same counts, two ways, with interpretation.</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xtab &lt;- table(analysis_data$treatment_uptake,</a:t>
            </a:r>
          </a:p>
          <a:p>
            <a:pPr marL="0" indent="0" algn="l">
              <a:lnSpc>
                <a:spcPct val="100000"/>
              </a:lnSpc>
              <a:buNone/>
            </a:pPr>
            <a:r>
              <a:rPr lang="en-US" sz="1300" dirty="0">
                <a:solidFill>
                  <a:srgbClr val="1B3A4B"/>
                </a:solidFill>
                <a:latin typeface="Consolas"/>
                <a:cs typeface="Consolas"/>
              </a:rPr>
              <a:t>              analysis_data$diabetes)</a:t>
            </a:r>
          </a:p>
          <a:p>
            <a:pPr marL="0" indent="0" algn="l">
              <a:lnSpc>
                <a:spcPct val="100000"/>
              </a:lnSpc>
              <a:buNone/>
            </a:pPr>
            <a:r>
              <a:rPr lang="en-US" sz="1300" dirty="0">
                <a:solidFill>
                  <a:srgbClr val="1B3A4B"/>
                </a:solidFill>
                <a:latin typeface="Consolas"/>
                <a:cs typeface="Consolas"/>
              </a:rPr>
              <a:t>xtab</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round(100 * prop.table(xtab, margin = 1), 1)</a:t>
            </a:r>
          </a:p>
          <a:p>
            <a:pPr marL="0" indent="0" algn="l">
              <a:lnSpc>
                <a:spcPct val="100000"/>
              </a:lnSpc>
              <a:buNone/>
            </a:pPr>
            <a:r>
              <a:rPr lang="en-US" sz="1300" dirty="0">
                <a:solidFill>
                  <a:srgbClr val="1B3A4B"/>
                </a:solidFill>
                <a:latin typeface="Consolas"/>
                <a:cs typeface="Consolas"/>
              </a:rPr>
              <a:t>round(100 * prop.table(xtab, margin = 2), 1)</a:t>
            </a:r>
          </a:p>
        </p:txBody>
      </p:sp>
      <p:sp>
        <p:nvSpPr>
          <p:cNvPr id="31" name="Output"/>
          <p:cNvSpPr/>
          <p:nvPr/>
        </p:nvSpPr>
        <p:spPr>
          <a:xfrm>
            <a:off x="457200" y="3230000"/>
            <a:ext cx="11277600" cy="1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       No  Yes</a:t>
            </a:r>
          </a:p>
          <a:p>
            <a:pPr marL="0" indent="0" algn="l">
              <a:lnSpc>
                <a:spcPct val="100000"/>
              </a:lnSpc>
              <a:buNone/>
            </a:pPr>
            <a:r>
              <a:rPr lang="en-US" sz="1250" dirty="0">
                <a:solidFill>
                  <a:srgbClr val="1A1A1A"/>
                </a:solidFill>
                <a:latin typeface="Consolas"/>
                <a:cs typeface="Consolas"/>
              </a:rPr>
              <a:t>  No  610  120</a:t>
            </a:r>
          </a:p>
          <a:p>
            <a:pPr marL="0" indent="0" algn="l">
              <a:lnSpc>
                <a:spcPct val="100000"/>
              </a:lnSpc>
              <a:buNone/>
            </a:pPr>
            <a:r>
              <a:rPr lang="en-US" sz="1250" dirty="0">
                <a:solidFill>
                  <a:srgbClr val="1A1A1A"/>
                </a:solidFill>
                <a:latin typeface="Consolas"/>
                <a:cs typeface="Consolas"/>
              </a:rPr>
              <a:t>  Yes 430  340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margin=1 row %: of treated, share diabetic</a:t>
            </a:r>
          </a:p>
          <a:p>
            <a:pPr marL="0" indent="0" algn="l">
              <a:lnSpc>
                <a:spcPct val="100000"/>
              </a:lnSpc>
              <a:buNone/>
            </a:pPr>
            <a:r>
              <a:rPr lang="en-US" sz="1250" dirty="0">
                <a:solidFill>
                  <a:srgbClr val="1A1A1A"/>
                </a:solidFill>
                <a:latin typeface="Consolas"/>
                <a:cs typeface="Consolas"/>
              </a:rPr>
              <a:t># margin=2 col %: of diabetics, share treated</a:t>
            </a:r>
          </a:p>
        </p:txBody>
      </p:sp>
      <p:sp>
        <p:nvSpPr>
          <p:cNvPr id="32" name="Note"/>
          <p:cNvSpPr/>
          <p:nvPr/>
        </p:nvSpPr>
        <p:spPr>
          <a:xfrm>
            <a:off x="457200" y="48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Same table, two stories: pick the margin that answers your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is a Table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opening table of almost every clinical paper</a:t>
            </a:r>
          </a:p>
          <a:p>
            <a:pPr marL="0" indent="0" algn="l">
              <a:lnSpc>
                <a:spcPct val="108000"/>
              </a:lnSpc>
              <a:spcBef>
                <a:spcPts val="440"/>
              </a:spcBef>
              <a:buNone/>
            </a:pPr>
            <a:r>
              <a:rPr lang="en-US" sz="1800" dirty="0">
                <a:solidFill>
                  <a:srgbClr val="000000"/>
                </a:solidFill>
                <a:latin typeface="Century Gothic"/>
                <a:cs typeface="Century Gothic"/>
              </a:rPr>
              <a:t>Baseline characteristics of the study sample</a:t>
            </a:r>
          </a:p>
          <a:p>
            <a:pPr marL="0" indent="0" algn="l">
              <a:lnSpc>
                <a:spcPct val="108000"/>
              </a:lnSpc>
              <a:spcBef>
                <a:spcPts val="440"/>
              </a:spcBef>
              <a:buNone/>
            </a:pPr>
            <a:r>
              <a:rPr lang="en-US" sz="1800" dirty="0">
                <a:solidFill>
                  <a:srgbClr val="000000"/>
                </a:solidFill>
                <a:latin typeface="Century Gothic"/>
                <a:cs typeface="Century Gothic"/>
              </a:rPr>
              <a:t>Usually split into columns by the main exposure or outcome</a:t>
            </a:r>
          </a:p>
          <a:p>
            <a:pPr marL="0" indent="0" algn="l">
              <a:lnSpc>
                <a:spcPct val="108000"/>
              </a:lnSpc>
              <a:spcBef>
                <a:spcPts val="440"/>
              </a:spcBef>
              <a:buNone/>
            </a:pPr>
            <a:r>
              <a:rPr lang="en-US" sz="1800" dirty="0">
                <a:solidFill>
                  <a:srgbClr val="000000"/>
                </a:solidFill>
                <a:latin typeface="Century Gothic"/>
                <a:cs typeface="Century Gothic"/>
              </a:rPr>
              <a:t>Numerics shown as mean (SD) or median (IQR)</a:t>
            </a:r>
          </a:p>
          <a:p>
            <a:pPr marL="0" indent="0" algn="l">
              <a:lnSpc>
                <a:spcPct val="108000"/>
              </a:lnSpc>
              <a:spcBef>
                <a:spcPts val="440"/>
              </a:spcBef>
              <a:buNone/>
            </a:pPr>
            <a:r>
              <a:rPr lang="en-US" sz="1800" dirty="0">
                <a:solidFill>
                  <a:srgbClr val="000000"/>
                </a:solidFill>
                <a:latin typeface="Century Gothic"/>
                <a:cs typeface="Century Gothic"/>
              </a:rPr>
              <a:t>Categoricals shown as n (percent)</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Why reviewers expect it</a:t>
            </a:r>
          </a:p>
          <a:p>
            <a:pPr marL="0" indent="0" algn="l">
              <a:spcBef>
                <a:spcPts val="100"/>
              </a:spcBef>
              <a:buNone/>
            </a:pPr>
            <a:r>
              <a:rPr lang="en-US" sz="1300" dirty="0">
                <a:solidFill>
                  <a:srgbClr val="000000"/>
                </a:solidFill>
                <a:latin typeface="Century Gothic"/>
                <a:cs typeface="Century Gothic"/>
              </a:rPr>
              <a:t>It lets the reader judge who the study describes.</a:t>
            </a:r>
          </a:p>
          <a:p>
            <a:pPr marL="0" indent="0" algn="l">
              <a:spcBef>
                <a:spcPts val="100"/>
              </a:spcBef>
              <a:buNone/>
            </a:pPr>
            <a:r>
              <a:rPr lang="en-US" sz="1300" dirty="0">
                <a:solidFill>
                  <a:srgbClr val="000000"/>
                </a:solidFill>
                <a:latin typeface="Century Gothic"/>
                <a:cs typeface="Century Gothic"/>
              </a:rPr>
              <a:t>It shows whether the comparison groups are balanced.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build Table 1 with gtsummary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tbl_summary chooses sensible summaries automatically.</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select(age, sex, residence, education, bmi,</a:t>
            </a:r>
          </a:p>
          <a:p>
            <a:pPr marL="0" indent="0" algn="l">
              <a:lnSpc>
                <a:spcPct val="100000"/>
              </a:lnSpc>
              <a:buNone/>
            </a:pPr>
            <a:r>
              <a:rPr lang="en-US" sz="1300" dirty="0">
                <a:solidFill>
                  <a:srgbClr val="1B3A4B"/>
                </a:solidFill>
                <a:latin typeface="Consolas"/>
                <a:cs typeface="Consolas"/>
              </a:rPr>
              <a:t>         diabetes, sbp_mmhg, bp_category,</a:t>
            </a:r>
          </a:p>
          <a:p>
            <a:pPr marL="0" indent="0" algn="l">
              <a:lnSpc>
                <a:spcPct val="100000"/>
              </a:lnSpc>
              <a:buNone/>
            </a:pPr>
            <a:r>
              <a:rPr lang="en-US" sz="1300" dirty="0">
                <a:solidFill>
                  <a:srgbClr val="1B3A4B"/>
                </a:solidFill>
                <a:latin typeface="Consolas"/>
                <a:cs typeface="Consolas"/>
              </a:rPr>
              <a:t>         treatment_uptake) |&gt;</a:t>
            </a:r>
          </a:p>
          <a:p>
            <a:pPr marL="0" indent="0" algn="l">
              <a:lnSpc>
                <a:spcPct val="100000"/>
              </a:lnSpc>
              <a:buNone/>
            </a:pPr>
            <a:r>
              <a:rPr lang="en-US" sz="1300" dirty="0">
                <a:solidFill>
                  <a:srgbClr val="1B3A4B"/>
                </a:solidFill>
                <a:latin typeface="Consolas"/>
                <a:cs typeface="Consolas"/>
              </a:rPr>
              <a:t>  tbl_summary(by = treatment_uptake,</a:t>
            </a:r>
          </a:p>
          <a:p>
            <a:pPr marL="0" indent="0" algn="l">
              <a:lnSpc>
                <a:spcPct val="100000"/>
              </a:lnSpc>
              <a:buNone/>
            </a:pPr>
            <a:r>
              <a:rPr lang="en-US" sz="1300" dirty="0">
                <a:solidFill>
                  <a:srgbClr val="1B3A4B"/>
                </a:solidFill>
                <a:latin typeface="Consolas"/>
                <a:cs typeface="Consolas"/>
              </a:rPr>
              <a:t>              missing_text = "(Missing)") |&gt;</a:t>
            </a:r>
          </a:p>
          <a:p>
            <a:pPr marL="0" indent="0" algn="l">
              <a:lnSpc>
                <a:spcPct val="100000"/>
              </a:lnSpc>
              <a:buNone/>
            </a:pPr>
            <a:r>
              <a:rPr lang="en-US" sz="1300" dirty="0">
                <a:solidFill>
                  <a:srgbClr val="1B3A4B"/>
                </a:solidFill>
                <a:latin typeface="Consolas"/>
                <a:cs typeface="Consolas"/>
              </a:rPr>
              <a:t>  add_p() |&gt;</a:t>
            </a:r>
          </a:p>
          <a:p>
            <a:pPr marL="0" indent="0" algn="l">
              <a:lnSpc>
                <a:spcPct val="100000"/>
              </a:lnSpc>
              <a:buNone/>
            </a:pPr>
            <a:r>
              <a:rPr lang="en-US" sz="1300" dirty="0">
                <a:solidFill>
                  <a:srgbClr val="1B3A4B"/>
                </a:solidFill>
                <a:latin typeface="Consolas"/>
                <a:cs typeface="Consolas"/>
              </a:rPr>
              <a:t>  add_overall() |&gt;</a:t>
            </a:r>
          </a:p>
          <a:p>
            <a:pPr marL="0" indent="0" algn="l">
              <a:lnSpc>
                <a:spcPct val="100000"/>
              </a:lnSpc>
              <a:buNone/>
            </a:pPr>
            <a:r>
              <a:rPr lang="en-US" sz="1300" dirty="0">
                <a:solidFill>
                  <a:srgbClr val="1B3A4B"/>
                </a:solidFill>
                <a:latin typeface="Consolas"/>
                <a:cs typeface="Consolas"/>
              </a:rPr>
              <a:t>  bold_labels()</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Characteristic   Overall   No   Yes   p-value</a:t>
            </a:r>
          </a:p>
          <a:p>
            <a:pPr marL="0" indent="0" algn="l">
              <a:lnSpc>
                <a:spcPct val="100000"/>
              </a:lnSpc>
              <a:buNone/>
            </a:pPr>
            <a:r>
              <a:rPr lang="en-US" sz="1250" dirty="0">
                <a:solidFill>
                  <a:srgbClr val="1A1A1A"/>
                </a:solidFill>
                <a:latin typeface="Consolas"/>
                <a:cs typeface="Consolas"/>
              </a:rPr>
              <a:t>Age (years)      52 ...    ...  ...   &lt;0.001</a:t>
            </a:r>
          </a:p>
          <a:p>
            <a:pPr marL="0" indent="0" algn="l">
              <a:lnSpc>
                <a:spcPct val="100000"/>
              </a:lnSpc>
              <a:buNone/>
            </a:pPr>
            <a:r>
              <a:rPr lang="en-US" sz="1250" dirty="0">
                <a:solidFill>
                  <a:srgbClr val="1A1A1A"/>
                </a:solidFill>
                <a:latin typeface="Consolas"/>
                <a:cs typeface="Consolas"/>
              </a:rPr>
              <a:t>Diabetes, n (%)  ...       ...  ...    0.002</a:t>
            </a:r>
          </a:p>
          <a:p>
            <a:pPr marL="0" indent="0" algn="l">
              <a:lnSpc>
                <a:spcPct val="100000"/>
              </a:lnSpc>
              <a:buNone/>
            </a:pPr>
            <a:r>
              <a:rPr lang="en-US" sz="1250" dirty="0">
                <a:solidFill>
                  <a:srgbClr val="1A1A1A"/>
                </a:solidFill>
                <a:latin typeface="Consolas"/>
                <a:cs typeface="Consolas"/>
              </a:rPr>
              <a:t>... one row per selected variable ...</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add_p() adds p-values; add_overall() adds a total column.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Choosing the right chart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Let the variable type decide the chart</a:t>
            </a:r>
          </a:p>
          <a:p>
            <a:pPr marL="0" indent="0" algn="l">
              <a:lnSpc>
                <a:spcPct val="108000"/>
              </a:lnSpc>
              <a:spcBef>
                <a:spcPts val="440"/>
              </a:spcBef>
              <a:buNone/>
            </a:pPr>
            <a:r>
              <a:rPr lang="en-US" sz="1800" dirty="0">
                <a:solidFill>
                  <a:srgbClr val="000000"/>
                </a:solidFill>
                <a:latin typeface="Century Gothic"/>
                <a:cs typeface="Century Gothic"/>
              </a:rPr>
              <a:t>One continuous variable -&gt; histogram (shape and skew)</a:t>
            </a:r>
          </a:p>
          <a:p>
            <a:pPr marL="0" indent="0" algn="l">
              <a:lnSpc>
                <a:spcPct val="108000"/>
              </a:lnSpc>
              <a:spcBef>
                <a:spcPts val="440"/>
              </a:spcBef>
              <a:buNone/>
            </a:pPr>
            <a:r>
              <a:rPr lang="en-US" sz="1800" dirty="0">
                <a:solidFill>
                  <a:srgbClr val="000000"/>
                </a:solidFill>
                <a:latin typeface="Century Gothic"/>
                <a:cs typeface="Century Gothic"/>
              </a:rPr>
              <a:t>Continuous by a group -&gt; boxplot (compare distributions)</a:t>
            </a:r>
          </a:p>
          <a:p>
            <a:pPr marL="0" indent="0" algn="l">
              <a:lnSpc>
                <a:spcPct val="108000"/>
              </a:lnSpc>
              <a:spcBef>
                <a:spcPts val="440"/>
              </a:spcBef>
              <a:buNone/>
            </a:pPr>
            <a:r>
              <a:rPr lang="en-US" sz="1800" dirty="0">
                <a:solidFill>
                  <a:srgbClr val="000000"/>
                </a:solidFill>
                <a:latin typeface="Century Gothic"/>
                <a:cs typeface="Century Gothic"/>
              </a:rPr>
              <a:t>One categorical variable -&gt; bar chart (counts)</a:t>
            </a:r>
          </a:p>
          <a:p>
            <a:pPr marL="0" indent="0" algn="l">
              <a:lnSpc>
                <a:spcPct val="108000"/>
              </a:lnSpc>
              <a:spcBef>
                <a:spcPts val="440"/>
              </a:spcBef>
              <a:buNone/>
            </a:pPr>
            <a:r>
              <a:rPr lang="en-US" sz="1800" dirty="0">
                <a:solidFill>
                  <a:srgbClr val="000000"/>
                </a:solidFill>
                <a:latin typeface="Century Gothic"/>
                <a:cs typeface="Century Gothic"/>
              </a:rPr>
              <a:t>Two continuous variables -&gt; scatterplot (relationship)</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Every figure needs</a:t>
            </a:r>
          </a:p>
          <a:p>
            <a:pPr marL="0" indent="0" algn="l">
              <a:spcBef>
                <a:spcPts val="100"/>
              </a:spcBef>
              <a:buNone/>
            </a:pPr>
            <a:r>
              <a:rPr lang="en-US" sz="1300" dirty="0">
                <a:solidFill>
                  <a:srgbClr val="000000"/>
                </a:solidFill>
                <a:latin typeface="Century Gothic"/>
                <a:cs typeface="Century Gothic"/>
              </a:rPr>
              <a:t>A clear title and axis labels WITH units.</a:t>
            </a:r>
          </a:p>
          <a:p>
            <a:pPr marL="0" indent="0" algn="l">
              <a:spcBef>
                <a:spcPts val="100"/>
              </a:spcBef>
              <a:buNone/>
            </a:pPr>
            <a:r>
              <a:rPr lang="en-US" sz="1300" dirty="0">
                <a:solidFill>
                  <a:srgbClr val="000000"/>
                </a:solidFill>
                <a:latin typeface="Century Gothic"/>
                <a:cs typeface="Century Gothic"/>
              </a:rPr>
              <a:t>A clean theme; we use theme_minimal with a teal accent.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Histogram: age distribution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Each bar counts patients in a 5-year band</a:t>
            </a:r>
          </a:p>
          <a:p>
            <a:pPr marL="274320" indent="-274320" algn="l">
              <a:spcBef>
                <a:spcPts val="440"/>
              </a:spcBef>
              <a:buFont typeface="Arial"/>
              <a:buChar char="•"/>
            </a:pPr>
            <a:r>
              <a:rPr lang="en-US" sz="1450" dirty="0">
                <a:solidFill>
                  <a:srgbClr val="000000"/>
                </a:solidFill>
                <a:latin typeface="Century Gothic"/>
                <a:cs typeface="Century Gothic"/>
              </a:rPr>
              <a:t>The peak shows the most common age range</a:t>
            </a:r>
          </a:p>
          <a:p>
            <a:pPr marL="274320" indent="-274320" algn="l">
              <a:spcBef>
                <a:spcPts val="440"/>
              </a:spcBef>
              <a:buFont typeface="Arial"/>
              <a:buChar char="•"/>
            </a:pPr>
            <a:r>
              <a:rPr lang="en-US" sz="1450" dirty="0">
                <a:solidFill>
                  <a:srgbClr val="000000"/>
                </a:solidFill>
                <a:latin typeface="Century Gothic"/>
                <a:cs typeface="Century Gothic"/>
              </a:rPr>
              <a:t>A roughly symmetric shape supports mean (SD)</a:t>
            </a:r>
          </a:p>
          <a:p>
            <a:pPr marL="274320" indent="-274320" algn="l">
              <a:spcBef>
                <a:spcPts val="440"/>
              </a:spcBef>
              <a:buFont typeface="Arial"/>
              <a:buChar char="•"/>
            </a:pPr>
            <a:r>
              <a:rPr lang="en-US" sz="1450" dirty="0">
                <a:solidFill>
                  <a:srgbClr val="000000"/>
                </a:solidFill>
                <a:latin typeface="Century Gothic"/>
                <a:cs typeface="Century Gothic"/>
              </a:rPr>
              <a:t>Look for a long tail that would signal skew</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Histogram: systolic blood pressure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The overlaid curve is a smoothed density</a:t>
            </a:r>
          </a:p>
          <a:p>
            <a:pPr marL="274320" indent="-274320" algn="l">
              <a:spcBef>
                <a:spcPts val="440"/>
              </a:spcBef>
              <a:buFont typeface="Arial"/>
              <a:buChar char="•"/>
            </a:pPr>
            <a:r>
              <a:rPr lang="en-US" sz="1450" dirty="0">
                <a:solidFill>
                  <a:srgbClr val="000000"/>
                </a:solidFill>
                <a:latin typeface="Century Gothic"/>
                <a:cs typeface="Century Gothic"/>
              </a:rPr>
              <a:t>A tail to the right indicates right-skew</a:t>
            </a:r>
          </a:p>
          <a:p>
            <a:pPr marL="274320" indent="-274320" algn="l">
              <a:spcBef>
                <a:spcPts val="440"/>
              </a:spcBef>
              <a:buFont typeface="Arial"/>
              <a:buChar char="•"/>
            </a:pPr>
            <a:r>
              <a:rPr lang="en-US" sz="1450" dirty="0">
                <a:solidFill>
                  <a:srgbClr val="000000"/>
                </a:solidFill>
                <a:latin typeface="Century Gothic"/>
                <a:cs typeface="Century Gothic"/>
              </a:rPr>
              <a:t>When skewed, prefer median (IQR) over mean (SD)</a:t>
            </a:r>
          </a:p>
          <a:p>
            <a:pPr marL="274320" indent="-274320" algn="l">
              <a:spcBef>
                <a:spcPts val="440"/>
              </a:spcBef>
              <a:buFont typeface="Arial"/>
              <a:buChar char="•"/>
            </a:pPr>
            <a:r>
              <a:rPr lang="en-US" sz="1450" dirty="0">
                <a:solidFill>
                  <a:srgbClr val="000000"/>
                </a:solidFill>
                <a:latin typeface="Century Gothic"/>
                <a:cs typeface="Century Gothic"/>
              </a:rPr>
              <a:t>The bulk sits in the hypertensive range</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Bar chart: educational attainment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Bar height is the number of patients per level</a:t>
            </a:r>
          </a:p>
          <a:p>
            <a:pPr marL="274320" indent="-274320" algn="l">
              <a:spcBef>
                <a:spcPts val="440"/>
              </a:spcBef>
              <a:buFont typeface="Arial"/>
              <a:buChar char="•"/>
            </a:pPr>
            <a:r>
              <a:rPr lang="en-US" sz="1450" dirty="0">
                <a:solidFill>
                  <a:srgbClr val="000000"/>
                </a:solidFill>
                <a:latin typeface="Century Gothic"/>
                <a:cs typeface="Century Gothic"/>
              </a:rPr>
              <a:t>geom_bar counts categories for you</a:t>
            </a:r>
          </a:p>
          <a:p>
            <a:pPr marL="274320" indent="-274320" algn="l">
              <a:spcBef>
                <a:spcPts val="440"/>
              </a:spcBef>
              <a:buFont typeface="Arial"/>
              <a:buChar char="•"/>
            </a:pPr>
            <a:r>
              <a:rPr lang="en-US" sz="1450" dirty="0">
                <a:solidFill>
                  <a:srgbClr val="000000"/>
                </a:solidFill>
                <a:latin typeface="Century Gothic"/>
                <a:cs typeface="Century Gothic"/>
              </a:rPr>
              <a:t>Compare bar heights, not areas</a:t>
            </a:r>
          </a:p>
          <a:p>
            <a:pPr marL="274320" indent="-274320" algn="l">
              <a:spcBef>
                <a:spcPts val="440"/>
              </a:spcBef>
              <a:buFont typeface="Arial"/>
              <a:buChar char="•"/>
            </a:pPr>
            <a:r>
              <a:rPr lang="en-US" sz="1450" dirty="0">
                <a:solidFill>
                  <a:srgbClr val="000000"/>
                </a:solidFill>
                <a:latin typeface="Century Gothic"/>
                <a:cs typeface="Century Gothic"/>
              </a:rPr>
              <a:t>A baseline at zero keeps comparisons honest</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Boxplot: SBP by treatment uptake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The box spans the IQR; the line is the median</a:t>
            </a:r>
          </a:p>
          <a:p>
            <a:pPr marL="274320" indent="-274320" algn="l">
              <a:spcBef>
                <a:spcPts val="440"/>
              </a:spcBef>
              <a:buFont typeface="Arial"/>
              <a:buChar char="•"/>
            </a:pPr>
            <a:r>
              <a:rPr lang="en-US" sz="1450" dirty="0">
                <a:solidFill>
                  <a:srgbClr val="000000"/>
                </a:solidFill>
                <a:latin typeface="Century Gothic"/>
                <a:cs typeface="Century Gothic"/>
              </a:rPr>
              <a:t>Whiskers reach most of the data; dots are outliers</a:t>
            </a:r>
          </a:p>
          <a:p>
            <a:pPr marL="274320" indent="-274320" algn="l">
              <a:spcBef>
                <a:spcPts val="440"/>
              </a:spcBef>
              <a:buFont typeface="Arial"/>
              <a:buChar char="•"/>
            </a:pPr>
            <a:r>
              <a:rPr lang="en-US" sz="1450" dirty="0">
                <a:solidFill>
                  <a:srgbClr val="000000"/>
                </a:solidFill>
                <a:latin typeface="Century Gothic"/>
                <a:cs typeface="Century Gothic"/>
              </a:rPr>
              <a:t>Compare the two medians side by side</a:t>
            </a:r>
          </a:p>
          <a:p>
            <a:pPr marL="274320" indent="-274320" algn="l">
              <a:spcBef>
                <a:spcPts val="440"/>
              </a:spcBef>
              <a:buFont typeface="Arial"/>
              <a:buChar char="•"/>
            </a:pPr>
            <a:r>
              <a:rPr lang="en-US" sz="1450" dirty="0">
                <a:solidFill>
                  <a:srgbClr val="000000"/>
                </a:solidFill>
                <a:latin typeface="Century Gothic"/>
                <a:cs typeface="Century Gothic"/>
              </a:rPr>
              <a:t>Higher SBP among treated hints at sicker patients</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Boxplot: BMI by blood-pressure category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One box per blood-pressure category</a:t>
            </a:r>
          </a:p>
          <a:p>
            <a:pPr marL="274320" indent="-274320" algn="l">
              <a:spcBef>
                <a:spcPts val="440"/>
              </a:spcBef>
              <a:buFont typeface="Arial"/>
              <a:buChar char="•"/>
            </a:pPr>
            <a:r>
              <a:rPr lang="en-US" sz="1450" dirty="0">
                <a:solidFill>
                  <a:srgbClr val="000000"/>
                </a:solidFill>
                <a:latin typeface="Century Gothic"/>
                <a:cs typeface="Century Gothic"/>
              </a:rPr>
              <a:t>A rising median across categories suggests a gradient</a:t>
            </a:r>
          </a:p>
          <a:p>
            <a:pPr marL="274320" indent="-274320" algn="l">
              <a:spcBef>
                <a:spcPts val="440"/>
              </a:spcBef>
              <a:buFont typeface="Arial"/>
              <a:buChar char="•"/>
            </a:pPr>
            <a:r>
              <a:rPr lang="en-US" sz="1450" dirty="0">
                <a:solidFill>
                  <a:srgbClr val="000000"/>
                </a:solidFill>
                <a:latin typeface="Century Gothic"/>
                <a:cs typeface="Century Gothic"/>
              </a:rPr>
              <a:t>Box width here reflects styling, not group size</a:t>
            </a:r>
          </a:p>
          <a:p>
            <a:pPr marL="274320" indent="-274320" algn="l">
              <a:spcBef>
                <a:spcPts val="440"/>
              </a:spcBef>
              <a:buFont typeface="Arial"/>
              <a:buChar char="•"/>
            </a:pPr>
            <a:r>
              <a:rPr lang="en-US" sz="1450" dirty="0">
                <a:solidFill>
                  <a:srgbClr val="000000"/>
                </a:solidFill>
                <a:latin typeface="Century Gothic"/>
                <a:cs typeface="Century Gothic"/>
              </a:rPr>
              <a:t>Outliers flag unusually high or low BMI</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Scatterplot: SBP versus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Each point is one patient</a:t>
            </a:r>
          </a:p>
          <a:p>
            <a:pPr marL="274320" indent="-274320" algn="l">
              <a:spcBef>
                <a:spcPts val="440"/>
              </a:spcBef>
              <a:buFont typeface="Arial"/>
              <a:buChar char="•"/>
            </a:pPr>
            <a:r>
              <a:rPr lang="en-US" sz="1450" dirty="0">
                <a:solidFill>
                  <a:srgbClr val="000000"/>
                </a:solidFill>
                <a:latin typeface="Century Gothic"/>
                <a:cs typeface="Century Gothic"/>
              </a:rPr>
              <a:t>The line is a fitted linear trend</a:t>
            </a:r>
          </a:p>
          <a:p>
            <a:pPr marL="274320" indent="-274320" algn="l">
              <a:spcBef>
                <a:spcPts val="440"/>
              </a:spcBef>
              <a:buFont typeface="Arial"/>
              <a:buChar char="•"/>
            </a:pPr>
            <a:r>
              <a:rPr lang="en-US" sz="1450" dirty="0">
                <a:solidFill>
                  <a:srgbClr val="000000"/>
                </a:solidFill>
                <a:latin typeface="Century Gothic"/>
                <a:cs typeface="Century Gothic"/>
              </a:rPr>
              <a:t>An upward slope means higher BMI tracks higher SBP</a:t>
            </a:r>
          </a:p>
          <a:p>
            <a:pPr marL="274320" indent="-274320" algn="l">
              <a:spcBef>
                <a:spcPts val="440"/>
              </a:spcBef>
              <a:buFont typeface="Arial"/>
              <a:buChar char="•"/>
            </a:pPr>
            <a:r>
              <a:rPr lang="en-US" sz="1450" dirty="0">
                <a:solidFill>
                  <a:srgbClr val="000000"/>
                </a:solidFill>
                <a:latin typeface="Century Gothic"/>
                <a:cs typeface="Century Gothic"/>
              </a:rPr>
              <a:t>Scatter around the line shows it is not deterministic</a:t>
            </a:r>
          </a:p>
        </p:txBody>
      </p:sp>
      <p:pic>
        <p:nvPicPr>
          <p:cNvPr id="25" name="Figure"/>
          <p:cNvPicPr>
            <a:picLocks noChangeAspect="1"/>
          </p:cNvPicPr>
          <p:nvPr/>
        </p:nvPicPr>
        <p:blipFill>
          <a:blip r:embed="rId3"/>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build and save a figure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One ggplot, then save it at publication quality.</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p_age &lt;- ggplot(analysis_data, aes(x = age)) +</a:t>
            </a:r>
          </a:p>
          <a:p>
            <a:pPr marL="0" indent="0" algn="l">
              <a:lnSpc>
                <a:spcPct val="100000"/>
              </a:lnSpc>
              <a:buNone/>
            </a:pPr>
            <a:r>
              <a:rPr lang="en-US" sz="1300" dirty="0">
                <a:solidFill>
                  <a:srgbClr val="1B3A4B"/>
                </a:solidFill>
                <a:latin typeface="Consolas"/>
                <a:cs typeface="Consolas"/>
              </a:rPr>
              <a:t>  geom_histogram(binwidth = 5, fill = "#0D7377",</a:t>
            </a:r>
          </a:p>
          <a:p>
            <a:pPr marL="0" indent="0" algn="l">
              <a:lnSpc>
                <a:spcPct val="100000"/>
              </a:lnSpc>
              <a:buNone/>
            </a:pPr>
            <a:r>
              <a:rPr lang="en-US" sz="1300" dirty="0">
                <a:solidFill>
                  <a:srgbClr val="1B3A4B"/>
                </a:solidFill>
                <a:latin typeface="Consolas"/>
                <a:cs typeface="Consolas"/>
              </a:rPr>
              <a:t>                 colour = "white") +</a:t>
            </a:r>
          </a:p>
          <a:p>
            <a:pPr marL="0" indent="0" algn="l">
              <a:lnSpc>
                <a:spcPct val="100000"/>
              </a:lnSpc>
              <a:buNone/>
            </a:pPr>
            <a:r>
              <a:rPr lang="en-US" sz="1300" dirty="0">
                <a:solidFill>
                  <a:srgbClr val="1B3A4B"/>
                </a:solidFill>
                <a:latin typeface="Consolas"/>
                <a:cs typeface="Consolas"/>
              </a:rPr>
              <a:t>  labs(title = "Age distribution",</a:t>
            </a:r>
          </a:p>
          <a:p>
            <a:pPr marL="0" indent="0" algn="l">
              <a:lnSpc>
                <a:spcPct val="100000"/>
              </a:lnSpc>
              <a:buNone/>
            </a:pPr>
            <a:r>
              <a:rPr lang="en-US" sz="1300" dirty="0">
                <a:solidFill>
                  <a:srgbClr val="1B3A4B"/>
                </a:solidFill>
                <a:latin typeface="Consolas"/>
                <a:cs typeface="Consolas"/>
              </a:rPr>
              <a:t>       x = "Age (years)", y = "Number of patients") +</a:t>
            </a:r>
          </a:p>
          <a:p>
            <a:pPr marL="0" indent="0" algn="l">
              <a:lnSpc>
                <a:spcPct val="100000"/>
              </a:lnSpc>
              <a:buNone/>
            </a:pPr>
            <a:r>
              <a:rPr lang="en-US" sz="1300" dirty="0">
                <a:solidFill>
                  <a:srgbClr val="1B3A4B"/>
                </a:solidFill>
                <a:latin typeface="Consolas"/>
                <a:cs typeface="Consolas"/>
              </a:rPr>
              <a:t>  theme_minimal(base_size = 13)</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ggsave("Resources/day3_hist_age.png", plot = p_age,</a:t>
            </a:r>
          </a:p>
          <a:p>
            <a:pPr marL="0" indent="0" algn="l">
              <a:lnSpc>
                <a:spcPct val="100000"/>
              </a:lnSpc>
              <a:buNone/>
            </a:pPr>
            <a:r>
              <a:rPr lang="en-US" sz="1300" dirty="0">
                <a:solidFill>
                  <a:srgbClr val="1B3A4B"/>
                </a:solidFill>
                <a:latin typeface="Consolas"/>
                <a:cs typeface="Consolas"/>
              </a:rPr>
              <a:t>       width = 7, height = 5, dpi = 300)</a:t>
            </a:r>
          </a:p>
        </p:txBody>
      </p:sp>
      <p:sp>
        <p:nvSpPr>
          <p:cNvPr id="32" name="Note"/>
          <p:cNvSpPr/>
          <p:nvPr/>
        </p:nvSpPr>
        <p:spPr>
          <a:xfrm>
            <a:off x="457200" y="386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dpi = 300 is the standard journals expect for raster figures.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Exporting reproducible outputs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Share results outside R</a:t>
            </a:r>
          </a:p>
          <a:p>
            <a:pPr marL="0" indent="0" algn="l">
              <a:lnSpc>
                <a:spcPct val="108000"/>
              </a:lnSpc>
              <a:spcBef>
                <a:spcPts val="440"/>
              </a:spcBef>
              <a:buNone/>
            </a:pPr>
            <a:r>
              <a:rPr lang="en-US" sz="1800" dirty="0">
                <a:solidFill>
                  <a:srgbClr val="000000"/>
                </a:solidFill>
                <a:latin typeface="Century Gothic"/>
                <a:cs typeface="Century Gothic"/>
              </a:rPr>
              <a:t>write_csv() sends a summary table to co-authors who do not use R</a:t>
            </a:r>
          </a:p>
          <a:p>
            <a:pPr marL="0" indent="0" algn="l">
              <a:lnSpc>
                <a:spcPct val="108000"/>
              </a:lnSpc>
              <a:spcBef>
                <a:spcPts val="440"/>
              </a:spcBef>
              <a:buNone/>
            </a:pPr>
            <a:r>
              <a:rPr lang="en-US" sz="1800" dirty="0">
                <a:solidFill>
                  <a:srgbClr val="000000"/>
                </a:solidFill>
                <a:latin typeface="Century Gothic"/>
                <a:cs typeface="Century Gothic"/>
              </a:rPr>
              <a:t>ggsave(..., dpi = 300) writes a publication-ready figure</a:t>
            </a:r>
          </a:p>
          <a:p>
            <a:pPr marL="0" indent="0" algn="l">
              <a:lnSpc>
                <a:spcPct val="108000"/>
              </a:lnSpc>
              <a:spcBef>
                <a:spcPts val="440"/>
              </a:spcBef>
              <a:buNone/>
            </a:pPr>
            <a:r>
              <a:rPr lang="en-US" sz="1800" dirty="0">
                <a:solidFill>
                  <a:srgbClr val="000000"/>
                </a:solidFill>
                <a:latin typeface="Century Gothic"/>
                <a:cs typeface="Century Gothic"/>
              </a:rPr>
              <a:t>gtsummary exports to Word via as_flex_table and save_as_docx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Reproducible by design</a:t>
            </a:r>
          </a:p>
          <a:p>
            <a:pPr marL="0" indent="0" algn="l">
              <a:spcBef>
                <a:spcPts val="100"/>
              </a:spcBef>
              <a:buNone/>
            </a:pPr>
            <a:r>
              <a:rPr lang="en-US" sz="1300" dirty="0">
                <a:solidFill>
                  <a:srgbClr val="000000"/>
                </a:solidFill>
                <a:latin typeface="Century Gothic"/>
                <a:cs typeface="Century Gothic"/>
              </a:rPr>
              <a:t>Save outputs to a folder, not by copy-paste.</a:t>
            </a:r>
          </a:p>
          <a:p>
            <a:pPr marL="0" indent="0" algn="l">
              <a:spcBef>
                <a:spcPts val="100"/>
              </a:spcBef>
              <a:buNone/>
            </a:pPr>
            <a:r>
              <a:rPr lang="en-US" sz="1300" dirty="0">
                <a:solidFill>
                  <a:srgbClr val="000000"/>
                </a:solidFill>
                <a:latin typeface="Century Gothic"/>
                <a:cs typeface="Century Gothic"/>
              </a:rPr>
              <a:t>Rerunning the script regenerates every table and figure.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3 Exercise: produce Table 1 for a manuscript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1. readRDS the clean analysis data</a:t>
            </a:r>
          </a:p>
          <a:p>
            <a:pPr marL="0" indent="0" algn="l">
              <a:lnSpc>
                <a:spcPct val="108000"/>
              </a:lnSpc>
              <a:spcBef>
                <a:spcPts val="440"/>
              </a:spcBef>
              <a:buNone/>
            </a:pPr>
            <a:r>
              <a:rPr lang="en-US" sz="1800" dirty="0">
                <a:solidFill>
                  <a:srgbClr val="000000"/>
                </a:solidFill>
                <a:latin typeface="Century Gothic"/>
                <a:cs typeface="Century Gothic"/>
              </a:rPr>
              <a:t>2. Build a Table 1 with tbl_summary(by = treatment_uptake)</a:t>
            </a:r>
          </a:p>
          <a:p>
            <a:pPr marL="0" indent="0" algn="l">
              <a:lnSpc>
                <a:spcPct val="108000"/>
              </a:lnSpc>
              <a:spcBef>
                <a:spcPts val="440"/>
              </a:spcBef>
              <a:buNone/>
            </a:pPr>
            <a:r>
              <a:rPr lang="en-US" sz="1800" dirty="0">
                <a:solidFill>
                  <a:srgbClr val="000000"/>
                </a:solidFill>
                <a:latin typeface="Century Gothic"/>
                <a:cs typeface="Century Gothic"/>
              </a:rPr>
              <a:t>3. Add p-values and an overall column</a:t>
            </a:r>
          </a:p>
          <a:p>
            <a:pPr marL="0" indent="0" algn="l">
              <a:lnSpc>
                <a:spcPct val="108000"/>
              </a:lnSpc>
              <a:spcBef>
                <a:spcPts val="440"/>
              </a:spcBef>
              <a:buNone/>
            </a:pPr>
            <a:r>
              <a:rPr lang="en-US" sz="1800" dirty="0">
                <a:solidFill>
                  <a:srgbClr val="000000"/>
                </a:solidFill>
                <a:latin typeface="Century Gothic"/>
                <a:cs typeface="Century Gothic"/>
              </a:rPr>
              <a:t>4. Create a histogram and a boxplot, then ggsave both at 300 dpi</a:t>
            </a:r>
          </a:p>
          <a:p>
            <a:pPr>
              <a:buNone/>
            </a:pPr>
            <a:endParaRPr sz="1050"/>
          </a:p>
          <a:p>
            <a:pPr marL="0" indent="0" algn="l">
              <a:spcBef>
                <a:spcPts val="360"/>
              </a:spcBef>
              <a:buNone/>
            </a:pPr>
            <a:r>
              <a:rPr lang="en-US" sz="2050" b="1" dirty="0">
                <a:solidFill>
                  <a:srgbClr val="0D7377"/>
                </a:solidFill>
                <a:latin typeface="Century Gothic"/>
                <a:cs typeface="Century Gothic"/>
              </a:rPr>
              <a:t>Expected output</a:t>
            </a:r>
          </a:p>
          <a:p>
            <a:pPr marL="0" indent="0" algn="l">
              <a:lnSpc>
                <a:spcPct val="108000"/>
              </a:lnSpc>
              <a:spcBef>
                <a:spcPts val="440"/>
              </a:spcBef>
              <a:buNone/>
            </a:pPr>
            <a:r>
              <a:rPr lang="en-US" sz="1800" dirty="0">
                <a:solidFill>
                  <a:srgbClr val="000000"/>
                </a:solidFill>
                <a:latin typeface="Century Gothic"/>
                <a:cs typeface="Century Gothic"/>
              </a:rPr>
              <a:t>A baseline characteristics table split by treatment uptake</a:t>
            </a:r>
          </a:p>
          <a:p>
            <a:pPr marL="0" indent="0" algn="l">
              <a:lnSpc>
                <a:spcPct val="108000"/>
              </a:lnSpc>
              <a:spcBef>
                <a:spcPts val="440"/>
              </a:spcBef>
              <a:buNone/>
            </a:pPr>
            <a:r>
              <a:rPr lang="en-US" sz="1800" dirty="0">
                <a:solidFill>
                  <a:srgbClr val="000000"/>
                </a:solidFill>
                <a:latin typeface="Century Gothic"/>
                <a:cs typeface="Century Gothic"/>
              </a:rPr>
              <a:t>Two saved PNG figures in the Resources folder</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If you get stuck</a:t>
            </a:r>
          </a:p>
          <a:p>
            <a:pPr marL="0" indent="0" algn="l">
              <a:spcBef>
                <a:spcPts val="100"/>
              </a:spcBef>
              <a:buNone/>
            </a:pPr>
            <a:r>
              <a:rPr lang="en-US" sz="1300" dirty="0">
                <a:solidFill>
                  <a:srgbClr val="000000"/>
                </a:solidFill>
                <a:latin typeface="Century Gothic"/>
                <a:cs typeface="Century Gothic"/>
              </a:rPr>
              <a:t>Reuse the demo code; change only the variable names.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What we locked in today, and where we go next:</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Always use na.rm = TRUE; it is the number-one trap</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Choose median (IQR) for skewed clinical variables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Pick the prop.table margin that matches your question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gtsummary turns raw data into a Table 1 in a few lines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Match the chart to the variable type, and save at 300 dpi</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Day 4: from describing to testing, regression and odds ratios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4: Common Medical Statistical Tests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Hypothesis testing basics</a:t>
            </a:r>
          </a:p>
          <a:p>
            <a:pPr marL="274320" indent="-274320" algn="l">
              <a:spcBef>
                <a:spcPts val="440"/>
              </a:spcBef>
              <a:buFont typeface="Arial"/>
              <a:buChar char="•"/>
            </a:pPr>
            <a:r>
              <a:rPr lang="en-US" sz="1900" dirty="0">
                <a:solidFill>
                  <a:srgbClr val="000000"/>
                </a:solidFill>
                <a:latin typeface="Century Gothic"/>
                <a:cs typeface="Century Gothic"/>
              </a:rPr>
              <a:t>Comparing two groups: t-test and Wilcoxon</a:t>
            </a:r>
          </a:p>
          <a:p>
            <a:pPr marL="274320" indent="-274320" algn="l">
              <a:spcBef>
                <a:spcPts val="440"/>
              </a:spcBef>
              <a:buFont typeface="Arial"/>
              <a:buChar char="•"/>
            </a:pPr>
            <a:r>
              <a:rPr lang="en-US" sz="1900" dirty="0">
                <a:solidFill>
                  <a:srgbClr val="000000"/>
                </a:solidFill>
                <a:latin typeface="Century Gothic"/>
                <a:cs typeface="Century Gothic"/>
              </a:rPr>
              <a:t>More than two groups: ANOVA</a:t>
            </a:r>
          </a:p>
          <a:p>
            <a:pPr marL="274320" indent="-274320" algn="l">
              <a:spcBef>
                <a:spcPts val="440"/>
              </a:spcBef>
              <a:buFont typeface="Arial"/>
              <a:buChar char="•"/>
            </a:pPr>
            <a:r>
              <a:rPr lang="en-US" sz="1900" dirty="0">
                <a:solidFill>
                  <a:srgbClr val="000000"/>
                </a:solidFill>
                <a:latin typeface="Century Gothic"/>
                <a:cs typeface="Century Gothic"/>
              </a:rPr>
              <a:t>Categorical association: chi-square and Fisher</a:t>
            </a:r>
          </a:p>
          <a:p>
            <a:pPr marL="274320" indent="-274320" algn="l">
              <a:spcBef>
                <a:spcPts val="440"/>
              </a:spcBef>
              <a:buFont typeface="Arial"/>
              <a:buChar char="•"/>
            </a:pPr>
            <a:r>
              <a:rPr lang="en-US" sz="1900" dirty="0">
                <a:solidFill>
                  <a:srgbClr val="000000"/>
                </a:solidFill>
                <a:latin typeface="Century Gothic"/>
                <a:cs typeface="Century Gothic"/>
              </a:rPr>
              <a:t>Correlation and choosing the right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We Will Cover Today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Choosing and running the common tests used in clinical research.</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Hypothesis testing: null, alternative, p-values and significance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Checking normality before choosing a test</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Comparing two groups: t-test and Wilcoxon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Comparing more than two groups: ANOVA and Tukey</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Categorical association: chi-square and Fisher's exact</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Correlation: Pearson and Spearman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 decision framework: matching the question to the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Analytic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Our research question</a:t>
            </a:r>
          </a:p>
          <a:p>
            <a:pPr marL="0" indent="0" algn="l">
              <a:lnSpc>
                <a:spcPct val="108000"/>
              </a:lnSpc>
              <a:spcBef>
                <a:spcPts val="440"/>
              </a:spcBef>
              <a:buNone/>
            </a:pPr>
            <a:r>
              <a:rPr lang="en-US" sz="1800" dirty="0">
                <a:solidFill>
                  <a:srgbClr val="000000"/>
                </a:solidFill>
                <a:latin typeface="Century Gothic"/>
                <a:cs typeface="Century Gothic"/>
              </a:rPr>
              <a:t>Do patients on treatment differ from those not on treatment?</a:t>
            </a:r>
          </a:p>
          <a:p>
            <a:pPr marL="0" indent="0" algn="l">
              <a:lnSpc>
                <a:spcPct val="108000"/>
              </a:lnSpc>
              <a:spcBef>
                <a:spcPts val="440"/>
              </a:spcBef>
              <a:buNone/>
            </a:pPr>
            <a:r>
              <a:rPr lang="en-US" sz="1800" dirty="0">
                <a:solidFill>
                  <a:srgbClr val="000000"/>
                </a:solidFill>
                <a:latin typeface="Century Gothic"/>
                <a:cs typeface="Century Gothic"/>
              </a:rPr>
              <a:t>Which characteristics (age, sex, comorbidity) differ between the two groups?</a:t>
            </a:r>
          </a:p>
          <a:p>
            <a:pPr>
              <a:buNone/>
            </a:pPr>
            <a:endParaRPr sz="1050"/>
          </a:p>
          <a:p>
            <a:pPr marL="0" indent="0" algn="l">
              <a:spcBef>
                <a:spcPts val="360"/>
              </a:spcBef>
              <a:buNone/>
            </a:pPr>
            <a:r>
              <a:rPr lang="en-US" sz="2050" b="1" dirty="0">
                <a:solidFill>
                  <a:srgbClr val="0D7377"/>
                </a:solidFill>
                <a:latin typeface="Century Gothic"/>
                <a:cs typeface="Century Gothic"/>
              </a:rPr>
              <a:t>Define the analytic population FIRST</a:t>
            </a:r>
          </a:p>
          <a:p>
            <a:pPr marL="0" indent="0" algn="l">
              <a:lnSpc>
                <a:spcPct val="108000"/>
              </a:lnSpc>
              <a:spcBef>
                <a:spcPts val="440"/>
              </a:spcBef>
              <a:buNone/>
            </a:pPr>
            <a:r>
              <a:rPr lang="en-US" sz="1800" dirty="0">
                <a:solidFill>
                  <a:srgbClr val="000000"/>
                </a:solidFill>
                <a:latin typeface="Century Gothic"/>
                <a:cs typeface="Century Gothic"/>
              </a:rPr>
              <a:t>Uptake only makes sense for those already diagnosed.</a:t>
            </a:r>
          </a:p>
          <a:p>
            <a:pPr marL="0" indent="0" algn="l">
              <a:lnSpc>
                <a:spcPct val="108000"/>
              </a:lnSpc>
              <a:spcBef>
                <a:spcPts val="440"/>
              </a:spcBef>
              <a:buNone/>
            </a:pPr>
            <a:r>
              <a:rPr lang="en-US" sz="1800" dirty="0">
                <a:solidFill>
                  <a:srgbClr val="000000"/>
                </a:solidFill>
                <a:latin typeface="Century Gothic"/>
                <a:cs typeface="Century Gothic"/>
              </a:rPr>
              <a:t>We restrict to htn_diagnosed == "Yes" (about 1,089 patients).</a:t>
            </a:r>
          </a:p>
          <a:p>
            <a:pPr marL="0" indent="0" algn="l">
              <a:lnSpc>
                <a:spcPct val="108000"/>
              </a:lnSpc>
              <a:spcBef>
                <a:spcPts val="440"/>
              </a:spcBef>
              <a:buNone/>
            </a:pPr>
            <a:r>
              <a:rPr lang="en-US" sz="1800" dirty="0">
                <a:solidFill>
                  <a:srgbClr val="000000"/>
                </a:solidFill>
                <a:latin typeface="Century Gothic"/>
                <a:cs typeface="Century Gothic"/>
              </a:rPr>
              <a:t>Roughly 47% of diagnosed patients had taken up treatment.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Do not analyse all 1,500</a:t>
            </a:r>
          </a:p>
          <a:p>
            <a:pPr marL="0" indent="0" algn="l">
              <a:spcBef>
                <a:spcPts val="100"/>
              </a:spcBef>
              <a:buNone/>
            </a:pPr>
            <a:r>
              <a:rPr lang="en-US" sz="1300" dirty="0">
                <a:solidFill>
                  <a:srgbClr val="000000"/>
                </a:solidFill>
                <a:latin typeface="Century Gothic"/>
                <a:cs typeface="Century Gothic"/>
              </a:rPr>
              <a:t>Including undiagnosed people, whose outcome is undefined, biases every result.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Hypothesis Testing in Plain Language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two hypotheses</a:t>
            </a:r>
          </a:p>
          <a:p>
            <a:pPr marL="0" indent="0" algn="l">
              <a:lnSpc>
                <a:spcPct val="108000"/>
              </a:lnSpc>
              <a:spcBef>
                <a:spcPts val="440"/>
              </a:spcBef>
              <a:buNone/>
            </a:pPr>
            <a:r>
              <a:rPr lang="en-US" sz="1800" dirty="0">
                <a:solidFill>
                  <a:srgbClr val="000000"/>
                </a:solidFill>
                <a:latin typeface="Century Gothic"/>
                <a:cs typeface="Century Gothic"/>
              </a:rPr>
              <a:t>Null (H0): there is NO difference / NO association.</a:t>
            </a:r>
          </a:p>
          <a:p>
            <a:pPr marL="0" indent="0" algn="l">
              <a:lnSpc>
                <a:spcPct val="108000"/>
              </a:lnSpc>
              <a:spcBef>
                <a:spcPts val="440"/>
              </a:spcBef>
              <a:buNone/>
            </a:pPr>
            <a:r>
              <a:rPr lang="en-US" sz="1800" dirty="0">
                <a:solidFill>
                  <a:srgbClr val="000000"/>
                </a:solidFill>
                <a:latin typeface="Century Gothic"/>
                <a:cs typeface="Century Gothic"/>
              </a:rPr>
              <a:t>Alternative (H1): there IS a difference / association.</a:t>
            </a:r>
          </a:p>
          <a:p>
            <a:pPr>
              <a:buNone/>
            </a:pPr>
            <a:endParaRPr sz="1050"/>
          </a:p>
          <a:p>
            <a:pPr marL="0" indent="0" algn="l">
              <a:spcBef>
                <a:spcPts val="360"/>
              </a:spcBef>
              <a:buNone/>
            </a:pPr>
            <a:r>
              <a:rPr lang="en-US" sz="2050" b="1" dirty="0">
                <a:solidFill>
                  <a:srgbClr val="0D7377"/>
                </a:solidFill>
                <a:latin typeface="Century Gothic"/>
                <a:cs typeface="Century Gothic"/>
              </a:rPr>
              <a:t>What a p-value actually is</a:t>
            </a:r>
          </a:p>
          <a:p>
            <a:pPr marL="0" indent="0" algn="l">
              <a:lnSpc>
                <a:spcPct val="108000"/>
              </a:lnSpc>
              <a:spcBef>
                <a:spcPts val="440"/>
              </a:spcBef>
              <a:buNone/>
            </a:pPr>
            <a:r>
              <a:rPr lang="en-US" sz="1800" dirty="0">
                <a:solidFill>
                  <a:srgbClr val="000000"/>
                </a:solidFill>
                <a:latin typeface="Century Gothic"/>
                <a:cs typeface="Century Gothic"/>
              </a:rPr>
              <a:t>The probability of data this extreme IF the null were true.</a:t>
            </a:r>
          </a:p>
          <a:p>
            <a:pPr marL="0" indent="0" algn="l">
              <a:lnSpc>
                <a:spcPct val="108000"/>
              </a:lnSpc>
              <a:spcBef>
                <a:spcPts val="440"/>
              </a:spcBef>
              <a:buNone/>
            </a:pPr>
            <a:r>
              <a:rPr lang="en-US" sz="1800" dirty="0">
                <a:solidFill>
                  <a:srgbClr val="000000"/>
                </a:solidFill>
                <a:latin typeface="Century Gothic"/>
                <a:cs typeface="Century Gothic"/>
              </a:rPr>
              <a:t>Small p (&lt; 0.05) is evidence AGAINST the null.</a:t>
            </a:r>
          </a:p>
          <a:p>
            <a:pPr marL="0" indent="0" algn="l">
              <a:lnSpc>
                <a:spcPct val="108000"/>
              </a:lnSpc>
              <a:spcBef>
                <a:spcPts val="440"/>
              </a:spcBef>
              <a:buNone/>
            </a:pPr>
            <a:r>
              <a:rPr lang="en-US" sz="1800" dirty="0">
                <a:solidFill>
                  <a:srgbClr val="000000"/>
                </a:solidFill>
                <a:latin typeface="Century Gothic"/>
                <a:cs typeface="Century Gothic"/>
              </a:rPr>
              <a:t>It is NOT the probability that the null is true.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Significance level</a:t>
            </a:r>
          </a:p>
          <a:p>
            <a:pPr marL="0" indent="0" algn="l">
              <a:spcBef>
                <a:spcPts val="100"/>
              </a:spcBef>
              <a:buNone/>
            </a:pPr>
            <a:r>
              <a:rPr lang="en-US" sz="1300" dirty="0">
                <a:solidFill>
                  <a:srgbClr val="000000"/>
                </a:solidFill>
                <a:latin typeface="Century Gothic"/>
                <a:cs typeface="Century Gothic"/>
              </a:rPr>
              <a:t>We pre-set alpha = 0.05 as the threshold for calling a result significant.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p &lt; 0.05 Is Not the Whole Story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Statistical vs clinical significance</a:t>
            </a:r>
          </a:p>
          <a:p>
            <a:pPr marL="0" indent="0" algn="l">
              <a:lnSpc>
                <a:spcPct val="108000"/>
              </a:lnSpc>
              <a:spcBef>
                <a:spcPts val="440"/>
              </a:spcBef>
              <a:buNone/>
            </a:pPr>
            <a:r>
              <a:rPr lang="en-US" sz="1800" dirty="0">
                <a:solidFill>
                  <a:srgbClr val="000000"/>
                </a:solidFill>
                <a:latin typeface="Century Gothic"/>
                <a:cs typeface="Century Gothic"/>
              </a:rPr>
              <a:t>A tiny, meaningless difference can be 'significant' in a large sample.</a:t>
            </a:r>
          </a:p>
          <a:p>
            <a:pPr marL="0" indent="0" algn="l">
              <a:lnSpc>
                <a:spcPct val="108000"/>
              </a:lnSpc>
              <a:spcBef>
                <a:spcPts val="440"/>
              </a:spcBef>
              <a:buNone/>
            </a:pPr>
            <a:r>
              <a:rPr lang="en-US" sz="1800" dirty="0">
                <a:solidFill>
                  <a:srgbClr val="000000"/>
                </a:solidFill>
                <a:latin typeface="Century Gothic"/>
                <a:cs typeface="Century Gothic"/>
              </a:rPr>
              <a:t>A large, important difference can be 'non-significant' if the sample is small.</a:t>
            </a:r>
          </a:p>
          <a:p>
            <a:pPr marL="0" indent="0" algn="l">
              <a:lnSpc>
                <a:spcPct val="108000"/>
              </a:lnSpc>
              <a:spcBef>
                <a:spcPts val="440"/>
              </a:spcBef>
              <a:buNone/>
            </a:pPr>
            <a:r>
              <a:rPr lang="en-US" sz="1800" dirty="0">
                <a:solidFill>
                  <a:srgbClr val="000000"/>
                </a:solidFill>
                <a:latin typeface="Century Gothic"/>
                <a:cs typeface="Century Gothic"/>
              </a:rPr>
              <a:t>Always report the effect size and its confidence interval, not just p.</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Beware p-value worship</a:t>
            </a:r>
          </a:p>
          <a:p>
            <a:pPr marL="0" indent="0" algn="l">
              <a:spcBef>
                <a:spcPts val="100"/>
              </a:spcBef>
              <a:buNone/>
            </a:pPr>
            <a:r>
              <a:rPr lang="en-US" sz="1300" dirty="0">
                <a:solidFill>
                  <a:srgbClr val="000000"/>
                </a:solidFill>
                <a:latin typeface="Century Gothic"/>
                <a:cs typeface="Century Gothic"/>
              </a:rPr>
              <a:t>Do not chase p &lt; 0.05 or treat 0.049 and 0.051 as opposites.</a:t>
            </a:r>
          </a:p>
          <a:p>
            <a:pPr marL="0" indent="0" algn="l">
              <a:spcBef>
                <a:spcPts val="100"/>
              </a:spcBef>
              <a:buNone/>
            </a:pPr>
            <a:r>
              <a:rPr lang="en-US" sz="1300" dirty="0">
                <a:solidFill>
                  <a:srgbClr val="000000"/>
                </a:solidFill>
                <a:latin typeface="Century Gothic"/>
                <a:cs typeface="Century Gothic"/>
              </a:rPr>
              <a:t>A confidence interval tells you the size AND the uncertainty.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Is the Variable Normal? Look, Then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Look first (always)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Histogram shows the shape of the distribution.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Q-Q plot: points on the line means roughly normal.</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Points curving away at the ends mean skew or heavy tails.</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Then test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Shapiro-Wilk test: H0 is that data ARE normal.</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Small p (&lt; 0.05) means we reject normality.</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Symmetric and bell-shaped means a parametric test is fine.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Clearly skewed means use the non-parametric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Shapiro-Wilk: Use With Care in Big Samples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Why the test misleads here</a:t>
            </a:r>
          </a:p>
          <a:p>
            <a:pPr marL="0" indent="0" algn="l">
              <a:lnSpc>
                <a:spcPct val="108000"/>
              </a:lnSpc>
              <a:spcBef>
                <a:spcPts val="440"/>
              </a:spcBef>
              <a:buNone/>
            </a:pPr>
            <a:r>
              <a:rPr lang="en-US" sz="1800" dirty="0">
                <a:solidFill>
                  <a:srgbClr val="000000"/>
                </a:solidFill>
                <a:latin typeface="Century Gothic"/>
                <a:cs typeface="Century Gothic"/>
              </a:rPr>
              <a:t>Shapiro-Wilk gets more powerful as the sample grows.</a:t>
            </a:r>
          </a:p>
          <a:p>
            <a:pPr marL="0" indent="0" algn="l">
              <a:lnSpc>
                <a:spcPct val="108000"/>
              </a:lnSpc>
              <a:spcBef>
                <a:spcPts val="440"/>
              </a:spcBef>
              <a:buNone/>
            </a:pPr>
            <a:r>
              <a:rPr lang="en-US" sz="1800" dirty="0">
                <a:solidFill>
                  <a:srgbClr val="000000"/>
                </a:solidFill>
                <a:latin typeface="Century Gothic"/>
                <a:cs typeface="Century Gothic"/>
              </a:rPr>
              <a:t>In ~1,089 rows it detects tiny, clinically irrelevant departures.</a:t>
            </a:r>
          </a:p>
          <a:p>
            <a:pPr marL="0" indent="0" algn="l">
              <a:lnSpc>
                <a:spcPct val="108000"/>
              </a:lnSpc>
              <a:spcBef>
                <a:spcPts val="440"/>
              </a:spcBef>
              <a:buNone/>
            </a:pPr>
            <a:r>
              <a:rPr lang="en-US" sz="1800" dirty="0">
                <a:solidFill>
                  <a:srgbClr val="000000"/>
                </a:solidFill>
                <a:latin typeface="Century Gothic"/>
                <a:cs typeface="Century Gothic"/>
              </a:rPr>
              <a:t>It will almost always return p &lt; 0.05 - even for usable data.</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Rule of thumb for this course</a:t>
            </a:r>
          </a:p>
          <a:p>
            <a:pPr marL="0" indent="0" algn="l">
              <a:spcBef>
                <a:spcPts val="100"/>
              </a:spcBef>
              <a:buNone/>
            </a:pPr>
            <a:r>
              <a:rPr lang="en-US" sz="1300" dirty="0">
                <a:solidFill>
                  <a:srgbClr val="000000"/>
                </a:solidFill>
                <a:latin typeface="Century Gothic"/>
                <a:cs typeface="Century Gothic"/>
              </a:rPr>
              <a:t>Big sample + symmetric histogram + straight Q-Q means parametric is fine.</a:t>
            </a:r>
          </a:p>
          <a:p>
            <a:pPr marL="0" indent="0" algn="l">
              <a:spcBef>
                <a:spcPts val="100"/>
              </a:spcBef>
              <a:buNone/>
            </a:pPr>
            <a:r>
              <a:rPr lang="en-US" sz="1300" dirty="0">
                <a:solidFill>
                  <a:srgbClr val="000000"/>
                </a:solidFill>
                <a:latin typeface="Century Gothic"/>
                <a:cs typeface="Century Gothic"/>
              </a:rPr>
              <a:t>Let the plots, not the Shapiro p-value, drive the decision.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Comparing Two Groups: a Continuous Outcome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t-test (parametric)</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Compares MEANS of two groups.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Welch t-test is the safe default (unequal variances).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 when data are roughly symmetric.</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Formula: age ~ treatment_uptake.</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Wilcoxon (non-parametric)</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Compares RANKS, not means.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Robust to outliers and skew.</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 when data are clearly non-normal.</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 medians instead of means.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t-test of Age by Treatment Uptake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Is mean age different between those who took up treatment and those who did not?</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t.test(age ~ treatment_uptake, data = dx)</a:t>
            </a:r>
          </a:p>
        </p:txBody>
      </p:sp>
      <p:sp>
        <p:nvSpPr>
          <p:cNvPr id="31" name="Output"/>
          <p:cNvSpPr/>
          <p:nvPr/>
        </p:nvSpPr>
        <p:spPr>
          <a:xfrm>
            <a:off x="457200" y="218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Welch Two Sample t-test</a:t>
            </a:r>
          </a:p>
          <a:p>
            <a:pPr marL="0" indent="0" algn="l">
              <a:lnSpc>
                <a:spcPct val="100000"/>
              </a:lnSpc>
              <a:buNone/>
            </a:pPr>
            <a:r>
              <a:rPr lang="en-US" sz="1250" dirty="0">
                <a:solidFill>
                  <a:srgbClr val="1A1A1A"/>
                </a:solidFill>
                <a:latin typeface="Consolas"/>
                <a:cs typeface="Consolas"/>
              </a:rPr>
              <a:t>t = -8.9, df = 1011, p-value &lt; 2.2e-16</a:t>
            </a:r>
          </a:p>
          <a:p>
            <a:pPr marL="0" indent="0" algn="l">
              <a:lnSpc>
                <a:spcPct val="100000"/>
              </a:lnSpc>
              <a:buNone/>
            </a:pPr>
            <a:r>
              <a:rPr lang="en-US" sz="1250" dirty="0">
                <a:solidFill>
                  <a:srgbClr val="1A1A1A"/>
                </a:solidFill>
                <a:latin typeface="Consolas"/>
                <a:cs typeface="Consolas"/>
              </a:rPr>
              <a:t>95 percent CI: -6.4 to -4.1</a:t>
            </a:r>
          </a:p>
          <a:p>
            <a:pPr marL="0" indent="0" algn="l">
              <a:lnSpc>
                <a:spcPct val="100000"/>
              </a:lnSpc>
              <a:buNone/>
            </a:pPr>
            <a:r>
              <a:rPr lang="en-US" sz="1250" dirty="0">
                <a:solidFill>
                  <a:srgbClr val="1A1A1A"/>
                </a:solidFill>
                <a:latin typeface="Consolas"/>
                <a:cs typeface="Consolas"/>
              </a:rPr>
              <a:t>mean in No  mean in Yes</a:t>
            </a:r>
          </a:p>
          <a:p>
            <a:pPr marL="0" indent="0" algn="l">
              <a:lnSpc>
                <a:spcPct val="100000"/>
              </a:lnSpc>
              <a:buNone/>
            </a:pPr>
            <a:r>
              <a:rPr lang="en-US" sz="1250" dirty="0">
                <a:solidFill>
                  <a:srgbClr val="1A1A1A"/>
                </a:solidFill>
                <a:latin typeface="Consolas"/>
                <a:cs typeface="Consolas"/>
              </a:rPr>
              <a:t>   50.1        55.3</a:t>
            </a:r>
          </a:p>
        </p:txBody>
      </p:sp>
      <p:sp>
        <p:nvSpPr>
          <p:cNvPr id="32" name="Note"/>
          <p:cNvSpPr/>
          <p:nvPr/>
        </p:nvSpPr>
        <p:spPr>
          <a:xfrm>
            <a:off x="457200" y="36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Patients on treatment are about 5 years older on average; the CI excludes 0, so p &lt; 0.05.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When Data Are Not Normal: Non-parametric Tests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rank-based alternatives</a:t>
            </a:r>
          </a:p>
          <a:p>
            <a:pPr marL="0" indent="0" algn="l">
              <a:lnSpc>
                <a:spcPct val="108000"/>
              </a:lnSpc>
              <a:spcBef>
                <a:spcPts val="440"/>
              </a:spcBef>
              <a:buNone/>
            </a:pPr>
            <a:r>
              <a:rPr lang="en-US" sz="1800" dirty="0">
                <a:solidFill>
                  <a:srgbClr val="000000"/>
                </a:solidFill>
                <a:latin typeface="Century Gothic"/>
                <a:cs typeface="Century Gothic"/>
              </a:rPr>
              <a:t>Wilcoxon rank-sum (Mann-Whitney): compares two groups without assuming normality.</a:t>
            </a:r>
          </a:p>
          <a:p>
            <a:pPr marL="0" indent="0" algn="l">
              <a:lnSpc>
                <a:spcPct val="108000"/>
              </a:lnSpc>
              <a:spcBef>
                <a:spcPts val="440"/>
              </a:spcBef>
              <a:buNone/>
            </a:pPr>
            <a:r>
              <a:rPr lang="en-US" sz="1800" dirty="0">
                <a:solidFill>
                  <a:srgbClr val="000000"/>
                </a:solidFill>
                <a:latin typeface="Century Gothic"/>
                <a:cs typeface="Century Gothic"/>
              </a:rPr>
              <a:t>Fisher's exact test: for a 2x2 table when expected counts are small (&lt; 5).</a:t>
            </a:r>
          </a:p>
          <a:p>
            <a:pPr marL="0" indent="0" algn="l">
              <a:lnSpc>
                <a:spcPct val="108000"/>
              </a:lnSpc>
              <a:spcBef>
                <a:spcPts val="440"/>
              </a:spcBef>
              <a:buNone/>
            </a:pPr>
            <a:r>
              <a:rPr lang="en-US" sz="1800" dirty="0">
                <a:solidFill>
                  <a:srgbClr val="000000"/>
                </a:solidFill>
                <a:latin typeface="Century Gothic"/>
                <a:cs typeface="Century Gothic"/>
              </a:rPr>
              <a:t>They use ranks and exact counts instead of means and the normal curve.</a:t>
            </a:r>
          </a:p>
          <a:p>
            <a:pPr>
              <a:buNone/>
            </a:pPr>
            <a:endParaRPr sz="1050"/>
          </a:p>
          <a:p>
            <a:pPr marL="0" indent="0" algn="l">
              <a:spcBef>
                <a:spcPts val="360"/>
              </a:spcBef>
              <a:buNone/>
            </a:pPr>
            <a:r>
              <a:rPr lang="en-US" sz="2050" b="1" dirty="0">
                <a:solidFill>
                  <a:srgbClr val="0D7377"/>
                </a:solidFill>
                <a:latin typeface="Century Gothic"/>
                <a:cs typeface="Century Gothic"/>
              </a:rPr>
              <a:t>How to run them</a:t>
            </a:r>
          </a:p>
          <a:p>
            <a:pPr marL="0" indent="0" algn="l">
              <a:lnSpc>
                <a:spcPct val="108000"/>
              </a:lnSpc>
              <a:spcBef>
                <a:spcPts val="440"/>
              </a:spcBef>
              <a:buNone/>
            </a:pPr>
            <a:r>
              <a:rPr lang="en-US" sz="1800" dirty="0">
                <a:solidFill>
                  <a:srgbClr val="000000"/>
                </a:solidFill>
                <a:latin typeface="Century Gothic"/>
                <a:cs typeface="Century Gothic"/>
              </a:rPr>
              <a:t>wilcox.test(sbp_mmhg ~ treatment_uptake, data = dx)</a:t>
            </a:r>
          </a:p>
          <a:p>
            <a:pPr marL="0" indent="0" algn="l">
              <a:lnSpc>
                <a:spcPct val="108000"/>
              </a:lnSpc>
              <a:spcBef>
                <a:spcPts val="440"/>
              </a:spcBef>
              <a:buNone/>
            </a:pPr>
            <a:r>
              <a:rPr lang="en-US" sz="1800" dirty="0">
                <a:solidFill>
                  <a:srgbClr val="000000"/>
                </a:solidFill>
                <a:latin typeface="Century Gothic"/>
                <a:cs typeface="Century Gothic"/>
              </a:rPr>
              <a:t>fisher.test(table(dx$treatment_uptake, dx$diabetes))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Rule of thumb</a:t>
            </a:r>
          </a:p>
          <a:p>
            <a:pPr marL="0" indent="0" algn="l">
              <a:spcBef>
                <a:spcPts val="100"/>
              </a:spcBef>
              <a:buNone/>
            </a:pPr>
            <a:r>
              <a:rPr lang="en-US" sz="1300" dirty="0">
                <a:solidFill>
                  <a:srgbClr val="000000"/>
                </a:solidFill>
                <a:latin typeface="Century Gothic"/>
                <a:cs typeface="Century Gothic"/>
              </a:rPr>
              <a:t>Skewed or small data -&gt; use the non-parametric test; it is the safe choice when in doubt.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Comparing More Than Two Groups: ANOVA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Why not many t-tests?</a:t>
            </a:r>
          </a:p>
          <a:p>
            <a:pPr marL="0" indent="0" algn="l">
              <a:lnSpc>
                <a:spcPct val="108000"/>
              </a:lnSpc>
              <a:spcBef>
                <a:spcPts val="440"/>
              </a:spcBef>
              <a:buNone/>
            </a:pPr>
            <a:r>
              <a:rPr lang="en-US" sz="1800" dirty="0">
                <a:solidFill>
                  <a:srgbClr val="000000"/>
                </a:solidFill>
                <a:latin typeface="Century Gothic"/>
                <a:cs typeface="Century Gothic"/>
              </a:rPr>
              <a:t>Each pairwise t-test carries its own 5% false-positive risk.</a:t>
            </a:r>
          </a:p>
          <a:p>
            <a:pPr marL="0" indent="0" algn="l">
              <a:lnSpc>
                <a:spcPct val="108000"/>
              </a:lnSpc>
              <a:spcBef>
                <a:spcPts val="440"/>
              </a:spcBef>
              <a:buNone/>
            </a:pPr>
            <a:r>
              <a:rPr lang="en-US" sz="1800" dirty="0">
                <a:solidFill>
                  <a:srgbClr val="000000"/>
                </a:solidFill>
                <a:latin typeface="Century Gothic"/>
                <a:cs typeface="Century Gothic"/>
              </a:rPr>
              <a:t>Doing several inflates the overall error rate.</a:t>
            </a:r>
          </a:p>
          <a:p>
            <a:pPr marL="0" indent="0" algn="l">
              <a:lnSpc>
                <a:spcPct val="108000"/>
              </a:lnSpc>
              <a:spcBef>
                <a:spcPts val="440"/>
              </a:spcBef>
              <a:buNone/>
            </a:pPr>
            <a:r>
              <a:rPr lang="en-US" sz="1800" dirty="0">
                <a:solidFill>
                  <a:srgbClr val="000000"/>
                </a:solidFill>
                <a:latin typeface="Century Gothic"/>
                <a:cs typeface="Century Gothic"/>
              </a:rPr>
              <a:t>ANOVA tests all groups at once with one honest p-value.</a:t>
            </a:r>
          </a:p>
          <a:p>
            <a:pPr>
              <a:buNone/>
            </a:pPr>
            <a:endParaRPr sz="1050"/>
          </a:p>
          <a:p>
            <a:pPr marL="0" indent="0" algn="l">
              <a:spcBef>
                <a:spcPts val="360"/>
              </a:spcBef>
              <a:buNone/>
            </a:pPr>
            <a:r>
              <a:rPr lang="en-US" sz="2050" b="1" dirty="0">
                <a:solidFill>
                  <a:srgbClr val="0D7377"/>
                </a:solidFill>
                <a:latin typeface="Century Gothic"/>
                <a:cs typeface="Century Gothic"/>
              </a:rPr>
              <a:t>After a significant ANOVA</a:t>
            </a:r>
          </a:p>
          <a:p>
            <a:pPr marL="0" indent="0" algn="l">
              <a:lnSpc>
                <a:spcPct val="108000"/>
              </a:lnSpc>
              <a:spcBef>
                <a:spcPts val="440"/>
              </a:spcBef>
              <a:buNone/>
            </a:pPr>
            <a:r>
              <a:rPr lang="en-US" sz="1800" dirty="0">
                <a:solidFill>
                  <a:srgbClr val="000000"/>
                </a:solidFill>
                <a:latin typeface="Century Gothic"/>
                <a:cs typeface="Century Gothic"/>
              </a:rPr>
              <a:t>A small p tells you SOME groups differ, not which ones.</a:t>
            </a:r>
          </a:p>
          <a:p>
            <a:pPr marL="0" indent="0" algn="l">
              <a:lnSpc>
                <a:spcPct val="108000"/>
              </a:lnSpc>
              <a:spcBef>
                <a:spcPts val="440"/>
              </a:spcBef>
              <a:buNone/>
            </a:pPr>
            <a:r>
              <a:rPr lang="en-US" sz="1800" dirty="0">
                <a:solidFill>
                  <a:srgbClr val="000000"/>
                </a:solidFill>
                <a:latin typeface="Century Gothic"/>
                <a:cs typeface="Century Gothic"/>
              </a:rPr>
              <a:t>TukeyHSD compares every pair and corrects for multiplicity.</a:t>
            </a:r>
          </a:p>
          <a:p>
            <a:pPr marL="0" indent="0" algn="l">
              <a:lnSpc>
                <a:spcPct val="108000"/>
              </a:lnSpc>
              <a:spcBef>
                <a:spcPts val="440"/>
              </a:spcBef>
              <a:buNone/>
            </a:pPr>
            <a:r>
              <a:rPr lang="en-US" sz="1800" dirty="0">
                <a:solidFill>
                  <a:srgbClr val="000000"/>
                </a:solidFill>
                <a:latin typeface="Century Gothic"/>
                <a:cs typeface="Century Gothic"/>
              </a:rPr>
              <a:t>Example: does age differ across education levels?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If assumptions fail</a:t>
            </a:r>
          </a:p>
          <a:p>
            <a:pPr marL="0" indent="0" algn="l">
              <a:spcBef>
                <a:spcPts val="100"/>
              </a:spcBef>
              <a:buNone/>
            </a:pPr>
            <a:r>
              <a:rPr lang="en-US" sz="1300" dirty="0">
                <a:solidFill>
                  <a:srgbClr val="000000"/>
                </a:solidFill>
                <a:latin typeface="Century Gothic"/>
                <a:cs typeface="Century Gothic"/>
              </a:rPr>
              <a:t>Use the non-parametric kruskal.test() instead of aov().</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Association Between Two Categories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Chi-square test of independence</a:t>
            </a:r>
          </a:p>
          <a:p>
            <a:pPr marL="0" indent="0" algn="l">
              <a:lnSpc>
                <a:spcPct val="108000"/>
              </a:lnSpc>
              <a:spcBef>
                <a:spcPts val="440"/>
              </a:spcBef>
              <a:buNone/>
            </a:pPr>
            <a:r>
              <a:rPr lang="en-US" sz="1800" dirty="0">
                <a:solidFill>
                  <a:srgbClr val="000000"/>
                </a:solidFill>
                <a:latin typeface="Century Gothic"/>
                <a:cs typeface="Century Gothic"/>
              </a:rPr>
              <a:t>Question: is treatment uptake associated with diabetes?</a:t>
            </a:r>
          </a:p>
          <a:p>
            <a:pPr marL="0" indent="0" algn="l">
              <a:lnSpc>
                <a:spcPct val="108000"/>
              </a:lnSpc>
              <a:spcBef>
                <a:spcPts val="440"/>
              </a:spcBef>
              <a:buNone/>
            </a:pPr>
            <a:r>
              <a:rPr lang="en-US" sz="1800" dirty="0">
                <a:solidFill>
                  <a:srgbClr val="000000"/>
                </a:solidFill>
                <a:latin typeface="Century Gothic"/>
                <a:cs typeface="Century Gothic"/>
              </a:rPr>
              <a:t>Build a contingency table, then test it.</a:t>
            </a:r>
          </a:p>
          <a:p>
            <a:pPr marL="0" indent="0" algn="l">
              <a:lnSpc>
                <a:spcPct val="108000"/>
              </a:lnSpc>
              <a:spcBef>
                <a:spcPts val="440"/>
              </a:spcBef>
              <a:buNone/>
            </a:pPr>
            <a:r>
              <a:rPr lang="en-US" sz="1800" dirty="0">
                <a:solidFill>
                  <a:srgbClr val="000000"/>
                </a:solidFill>
                <a:latin typeface="Century Gothic"/>
                <a:cs typeface="Century Gothic"/>
              </a:rPr>
              <a:t>H0: the two variables are independent (no association).</a:t>
            </a:r>
          </a:p>
          <a:p>
            <a:pPr>
              <a:buNone/>
            </a:pPr>
            <a:endParaRPr sz="1050"/>
          </a:p>
          <a:p>
            <a:pPr marL="0" indent="0" algn="l">
              <a:spcBef>
                <a:spcPts val="360"/>
              </a:spcBef>
              <a:buNone/>
            </a:pPr>
            <a:r>
              <a:rPr lang="en-US" sz="2050" b="1" dirty="0">
                <a:solidFill>
                  <a:srgbClr val="0D7377"/>
                </a:solidFill>
                <a:latin typeface="Century Gothic"/>
                <a:cs typeface="Century Gothic"/>
              </a:rPr>
              <a:t>When expected counts are small</a:t>
            </a:r>
          </a:p>
          <a:p>
            <a:pPr marL="0" indent="0" algn="l">
              <a:lnSpc>
                <a:spcPct val="108000"/>
              </a:lnSpc>
              <a:spcBef>
                <a:spcPts val="440"/>
              </a:spcBef>
              <a:buNone/>
            </a:pPr>
            <a:r>
              <a:rPr lang="en-US" sz="1800" dirty="0">
                <a:solidFill>
                  <a:srgbClr val="000000"/>
                </a:solidFill>
                <a:latin typeface="Century Gothic"/>
                <a:cs typeface="Century Gothic"/>
              </a:rPr>
              <a:t>Chi-square needs all expected cell counts &gt;= 5.</a:t>
            </a:r>
          </a:p>
          <a:p>
            <a:pPr marL="0" indent="0" algn="l">
              <a:lnSpc>
                <a:spcPct val="108000"/>
              </a:lnSpc>
              <a:spcBef>
                <a:spcPts val="440"/>
              </a:spcBef>
              <a:buNone/>
            </a:pPr>
            <a:r>
              <a:rPr lang="en-US" sz="1800" dirty="0">
                <a:solidFill>
                  <a:srgbClr val="000000"/>
                </a:solidFill>
                <a:latin typeface="Century Gothic"/>
                <a:cs typeface="Century Gothic"/>
              </a:rPr>
              <a:t>Check with chisq.test(tab)$expected.</a:t>
            </a:r>
          </a:p>
          <a:p>
            <a:pPr marL="0" indent="0" algn="l">
              <a:lnSpc>
                <a:spcPct val="108000"/>
              </a:lnSpc>
              <a:spcBef>
                <a:spcPts val="440"/>
              </a:spcBef>
              <a:buNone/>
            </a:pPr>
            <a:r>
              <a:rPr lang="en-US" sz="1800" dirty="0">
                <a:solidFill>
                  <a:srgbClr val="000000"/>
                </a:solidFill>
                <a:latin typeface="Century Gothic"/>
                <a:cs typeface="Century Gothic"/>
              </a:rPr>
              <a:t>If any are too small, use Fisher's exact test instead.</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The table gives direction</a:t>
            </a:r>
          </a:p>
          <a:p>
            <a:pPr marL="0" indent="0" algn="l">
              <a:spcBef>
                <a:spcPts val="100"/>
              </a:spcBef>
              <a:buNone/>
            </a:pPr>
            <a:r>
              <a:rPr lang="en-US" sz="1300" dirty="0">
                <a:solidFill>
                  <a:srgbClr val="000000"/>
                </a:solidFill>
                <a:latin typeface="Century Gothic"/>
                <a:cs typeface="Century Gothic"/>
              </a:rPr>
              <a:t>The test gives a p-value; the table shows WHO had higher uptake.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Correlation: Do Two Numbers Move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Pearson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Measures LINEAR association.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Assumes roughly normal data.</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Sensitive to outliers.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Example: sbp_mmhg vs bmi.</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Spearman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Based on RANKS.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Robust to outliers and non-linearity.</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 when data are skewed.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Reports a rank correlation.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Correlation of SBP and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Do systolic blood pressure and BMI move together?</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cor.test(dx$sbp_mmhg, dx$bmi, method = "pearson")</a:t>
            </a:r>
          </a:p>
        </p:txBody>
      </p:sp>
      <p:sp>
        <p:nvSpPr>
          <p:cNvPr id="31" name="Output"/>
          <p:cNvSpPr/>
          <p:nvPr/>
        </p:nvSpPr>
        <p:spPr>
          <a:xfrm>
            <a:off x="457200" y="218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Pearson's product-moment correlation</a:t>
            </a:r>
          </a:p>
          <a:p>
            <a:pPr marL="0" indent="0" algn="l">
              <a:lnSpc>
                <a:spcPct val="100000"/>
              </a:lnSpc>
              <a:buNone/>
            </a:pPr>
            <a:r>
              <a:rPr lang="en-US" sz="1250" dirty="0">
                <a:solidFill>
                  <a:srgbClr val="1A1A1A"/>
                </a:solidFill>
                <a:latin typeface="Consolas"/>
                <a:cs typeface="Consolas"/>
              </a:rPr>
              <a:t>t = 6.1, df = 1087, p-value = 1.4e-09</a:t>
            </a:r>
          </a:p>
          <a:p>
            <a:pPr marL="0" indent="0" algn="l">
              <a:lnSpc>
                <a:spcPct val="100000"/>
              </a:lnSpc>
              <a:buNone/>
            </a:pPr>
            <a:r>
              <a:rPr lang="en-US" sz="1250" dirty="0">
                <a:solidFill>
                  <a:srgbClr val="1A1A1A"/>
                </a:solidFill>
                <a:latin typeface="Consolas"/>
                <a:cs typeface="Consolas"/>
              </a:rPr>
              <a:t>95 percent CI: 0.12 to 0.24</a:t>
            </a:r>
          </a:p>
          <a:p>
            <a:pPr marL="0" indent="0" algn="l">
              <a:lnSpc>
                <a:spcPct val="100000"/>
              </a:lnSpc>
              <a:buNone/>
            </a:pPr>
            <a:r>
              <a:rPr lang="en-US" sz="1250" dirty="0">
                <a:solidFill>
                  <a:srgbClr val="1A1A1A"/>
                </a:solidFill>
                <a:latin typeface="Consolas"/>
                <a:cs typeface="Consolas"/>
              </a:rPr>
              <a:t>cor = 0.18</a:t>
            </a:r>
          </a:p>
        </p:txBody>
      </p:sp>
      <p:sp>
        <p:nvSpPr>
          <p:cNvPr id="32" name="Note"/>
          <p:cNvSpPr/>
          <p:nvPr/>
        </p:nvSpPr>
        <p:spPr>
          <a:xfrm>
            <a:off x="457200" y="34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 = 0.18 is a weak positive link: highly significant, but clinically modest.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Choosing the Right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0000">
                <a:tc>
                  <a:txBody>
                    <a:bodyPr/>
                    <a:lstStyle/>
                    <a:p>
                      <a:pPr algn="l"/>
                      <a:r>
                        <a:rPr lang="en-US" sz="1300" b="1" dirty="0">
                          <a:solidFill>
                            <a:srgbClr val="FFFFFF"/>
                          </a:solidFill>
                          <a:latin typeface="Century Gothic"/>
                        </a:rPr>
                        <a:t>Outcome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Predictor / 2nd variable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Test</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Two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t-test (Wilcoxon if skewed)</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More than two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ANOVA (Kruskal-Wallis if skewed)</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Century Gothic"/>
                        </a:rPr>
                        <a:t>Categorical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Categorical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Chi-square (Fisher if sparse)</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Correlation (Pearson / Spearman)</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Century Gothic"/>
                        </a:rPr>
                        <a:t>Binary</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One or more predictors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Logistic regression - Day 5</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Match the QUESTION and the data types to the test; a binary outcome with predictors leads to regression (Day 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4 Exercise: Choose and Run the Right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Compare age between treatment-uptake groups with a t-test.</a:t>
            </a:r>
          </a:p>
          <a:p>
            <a:pPr marL="0" indent="0" algn="l">
              <a:lnSpc>
                <a:spcPct val="108000"/>
              </a:lnSpc>
              <a:spcBef>
                <a:spcPts val="440"/>
              </a:spcBef>
              <a:buNone/>
            </a:pPr>
            <a:r>
              <a:rPr lang="en-US" sz="1800" dirty="0">
                <a:solidFill>
                  <a:srgbClr val="000000"/>
                </a:solidFill>
                <a:latin typeface="Century Gothic"/>
                <a:cs typeface="Century Gothic"/>
              </a:rPr>
              <a:t>Test the association between sex and treatment uptake (chi-square).</a:t>
            </a:r>
          </a:p>
          <a:p>
            <a:pPr marL="0" indent="0" algn="l">
              <a:lnSpc>
                <a:spcPct val="108000"/>
              </a:lnSpc>
              <a:spcBef>
                <a:spcPts val="440"/>
              </a:spcBef>
              <a:buNone/>
            </a:pPr>
            <a:r>
              <a:rPr lang="en-US" sz="1800" dirty="0">
                <a:solidFill>
                  <a:srgbClr val="000000"/>
                </a:solidFill>
                <a:latin typeface="Century Gothic"/>
                <a:cs typeface="Century Gothic"/>
              </a:rPr>
              <a:t>Test the correlation between SBP and BMI (Pearson or Spearman).</a:t>
            </a:r>
          </a:p>
          <a:p>
            <a:pPr marL="0" indent="0" algn="l">
              <a:lnSpc>
                <a:spcPct val="108000"/>
              </a:lnSpc>
              <a:spcBef>
                <a:spcPts val="440"/>
              </a:spcBef>
              <a:buNone/>
            </a:pPr>
            <a:r>
              <a:rPr lang="en-US" sz="1800" dirty="0">
                <a:solidFill>
                  <a:srgbClr val="000000"/>
                </a:solidFill>
                <a:latin typeface="Century Gothic"/>
                <a:cs typeface="Century Gothic"/>
              </a:rPr>
              <a:t>For each, state the question, the test, and a plain-language result.</a:t>
            </a:r>
          </a:p>
          <a:p>
            <a:pPr>
              <a:buNone/>
            </a:pPr>
            <a:endParaRPr sz="1050"/>
          </a:p>
          <a:p>
            <a:pPr marL="0" indent="0" algn="l">
              <a:spcBef>
                <a:spcPts val="360"/>
              </a:spcBef>
              <a:buNone/>
            </a:pPr>
            <a:r>
              <a:rPr lang="en-US" sz="2050" b="1" dirty="0">
                <a:solidFill>
                  <a:srgbClr val="0D7377"/>
                </a:solidFill>
                <a:latin typeface="Century Gothic"/>
                <a:cs typeface="Century Gothic"/>
              </a:rPr>
              <a:t>Expected output</a:t>
            </a:r>
          </a:p>
          <a:p>
            <a:pPr marL="0" indent="0" algn="l">
              <a:lnSpc>
                <a:spcPct val="108000"/>
              </a:lnSpc>
              <a:spcBef>
                <a:spcPts val="440"/>
              </a:spcBef>
              <a:buNone/>
            </a:pPr>
            <a:r>
              <a:rPr lang="en-US" sz="1800" dirty="0">
                <a:solidFill>
                  <a:srgbClr val="000000"/>
                </a:solidFill>
                <a:latin typeface="Century Gothic"/>
                <a:cs typeface="Century Gothic"/>
              </a:rPr>
              <a:t>One test result per question, each with a p-value.</a:t>
            </a:r>
          </a:p>
          <a:p>
            <a:pPr marL="0" indent="0" algn="l">
              <a:lnSpc>
                <a:spcPct val="108000"/>
              </a:lnSpc>
              <a:spcBef>
                <a:spcPts val="440"/>
              </a:spcBef>
              <a:buNone/>
            </a:pPr>
            <a:r>
              <a:rPr lang="en-US" sz="1800" dirty="0">
                <a:solidFill>
                  <a:srgbClr val="000000"/>
                </a:solidFill>
                <a:latin typeface="Century Gothic"/>
                <a:cs typeface="Century Gothic"/>
              </a:rPr>
              <a:t>For the t-test and correlation, the estimate and its 95% CI.</a:t>
            </a:r>
          </a:p>
          <a:p>
            <a:pPr marL="0" indent="0" algn="l">
              <a:lnSpc>
                <a:spcPct val="108000"/>
              </a:lnSpc>
              <a:spcBef>
                <a:spcPts val="440"/>
              </a:spcBef>
              <a:buNone/>
            </a:pPr>
            <a:r>
              <a:rPr lang="en-US" sz="1800" dirty="0">
                <a:solidFill>
                  <a:srgbClr val="000000"/>
                </a:solidFill>
                <a:latin typeface="Century Gothic"/>
                <a:cs typeface="Century Gothic"/>
              </a:rPr>
              <a:t>One sentence interpreting each result clinically.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Let the data type choose the test</a:t>
            </a:r>
          </a:p>
          <a:p>
            <a:pPr marL="0" indent="0" algn="l">
              <a:spcBef>
                <a:spcPts val="100"/>
              </a:spcBef>
              <a:buNone/>
            </a:pPr>
            <a:r>
              <a:rPr lang="en-US" sz="1300" dirty="0">
                <a:solidFill>
                  <a:srgbClr val="000000"/>
                </a:solidFill>
                <a:latin typeface="Century Gothic"/>
                <a:cs typeface="Century Gothic"/>
              </a:rPr>
              <a:t>Check the outcome type and the number of groups before you pick a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you can now do</a:t>
            </a:r>
          </a:p>
          <a:p>
            <a:pPr marL="0" indent="0" algn="l">
              <a:lnSpc>
                <a:spcPct val="108000"/>
              </a:lnSpc>
              <a:spcBef>
                <a:spcPts val="440"/>
              </a:spcBef>
              <a:buNone/>
            </a:pPr>
            <a:r>
              <a:rPr lang="en-US" sz="1800" dirty="0">
                <a:solidFill>
                  <a:srgbClr val="000000"/>
                </a:solidFill>
                <a:latin typeface="Century Gothic"/>
                <a:cs typeface="Century Gothic"/>
              </a:rPr>
              <a:t>Match a question to the correct test using the data types.</a:t>
            </a:r>
          </a:p>
          <a:p>
            <a:pPr marL="0" indent="0" algn="l">
              <a:lnSpc>
                <a:spcPct val="108000"/>
              </a:lnSpc>
              <a:spcBef>
                <a:spcPts val="440"/>
              </a:spcBef>
              <a:buNone/>
            </a:pPr>
            <a:r>
              <a:rPr lang="en-US" sz="1800" dirty="0">
                <a:solidFill>
                  <a:srgbClr val="000000"/>
                </a:solidFill>
                <a:latin typeface="Century Gothic"/>
                <a:cs typeface="Century Gothic"/>
              </a:rPr>
              <a:t>Run and interpret t-tests, Wilcoxon, ANOVA, chi-square and correlation.</a:t>
            </a:r>
          </a:p>
          <a:p>
            <a:pPr marL="0" indent="0" algn="l">
              <a:lnSpc>
                <a:spcPct val="108000"/>
              </a:lnSpc>
              <a:spcBef>
                <a:spcPts val="440"/>
              </a:spcBef>
              <a:buNone/>
            </a:pPr>
            <a:r>
              <a:rPr lang="en-US" sz="1800" dirty="0">
                <a:solidFill>
                  <a:srgbClr val="000000"/>
                </a:solidFill>
                <a:latin typeface="Century Gothic"/>
                <a:cs typeface="Century Gothic"/>
              </a:rPr>
              <a:t>Read a p-value alongside the effect size and its confidence interval.</a:t>
            </a:r>
          </a:p>
          <a:p>
            <a:pPr marL="0" indent="0" algn="l">
              <a:lnSpc>
                <a:spcPct val="108000"/>
              </a:lnSpc>
              <a:spcBef>
                <a:spcPts val="440"/>
              </a:spcBef>
              <a:buNone/>
            </a:pPr>
            <a:r>
              <a:rPr lang="en-US" sz="1800" dirty="0">
                <a:solidFill>
                  <a:srgbClr val="000000"/>
                </a:solidFill>
                <a:latin typeface="Century Gothic"/>
                <a:cs typeface="Century Gothic"/>
              </a:rPr>
              <a:t>Tell statistical significance apart from clinical importance.</a:t>
            </a:r>
          </a:p>
          <a:p>
            <a:pPr>
              <a:buNone/>
            </a:pPr>
            <a:endParaRPr sz="1050"/>
          </a:p>
          <a:p>
            <a:pPr marL="0" indent="0" algn="l">
              <a:spcBef>
                <a:spcPts val="360"/>
              </a:spcBef>
              <a:buNone/>
            </a:pPr>
            <a:r>
              <a:rPr lang="en-US" sz="2050" b="1" dirty="0">
                <a:solidFill>
                  <a:srgbClr val="0D7377"/>
                </a:solidFill>
                <a:latin typeface="Century Gothic"/>
                <a:cs typeface="Century Gothic"/>
              </a:rPr>
              <a:t>Day 5 takes it further</a:t>
            </a:r>
          </a:p>
          <a:p>
            <a:pPr marL="0" indent="0" algn="l">
              <a:lnSpc>
                <a:spcPct val="108000"/>
              </a:lnSpc>
              <a:spcBef>
                <a:spcPts val="440"/>
              </a:spcBef>
              <a:buNone/>
            </a:pPr>
            <a:r>
              <a:rPr lang="en-US" sz="1800" dirty="0">
                <a:solidFill>
                  <a:srgbClr val="000000"/>
                </a:solidFill>
                <a:latin typeface="Century Gothic"/>
                <a:cs typeface="Century Gothic"/>
              </a:rPr>
              <a:t>Introduction to regression: linear (numbers) and logistic (Yes/No).</a:t>
            </a:r>
          </a:p>
          <a:p>
            <a:pPr marL="0" indent="0" algn="l">
              <a:lnSpc>
                <a:spcPct val="108000"/>
              </a:lnSpc>
              <a:spcBef>
                <a:spcPts val="440"/>
              </a:spcBef>
              <a:buNone/>
            </a:pPr>
            <a:r>
              <a:rPr lang="en-US" sz="1800" dirty="0">
                <a:solidFill>
                  <a:srgbClr val="000000"/>
                </a:solidFill>
                <a:latin typeface="Century Gothic"/>
                <a:cs typeface="Century Gothic"/>
              </a:rPr>
              <a:t>Odds ratios, adjustment and confounding.</a:t>
            </a:r>
          </a:p>
          <a:p>
            <a:pPr marL="0" indent="0" algn="l">
              <a:lnSpc>
                <a:spcPct val="108000"/>
              </a:lnSpc>
              <a:spcBef>
                <a:spcPts val="440"/>
              </a:spcBef>
              <a:buNone/>
            </a:pPr>
            <a:r>
              <a:rPr lang="en-US" sz="1800" dirty="0">
                <a:solidFill>
                  <a:srgbClr val="000000"/>
                </a:solidFill>
                <a:latin typeface="Century Gothic"/>
                <a:cs typeface="Century Gothic"/>
              </a:rPr>
              <a:t>Turning model output into a Results section, reproducibly.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Carry forward</a:t>
            </a:r>
          </a:p>
          <a:p>
            <a:pPr marL="0" indent="0" algn="l">
              <a:spcBef>
                <a:spcPts val="100"/>
              </a:spcBef>
              <a:buNone/>
            </a:pPr>
            <a:r>
              <a:rPr lang="en-US" sz="1300" dirty="0">
                <a:solidFill>
                  <a:srgbClr val="000000"/>
                </a:solidFill>
                <a:latin typeface="Century Gothic"/>
                <a:cs typeface="Century Gothic"/>
              </a:rPr>
              <a:t>Keep your decision-framework table - next session we model several predictors at once.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5: Introduction to Regression &amp; Interpreting Output</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Linear regression: modelling a continuous outcome</a:t>
            </a:r>
          </a:p>
          <a:p>
            <a:pPr marL="274320" indent="-274320" algn="l">
              <a:spcBef>
                <a:spcPts val="440"/>
              </a:spcBef>
              <a:buFont typeface="Arial"/>
              <a:buChar char="•"/>
            </a:pPr>
            <a:r>
              <a:rPr lang="en-US" sz="1900" dirty="0">
                <a:solidFill>
                  <a:srgbClr val="000000"/>
                </a:solidFill>
                <a:latin typeface="Century Gothic"/>
                <a:cs typeface="Century Gothic"/>
              </a:rPr>
              <a:t>Logistic regression: odds ratios for a Yes/No outcome</a:t>
            </a:r>
          </a:p>
          <a:p>
            <a:pPr marL="274320" indent="-274320" algn="l">
              <a:spcBef>
                <a:spcPts val="440"/>
              </a:spcBef>
              <a:buFont typeface="Arial"/>
              <a:buChar char="•"/>
            </a:pPr>
            <a:r>
              <a:rPr lang="en-US" sz="1900" dirty="0">
                <a:solidFill>
                  <a:srgbClr val="000000"/>
                </a:solidFill>
                <a:latin typeface="Century Gothic"/>
                <a:cs typeface="Century Gothic"/>
              </a:rPr>
              <a:t>Adjusting for several factors, and confounding</a:t>
            </a:r>
          </a:p>
          <a:p>
            <a:pPr marL="274320" indent="-274320" algn="l">
              <a:spcBef>
                <a:spcPts val="440"/>
              </a:spcBef>
              <a:buFont typeface="Arial"/>
              <a:buChar char="•"/>
            </a:pPr>
            <a:r>
              <a:rPr lang="en-US" sz="1900" dirty="0">
                <a:solidFill>
                  <a:srgbClr val="000000"/>
                </a:solidFill>
                <a:latin typeface="Century Gothic"/>
                <a:cs typeface="Century Gothic"/>
              </a:rPr>
              <a:t>Publication-ready tables, figures and a Results section</a:t>
            </a:r>
          </a:p>
          <a:p>
            <a:pPr marL="274320" indent="-274320" algn="l">
              <a:spcBef>
                <a:spcPts val="440"/>
              </a:spcBef>
              <a:buFont typeface="Arial"/>
              <a:buChar char="•"/>
            </a:pPr>
            <a:r>
              <a:rPr lang="en-US" sz="1900" dirty="0">
                <a:solidFill>
                  <a:srgbClr val="000000"/>
                </a:solidFill>
                <a:latin typeface="Century Gothic"/>
                <a:cs typeface="Century Gothic"/>
              </a:rPr>
              <a:t>Reproducibility: scripts, seeds and projects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Today's Objectives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By the end of Day 5 you will be able to:</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Fit and read a linear regression for a continuous outcome.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Fit a logistic regression and read odds ratios with 95% CIs.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Understand why we adjust for several factors, and recognise confounding.</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Present adjusted results as a clear table and a forest plot.</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Write a short, honest Results section from your own numbers.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Make the whole analysis reproducible end to end.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Where We Are in the Journey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Across the week</a:t>
            </a:r>
          </a:p>
          <a:p>
            <a:pPr marL="0" indent="0" algn="l">
              <a:lnSpc>
                <a:spcPct val="108000"/>
              </a:lnSpc>
              <a:spcBef>
                <a:spcPts val="440"/>
              </a:spcBef>
              <a:buNone/>
            </a:pPr>
            <a:r>
              <a:rPr lang="en-US" sz="1800" dirty="0">
                <a:solidFill>
                  <a:srgbClr val="000000"/>
                </a:solidFill>
                <a:latin typeface="Century Gothic"/>
                <a:cs typeface="Century Gothic"/>
              </a:rPr>
              <a:t>Sessions 1-2: import and clean the hypertension dataset.</a:t>
            </a:r>
          </a:p>
          <a:p>
            <a:pPr marL="0" indent="0" algn="l">
              <a:lnSpc>
                <a:spcPct val="108000"/>
              </a:lnSpc>
              <a:spcBef>
                <a:spcPts val="440"/>
              </a:spcBef>
              <a:buNone/>
            </a:pPr>
            <a:r>
              <a:rPr lang="en-US" sz="1800" dirty="0">
                <a:solidFill>
                  <a:srgbClr val="000000"/>
                </a:solidFill>
                <a:latin typeface="Century Gothic"/>
                <a:cs typeface="Century Gothic"/>
              </a:rPr>
              <a:t>Session 3: summarise and visualise (Table 1, figures).</a:t>
            </a:r>
          </a:p>
          <a:p>
            <a:pPr marL="0" indent="0" algn="l">
              <a:lnSpc>
                <a:spcPct val="108000"/>
              </a:lnSpc>
              <a:spcBef>
                <a:spcPts val="440"/>
              </a:spcBef>
              <a:buNone/>
            </a:pPr>
            <a:r>
              <a:rPr lang="en-US" sz="1800" dirty="0">
                <a:solidFill>
                  <a:srgbClr val="000000"/>
                </a:solidFill>
                <a:latin typeface="Century Gothic"/>
                <a:cs typeface="Century Gothic"/>
              </a:rPr>
              <a:t>Session 4: common statistical tests (t-test, chi-square, correlation).</a:t>
            </a:r>
          </a:p>
          <a:p>
            <a:pPr marL="0" indent="0" algn="l">
              <a:lnSpc>
                <a:spcPct val="108000"/>
              </a:lnSpc>
              <a:spcBef>
                <a:spcPts val="440"/>
              </a:spcBef>
              <a:buNone/>
            </a:pPr>
            <a:r>
              <a:rPr lang="en-US" sz="1800" dirty="0">
                <a:solidFill>
                  <a:srgbClr val="000000"/>
                </a:solidFill>
                <a:latin typeface="Century Gothic"/>
                <a:cs typeface="Century Gothic"/>
              </a:rPr>
              <a:t>Session 5: regression - model, interpret, report and reproduce.</a:t>
            </a:r>
          </a:p>
          <a:p>
            <a:pPr>
              <a:buNone/>
            </a:pPr>
            <a:endParaRPr sz="1050"/>
          </a:p>
          <a:p>
            <a:pPr marL="0" indent="0" algn="l">
              <a:spcBef>
                <a:spcPts val="360"/>
              </a:spcBef>
              <a:buNone/>
            </a:pPr>
            <a:r>
              <a:rPr lang="en-US" sz="2050" b="1" dirty="0">
                <a:solidFill>
                  <a:srgbClr val="0D7377"/>
                </a:solidFill>
                <a:latin typeface="Century Gothic"/>
                <a:cs typeface="Century Gothic"/>
              </a:rPr>
              <a:t>Today's running example</a:t>
            </a:r>
          </a:p>
          <a:p>
            <a:pPr marL="0" indent="0" algn="l">
              <a:lnSpc>
                <a:spcPct val="108000"/>
              </a:lnSpc>
              <a:spcBef>
                <a:spcPts val="440"/>
              </a:spcBef>
              <a:buNone/>
            </a:pPr>
            <a:r>
              <a:rPr lang="en-US" sz="1800" dirty="0">
                <a:solidFill>
                  <a:srgbClr val="000000"/>
                </a:solidFill>
                <a:latin typeface="Century Gothic"/>
                <a:cs typeface="Century Gothic"/>
              </a:rPr>
              <a:t>Outcome: treatment_uptake among diagnosed hypertensives.</a:t>
            </a:r>
          </a:p>
          <a:p>
            <a:pPr marL="0" indent="0" algn="l">
              <a:lnSpc>
                <a:spcPct val="108000"/>
              </a:lnSpc>
              <a:spcBef>
                <a:spcPts val="440"/>
              </a:spcBef>
              <a:buNone/>
            </a:pPr>
            <a:r>
              <a:rPr lang="en-US" sz="1800" dirty="0">
                <a:solidFill>
                  <a:srgbClr val="000000"/>
                </a:solidFill>
                <a:latin typeface="Century Gothic"/>
                <a:cs typeface="Century Gothic"/>
              </a:rPr>
              <a:t>Analytic sample: 1,089 diagnosed; 992 complete cases modelled.</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One dataset, end to end</a:t>
            </a:r>
          </a:p>
          <a:p>
            <a:pPr marL="0" indent="0" algn="l">
              <a:spcBef>
                <a:spcPts val="100"/>
              </a:spcBef>
              <a:buNone/>
            </a:pPr>
            <a:r>
              <a:rPr lang="en-US" sz="1300" dirty="0">
                <a:solidFill>
                  <a:srgbClr val="000000"/>
                </a:solidFill>
                <a:latin typeface="Century Gothic"/>
                <a:cs typeface="Century Gothic"/>
              </a:rPr>
              <a:t>Every result today comes from the same study you cleaned earlier.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Linear Regression: Modelling a Number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When the outcome is a number</a:t>
            </a:r>
          </a:p>
          <a:p>
            <a:pPr marL="0" indent="0" algn="l">
              <a:lnSpc>
                <a:spcPct val="108000"/>
              </a:lnSpc>
              <a:spcBef>
                <a:spcPts val="440"/>
              </a:spcBef>
              <a:buNone/>
            </a:pPr>
            <a:r>
              <a:rPr lang="en-US" sz="1800" dirty="0">
                <a:solidFill>
                  <a:srgbClr val="000000"/>
                </a:solidFill>
                <a:latin typeface="Century Gothic"/>
                <a:cs typeface="Century Gothic"/>
              </a:rPr>
              <a:t>Linear regression models a CONTINUOUS outcome, such as blood pressure.</a:t>
            </a:r>
          </a:p>
          <a:p>
            <a:pPr marL="0" indent="0" algn="l">
              <a:lnSpc>
                <a:spcPct val="108000"/>
              </a:lnSpc>
              <a:spcBef>
                <a:spcPts val="440"/>
              </a:spcBef>
              <a:buNone/>
            </a:pPr>
            <a:r>
              <a:rPr lang="en-US" sz="1800" dirty="0">
                <a:solidFill>
                  <a:srgbClr val="000000"/>
                </a:solidFill>
                <a:latin typeface="Century Gothic"/>
                <a:cs typeface="Century Gothic"/>
              </a:rPr>
              <a:t>Outcome = a systematic part (the predictors) + unexplained variation.</a:t>
            </a:r>
          </a:p>
          <a:p>
            <a:pPr marL="0" indent="0" algn="l">
              <a:lnSpc>
                <a:spcPct val="108000"/>
              </a:lnSpc>
              <a:spcBef>
                <a:spcPts val="440"/>
              </a:spcBef>
              <a:buNone/>
            </a:pPr>
            <a:r>
              <a:rPr lang="en-US" sz="1800" dirty="0">
                <a:solidFill>
                  <a:srgbClr val="000000"/>
                </a:solidFill>
                <a:latin typeface="Century Gothic"/>
                <a:cs typeface="Century Gothic"/>
              </a:rPr>
              <a:t>It estimates how much the outcome changes per one unit of a predictor.</a:t>
            </a:r>
          </a:p>
          <a:p>
            <a:pPr>
              <a:buNone/>
            </a:pPr>
            <a:endParaRPr sz="1050"/>
          </a:p>
          <a:p>
            <a:pPr marL="0" indent="0" algn="l">
              <a:spcBef>
                <a:spcPts val="360"/>
              </a:spcBef>
              <a:buNone/>
            </a:pPr>
            <a:r>
              <a:rPr lang="en-US" sz="2050" b="1" dirty="0">
                <a:solidFill>
                  <a:srgbClr val="0D7377"/>
                </a:solidFill>
                <a:latin typeface="Century Gothic"/>
                <a:cs typeface="Century Gothic"/>
              </a:rPr>
              <a:t>Reading the output</a:t>
            </a:r>
          </a:p>
          <a:p>
            <a:pPr marL="0" indent="0" algn="l">
              <a:lnSpc>
                <a:spcPct val="108000"/>
              </a:lnSpc>
              <a:spcBef>
                <a:spcPts val="440"/>
              </a:spcBef>
              <a:buNone/>
            </a:pPr>
            <a:r>
              <a:rPr lang="en-US" sz="1800" dirty="0">
                <a:solidFill>
                  <a:srgbClr val="000000"/>
                </a:solidFill>
                <a:latin typeface="Century Gothic"/>
                <a:cs typeface="Century Gothic"/>
              </a:rPr>
              <a:t>The coefficient (slope) is the change in the outcome per one-unit rise.</a:t>
            </a:r>
          </a:p>
          <a:p>
            <a:pPr marL="0" indent="0" algn="l">
              <a:lnSpc>
                <a:spcPct val="108000"/>
              </a:lnSpc>
              <a:spcBef>
                <a:spcPts val="440"/>
              </a:spcBef>
              <a:buNone/>
            </a:pPr>
            <a:r>
              <a:rPr lang="en-US" sz="1800" dirty="0">
                <a:solidFill>
                  <a:srgbClr val="000000"/>
                </a:solidFill>
                <a:latin typeface="Century Gothic"/>
                <a:cs typeface="Century Gothic"/>
              </a:rPr>
              <a:t>Each coefficient comes with a 95% CI and a p-value.</a:t>
            </a:r>
          </a:p>
          <a:p>
            <a:pPr marL="0" indent="0" algn="l">
              <a:lnSpc>
                <a:spcPct val="108000"/>
              </a:lnSpc>
              <a:spcBef>
                <a:spcPts val="440"/>
              </a:spcBef>
              <a:buNone/>
            </a:pPr>
            <a:r>
              <a:rPr lang="en-US" sz="1800" dirty="0">
                <a:solidFill>
                  <a:srgbClr val="000000"/>
                </a:solidFill>
                <a:latin typeface="Century Gothic"/>
                <a:cs typeface="Century Gothic"/>
              </a:rPr>
              <a:t>Adding predictors gives each one's ADJUSTED effect, holding the others constant.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Clinical question</a:t>
            </a:r>
          </a:p>
          <a:p>
            <a:pPr marL="0" indent="0" algn="l">
              <a:spcBef>
                <a:spcPts val="100"/>
              </a:spcBef>
              <a:buNone/>
            </a:pPr>
            <a:r>
              <a:rPr lang="en-US" sz="1300" dirty="0">
                <a:solidFill>
                  <a:srgbClr val="000000"/>
                </a:solidFill>
                <a:latin typeface="Century Gothic"/>
                <a:cs typeface="Century Gothic"/>
              </a:rPr>
              <a:t>Is systolic blood pressure associated with age - and does it hold after adjusting for sex and BMI?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Linear Regression of SBP on 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Does systolic blood pressure rise with age, adjusting for sex and BMI?</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m1 &lt;- lm(sbp_mmhg ~ age, data = analysis_data)</a:t>
            </a:r>
          </a:p>
          <a:p>
            <a:pPr marL="0" indent="0" algn="l">
              <a:lnSpc>
                <a:spcPct val="100000"/>
              </a:lnSpc>
              <a:buNone/>
            </a:pPr>
            <a:r>
              <a:rPr lang="en-US" sz="1300" dirty="0">
                <a:solidFill>
                  <a:srgbClr val="1B3A4B"/>
                </a:solidFill>
                <a:latin typeface="Consolas"/>
                <a:cs typeface="Consolas"/>
              </a:rPr>
              <a:t>summary(m1)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 adjust for sex and BMI</a:t>
            </a:r>
          </a:p>
          <a:p>
            <a:pPr marL="0" indent="0" algn="l">
              <a:lnSpc>
                <a:spcPct val="100000"/>
              </a:lnSpc>
              <a:buNone/>
            </a:pPr>
            <a:r>
              <a:rPr lang="en-US" sz="1300" dirty="0">
                <a:solidFill>
                  <a:srgbClr val="1B3A4B"/>
                </a:solidFill>
                <a:latin typeface="Consolas"/>
                <a:cs typeface="Consolas"/>
              </a:rPr>
              <a:t>m2 &lt;- lm(sbp_mmhg ~ age + sex + bmi,</a:t>
            </a:r>
          </a:p>
          <a:p>
            <a:pPr marL="0" indent="0" algn="l">
              <a:lnSpc>
                <a:spcPct val="100000"/>
              </a:lnSpc>
              <a:buNone/>
            </a:pPr>
            <a:r>
              <a:rPr lang="en-US" sz="1300" dirty="0">
                <a:solidFill>
                  <a:srgbClr val="1B3A4B"/>
                </a:solidFill>
                <a:latin typeface="Consolas"/>
                <a:cs typeface="Consolas"/>
              </a:rPr>
              <a:t>         data = analysis_data)</a:t>
            </a:r>
          </a:p>
          <a:p>
            <a:pPr marL="0" indent="0" algn="l">
              <a:lnSpc>
                <a:spcPct val="100000"/>
              </a:lnSpc>
              <a:buNone/>
            </a:pPr>
            <a:r>
              <a:rPr lang="en-US" sz="1300" dirty="0">
                <a:solidFill>
                  <a:srgbClr val="1B3A4B"/>
                </a:solidFill>
                <a:latin typeface="Consolas"/>
                <a:cs typeface="Consolas"/>
              </a:rPr>
              <a:t>tidy(m2, conf.int = TRUE)</a:t>
            </a:r>
          </a:p>
        </p:txBody>
      </p:sp>
      <p:sp>
        <p:nvSpPr>
          <p:cNvPr id="31" name="Output"/>
          <p:cNvSpPr/>
          <p:nvPr/>
        </p:nvSpPr>
        <p:spPr>
          <a:xfrm>
            <a:off x="457200" y="34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term        estimate conf.low conf.high p.value</a:t>
            </a:r>
          </a:p>
          <a:p>
            <a:pPr marL="0" indent="0" algn="l">
              <a:lnSpc>
                <a:spcPct val="100000"/>
              </a:lnSpc>
              <a:buNone/>
            </a:pPr>
            <a:r>
              <a:rPr lang="en-US" sz="1250" dirty="0">
                <a:solidFill>
                  <a:srgbClr val="1A1A1A"/>
                </a:solidFill>
                <a:latin typeface="Consolas"/>
                <a:cs typeface="Consolas"/>
              </a:rPr>
              <a:t>(Intercept)   87.31    81.01    93.61   &lt;0.001</a:t>
            </a:r>
          </a:p>
          <a:p>
            <a:pPr marL="0" indent="0" algn="l">
              <a:lnSpc>
                <a:spcPct val="100000"/>
              </a:lnSpc>
              <a:buNone/>
            </a:pPr>
            <a:r>
              <a:rPr lang="en-US" sz="1250" dirty="0">
                <a:solidFill>
                  <a:srgbClr val="1A1A1A"/>
                </a:solidFill>
                <a:latin typeface="Consolas"/>
                <a:cs typeface="Consolas"/>
              </a:rPr>
              <a:t>age            0.26     0.19     0.33   &lt;0.001</a:t>
            </a:r>
          </a:p>
          <a:p>
            <a:pPr marL="0" indent="0" algn="l">
              <a:lnSpc>
                <a:spcPct val="100000"/>
              </a:lnSpc>
              <a:buNone/>
            </a:pPr>
            <a:r>
              <a:rPr lang="en-US" sz="1250" dirty="0">
                <a:solidFill>
                  <a:srgbClr val="1A1A1A"/>
                </a:solidFill>
                <a:latin typeface="Consolas"/>
                <a:cs typeface="Consolas"/>
              </a:rPr>
              <a:t>sexMale        0.33    -1.57     2.22    0.74</a:t>
            </a:r>
          </a:p>
          <a:p>
            <a:pPr marL="0" indent="0" algn="l">
              <a:lnSpc>
                <a:spcPct val="100000"/>
              </a:lnSpc>
              <a:buNone/>
            </a:pPr>
            <a:r>
              <a:rPr lang="en-US" sz="1250" dirty="0">
                <a:solidFill>
                  <a:srgbClr val="1A1A1A"/>
                </a:solidFill>
                <a:latin typeface="Consolas"/>
                <a:cs typeface="Consolas"/>
              </a:rPr>
              <a:t>bmi            1.45     1.26     1.64   &lt;0.001</a:t>
            </a:r>
          </a:p>
        </p:txBody>
      </p:sp>
      <p:sp>
        <p:nvSpPr>
          <p:cNvPr id="32" name="Note"/>
          <p:cNvSpPr/>
          <p:nvPr/>
        </p:nvSpPr>
        <p:spPr>
          <a:xfrm>
            <a:off x="457200" y="48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Each extra year adds ~0.26 mmHg to SBP and each BMI unit ~1.45 mmHg; sex is not significant.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Why Logistic Regression?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outcome is binary</a:t>
            </a:r>
          </a:p>
          <a:p>
            <a:pPr marL="0" indent="0" algn="l">
              <a:lnSpc>
                <a:spcPct val="108000"/>
              </a:lnSpc>
              <a:spcBef>
                <a:spcPts val="440"/>
              </a:spcBef>
              <a:buNone/>
            </a:pPr>
            <a:r>
              <a:rPr lang="en-US" sz="1800" dirty="0">
                <a:solidFill>
                  <a:srgbClr val="000000"/>
                </a:solidFill>
                <a:latin typeface="Century Gothic"/>
                <a:cs typeface="Century Gothic"/>
              </a:rPr>
              <a:t>Treatment uptake is Yes/No - not a number, so not linear regression.</a:t>
            </a:r>
          </a:p>
          <a:p>
            <a:pPr marL="0" indent="0" algn="l">
              <a:lnSpc>
                <a:spcPct val="108000"/>
              </a:lnSpc>
              <a:spcBef>
                <a:spcPts val="440"/>
              </a:spcBef>
              <a:buNone/>
            </a:pPr>
            <a:r>
              <a:rPr lang="en-US" sz="1800" dirty="0">
                <a:solidFill>
                  <a:srgbClr val="000000"/>
                </a:solidFill>
                <a:latin typeface="Century Gothic"/>
                <a:cs typeface="Century Gothic"/>
              </a:rPr>
              <a:t>Logistic regression models the ODDS of the 'Yes' outcome.</a:t>
            </a:r>
          </a:p>
          <a:p>
            <a:pPr marL="0" indent="0" algn="l">
              <a:lnSpc>
                <a:spcPct val="108000"/>
              </a:lnSpc>
              <a:spcBef>
                <a:spcPts val="440"/>
              </a:spcBef>
              <a:buNone/>
            </a:pPr>
            <a:r>
              <a:rPr lang="en-US" sz="1800" dirty="0">
                <a:solidFill>
                  <a:srgbClr val="000000"/>
                </a:solidFill>
                <a:latin typeface="Century Gothic"/>
                <a:cs typeface="Century Gothic"/>
              </a:rPr>
              <a:t>It handles one predictor or many at once.</a:t>
            </a:r>
          </a:p>
          <a:p>
            <a:pPr>
              <a:buNone/>
            </a:pPr>
            <a:endParaRPr sz="1050"/>
          </a:p>
          <a:p>
            <a:pPr marL="0" indent="0" algn="l">
              <a:spcBef>
                <a:spcPts val="360"/>
              </a:spcBef>
              <a:buNone/>
            </a:pPr>
            <a:r>
              <a:rPr lang="en-US" sz="2050" b="1" dirty="0">
                <a:solidFill>
                  <a:srgbClr val="0D7377"/>
                </a:solidFill>
                <a:latin typeface="Century Gothic"/>
                <a:cs typeface="Century Gothic"/>
              </a:rPr>
              <a:t>Odds and odds ratios</a:t>
            </a:r>
          </a:p>
          <a:p>
            <a:pPr marL="0" indent="0" algn="l">
              <a:lnSpc>
                <a:spcPct val="108000"/>
              </a:lnSpc>
              <a:spcBef>
                <a:spcPts val="440"/>
              </a:spcBef>
              <a:buNone/>
            </a:pPr>
            <a:r>
              <a:rPr lang="en-US" sz="1800" dirty="0">
                <a:solidFill>
                  <a:srgbClr val="000000"/>
                </a:solidFill>
                <a:latin typeface="Century Gothic"/>
                <a:cs typeface="Century Gothic"/>
              </a:rPr>
              <a:t>Odds = probability of Yes divided by probability of No.</a:t>
            </a:r>
          </a:p>
          <a:p>
            <a:pPr marL="0" indent="0" algn="l">
              <a:lnSpc>
                <a:spcPct val="108000"/>
              </a:lnSpc>
              <a:spcBef>
                <a:spcPts val="440"/>
              </a:spcBef>
              <a:buNone/>
            </a:pPr>
            <a:r>
              <a:rPr lang="en-US" sz="1800" dirty="0">
                <a:solidFill>
                  <a:srgbClr val="000000"/>
                </a:solidFill>
                <a:latin typeface="Century Gothic"/>
                <a:cs typeface="Century Gothic"/>
              </a:rPr>
              <a:t>An odds ratio (OR) compares the odds between two groups.</a:t>
            </a:r>
          </a:p>
          <a:p>
            <a:pPr marL="0" indent="0" algn="l">
              <a:lnSpc>
                <a:spcPct val="108000"/>
              </a:lnSpc>
              <a:spcBef>
                <a:spcPts val="440"/>
              </a:spcBef>
              <a:buNone/>
            </a:pPr>
            <a:r>
              <a:rPr lang="en-US" sz="1800" dirty="0">
                <a:solidFill>
                  <a:srgbClr val="000000"/>
                </a:solidFill>
                <a:latin typeface="Century Gothic"/>
                <a:cs typeface="Century Gothic"/>
              </a:rPr>
              <a:t>The OR is the single number clinicians read from the model.</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Why odds, not probability</a:t>
            </a:r>
          </a:p>
          <a:p>
            <a:pPr marL="0" indent="0" algn="l">
              <a:spcBef>
                <a:spcPts val="100"/>
              </a:spcBef>
              <a:buNone/>
            </a:pPr>
            <a:r>
              <a:rPr lang="en-US" sz="1300" dirty="0">
                <a:solidFill>
                  <a:srgbClr val="000000"/>
                </a:solidFill>
                <a:latin typeface="Century Gothic"/>
                <a:cs typeface="Century Gothic"/>
              </a:rPr>
              <a:t>Odds let us multiply effects cleanly and give a constant OR per group.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Reading an Odds Ratio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Direction of the effect</a:t>
            </a:r>
          </a:p>
          <a:p>
            <a:pPr marL="0" indent="0" algn="l">
              <a:lnSpc>
                <a:spcPct val="108000"/>
              </a:lnSpc>
              <a:spcBef>
                <a:spcPts val="440"/>
              </a:spcBef>
              <a:buNone/>
            </a:pPr>
            <a:r>
              <a:rPr lang="en-US" sz="1800" dirty="0">
                <a:solidFill>
                  <a:srgbClr val="000000"/>
                </a:solidFill>
                <a:latin typeface="Century Gothic"/>
                <a:cs typeface="Century Gothic"/>
              </a:rPr>
              <a:t>OR = 1: the predictor has no effect on the odds of uptake.</a:t>
            </a:r>
          </a:p>
          <a:p>
            <a:pPr marL="0" indent="0" algn="l">
              <a:lnSpc>
                <a:spcPct val="108000"/>
              </a:lnSpc>
              <a:spcBef>
                <a:spcPts val="440"/>
              </a:spcBef>
              <a:buNone/>
            </a:pPr>
            <a:r>
              <a:rPr lang="en-US" sz="1800" dirty="0">
                <a:solidFill>
                  <a:srgbClr val="000000"/>
                </a:solidFill>
                <a:latin typeface="Century Gothic"/>
                <a:cs typeface="Century Gothic"/>
              </a:rPr>
              <a:t>OR &gt; 1: higher odds of uptake (a positive driver).</a:t>
            </a:r>
          </a:p>
          <a:p>
            <a:pPr marL="0" indent="0" algn="l">
              <a:lnSpc>
                <a:spcPct val="108000"/>
              </a:lnSpc>
              <a:spcBef>
                <a:spcPts val="440"/>
              </a:spcBef>
              <a:buNone/>
            </a:pPr>
            <a:r>
              <a:rPr lang="en-US" sz="1800" dirty="0">
                <a:solidFill>
                  <a:srgbClr val="000000"/>
                </a:solidFill>
                <a:latin typeface="Century Gothic"/>
                <a:cs typeface="Century Gothic"/>
              </a:rPr>
              <a:t>OR &lt; 1: lower odds of uptake (a protective / negative driver).</a:t>
            </a:r>
          </a:p>
          <a:p>
            <a:pPr>
              <a:buNone/>
            </a:pPr>
            <a:endParaRPr sz="1050"/>
          </a:p>
          <a:p>
            <a:pPr marL="0" indent="0" algn="l">
              <a:spcBef>
                <a:spcPts val="360"/>
              </a:spcBef>
              <a:buNone/>
            </a:pPr>
            <a:r>
              <a:rPr lang="en-US" sz="2050" b="1" dirty="0">
                <a:solidFill>
                  <a:srgbClr val="0D7377"/>
                </a:solidFill>
                <a:latin typeface="Century Gothic"/>
                <a:cs typeface="Century Gothic"/>
              </a:rPr>
              <a:t>Precision and significance</a:t>
            </a:r>
          </a:p>
          <a:p>
            <a:pPr marL="0" indent="0" algn="l">
              <a:lnSpc>
                <a:spcPct val="108000"/>
              </a:lnSpc>
              <a:spcBef>
                <a:spcPts val="440"/>
              </a:spcBef>
              <a:buNone/>
            </a:pPr>
            <a:r>
              <a:rPr lang="en-US" sz="1800" dirty="0">
                <a:solidFill>
                  <a:srgbClr val="000000"/>
                </a:solidFill>
                <a:latin typeface="Century Gothic"/>
                <a:cs typeface="Century Gothic"/>
              </a:rPr>
              <a:t>The 95% CI shows the plausible range for the true OR.</a:t>
            </a:r>
          </a:p>
          <a:p>
            <a:pPr marL="0" indent="0" algn="l">
              <a:lnSpc>
                <a:spcPct val="108000"/>
              </a:lnSpc>
              <a:spcBef>
                <a:spcPts val="440"/>
              </a:spcBef>
              <a:buNone/>
            </a:pPr>
            <a:r>
              <a:rPr lang="en-US" sz="1800" dirty="0">
                <a:solidFill>
                  <a:srgbClr val="000000"/>
                </a:solidFill>
                <a:latin typeface="Century Gothic"/>
                <a:cs typeface="Century Gothic"/>
              </a:rPr>
              <a:t>If the CI excludes 1, the effect is statistically significant.</a:t>
            </a:r>
          </a:p>
          <a:p>
            <a:pPr marL="0" indent="0" algn="l">
              <a:lnSpc>
                <a:spcPct val="108000"/>
              </a:lnSpc>
              <a:spcBef>
                <a:spcPts val="440"/>
              </a:spcBef>
              <a:buNone/>
            </a:pPr>
            <a:r>
              <a:rPr lang="en-US" sz="1800" dirty="0">
                <a:solidFill>
                  <a:srgbClr val="000000"/>
                </a:solidFill>
                <a:latin typeface="Century Gothic"/>
                <a:cs typeface="Century Gothic"/>
              </a:rPr>
              <a:t>A wide CI means an imprecise, uncertain estimate.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Example phrasing</a:t>
            </a:r>
          </a:p>
          <a:p>
            <a:pPr marL="0" indent="0" algn="l">
              <a:spcBef>
                <a:spcPts val="100"/>
              </a:spcBef>
              <a:buNone/>
            </a:pPr>
            <a:r>
              <a:rPr lang="en-US" sz="1300" dirty="0">
                <a:solidFill>
                  <a:srgbClr val="000000"/>
                </a:solidFill>
                <a:latin typeface="Century Gothic"/>
                <a:cs typeface="Century Gothic"/>
              </a:rPr>
              <a:t>Diabetics had 3.6 times the odds of uptake (aOR 3.56, 95% CI 1.46 to 9.61).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Univariable Logistic Regression (Diabetes)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Does diabetes raise the odds of treatment uptake?</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m_diab &lt;- glm(treatment_uptake ~ diabetes,</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exp(coef(m_diab))      # odds ratio</a:t>
            </a:r>
          </a:p>
          <a:p>
            <a:pPr marL="0" indent="0" algn="l">
              <a:lnSpc>
                <a:spcPct val="100000"/>
              </a:lnSpc>
              <a:buNone/>
            </a:pPr>
            <a:r>
              <a:rPr lang="en-US" sz="1300" dirty="0">
                <a:solidFill>
                  <a:srgbClr val="1B3A4B"/>
                </a:solidFill>
                <a:latin typeface="Consolas"/>
                <a:cs typeface="Consolas"/>
              </a:rPr>
              <a:t>exp(confint(m_diab))   # 95% CI</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(Intercept)   diabetesYes</a:t>
            </a:r>
          </a:p>
          <a:p>
            <a:pPr marL="0" indent="0" algn="l">
              <a:lnSpc>
                <a:spcPct val="100000"/>
              </a:lnSpc>
              <a:buNone/>
            </a:pPr>
            <a:r>
              <a:rPr lang="en-US" sz="1250" dirty="0">
                <a:solidFill>
                  <a:srgbClr val="1A1A1A"/>
                </a:solidFill>
                <a:latin typeface="Consolas"/>
                <a:cs typeface="Consolas"/>
              </a:rPr>
              <a:t>      0.74          2.85</a:t>
            </a:r>
          </a:p>
          <a:p>
            <a:pPr marL="0" indent="0" algn="l">
              <a:lnSpc>
                <a:spcPct val="100000"/>
              </a:lnSpc>
              <a:buNone/>
            </a:pPr>
            <a:r>
              <a:rPr lang="en-US" sz="1250" dirty="0">
                <a:solidFill>
                  <a:srgbClr val="1A1A1A"/>
                </a:solidFill>
                <a:latin typeface="Consolas"/>
                <a:cs typeface="Consolas"/>
              </a:rPr>
              <a:t>            2.5 %   97.5 %</a:t>
            </a:r>
          </a:p>
          <a:p>
            <a:pPr marL="0" indent="0" algn="l">
              <a:lnSpc>
                <a:spcPct val="100000"/>
              </a:lnSpc>
              <a:buNone/>
            </a:pPr>
            <a:r>
              <a:rPr lang="en-US" sz="1250" dirty="0">
                <a:solidFill>
                  <a:srgbClr val="1A1A1A"/>
                </a:solidFill>
                <a:latin typeface="Consolas"/>
                <a:cs typeface="Consolas"/>
              </a:rPr>
              <a:t>diabetesYes  2.01     4.07</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Unadjusted OR ~2.85: diabetics have roughly triple the odds of uptake; CI excludes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A Continuous Predictor: 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OR per one unit</a:t>
            </a:r>
          </a:p>
          <a:p>
            <a:pPr marL="0" indent="0" algn="l">
              <a:lnSpc>
                <a:spcPct val="108000"/>
              </a:lnSpc>
              <a:spcBef>
                <a:spcPts val="440"/>
              </a:spcBef>
              <a:buNone/>
            </a:pPr>
            <a:r>
              <a:rPr lang="en-US" sz="1800" dirty="0">
                <a:solidFill>
                  <a:srgbClr val="000000"/>
                </a:solidFill>
                <a:latin typeface="Century Gothic"/>
                <a:cs typeface="Century Gothic"/>
              </a:rPr>
              <a:t>glm(treatment_uptake ~ age) gives the OR per ONE extra year.</a:t>
            </a:r>
          </a:p>
          <a:p>
            <a:pPr marL="0" indent="0" algn="l">
              <a:lnSpc>
                <a:spcPct val="108000"/>
              </a:lnSpc>
              <a:spcBef>
                <a:spcPts val="440"/>
              </a:spcBef>
              <a:buNone/>
            </a:pPr>
            <a:r>
              <a:rPr lang="en-US" sz="1800" dirty="0">
                <a:solidFill>
                  <a:srgbClr val="000000"/>
                </a:solidFill>
                <a:latin typeface="Century Gothic"/>
                <a:cs typeface="Century Gothic"/>
              </a:rPr>
              <a:t>That OR is close to 1 because one year is a tiny step.</a:t>
            </a:r>
          </a:p>
          <a:p>
            <a:pPr marL="0" indent="0" algn="l">
              <a:lnSpc>
                <a:spcPct val="108000"/>
              </a:lnSpc>
              <a:spcBef>
                <a:spcPts val="440"/>
              </a:spcBef>
              <a:buNone/>
            </a:pPr>
            <a:r>
              <a:rPr lang="en-US" sz="1800" dirty="0">
                <a:solidFill>
                  <a:srgbClr val="000000"/>
                </a:solidFill>
                <a:latin typeface="Century Gothic"/>
                <a:cs typeface="Century Gothic"/>
              </a:rPr>
              <a:t>Here about 1.03 per year - easy to overlook.</a:t>
            </a:r>
          </a:p>
          <a:p>
            <a:pPr>
              <a:buNone/>
            </a:pPr>
            <a:endParaRPr sz="1050"/>
          </a:p>
          <a:p>
            <a:pPr marL="0" indent="0" algn="l">
              <a:spcBef>
                <a:spcPts val="360"/>
              </a:spcBef>
              <a:buNone/>
            </a:pPr>
            <a:r>
              <a:rPr lang="en-US" sz="2050" b="1" dirty="0">
                <a:solidFill>
                  <a:srgbClr val="0D7377"/>
                </a:solidFill>
                <a:latin typeface="Century Gothic"/>
                <a:cs typeface="Century Gothic"/>
              </a:rPr>
              <a:t>Rescale to a meaningful unit</a:t>
            </a:r>
          </a:p>
          <a:p>
            <a:pPr marL="0" indent="0" algn="l">
              <a:lnSpc>
                <a:spcPct val="108000"/>
              </a:lnSpc>
              <a:spcBef>
                <a:spcPts val="440"/>
              </a:spcBef>
              <a:buNone/>
            </a:pPr>
            <a:r>
              <a:rPr lang="en-US" sz="1800" dirty="0">
                <a:solidFill>
                  <a:srgbClr val="000000"/>
                </a:solidFill>
                <a:latin typeface="Century Gothic"/>
                <a:cs typeface="Century Gothic"/>
              </a:rPr>
              <a:t>OR per 10 years = the 1-year OR raised to the power 10.</a:t>
            </a:r>
          </a:p>
          <a:p>
            <a:pPr marL="0" indent="0" algn="l">
              <a:lnSpc>
                <a:spcPct val="108000"/>
              </a:lnSpc>
              <a:spcBef>
                <a:spcPts val="440"/>
              </a:spcBef>
              <a:buNone/>
            </a:pPr>
            <a:r>
              <a:rPr lang="en-US" sz="1800" dirty="0">
                <a:solidFill>
                  <a:srgbClr val="000000"/>
                </a:solidFill>
                <a:latin typeface="Century Gothic"/>
                <a:cs typeface="Century Gothic"/>
              </a:rPr>
              <a:t>exp(coef(m_age)["age"] * 10) gives the per-decade OR.</a:t>
            </a:r>
          </a:p>
          <a:p>
            <a:pPr marL="0" indent="0" algn="l">
              <a:lnSpc>
                <a:spcPct val="108000"/>
              </a:lnSpc>
              <a:spcBef>
                <a:spcPts val="440"/>
              </a:spcBef>
              <a:buNone/>
            </a:pPr>
            <a:r>
              <a:rPr lang="en-US" sz="1800" dirty="0">
                <a:solidFill>
                  <a:srgbClr val="000000"/>
                </a:solidFill>
                <a:latin typeface="Century Gothic"/>
                <a:cs typeface="Century Gothic"/>
              </a:rPr>
              <a:t>1.03 per year becomes roughly 1.34 per decade.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Communicate in clinical units</a:t>
            </a:r>
          </a:p>
          <a:p>
            <a:pPr marL="0" indent="0" algn="l">
              <a:spcBef>
                <a:spcPts val="100"/>
              </a:spcBef>
              <a:buNone/>
            </a:pPr>
            <a:r>
              <a:rPr lang="en-US" sz="1300" dirty="0">
                <a:solidFill>
                  <a:srgbClr val="000000"/>
                </a:solidFill>
                <a:latin typeface="Century Gothic"/>
                <a:cs typeface="Century Gothic"/>
              </a:rPr>
              <a:t>Per decade is far easier for a clinical audience than per year.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Model Building: Clinical Knowledge First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Choose predictors before you look at p-values</a:t>
            </a:r>
          </a:p>
          <a:p>
            <a:pPr marL="0" indent="0" algn="l">
              <a:lnSpc>
                <a:spcPct val="108000"/>
              </a:lnSpc>
              <a:spcBef>
                <a:spcPts val="440"/>
              </a:spcBef>
              <a:buNone/>
            </a:pPr>
            <a:r>
              <a:rPr lang="en-US" sz="1800" dirty="0">
                <a:solidFill>
                  <a:srgbClr val="000000"/>
                </a:solidFill>
                <a:latin typeface="Century Gothic"/>
                <a:cs typeface="Century Gothic"/>
              </a:rPr>
              <a:t>Biological or clinical plausibility (diabetes drives clinic visits).</a:t>
            </a:r>
          </a:p>
          <a:p>
            <a:pPr marL="0" indent="0" algn="l">
              <a:lnSpc>
                <a:spcPct val="108000"/>
              </a:lnSpc>
              <a:spcBef>
                <a:spcPts val="440"/>
              </a:spcBef>
              <a:buNone/>
            </a:pPr>
            <a:r>
              <a:rPr lang="en-US" sz="1800" dirty="0">
                <a:solidFill>
                  <a:srgbClr val="000000"/>
                </a:solidFill>
                <a:latin typeface="Century Gothic"/>
                <a:cs typeface="Century Gothic"/>
              </a:rPr>
              <a:t>Known confounders from the literature (age, sex, education).</a:t>
            </a:r>
          </a:p>
          <a:p>
            <a:pPr marL="0" indent="0" algn="l">
              <a:lnSpc>
                <a:spcPct val="108000"/>
              </a:lnSpc>
              <a:spcBef>
                <a:spcPts val="440"/>
              </a:spcBef>
              <a:buNone/>
            </a:pPr>
            <a:r>
              <a:rPr lang="en-US" sz="1800" dirty="0">
                <a:solidFill>
                  <a:srgbClr val="000000"/>
                </a:solidFill>
                <a:latin typeface="Century Gothic"/>
                <a:cs typeface="Century Gothic"/>
              </a:rPr>
              <a:t>The study's stated determinants (distance, knowledge).</a:t>
            </a:r>
          </a:p>
          <a:p>
            <a:pPr>
              <a:buNone/>
            </a:pPr>
            <a:endParaRPr sz="1050"/>
          </a:p>
          <a:p>
            <a:pPr marL="0" indent="0" algn="l">
              <a:spcBef>
                <a:spcPts val="360"/>
              </a:spcBef>
              <a:buNone/>
            </a:pPr>
            <a:r>
              <a:rPr lang="en-US" sz="2050" b="1" dirty="0">
                <a:solidFill>
                  <a:srgbClr val="0D7377"/>
                </a:solidFill>
                <a:latin typeface="Century Gothic"/>
                <a:cs typeface="Century Gothic"/>
              </a:rPr>
              <a:t>Then fit ONE pre-specified model</a:t>
            </a:r>
          </a:p>
          <a:p>
            <a:pPr marL="0" indent="0" algn="l">
              <a:lnSpc>
                <a:spcPct val="108000"/>
              </a:lnSpc>
              <a:spcBef>
                <a:spcPts val="440"/>
              </a:spcBef>
              <a:buNone/>
            </a:pPr>
            <a:r>
              <a:rPr lang="en-US" sz="1800" dirty="0">
                <a:solidFill>
                  <a:srgbClr val="000000"/>
                </a:solidFill>
                <a:latin typeface="Century Gothic"/>
                <a:cs typeface="Century Gothic"/>
              </a:rPr>
              <a:t>Decide the variable list first, fit once, report it.</a:t>
            </a:r>
          </a:p>
          <a:p>
            <a:pPr marL="0" indent="0" algn="l">
              <a:lnSpc>
                <a:spcPct val="108000"/>
              </a:lnSpc>
              <a:spcBef>
                <a:spcPts val="440"/>
              </a:spcBef>
              <a:buNone/>
            </a:pPr>
            <a:r>
              <a:rPr lang="en-US" sz="1800" dirty="0">
                <a:solidFill>
                  <a:srgbClr val="000000"/>
                </a:solidFill>
                <a:latin typeface="Century Gothic"/>
                <a:cs typeface="Century Gothic"/>
              </a:rPr>
              <a:t>This is the honest, replicable approach for a determinants study.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Data dredging</a:t>
            </a:r>
          </a:p>
          <a:p>
            <a:pPr marL="0" indent="0" algn="l">
              <a:spcBef>
                <a:spcPts val="100"/>
              </a:spcBef>
              <a:buNone/>
            </a:pPr>
            <a:r>
              <a:rPr lang="en-US" sz="1300" dirty="0">
                <a:solidFill>
                  <a:srgbClr val="000000"/>
                </a:solidFill>
                <a:latin typeface="Century Gothic"/>
                <a:cs typeface="Century Gothic"/>
              </a:rPr>
              <a:t>Trying many models and reporting only significant ones inflates false positives.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Confounding: A Clinical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What confounding is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 third variable distorts the crude link between exposure and outcome.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Example: urban residents are younger and better insured.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Those factors also raise uptake - so crude residence looks too strong.</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Adjusting for them isolates the true residence effect.</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How we detect it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Compare the crude OR with the adjusted OR for residence.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If the estimate shifts noticeably (rule of thumb &gt;10%), confounding is present.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Always report and interpret the ADJUSTED odds ratio.</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adjusted urban OR in our model is 1.87 (1.41-2.49).</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Crude vs Adjusted OR for Residence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Fit a crude model, then compare with the full model.</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crude &lt;- glm(treatment_uptake ~ residence,</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full &lt;- glm(treatment_uptake ~ age + sex + education +</a:t>
            </a:r>
          </a:p>
          <a:p>
            <a:pPr marL="0" indent="0" algn="l">
              <a:lnSpc>
                <a:spcPct val="100000"/>
              </a:lnSpc>
              <a:buNone/>
            </a:pPr>
            <a:r>
              <a:rPr lang="en-US" sz="1300" dirty="0">
                <a:solidFill>
                  <a:srgbClr val="1B3A4B"/>
                </a:solidFill>
                <a:latin typeface="Consolas"/>
                <a:cs typeface="Consolas"/>
              </a:rPr>
              <a:t>             residence + diabetes + family_history_htn +</a:t>
            </a:r>
          </a:p>
          <a:p>
            <a:pPr marL="0" indent="0" algn="l">
              <a:lnSpc>
                <a:spcPct val="100000"/>
              </a:lnSpc>
              <a:buNone/>
            </a:pPr>
            <a:r>
              <a:rPr lang="en-US" sz="1300" dirty="0">
                <a:solidFill>
                  <a:srgbClr val="1B3A4B"/>
                </a:solidFill>
                <a:latin typeface="Consolas"/>
                <a:cs typeface="Consolas"/>
              </a:rPr>
              <a:t>             health_insurance + knowledge_score +</a:t>
            </a:r>
          </a:p>
          <a:p>
            <a:pPr marL="0" indent="0" algn="l">
              <a:lnSpc>
                <a:spcPct val="100000"/>
              </a:lnSpc>
              <a:buNone/>
            </a:pPr>
            <a:r>
              <a:rPr lang="en-US" sz="1300" dirty="0">
                <a:solidFill>
                  <a:srgbClr val="1B3A4B"/>
                </a:solidFill>
                <a:latin typeface="Consolas"/>
                <a:cs typeface="Consolas"/>
              </a:rPr>
              <a:t>             distance_to_facility_km,</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exp(coef(crude))["residenceUrban"]</a:t>
            </a:r>
          </a:p>
          <a:p>
            <a:pPr marL="0" indent="0" algn="l">
              <a:lnSpc>
                <a:spcPct val="100000"/>
              </a:lnSpc>
              <a:buNone/>
            </a:pPr>
            <a:r>
              <a:rPr lang="en-US" sz="1300" dirty="0">
                <a:solidFill>
                  <a:srgbClr val="1B3A4B"/>
                </a:solidFill>
                <a:latin typeface="Consolas"/>
                <a:cs typeface="Consolas"/>
              </a:rPr>
              <a:t>exp(coef(full))["residenceUrban"]</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2.34</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1.87</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The OR shrinks from 2.34 (crude) to 1.87 (adjusted): age and insurance were confounding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The Final Model and Tidy 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Fit once, then turn coefficients into odds ratios with CIs.</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model_final &lt;- full</a:t>
            </a:r>
          </a:p>
          <a:p>
            <a:pPr marL="0" indent="0" algn="l">
              <a:lnSpc>
                <a:spcPct val="100000"/>
              </a:lnSpc>
              <a:buNone/>
            </a:pPr>
            <a:r>
              <a:rPr lang="en-US" sz="1300" dirty="0">
                <a:solidFill>
                  <a:srgbClr val="1B3A4B"/>
                </a:solidFill>
                <a:latin typeface="Consolas"/>
                <a:cs typeface="Consolas"/>
              </a:rPr>
              <a:t>library(broom)</a:t>
            </a:r>
          </a:p>
          <a:p>
            <a:pPr marL="0" indent="0" algn="l">
              <a:lnSpc>
                <a:spcPct val="100000"/>
              </a:lnSpc>
              <a:buNone/>
            </a:pPr>
            <a:r>
              <a:rPr lang="en-US" sz="1300" dirty="0">
                <a:solidFill>
                  <a:srgbClr val="1B3A4B"/>
                </a:solidFill>
                <a:latin typeface="Consolas"/>
                <a:cs typeface="Consolas"/>
              </a:rPr>
              <a:t>or_table &lt;- tidy(model_final,</a:t>
            </a:r>
          </a:p>
          <a:p>
            <a:pPr marL="0" indent="0" algn="l">
              <a:lnSpc>
                <a:spcPct val="100000"/>
              </a:lnSpc>
              <a:buNone/>
            </a:pPr>
            <a:r>
              <a:rPr lang="en-US" sz="1300" dirty="0">
                <a:solidFill>
                  <a:srgbClr val="1B3A4B"/>
                </a:solidFill>
                <a:latin typeface="Consolas"/>
                <a:cs typeface="Consolas"/>
              </a:rPr>
              <a:t>                 exponentiate = TRUE,</a:t>
            </a:r>
          </a:p>
          <a:p>
            <a:pPr marL="0" indent="0" algn="l">
              <a:lnSpc>
                <a:spcPct val="100000"/>
              </a:lnSpc>
              <a:buNone/>
            </a:pPr>
            <a:r>
              <a:rPr lang="en-US" sz="1300" dirty="0">
                <a:solidFill>
                  <a:srgbClr val="1B3A4B"/>
                </a:solidFill>
                <a:latin typeface="Consolas"/>
                <a:cs typeface="Consolas"/>
              </a:rPr>
              <a:t>                 conf.int = TRUE)</a:t>
            </a:r>
          </a:p>
          <a:p>
            <a:pPr marL="0" indent="0" algn="l">
              <a:lnSpc>
                <a:spcPct val="100000"/>
              </a:lnSpc>
              <a:buNone/>
            </a:pPr>
            <a:r>
              <a:rPr lang="en-US" sz="1300" dirty="0">
                <a:solidFill>
                  <a:srgbClr val="1B3A4B"/>
                </a:solidFill>
                <a:latin typeface="Consolas"/>
                <a:cs typeface="Consolas"/>
              </a:rPr>
              <a:t>print(or_table, n = Inf)</a:t>
            </a:r>
          </a:p>
        </p:txBody>
      </p:sp>
      <p:sp>
        <p:nvSpPr>
          <p:cNvPr id="31" name="Output"/>
          <p:cNvSpPr/>
          <p:nvPr/>
        </p:nvSpPr>
        <p:spPr>
          <a:xfrm>
            <a:off x="457200" y="323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term            estimate conf.low conf.high</a:t>
            </a:r>
          </a:p>
          <a:p>
            <a:pPr marL="0" indent="0" algn="l">
              <a:lnSpc>
                <a:spcPct val="100000"/>
              </a:lnSpc>
              <a:buNone/>
            </a:pPr>
            <a:r>
              <a:rPr lang="en-US" sz="1250" dirty="0">
                <a:solidFill>
                  <a:srgbClr val="1A1A1A"/>
                </a:solidFill>
                <a:latin typeface="Consolas"/>
                <a:cs typeface="Consolas"/>
              </a:rPr>
              <a:t>diabetesYes        3.56     1.46      9.61</a:t>
            </a:r>
          </a:p>
          <a:p>
            <a:pPr marL="0" indent="0" algn="l">
              <a:lnSpc>
                <a:spcPct val="100000"/>
              </a:lnSpc>
              <a:buNone/>
            </a:pPr>
            <a:r>
              <a:rPr lang="en-US" sz="1250" dirty="0">
                <a:solidFill>
                  <a:srgbClr val="1A1A1A"/>
                </a:solidFill>
                <a:latin typeface="Consolas"/>
                <a:cs typeface="Consolas"/>
              </a:rPr>
              <a:t>health_insuranceYes 2.05    1.54      2.74</a:t>
            </a:r>
          </a:p>
          <a:p>
            <a:pPr marL="0" indent="0" algn="l">
              <a:lnSpc>
                <a:spcPct val="100000"/>
              </a:lnSpc>
              <a:buNone/>
            </a:pPr>
            <a:r>
              <a:rPr lang="en-US" sz="1250" dirty="0">
                <a:solidFill>
                  <a:srgbClr val="1A1A1A"/>
                </a:solidFill>
                <a:latin typeface="Consolas"/>
                <a:cs typeface="Consolas"/>
              </a:rPr>
              <a:t>residenceUrban     1.87     1.41      2.49</a:t>
            </a:r>
          </a:p>
          <a:p>
            <a:pPr marL="0" indent="0" algn="l">
              <a:lnSpc>
                <a:spcPct val="100000"/>
              </a:lnSpc>
              <a:buNone/>
            </a:pPr>
            <a:r>
              <a:rPr lang="en-US" sz="1250" dirty="0">
                <a:solidFill>
                  <a:srgbClr val="1A1A1A"/>
                </a:solidFill>
                <a:latin typeface="Consolas"/>
                <a:cs typeface="Consolas"/>
              </a:rPr>
              <a:t>age                1.03     1.02      1.04</a:t>
            </a:r>
          </a:p>
        </p:txBody>
      </p:sp>
      <p:sp>
        <p:nvSpPr>
          <p:cNvPr id="32" name="Note"/>
          <p:cNvSpPr/>
          <p:nvPr/>
        </p:nvSpPr>
        <p:spPr>
          <a:xfrm>
            <a:off x="457200" y="46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exponentiate = TRUE gives ORs; conf.int = TRUE adds 95% CIs - the exact table your reader needs.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Final Multivariable Model: Adjusted 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380000">
                <a:tc>
                  <a:txBody>
                    <a:bodyPr/>
                    <a:lstStyle/>
                    <a:p>
                      <a:pPr algn="l"/>
                      <a:r>
                        <a:rPr lang="en-US" sz="1300" b="1" dirty="0">
                          <a:solidFill>
                            <a:srgbClr val="FFFFFF"/>
                          </a:solidFill>
                          <a:latin typeface="Century Gothic"/>
                        </a:rPr>
                        <a:t>Predictor</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aOR</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95% CI</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p</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Century Gothic"/>
                        </a:rPr>
                        <a:t>Age (per year)</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1.03</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1.02-1.04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Century Gothic"/>
                        </a:rPr>
                        <a:t>Sex: Male (vs Female)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0.74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0.56-0.97</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0.031</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Century Gothic"/>
                        </a:rPr>
                        <a:t>Education (linear trend)</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1.96</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1.39-2.77</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Century Gothic"/>
                        </a:rPr>
                        <a:t>Residence: Urban (vs Rural)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1.87</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1.41-2.49</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Century Gothic"/>
                        </a:rPr>
                        <a:t>Diabetes: Yes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3.56</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1.46-9.61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0.007</a:t>
                      </a:r>
                    </a:p>
                  </a:txBody>
                  <a:tcPr marL="73152" marR="73152" marT="36576" marB="36576" anchor="ctr">
                    <a:solidFill>
                      <a:srgbClr val="FFFFFF"/>
                    </a:solidFill>
                  </a:tcPr>
                </a:tc>
                <a:extLst>
                  <a:ext uri="{0D108BD9-81ED-4DB2-BD59-A6C34878D82A}">
                    <a16:rowId xmlns:a16="http://schemas.microsoft.com/office/drawing/2014/main" val="10005"/>
                  </a:ext>
                </a:extLst>
              </a:tr>
              <a:tr h="380000">
                <a:tc>
                  <a:txBody>
                    <a:bodyPr/>
                    <a:lstStyle/>
                    <a:p>
                      <a:pPr algn="l"/>
                      <a:r>
                        <a:rPr lang="en-US" sz="1300" b="0" dirty="0">
                          <a:solidFill>
                            <a:srgbClr val="000000"/>
                          </a:solidFill>
                          <a:latin typeface="Century Gothic"/>
                        </a:rPr>
                        <a:t>Health insurance: Yes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2.05</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1.54-2.74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extLst>
                  <a:ext uri="{0D108BD9-81ED-4DB2-BD59-A6C34878D82A}">
                    <a16:rowId xmlns:a16="http://schemas.microsoft.com/office/drawing/2014/main" val="10006"/>
                  </a:ext>
                </a:extLst>
              </a:tr>
              <a:tr h="380000">
                <a:tc>
                  <a:txBody>
                    <a:bodyPr/>
                    <a:lstStyle/>
                    <a:p>
                      <a:pPr algn="l"/>
                      <a:r>
                        <a:rPr lang="en-US" sz="1300" b="0" dirty="0">
                          <a:solidFill>
                            <a:srgbClr val="000000"/>
                          </a:solidFill>
                          <a:latin typeface="Century Gothic"/>
                        </a:rPr>
                        <a:t>Distance to facility (per km)</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0.98</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0.96-1.01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0.128</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Logistic regression; n = 992 complete cases; AUC = 0.71. Family history aOR 1.91 (1.44-2.54); knowledge 1.10 (1.06-1.14) per point.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Visualising the Adjusted 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Each point is an adjusted odds ratio.</a:t>
            </a:r>
          </a:p>
          <a:p>
            <a:pPr marL="274320" indent="-274320" algn="l">
              <a:spcBef>
                <a:spcPts val="440"/>
              </a:spcBef>
              <a:buFont typeface="Arial"/>
              <a:buChar char="•"/>
            </a:pPr>
            <a:r>
              <a:rPr lang="en-US" sz="1450" dirty="0">
                <a:solidFill>
                  <a:srgbClr val="000000"/>
                </a:solidFill>
                <a:latin typeface="Century Gothic"/>
                <a:cs typeface="Century Gothic"/>
              </a:rPr>
              <a:t>Whiskers are the 95% confidence intervals.</a:t>
            </a:r>
          </a:p>
          <a:p>
            <a:pPr marL="274320" indent="-274320" algn="l">
              <a:spcBef>
                <a:spcPts val="440"/>
              </a:spcBef>
              <a:buFont typeface="Arial"/>
              <a:buChar char="•"/>
            </a:pPr>
            <a:r>
              <a:rPr lang="en-US" sz="1450" dirty="0">
                <a:solidFill>
                  <a:srgbClr val="000000"/>
                </a:solidFill>
                <a:latin typeface="Century Gothic"/>
                <a:cs typeface="Century Gothic"/>
              </a:rPr>
              <a:t>Dashed line at 1 = no effect.</a:t>
            </a:r>
          </a:p>
          <a:p>
            <a:pPr marL="274320" indent="-274320" algn="l">
              <a:spcBef>
                <a:spcPts val="440"/>
              </a:spcBef>
              <a:buFont typeface="Arial"/>
              <a:buChar char="•"/>
            </a:pPr>
            <a:r>
              <a:rPr lang="en-US" sz="1450" dirty="0">
                <a:solidFill>
                  <a:srgbClr val="000000"/>
                </a:solidFill>
                <a:latin typeface="Century Gothic"/>
                <a:cs typeface="Century Gothic"/>
              </a:rPr>
              <a:t>Right of 1 increases uptake; left decreases it.</a:t>
            </a:r>
          </a:p>
          <a:p>
            <a:pPr marL="274320" indent="-274320" algn="l">
              <a:spcBef>
                <a:spcPts val="440"/>
              </a:spcBef>
              <a:buFont typeface="Arial"/>
              <a:buChar char="•"/>
            </a:pPr>
            <a:r>
              <a:rPr lang="en-US" sz="1450" dirty="0">
                <a:solidFill>
                  <a:srgbClr val="000000"/>
                </a:solidFill>
                <a:latin typeface="Century Gothic"/>
                <a:cs typeface="Century Gothic"/>
              </a:rPr>
              <a:t>Diabetes sits farthest right - largest effect.</a:t>
            </a:r>
          </a:p>
          <a:p>
            <a:pPr marL="274320" indent="-274320" algn="l">
              <a:spcBef>
                <a:spcPts val="440"/>
              </a:spcBef>
              <a:buFont typeface="Arial"/>
              <a:buChar char="•"/>
            </a:pPr>
            <a:r>
              <a:rPr lang="en-US" sz="1450" dirty="0">
                <a:solidFill>
                  <a:srgbClr val="000000"/>
                </a:solidFill>
                <a:latin typeface="Century Gothic"/>
                <a:cs typeface="Century Gothic"/>
              </a:rPr>
              <a:t>Distance crosses 1 - not significant.</a:t>
            </a:r>
          </a:p>
        </p:txBody>
      </p:sp>
      <p:pic>
        <p:nvPicPr>
          <p:cNvPr id="25" name="Figure"/>
          <p:cNvPicPr>
            <a:picLocks noChangeAspect="1"/>
          </p:cNvPicPr>
          <p:nvPr/>
        </p:nvPicPr>
        <p:blipFill>
          <a:blip r:embed="rId3"/>
          <a:stretch>
            <a:fillRect/>
          </a:stretch>
        </p:blipFill>
        <p:spPr>
          <a:xfrm>
            <a:off x="4307200" y="1150000"/>
            <a:ext cx="6217948"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4"/>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Publication-Ready Table and Forest Plot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Build a journal-style table, then save the figure.</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tbl &lt;- tbl_regression(model_final,</a:t>
            </a:r>
          </a:p>
          <a:p>
            <a:pPr marL="0" indent="0" algn="l">
              <a:lnSpc>
                <a:spcPct val="100000"/>
              </a:lnSpc>
              <a:buNone/>
            </a:pPr>
            <a:r>
              <a:rPr lang="en-US" sz="1300" dirty="0">
                <a:solidFill>
                  <a:srgbClr val="1B3A4B"/>
                </a:solidFill>
                <a:latin typeface="Consolas"/>
                <a:cs typeface="Consolas"/>
              </a:rPr>
              <a:t>                      exponentiate = TRUE) |&gt;</a:t>
            </a:r>
          </a:p>
          <a:p>
            <a:pPr marL="0" indent="0" algn="l">
              <a:lnSpc>
                <a:spcPct val="100000"/>
              </a:lnSpc>
              <a:buNone/>
            </a:pPr>
            <a:r>
              <a:rPr lang="en-US" sz="1300" dirty="0">
                <a:solidFill>
                  <a:srgbClr val="1B3A4B"/>
                </a:solidFill>
                <a:latin typeface="Consolas"/>
                <a:cs typeface="Consolas"/>
              </a:rPr>
              <a:t>  bold_p()</a:t>
            </a:r>
          </a:p>
          <a:p>
            <a:pPr marL="0" indent="0" algn="l">
              <a:lnSpc>
                <a:spcPct val="100000"/>
              </a:lnSpc>
              <a:buNone/>
            </a:pPr>
            <a:r>
              <a:rPr lang="en-US" sz="1300" dirty="0">
                <a:solidFill>
                  <a:srgbClr val="1B3A4B"/>
                </a:solidFill>
                <a:latin typeface="Consolas"/>
                <a:cs typeface="Consolas"/>
              </a:rPr>
              <a:t>tbl</a:t>
            </a:r>
          </a:p>
          <a:p>
            <a:pPr marL="0" indent="0" algn="l">
              <a:lnSpc>
                <a:spcPct val="100000"/>
              </a:lnSpc>
              <a:buNone/>
            </a:pPr>
            <a:r>
              <a:rPr lang="en-US" sz="1300" dirty="0">
                <a:solidFill>
                  <a:srgbClr val="1B3A4B"/>
                </a:solidFill>
                <a:latin typeface="Consolas"/>
                <a:cs typeface="Consolas"/>
              </a:rPr>
              <a:t># save the forest plot built from or_table</a:t>
            </a:r>
          </a:p>
          <a:p>
            <a:pPr marL="0" indent="0" algn="l">
              <a:lnSpc>
                <a:spcPct val="100000"/>
              </a:lnSpc>
              <a:buNone/>
            </a:pPr>
            <a:r>
              <a:rPr lang="en-US" sz="1300" dirty="0">
                <a:solidFill>
                  <a:srgbClr val="1B3A4B"/>
                </a:solidFill>
                <a:latin typeface="Consolas"/>
                <a:cs typeface="Consolas"/>
              </a:rPr>
              <a:t>ggsave("Resources/forest_plot_or.png",</a:t>
            </a:r>
          </a:p>
          <a:p>
            <a:pPr marL="0" indent="0" algn="l">
              <a:lnSpc>
                <a:spcPct val="100000"/>
              </a:lnSpc>
              <a:buNone/>
            </a:pPr>
            <a:r>
              <a:rPr lang="en-US" sz="1300" dirty="0">
                <a:solidFill>
                  <a:srgbClr val="1B3A4B"/>
                </a:solidFill>
                <a:latin typeface="Consolas"/>
                <a:cs typeface="Consolas"/>
              </a:rPr>
              <a:t>       plot = forest, width = 8, height = 5, dpi = 300)</a:t>
            </a:r>
          </a:p>
        </p:txBody>
      </p:sp>
      <p:sp>
        <p:nvSpPr>
          <p:cNvPr id="32" name="Note"/>
          <p:cNvSpPr/>
          <p:nvPr/>
        </p:nvSpPr>
        <p:spPr>
          <a:xfrm>
            <a:off x="457200" y="36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tbl_regression reads the model directly - no manual copying - and ggsave exports the figure for the manuscript.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Exporting Outputs for the Manuscript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Save tables</a:t>
            </a:r>
          </a:p>
          <a:p>
            <a:pPr marL="0" indent="0" algn="l">
              <a:lnSpc>
                <a:spcPct val="108000"/>
              </a:lnSpc>
              <a:spcBef>
                <a:spcPts val="440"/>
              </a:spcBef>
              <a:buNone/>
            </a:pPr>
            <a:r>
              <a:rPr lang="en-US" sz="1800" dirty="0">
                <a:solidFill>
                  <a:srgbClr val="000000"/>
                </a:solidFill>
                <a:latin typeface="Century Gothic"/>
                <a:cs typeface="Century Gothic"/>
              </a:rPr>
              <a:t>gtsummary: as_gt(tbl) then gtsave() writes HTML, PNG or Word.</a:t>
            </a:r>
          </a:p>
          <a:p>
            <a:pPr marL="0" indent="0" algn="l">
              <a:lnSpc>
                <a:spcPct val="108000"/>
              </a:lnSpc>
              <a:spcBef>
                <a:spcPts val="440"/>
              </a:spcBef>
              <a:buNone/>
            </a:pPr>
            <a:r>
              <a:rPr lang="en-US" sz="1800" dirty="0">
                <a:solidFill>
                  <a:srgbClr val="000000"/>
                </a:solidFill>
                <a:latin typeface="Century Gothic"/>
                <a:cs typeface="Century Gothic"/>
              </a:rPr>
              <a:t>Fallback: write_csv(or_table, "Resources/regression_table.csv").</a:t>
            </a:r>
          </a:p>
          <a:p>
            <a:pPr>
              <a:buNone/>
            </a:pPr>
            <a:endParaRPr sz="1050"/>
          </a:p>
          <a:p>
            <a:pPr marL="0" indent="0" algn="l">
              <a:spcBef>
                <a:spcPts val="360"/>
              </a:spcBef>
              <a:buNone/>
            </a:pPr>
            <a:r>
              <a:rPr lang="en-US" sz="2050" b="1" dirty="0">
                <a:solidFill>
                  <a:srgbClr val="0D7377"/>
                </a:solidFill>
                <a:latin typeface="Century Gothic"/>
                <a:cs typeface="Century Gothic"/>
              </a:rPr>
              <a:t>Save figures</a:t>
            </a:r>
          </a:p>
          <a:p>
            <a:pPr marL="0" indent="0" algn="l">
              <a:lnSpc>
                <a:spcPct val="108000"/>
              </a:lnSpc>
              <a:spcBef>
                <a:spcPts val="440"/>
              </a:spcBef>
              <a:buNone/>
            </a:pPr>
            <a:r>
              <a:rPr lang="en-US" sz="1800" dirty="0">
                <a:solidFill>
                  <a:srgbClr val="000000"/>
                </a:solidFill>
                <a:latin typeface="Century Gothic"/>
                <a:cs typeface="Century Gothic"/>
              </a:rPr>
              <a:t>ggsave() writes the forest plot at a fixed size and resolution.</a:t>
            </a:r>
          </a:p>
          <a:p>
            <a:pPr marL="0" indent="0" algn="l">
              <a:lnSpc>
                <a:spcPct val="108000"/>
              </a:lnSpc>
              <a:spcBef>
                <a:spcPts val="440"/>
              </a:spcBef>
              <a:buNone/>
            </a:pPr>
            <a:r>
              <a:rPr lang="en-US" sz="1800" dirty="0">
                <a:solidFill>
                  <a:srgbClr val="000000"/>
                </a:solidFill>
                <a:latin typeface="Century Gothic"/>
                <a:cs typeface="Century Gothic"/>
              </a:rPr>
              <a:t>Use dpi = 300 for print-quality figures in journals.</a:t>
            </a:r>
          </a:p>
          <a:p>
            <a:pPr>
              <a:buNone/>
            </a:pPr>
            <a:endParaRPr sz="1050"/>
          </a:p>
          <a:p>
            <a:pPr marL="0" indent="0" algn="l">
              <a:spcBef>
                <a:spcPts val="360"/>
              </a:spcBef>
              <a:buNone/>
            </a:pPr>
            <a:r>
              <a:rPr lang="en-US" sz="2050" b="1" dirty="0">
                <a:solidFill>
                  <a:srgbClr val="0D7377"/>
                </a:solidFill>
                <a:latin typeface="Century Gothic"/>
                <a:cs typeface="Century Gothic"/>
              </a:rPr>
              <a:t>Why export from code</a:t>
            </a:r>
          </a:p>
          <a:p>
            <a:pPr marL="0" indent="0" algn="l">
              <a:lnSpc>
                <a:spcPct val="108000"/>
              </a:lnSpc>
              <a:spcBef>
                <a:spcPts val="440"/>
              </a:spcBef>
              <a:buNone/>
            </a:pPr>
            <a:r>
              <a:rPr lang="en-US" sz="1800" dirty="0">
                <a:solidFill>
                  <a:srgbClr val="000000"/>
                </a:solidFill>
                <a:latin typeface="Century Gothic"/>
                <a:cs typeface="Century Gothic"/>
              </a:rPr>
              <a:t>The report can be rebuilt from raw data with no manual steps.</a:t>
            </a:r>
          </a:p>
          <a:p>
            <a:pPr marL="0" indent="0" algn="l">
              <a:lnSpc>
                <a:spcPct val="108000"/>
              </a:lnSpc>
              <a:spcBef>
                <a:spcPts val="440"/>
              </a:spcBef>
              <a:buNone/>
            </a:pPr>
            <a:r>
              <a:rPr lang="en-US" sz="1800" dirty="0">
                <a:solidFill>
                  <a:srgbClr val="000000"/>
                </a:solidFill>
                <a:latin typeface="Century Gothic"/>
                <a:cs typeface="Century Gothic"/>
              </a:rPr>
              <a:t>No copy-paste means no transcription errors.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Keep a Resources/ folder</a:t>
            </a:r>
          </a:p>
          <a:p>
            <a:pPr marL="0" indent="0" algn="l">
              <a:spcBef>
                <a:spcPts val="100"/>
              </a:spcBef>
              <a:buNone/>
            </a:pPr>
            <a:r>
              <a:rPr lang="en-US" sz="1300" dirty="0">
                <a:solidFill>
                  <a:srgbClr val="000000"/>
                </a:solidFill>
                <a:latin typeface="Century Gothic"/>
                <a:cs typeface="Century Gothic"/>
              </a:rPr>
              <a:t>Send every table and figure there so outputs live in one place.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From Odds Ratios to Prose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The numbers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Diabetes: aOR 3.56 (1.46-9.61).</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Insurance: aOR 2.05 (1.54-2.74).</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Urban: aOR 1.87 (1.41-2.49).</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Education trend: aOR 1.96 (1.39-2.77).</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Male sex: aOR 0.74 (0.56-0.97).</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Distance: aOR 0.98 (0.96-1.01), NS.</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Turning each OR into a sentence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State direction, size, comparison group and CI.</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OR&gt;1: 'X times the odds of uptake'.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OR&lt;1: 'lower odds' - here men vs women.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Continuous: 'per 1-unit increase'.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Name the reference group explicitly.</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 NS findings honestly, with the CI.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Worked Example: A Results Paragraph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Model results paragraph</a:t>
            </a:r>
          </a:p>
          <a:p>
            <a:pPr marL="0" indent="0" algn="l">
              <a:lnSpc>
                <a:spcPct val="108000"/>
              </a:lnSpc>
              <a:spcBef>
                <a:spcPts val="440"/>
              </a:spcBef>
              <a:buNone/>
            </a:pPr>
            <a:r>
              <a:rPr lang="en-US" sz="1800" dirty="0">
                <a:solidFill>
                  <a:srgbClr val="000000"/>
                </a:solidFill>
                <a:latin typeface="Century Gothic"/>
                <a:cs typeface="Century Gothic"/>
              </a:rPr>
              <a:t>Among 992 diagnosed hypertensives, treatment uptake was independently</a:t>
            </a:r>
          </a:p>
          <a:p>
            <a:pPr marL="0" indent="0" algn="l">
              <a:lnSpc>
                <a:spcPct val="108000"/>
              </a:lnSpc>
              <a:spcBef>
                <a:spcPts val="440"/>
              </a:spcBef>
              <a:buNone/>
            </a:pPr>
            <a:r>
              <a:rPr lang="en-US" sz="1800" dirty="0">
                <a:solidFill>
                  <a:srgbClr val="000000"/>
                </a:solidFill>
                <a:latin typeface="Century Gothic"/>
                <a:cs typeface="Century Gothic"/>
              </a:rPr>
              <a:t>associated with diabetes (aOR 3.56, 95% CI 1.46-9.61), health insurance</a:t>
            </a:r>
          </a:p>
          <a:p>
            <a:pPr marL="0" indent="0" algn="l">
              <a:lnSpc>
                <a:spcPct val="108000"/>
              </a:lnSpc>
              <a:spcBef>
                <a:spcPts val="440"/>
              </a:spcBef>
              <a:buNone/>
            </a:pPr>
            <a:r>
              <a:rPr lang="en-US" sz="1800" dirty="0">
                <a:solidFill>
                  <a:srgbClr val="000000"/>
                </a:solidFill>
                <a:latin typeface="Century Gothic"/>
                <a:cs typeface="Century Gothic"/>
              </a:rPr>
              <a:t>(2.05, 1.54-2.74), urban residence (1.87, 1.41-2.49) and higher education</a:t>
            </a:r>
          </a:p>
          <a:p>
            <a:pPr marL="0" indent="0" algn="l">
              <a:lnSpc>
                <a:spcPct val="108000"/>
              </a:lnSpc>
              <a:spcBef>
                <a:spcPts val="440"/>
              </a:spcBef>
              <a:buNone/>
            </a:pPr>
            <a:r>
              <a:rPr lang="en-US" sz="1800" dirty="0">
                <a:solidFill>
                  <a:srgbClr val="000000"/>
                </a:solidFill>
                <a:latin typeface="Century Gothic"/>
                <a:cs typeface="Century Gothic"/>
              </a:rPr>
              <a:t>(1.96, 1.39-2.77). Older age (1.03 per year) and greater knowledge (1.10</a:t>
            </a:r>
          </a:p>
          <a:p>
            <a:pPr marL="0" indent="0" algn="l">
              <a:lnSpc>
                <a:spcPct val="108000"/>
              </a:lnSpc>
              <a:spcBef>
                <a:spcPts val="440"/>
              </a:spcBef>
              <a:buNone/>
            </a:pPr>
            <a:r>
              <a:rPr lang="en-US" sz="1800" dirty="0">
                <a:solidFill>
                  <a:srgbClr val="000000"/>
                </a:solidFill>
                <a:latin typeface="Century Gothic"/>
                <a:cs typeface="Century Gothic"/>
              </a:rPr>
              <a:t>per point) also raised the odds, while men had lower odds than women</a:t>
            </a:r>
          </a:p>
          <a:p>
            <a:pPr marL="0" indent="0" algn="l">
              <a:lnSpc>
                <a:spcPct val="108000"/>
              </a:lnSpc>
              <a:spcBef>
                <a:spcPts val="440"/>
              </a:spcBef>
              <a:buNone/>
            </a:pPr>
            <a:r>
              <a:rPr lang="en-US" sz="1800" dirty="0">
                <a:solidFill>
                  <a:srgbClr val="000000"/>
                </a:solidFill>
                <a:latin typeface="Century Gothic"/>
                <a:cs typeface="Century Gothic"/>
              </a:rPr>
              <a:t>(0.74, 0.56-0.97). Distance to facility was not significant (0.98,</a:t>
            </a:r>
          </a:p>
          <a:p>
            <a:pPr marL="0" indent="0" algn="l">
              <a:lnSpc>
                <a:spcPct val="108000"/>
              </a:lnSpc>
              <a:spcBef>
                <a:spcPts val="440"/>
              </a:spcBef>
              <a:buNone/>
            </a:pPr>
            <a:r>
              <a:rPr lang="en-US" sz="1800" dirty="0">
                <a:solidFill>
                  <a:srgbClr val="000000"/>
                </a:solidFill>
                <a:latin typeface="Century Gothic"/>
                <a:cs typeface="Century Gothic"/>
              </a:rPr>
              <a:t>0.96-1.01). The model discriminated acceptably (AUC 0.71).</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Always close with discrimination</a:t>
            </a:r>
          </a:p>
          <a:p>
            <a:pPr marL="0" indent="0" algn="l">
              <a:spcBef>
                <a:spcPts val="100"/>
              </a:spcBef>
              <a:buNone/>
            </a:pPr>
            <a:r>
              <a:rPr lang="en-US" sz="1300" dirty="0">
                <a:solidFill>
                  <a:srgbClr val="000000"/>
                </a:solidFill>
                <a:latin typeface="Century Gothic"/>
                <a:cs typeface="Century Gothic"/>
              </a:rPr>
              <a:t>Reporting the AUC tells the reader how well the model separates uptake from non-uptake.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Reproducibility: The Capstone Message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Make your work re-runnable by anyone</a:t>
            </a:r>
          </a:p>
          <a:p>
            <a:pPr marL="0" indent="0" algn="l">
              <a:lnSpc>
                <a:spcPct val="108000"/>
              </a:lnSpc>
              <a:spcBef>
                <a:spcPts val="440"/>
              </a:spcBef>
              <a:buNone/>
            </a:pPr>
            <a:r>
              <a:rPr lang="en-US" sz="1800" dirty="0">
                <a:solidFill>
                  <a:srgbClr val="000000"/>
                </a:solidFill>
                <a:latin typeface="Century Gothic"/>
                <a:cs typeface="Century Gothic"/>
              </a:rPr>
              <a:t>Scripts over click-menus: the code is the permanent record.</a:t>
            </a:r>
          </a:p>
          <a:p>
            <a:pPr marL="0" indent="0" algn="l">
              <a:lnSpc>
                <a:spcPct val="108000"/>
              </a:lnSpc>
              <a:spcBef>
                <a:spcPts val="440"/>
              </a:spcBef>
              <a:buNone/>
            </a:pPr>
            <a:r>
              <a:rPr lang="en-US" sz="1800" dirty="0">
                <a:solidFill>
                  <a:srgbClr val="000000"/>
                </a:solidFill>
                <a:latin typeface="Century Gothic"/>
                <a:cs typeface="Century Gothic"/>
              </a:rPr>
              <a:t>set.seed() makes any randomness (bootstraps, splits) repeatable.</a:t>
            </a:r>
          </a:p>
          <a:p>
            <a:pPr marL="0" indent="0" algn="l">
              <a:lnSpc>
                <a:spcPct val="108000"/>
              </a:lnSpc>
              <a:spcBef>
                <a:spcPts val="440"/>
              </a:spcBef>
              <a:buNone/>
            </a:pPr>
            <a:r>
              <a:rPr lang="en-US" sz="1800" dirty="0">
                <a:solidFill>
                  <a:srgbClr val="000000"/>
                </a:solidFill>
                <a:latin typeface="Century Gothic"/>
                <a:cs typeface="Century Gothic"/>
              </a:rPr>
              <a:t>Use RStudio Projects and relative paths - never C:/Users/yourname/...</a:t>
            </a:r>
          </a:p>
          <a:p>
            <a:pPr marL="0" indent="0" algn="l">
              <a:lnSpc>
                <a:spcPct val="108000"/>
              </a:lnSpc>
              <a:spcBef>
                <a:spcPts val="440"/>
              </a:spcBef>
              <a:buNone/>
            </a:pPr>
            <a:r>
              <a:rPr lang="en-US" sz="1800" dirty="0">
                <a:solidFill>
                  <a:srgbClr val="000000"/>
                </a:solidFill>
                <a:latin typeface="Century Gothic"/>
                <a:cs typeface="Century Gothic"/>
              </a:rPr>
              <a:t>Save every table and figure to disk so the report rebuilds from code.</a:t>
            </a:r>
          </a:p>
          <a:p>
            <a:pPr>
              <a:buNone/>
            </a:pPr>
            <a:endParaRPr sz="1050"/>
          </a:p>
          <a:p>
            <a:pPr marL="0" indent="0" algn="l">
              <a:spcBef>
                <a:spcPts val="360"/>
              </a:spcBef>
              <a:buNone/>
            </a:pPr>
            <a:r>
              <a:rPr lang="en-US" sz="2050" b="1" dirty="0">
                <a:solidFill>
                  <a:srgbClr val="0D7377"/>
                </a:solidFill>
                <a:latin typeface="Century Gothic"/>
                <a:cs typeface="Century Gothic"/>
              </a:rPr>
              <a:t>Record and share your environment</a:t>
            </a:r>
          </a:p>
          <a:p>
            <a:pPr marL="0" indent="0" algn="l">
              <a:lnSpc>
                <a:spcPct val="108000"/>
              </a:lnSpc>
              <a:spcBef>
                <a:spcPts val="440"/>
              </a:spcBef>
              <a:buNone/>
            </a:pPr>
            <a:r>
              <a:rPr lang="en-US" sz="1800" dirty="0">
                <a:solidFill>
                  <a:srgbClr val="000000"/>
                </a:solidFill>
                <a:latin typeface="Century Gothic"/>
                <a:cs typeface="Century Gothic"/>
              </a:rPr>
              <a:t>sessionInfo() captures your exact R and package versions.</a:t>
            </a:r>
          </a:p>
          <a:p>
            <a:pPr marL="0" indent="0" algn="l">
              <a:lnSpc>
                <a:spcPct val="108000"/>
              </a:lnSpc>
              <a:spcBef>
                <a:spcPts val="440"/>
              </a:spcBef>
              <a:buNone/>
            </a:pPr>
            <a:r>
              <a:rPr lang="en-US" sz="1800" dirty="0">
                <a:solidFill>
                  <a:srgbClr val="000000"/>
                </a:solidFill>
                <a:latin typeface="Century Gothic"/>
                <a:cs typeface="Century Gothic"/>
              </a:rPr>
              <a:t>R Markdown / Quarto knit code, text and figures into one report.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Best practice</a:t>
            </a:r>
          </a:p>
          <a:p>
            <a:pPr marL="0" indent="0" algn="l">
              <a:spcBef>
                <a:spcPts val="100"/>
              </a:spcBef>
              <a:buNone/>
            </a:pPr>
            <a:r>
              <a:rPr lang="en-US" sz="1300" dirty="0">
                <a:solidFill>
                  <a:srgbClr val="000000"/>
                </a:solidFill>
                <a:latin typeface="Century Gothic"/>
                <a:cs typeface="Century Gothic"/>
              </a:rPr>
              <a:t>One click should rebuild the whole report from raw data to PDF.</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A Reproducibility Snippet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Seed, relative path, and a recorded environment.</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set.seed(2025)</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dx &lt;- filter(analysis_data, htn_diagnosed == "Yes")</a:t>
            </a:r>
          </a:p>
          <a:p>
            <a:pPr marL="0" indent="0" algn="l">
              <a:lnSpc>
                <a:spcPct val="100000"/>
              </a:lnSpc>
              <a:buNone/>
            </a:pPr>
            <a:r>
              <a:rPr lang="en-US" sz="1300" dirty="0">
                <a:solidFill>
                  <a:srgbClr val="1B3A4B"/>
                </a:solidFill>
                <a:latin typeface="Consolas"/>
                <a:cs typeface="Consolas"/>
              </a:rPr>
              <a:t># record the exact software environment</a:t>
            </a:r>
          </a:p>
          <a:p>
            <a:pPr marL="0" indent="0" algn="l">
              <a:lnSpc>
                <a:spcPct val="100000"/>
              </a:lnSpc>
              <a:buNone/>
            </a:pPr>
            <a:r>
              <a:rPr lang="en-US" sz="1300" dirty="0">
                <a:solidFill>
                  <a:srgbClr val="1B3A4B"/>
                </a:solidFill>
                <a:latin typeface="Consolas"/>
                <a:cs typeface="Consolas"/>
              </a:rPr>
              <a:t>writeLines(capture.output(sessionInfo()),</a:t>
            </a:r>
          </a:p>
          <a:p>
            <a:pPr marL="0" indent="0" algn="l">
              <a:lnSpc>
                <a:spcPct val="100000"/>
              </a:lnSpc>
              <a:buNone/>
            </a:pPr>
            <a:r>
              <a:rPr lang="en-US" sz="1300" dirty="0">
                <a:solidFill>
                  <a:srgbClr val="1B3A4B"/>
                </a:solidFill>
                <a:latin typeface="Consolas"/>
                <a:cs typeface="Consolas"/>
              </a:rPr>
              <a:t>           "References/session_info.txt")</a:t>
            </a:r>
          </a:p>
        </p:txBody>
      </p:sp>
      <p:sp>
        <p:nvSpPr>
          <p:cNvPr id="31" name="Output"/>
          <p:cNvSpPr/>
          <p:nvPr/>
        </p:nvSpPr>
        <p:spPr>
          <a:xfrm>
            <a:off x="457200" y="323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 version 4.4.1 (2024-06-14)</a:t>
            </a:r>
          </a:p>
          <a:p>
            <a:pPr marL="0" indent="0" algn="l">
              <a:lnSpc>
                <a:spcPct val="100000"/>
              </a:lnSpc>
              <a:buNone/>
            </a:pPr>
            <a:r>
              <a:rPr lang="en-US" sz="1250" dirty="0">
                <a:solidFill>
                  <a:srgbClr val="1A1A1A"/>
                </a:solidFill>
                <a:latin typeface="Consolas"/>
                <a:cs typeface="Consolas"/>
              </a:rPr>
              <a:t>attached: dplyr_1.1.4 broom_1.0.6 gtsummary_2.0</a:t>
            </a:r>
          </a:p>
          <a:p>
            <a:pPr marL="0" indent="0" algn="l">
              <a:lnSpc>
                <a:spcPct val="100000"/>
              </a:lnSpc>
              <a:buNone/>
            </a:pPr>
            <a:r>
              <a:rPr lang="en-US" sz="1250" dirty="0">
                <a:solidFill>
                  <a:srgbClr val="1A1A1A"/>
                </a:solidFill>
                <a:latin typeface="Consolas"/>
                <a:cs typeface="Consolas"/>
              </a:rPr>
              <a:t>... (full environment written to References/session_info.txt)</a:t>
            </a:r>
          </a:p>
        </p:txBody>
      </p:sp>
      <p:sp>
        <p:nvSpPr>
          <p:cNvPr id="32" name="Note"/>
          <p:cNvSpPr/>
          <p:nvPr/>
        </p:nvSpPr>
        <p:spPr>
          <a:xfrm>
            <a:off x="457200" y="42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Relative paths plus a saved sessionInfo() let any colleague rerun this on any machine.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5 Exercise: Complete the Analysis &amp; Write a Results Section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Fit the pre-specified multivariable model on the diagnosed subset.</a:t>
            </a:r>
          </a:p>
          <a:p>
            <a:pPr marL="0" indent="0" algn="l">
              <a:lnSpc>
                <a:spcPct val="108000"/>
              </a:lnSpc>
              <a:spcBef>
                <a:spcPts val="440"/>
              </a:spcBef>
              <a:buNone/>
            </a:pPr>
            <a:r>
              <a:rPr lang="en-US" sz="1800" dirty="0">
                <a:solidFill>
                  <a:srgbClr val="000000"/>
                </a:solidFill>
                <a:latin typeface="Century Gothic"/>
                <a:cs typeface="Century Gothic"/>
              </a:rPr>
              <a:t>Produce a tidy OR table (exponentiate = TRUE, conf.int = TRUE).</a:t>
            </a:r>
          </a:p>
          <a:p>
            <a:pPr marL="0" indent="0" algn="l">
              <a:lnSpc>
                <a:spcPct val="108000"/>
              </a:lnSpc>
              <a:spcBef>
                <a:spcPts val="440"/>
              </a:spcBef>
              <a:buNone/>
            </a:pPr>
            <a:r>
              <a:rPr lang="en-US" sz="1800" dirty="0">
                <a:solidFill>
                  <a:srgbClr val="000000"/>
                </a:solidFill>
                <a:latin typeface="Century Gothic"/>
                <a:cs typeface="Century Gothic"/>
              </a:rPr>
              <a:t>Run the diagnostics: VIF, a linearity check, Cook's distance, AUC.</a:t>
            </a:r>
          </a:p>
          <a:p>
            <a:pPr marL="0" indent="0" algn="l">
              <a:lnSpc>
                <a:spcPct val="108000"/>
              </a:lnSpc>
              <a:spcBef>
                <a:spcPts val="440"/>
              </a:spcBef>
              <a:buNone/>
            </a:pPr>
            <a:r>
              <a:rPr lang="en-US" sz="1800" dirty="0">
                <a:solidFill>
                  <a:srgbClr val="000000"/>
                </a:solidFill>
                <a:latin typeface="Century Gothic"/>
                <a:cs typeface="Century Gothic"/>
              </a:rPr>
              <a:t>Build a gtsummary table and a forest plot, and save both to Resources/.</a:t>
            </a:r>
          </a:p>
          <a:p>
            <a:pPr marL="0" indent="0" algn="l">
              <a:lnSpc>
                <a:spcPct val="108000"/>
              </a:lnSpc>
              <a:spcBef>
                <a:spcPts val="440"/>
              </a:spcBef>
              <a:buNone/>
            </a:pPr>
            <a:r>
              <a:rPr lang="en-US" sz="1800" dirty="0">
                <a:solidFill>
                  <a:srgbClr val="000000"/>
                </a:solidFill>
                <a:latin typeface="Century Gothic"/>
                <a:cs typeface="Century Gothic"/>
              </a:rPr>
              <a:t>Write a 4-6 sentence Results section from your own ORs.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Deliverable</a:t>
            </a:r>
          </a:p>
          <a:p>
            <a:pPr marL="0" indent="0" algn="l">
              <a:spcBef>
                <a:spcPts val="100"/>
              </a:spcBef>
              <a:buNone/>
            </a:pPr>
            <a:r>
              <a:rPr lang="en-US" sz="1300" dirty="0">
                <a:solidFill>
                  <a:srgbClr val="000000"/>
                </a:solidFill>
                <a:latin typeface="Century Gothic"/>
                <a:cs typeface="Century Gothic"/>
              </a:rPr>
              <a:t>A reproducible script plus a short Results paragraph citing aORs, 95% CIs and the AUC.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Course Wrap-Up: What You Can Now Do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Five days, one real dataset, a full analysis pipeline.</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Import messy clinical data into R and understand its structure.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Clean it: fix impossible values, standardise categories, handle missingness.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Summarise and visualise: Table 1, histograms, boxplots, bar charts.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Fit and interpret logistic regression with adjusted odds ratios.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Build models from clinical reasoning and check their assumptions.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Produce publication-ready tables and figures, and a Results section.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Work reproducibly with scripts, projects, seeds and Quarto reports.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Phase II Might Cover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Deeper modelling</a:t>
            </a:r>
          </a:p>
          <a:p>
            <a:pPr marL="0" indent="0" algn="l">
              <a:lnSpc>
                <a:spcPct val="108000"/>
              </a:lnSpc>
              <a:spcBef>
                <a:spcPts val="440"/>
              </a:spcBef>
              <a:buNone/>
            </a:pPr>
            <a:r>
              <a:rPr lang="en-US" sz="1800" dirty="0">
                <a:solidFill>
                  <a:srgbClr val="000000"/>
                </a:solidFill>
                <a:latin typeface="Century Gothic"/>
                <a:cs typeface="Century Gothic"/>
              </a:rPr>
              <a:t>Confounding, interaction and effect modification in depth.</a:t>
            </a:r>
          </a:p>
          <a:p>
            <a:pPr marL="0" indent="0" algn="l">
              <a:lnSpc>
                <a:spcPct val="108000"/>
              </a:lnSpc>
              <a:spcBef>
                <a:spcPts val="440"/>
              </a:spcBef>
              <a:buNone/>
            </a:pPr>
            <a:r>
              <a:rPr lang="en-US" sz="1800" dirty="0">
                <a:solidFill>
                  <a:srgbClr val="000000"/>
                </a:solidFill>
                <a:latin typeface="Century Gothic"/>
                <a:cs typeface="Century Gothic"/>
              </a:rPr>
              <a:t>Model diagnostics: multicollinearity, fit and discrimination (AUC).</a:t>
            </a:r>
          </a:p>
          <a:p>
            <a:pPr marL="0" indent="0" algn="l">
              <a:lnSpc>
                <a:spcPct val="108000"/>
              </a:lnSpc>
              <a:spcBef>
                <a:spcPts val="440"/>
              </a:spcBef>
              <a:buNone/>
            </a:pPr>
            <a:r>
              <a:rPr lang="en-US" sz="1800" dirty="0">
                <a:solidFill>
                  <a:srgbClr val="000000"/>
                </a:solidFill>
                <a:latin typeface="Century Gothic"/>
                <a:cs typeface="Century Gothic"/>
              </a:rPr>
              <a:t>Variable selection and how to build a model responsibly.</a:t>
            </a:r>
          </a:p>
          <a:p>
            <a:pPr>
              <a:buNone/>
            </a:pPr>
            <a:endParaRPr sz="1050"/>
          </a:p>
          <a:p>
            <a:pPr marL="0" indent="0" algn="l">
              <a:spcBef>
                <a:spcPts val="360"/>
              </a:spcBef>
              <a:buNone/>
            </a:pPr>
            <a:r>
              <a:rPr lang="en-US" sz="2050" b="1" dirty="0">
                <a:solidFill>
                  <a:srgbClr val="0D7377"/>
                </a:solidFill>
                <a:latin typeface="Century Gothic"/>
                <a:cs typeface="Century Gothic"/>
              </a:rPr>
              <a:t>New methods and skills</a:t>
            </a:r>
          </a:p>
          <a:p>
            <a:pPr marL="0" indent="0" algn="l">
              <a:lnSpc>
                <a:spcPct val="108000"/>
              </a:lnSpc>
              <a:spcBef>
                <a:spcPts val="440"/>
              </a:spcBef>
              <a:buNone/>
            </a:pPr>
            <a:r>
              <a:rPr lang="en-US" sz="1800" dirty="0">
                <a:solidFill>
                  <a:srgbClr val="000000"/>
                </a:solidFill>
                <a:latin typeface="Century Gothic"/>
                <a:cs typeface="Century Gothic"/>
              </a:rPr>
              <a:t>Survival analysis: Kaplan-Meier and Cox models for time-to-event data.</a:t>
            </a:r>
          </a:p>
          <a:p>
            <a:pPr marL="0" indent="0" algn="l">
              <a:lnSpc>
                <a:spcPct val="108000"/>
              </a:lnSpc>
              <a:spcBef>
                <a:spcPts val="440"/>
              </a:spcBef>
              <a:buNone/>
            </a:pPr>
            <a:r>
              <a:rPr lang="en-US" sz="1800" dirty="0">
                <a:solidFill>
                  <a:srgbClr val="000000"/>
                </a:solidFill>
                <a:latin typeface="Century Gothic"/>
                <a:cs typeface="Century Gothic"/>
              </a:rPr>
              <a:t>Mixed-effects models: patients clustered within facilities.</a:t>
            </a:r>
          </a:p>
          <a:p>
            <a:pPr marL="0" indent="0" algn="l">
              <a:lnSpc>
                <a:spcPct val="108000"/>
              </a:lnSpc>
              <a:spcBef>
                <a:spcPts val="440"/>
              </a:spcBef>
              <a:buNone/>
            </a:pPr>
            <a:r>
              <a:rPr lang="en-US" sz="1800" dirty="0">
                <a:solidFill>
                  <a:srgbClr val="000000"/>
                </a:solidFill>
                <a:latin typeface="Century Gothic"/>
                <a:cs typeface="Century Gothic"/>
              </a:rPr>
              <a:t>Missing data (multiple imputation) and automated Quarto reporting.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Keep practising</a:t>
            </a:r>
          </a:p>
          <a:p>
            <a:pPr marL="0" indent="0" algn="l">
              <a:spcBef>
                <a:spcPts val="100"/>
              </a:spcBef>
              <a:buNone/>
            </a:pPr>
            <a:r>
              <a:rPr lang="en-US" sz="1300" dirty="0">
                <a:solidFill>
                  <a:srgbClr val="000000"/>
                </a:solidFill>
                <a:latin typeface="Century Gothic"/>
                <a:cs typeface="Century Gothic"/>
              </a:rPr>
              <a:t>Bring your own dataset to Phase II and analyse it end to end.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Final Assignment</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Overview</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An independent, take-home analysis</a:t>
            </a:r>
          </a:p>
          <a:p>
            <a:pPr marL="274320" indent="-274320" algn="l">
              <a:spcBef>
                <a:spcPts val="440"/>
              </a:spcBef>
              <a:buFont typeface="Arial"/>
              <a:buChar char="•"/>
            </a:pPr>
            <a:r>
              <a:rPr lang="en-US" sz="1900" dirty="0">
                <a:solidFill>
                  <a:srgbClr val="000000"/>
                </a:solidFill>
                <a:latin typeface="Century Gothic"/>
                <a:cs typeface="Century Gothic"/>
              </a:rPr>
              <a:t>One week to complete</a:t>
            </a:r>
          </a:p>
          <a:p>
            <a:pPr marL="274320" indent="-274320" algn="l">
              <a:spcBef>
                <a:spcPts val="440"/>
              </a:spcBef>
              <a:buFont typeface="Arial"/>
              <a:buChar char="•"/>
            </a:pPr>
            <a:r>
              <a:rPr lang="en-US" sz="1900" dirty="0">
                <a:solidFill>
                  <a:srgbClr val="000000"/>
                </a:solidFill>
                <a:latin typeface="Century Gothic"/>
                <a:cs typeface="Century Gothic"/>
              </a:rPr>
              <a:t>Uses the same study dataset</a:t>
            </a:r>
          </a:p>
          <a:p>
            <a:pPr marL="274320" indent="-274320" algn="l">
              <a:spcBef>
                <a:spcPts val="440"/>
              </a:spcBef>
              <a:buFont typeface="Arial"/>
              <a:buChar char="•"/>
            </a:pPr>
            <a:r>
              <a:rPr lang="en-US" sz="1900" dirty="0">
                <a:solidFill>
                  <a:srgbClr val="000000"/>
                </a:solidFill>
                <a:latin typeface="Century Gothic"/>
                <a:cs typeface="Century Gothic"/>
              </a:rPr>
              <a:t>Marked out of 100%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Final Assignment - What to Do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Task</a:t>
            </a:r>
          </a:p>
          <a:p>
            <a:pPr marL="0" indent="0" algn="l">
              <a:lnSpc>
                <a:spcPct val="108000"/>
              </a:lnSpc>
              <a:spcBef>
                <a:spcPts val="440"/>
              </a:spcBef>
              <a:buNone/>
            </a:pPr>
            <a:r>
              <a:rPr lang="en-US" sz="1800" dirty="0">
                <a:solidFill>
                  <a:srgbClr val="000000"/>
                </a:solidFill>
                <a:latin typeface="Century Gothic"/>
                <a:cs typeface="Century Gothic"/>
              </a:rPr>
              <a:t>Working independently, analyse the study dataset and identify the determinants of treatment uptake.</a:t>
            </a:r>
          </a:p>
          <a:p>
            <a:pPr>
              <a:buNone/>
            </a:pPr>
            <a:endParaRPr sz="1050"/>
          </a:p>
          <a:p>
            <a:pPr marL="0" indent="0" algn="l">
              <a:spcBef>
                <a:spcPts val="360"/>
              </a:spcBef>
              <a:buNone/>
            </a:pPr>
            <a:r>
              <a:rPr lang="en-US" sz="2050" b="1" dirty="0">
                <a:solidFill>
                  <a:srgbClr val="0D7377"/>
                </a:solidFill>
                <a:latin typeface="Century Gothic"/>
                <a:cs typeface="Century Gothic"/>
              </a:rPr>
              <a:t>Your submission must</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Import the raw data and clean/validate it.</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Produce descriptive statistics and a publication-ready Table 1.</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Create at least two publication-quality figures.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Perform appropriate statistical tests.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Fit simple and multiple logistic regression models.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Interpret the results and write a short Results section.</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Be fully reproducible (a single script that runs start to finish).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Final Assignment - Deliverables &amp; Submission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Submit</a:t>
            </a:r>
          </a:p>
          <a:p>
            <a:pPr marL="0" indent="0" algn="l">
              <a:lnSpc>
                <a:spcPct val="108000"/>
              </a:lnSpc>
              <a:spcBef>
                <a:spcPts val="440"/>
              </a:spcBef>
              <a:buNone/>
            </a:pPr>
            <a:r>
              <a:rPr lang="en-US" sz="1800" dirty="0">
                <a:solidFill>
                  <a:srgbClr val="000000"/>
                </a:solidFill>
                <a:latin typeface="Century Gothic"/>
                <a:cs typeface="Century Gothic"/>
              </a:rPr>
              <a:t>1. A single commented R script (.R) or R Markdown/Quarto file.</a:t>
            </a:r>
          </a:p>
          <a:p>
            <a:pPr marL="0" indent="0" algn="l">
              <a:lnSpc>
                <a:spcPct val="108000"/>
              </a:lnSpc>
              <a:spcBef>
                <a:spcPts val="440"/>
              </a:spcBef>
              <a:buNone/>
            </a:pPr>
            <a:r>
              <a:rPr lang="en-US" sz="1800" dirty="0">
                <a:solidFill>
                  <a:srgbClr val="000000"/>
                </a:solidFill>
                <a:latin typeface="Century Gothic"/>
                <a:cs typeface="Century Gothic"/>
              </a:rPr>
              <a:t>2. The exported Table 1 and figures.</a:t>
            </a:r>
          </a:p>
          <a:p>
            <a:pPr marL="0" indent="0" algn="l">
              <a:lnSpc>
                <a:spcPct val="108000"/>
              </a:lnSpc>
              <a:spcBef>
                <a:spcPts val="440"/>
              </a:spcBef>
              <a:buNone/>
            </a:pPr>
            <a:r>
              <a:rPr lang="en-US" sz="1800" dirty="0">
                <a:solidFill>
                  <a:srgbClr val="000000"/>
                </a:solidFill>
                <a:latin typeface="Century Gothic"/>
                <a:cs typeface="Century Gothic"/>
              </a:rPr>
              <a:t>3. A one-page Results section (about 250-400 words).</a:t>
            </a:r>
          </a:p>
          <a:p>
            <a:pPr>
              <a:buNone/>
            </a:pPr>
            <a:endParaRPr sz="1050"/>
          </a:p>
          <a:p>
            <a:pPr marL="0" indent="0" algn="l">
              <a:spcBef>
                <a:spcPts val="360"/>
              </a:spcBef>
              <a:buNone/>
            </a:pPr>
            <a:r>
              <a:rPr lang="en-US" sz="2050" b="1" dirty="0">
                <a:solidFill>
                  <a:srgbClr val="0D7377"/>
                </a:solidFill>
                <a:latin typeface="Century Gothic"/>
                <a:cs typeface="Century Gothic"/>
              </a:rPr>
              <a:t>Format</a:t>
            </a:r>
          </a:p>
          <a:p>
            <a:pPr marL="0" indent="0" algn="l">
              <a:lnSpc>
                <a:spcPct val="108000"/>
              </a:lnSpc>
              <a:spcBef>
                <a:spcPts val="440"/>
              </a:spcBef>
              <a:buNone/>
            </a:pPr>
            <a:r>
              <a:rPr lang="en-US" sz="1800" dirty="0">
                <a:solidFill>
                  <a:srgbClr val="000000"/>
                </a:solidFill>
                <a:latin typeface="Century Gothic"/>
                <a:cs typeface="Century Gothic"/>
              </a:rPr>
              <a:t>Use an RStudio Project with relative paths.</a:t>
            </a:r>
          </a:p>
          <a:p>
            <a:pPr marL="0" indent="0" algn="l">
              <a:lnSpc>
                <a:spcPct val="108000"/>
              </a:lnSpc>
              <a:spcBef>
                <a:spcPts val="440"/>
              </a:spcBef>
              <a:buNone/>
            </a:pPr>
            <a:r>
              <a:rPr lang="en-US" sz="1800" dirty="0">
                <a:solidFill>
                  <a:srgbClr val="000000"/>
                </a:solidFill>
                <a:latin typeface="Century Gothic"/>
                <a:cs typeface="Century Gothic"/>
              </a:rPr>
              <a:t>Name files clearly: Surname_Phase1_Assignment.R</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Academic integrity</a:t>
            </a:r>
          </a:p>
          <a:p>
            <a:pPr marL="0" indent="0" algn="l">
              <a:spcBef>
                <a:spcPts val="100"/>
              </a:spcBef>
              <a:buNone/>
            </a:pPr>
            <a:r>
              <a:rPr lang="en-US" sz="1300" dirty="0">
                <a:solidFill>
                  <a:srgbClr val="000000"/>
                </a:solidFill>
                <a:latin typeface="Century Gothic"/>
                <a:cs typeface="Century Gothic"/>
              </a:rPr>
              <a:t>Work independently. You may use the course scripts and notes, but the analysis and writing must be your 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Marking Rubric (out of 100%)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20000"/>
                    </a:ext>
                  </a:extLst>
                </a:gridCol>
                <a:gridCol w="3759200">
                  <a:extLst>
                    <a:ext uri="{9D8B030D-6E8A-4147-A177-3AD203B41FA5}">
                      <a16:colId xmlns:a16="http://schemas.microsoft.com/office/drawing/2014/main" val="20001"/>
                    </a:ext>
                  </a:extLst>
                </a:gridCol>
                <a:gridCol w="3759200">
                  <a:extLst>
                    <a:ext uri="{9D8B030D-6E8A-4147-A177-3AD203B41FA5}">
                      <a16:colId xmlns:a16="http://schemas.microsoft.com/office/drawing/2014/main" val="20002"/>
                    </a:ext>
                  </a:extLst>
                </a:gridCol>
              </a:tblGrid>
              <a:tr h="380000">
                <a:tc>
                  <a:txBody>
                    <a:bodyPr/>
                    <a:lstStyle/>
                    <a:p>
                      <a:pPr algn="l"/>
                      <a:r>
                        <a:rPr lang="en-US" sz="1300" b="1" dirty="0">
                          <a:solidFill>
                            <a:srgbClr val="FFFFFF"/>
                          </a:solidFill>
                          <a:latin typeface="Century Gothic"/>
                        </a:rPr>
                        <a:t>Component</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What is assessed</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Marks</a:t>
                      </a:r>
                    </a:p>
                  </a:txBody>
                  <a:tcPr marL="73152" marR="73152" marT="36576" marB="36576" anchor="ctr">
                    <a:solidFill>
                      <a:srgbClr val="0D7377"/>
                    </a:solidFill>
                  </a:tcPr>
                </a:tc>
                <a:extLst>
                  <a:ext uri="{0D108BD9-81ED-4DB2-BD59-A6C34878D82A}">
                    <a16:rowId xmlns:a16="http://schemas.microsoft.com/office/drawing/2014/main" val="10000"/>
                  </a:ext>
                </a:extLst>
              </a:tr>
              <a:tr h="380000">
                <a:tc>
                  <a:txBody>
                    <a:bodyPr/>
                    <a:lstStyle/>
                    <a:p>
                      <a:pPr algn="l"/>
                      <a:r>
                        <a:rPr lang="en-US" sz="1300" b="0" dirty="0">
                          <a:solidFill>
                            <a:srgbClr val="000000"/>
                          </a:solidFill>
                          <a:latin typeface="Century Gothic"/>
                        </a:rPr>
                        <a:t>Data import &amp; cleaning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Correct import, missing codes, validation, recoding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20</a:t>
                      </a:r>
                    </a:p>
                  </a:txBody>
                  <a:tcPr marL="73152" marR="73152" marT="36576" marB="36576" anchor="ctr">
                    <a:solidFill>
                      <a:srgbClr val="FFFFFF"/>
                    </a:solidFill>
                  </a:tcPr>
                </a:tc>
                <a:extLst>
                  <a:ext uri="{0D108BD9-81ED-4DB2-BD59-A6C34878D82A}">
                    <a16:rowId xmlns:a16="http://schemas.microsoft.com/office/drawing/2014/main" val="10001"/>
                  </a:ext>
                </a:extLst>
              </a:tr>
              <a:tr h="380000">
                <a:tc>
                  <a:txBody>
                    <a:bodyPr/>
                    <a:lstStyle/>
                    <a:p>
                      <a:pPr algn="l"/>
                      <a:r>
                        <a:rPr lang="en-US" sz="1300" b="0" dirty="0">
                          <a:solidFill>
                            <a:srgbClr val="000000"/>
                          </a:solidFill>
                          <a:latin typeface="Century Gothic"/>
                        </a:rPr>
                        <a:t>Descriptive statistics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Appropriate summaries and a correct Table 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a:t>
                      </a:r>
                    </a:p>
                  </a:txBody>
                  <a:tcPr marL="73152" marR="73152" marT="36576" marB="36576" anchor="ctr">
                    <a:solidFill>
                      <a:srgbClr val="FFFFFF"/>
                    </a:solidFill>
                  </a:tcPr>
                </a:tc>
                <a:extLst>
                  <a:ext uri="{0D108BD9-81ED-4DB2-BD59-A6C34878D82A}">
                    <a16:rowId xmlns:a16="http://schemas.microsoft.com/office/drawing/2014/main" val="10002"/>
                  </a:ext>
                </a:extLst>
              </a:tr>
              <a:tr h="380000">
                <a:tc>
                  <a:txBody>
                    <a:bodyPr/>
                    <a:lstStyle/>
                    <a:p>
                      <a:pPr algn="l"/>
                      <a:r>
                        <a:rPr lang="en-US" sz="1300" b="0" dirty="0">
                          <a:solidFill>
                            <a:srgbClr val="000000"/>
                          </a:solidFill>
                          <a:latin typeface="Century Gothic"/>
                        </a:rPr>
                        <a:t>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Two clear, correctly labelled, publication-quality 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10</a:t>
                      </a:r>
                    </a:p>
                  </a:txBody>
                  <a:tcPr marL="73152" marR="73152" marT="36576" marB="36576" anchor="ctr">
                    <a:solidFill>
                      <a:srgbClr val="FFFFFF"/>
                    </a:solidFill>
                  </a:tcPr>
                </a:tc>
                <a:extLst>
                  <a:ext uri="{0D108BD9-81ED-4DB2-BD59-A6C34878D82A}">
                    <a16:rowId xmlns:a16="http://schemas.microsoft.com/office/drawing/2014/main" val="10003"/>
                  </a:ext>
                </a:extLst>
              </a:tr>
              <a:tr h="380000">
                <a:tc>
                  <a:txBody>
                    <a:bodyPr/>
                    <a:lstStyle/>
                    <a:p>
                      <a:pPr algn="l"/>
                      <a:r>
                        <a:rPr lang="en-US" sz="1300" b="0" dirty="0">
                          <a:solidFill>
                            <a:srgbClr val="000000"/>
                          </a:solidFill>
                          <a:latin typeface="Century Gothic"/>
                        </a:rPr>
                        <a:t>Statistical tests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Right test chosen and correctly applied</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a:t>
                      </a:r>
                    </a:p>
                  </a:txBody>
                  <a:tcPr marL="73152" marR="73152" marT="36576" marB="36576" anchor="ctr">
                    <a:solidFill>
                      <a:srgbClr val="FFFFFF"/>
                    </a:solidFill>
                  </a:tcPr>
                </a:tc>
                <a:extLst>
                  <a:ext uri="{0D108BD9-81ED-4DB2-BD59-A6C34878D82A}">
                    <a16:rowId xmlns:a16="http://schemas.microsoft.com/office/drawing/2014/main" val="10004"/>
                  </a:ext>
                </a:extLst>
              </a:tr>
              <a:tr h="380000">
                <a:tc>
                  <a:txBody>
                    <a:bodyPr/>
                    <a:lstStyle/>
                    <a:p>
                      <a:pPr algn="l"/>
                      <a:r>
                        <a:rPr lang="en-US" sz="1300" b="0" dirty="0">
                          <a:solidFill>
                            <a:srgbClr val="000000"/>
                          </a:solidFill>
                          <a:latin typeface="Century Gothic"/>
                        </a:rPr>
                        <a:t>Regression modelling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Sound univariable &amp; multivariable logistic models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20</a:t>
                      </a:r>
                    </a:p>
                  </a:txBody>
                  <a:tcPr marL="73152" marR="73152" marT="36576" marB="36576" anchor="ctr">
                    <a:solidFill>
                      <a:srgbClr val="FFFFFF"/>
                    </a:solidFill>
                  </a:tcPr>
                </a:tc>
                <a:extLst>
                  <a:ext uri="{0D108BD9-81ED-4DB2-BD59-A6C34878D82A}">
                    <a16:rowId xmlns:a16="http://schemas.microsoft.com/office/drawing/2014/main" val="10005"/>
                  </a:ext>
                </a:extLst>
              </a:tr>
              <a:tr h="380000">
                <a:tc>
                  <a:txBody>
                    <a:bodyPr/>
                    <a:lstStyle/>
                    <a:p>
                      <a:pPr algn="l"/>
                      <a:r>
                        <a:rPr lang="en-US" sz="1300" b="0" dirty="0">
                          <a:solidFill>
                            <a:srgbClr val="000000"/>
                          </a:solidFill>
                          <a:latin typeface="Century Gothic"/>
                        </a:rPr>
                        <a:t>Interpretation &amp; Results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Accurate ORs/CIs and clear clinical writing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a:t>
                      </a:r>
                    </a:p>
                  </a:txBody>
                  <a:tcPr marL="73152" marR="73152" marT="36576" marB="36576" anchor="ctr">
                    <a:solidFill>
                      <a:srgbClr val="FFFFFF"/>
                    </a:solidFill>
                  </a:tcPr>
                </a:tc>
                <a:extLst>
                  <a:ext uri="{0D108BD9-81ED-4DB2-BD59-A6C34878D82A}">
                    <a16:rowId xmlns:a16="http://schemas.microsoft.com/office/drawing/2014/main" val="10006"/>
                  </a:ext>
                </a:extLst>
              </a:tr>
              <a:tr h="380000">
                <a:tc>
                  <a:txBody>
                    <a:bodyPr/>
                    <a:lstStyle/>
                    <a:p>
                      <a:pPr algn="l"/>
                      <a:r>
                        <a:rPr lang="en-US" sz="1300" b="0" dirty="0">
                          <a:solidFill>
                            <a:srgbClr val="000000"/>
                          </a:solidFill>
                          <a:latin typeface="Century Gothic"/>
                        </a:rPr>
                        <a:t>Reproducibility &amp; code quality</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Runs end-to-end; clean, commented, relative paths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5</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Total = 100%. A detailed marking guide is provided to instructors.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Marking Guide - What Earns Full Marks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Strong submission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Handles all messiness (dups, sentinels, impossible values).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Table 1 stratified by uptake with sensible tests.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Adjusted ORs with 95% CIs and correct reference levels.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Results paragraph matches the numbers and is clinically framed.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One script runs cleanly from raw data to outputs.</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Common mark losses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Leaving 999 / -99 as real numbers.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Analysing all 1,500 instead of diagnosed patients.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Reporting log-odds instead of odds ratios.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Interpreting a non-significant result as 'no effect'.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Absolute paths that break on another computer.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Resources &amp; Further Reading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In your course pack</a:t>
            </a:r>
          </a:p>
          <a:p>
            <a:pPr marL="0" indent="0" algn="l">
              <a:lnSpc>
                <a:spcPct val="108000"/>
              </a:lnSpc>
              <a:spcBef>
                <a:spcPts val="440"/>
              </a:spcBef>
              <a:buNone/>
            </a:pPr>
            <a:r>
              <a:rPr lang="en-US" sz="1800" dirty="0">
                <a:solidFill>
                  <a:srgbClr val="000000"/>
                </a:solidFill>
                <a:latin typeface="Century Gothic"/>
                <a:cs typeface="Century Gothic"/>
              </a:rPr>
              <a:t>R command reference sheet and package installation guide.</a:t>
            </a:r>
          </a:p>
          <a:p>
            <a:pPr marL="0" indent="0" algn="l">
              <a:lnSpc>
                <a:spcPct val="108000"/>
              </a:lnSpc>
              <a:spcBef>
                <a:spcPts val="440"/>
              </a:spcBef>
              <a:buNone/>
            </a:pPr>
            <a:r>
              <a:rPr lang="en-US" sz="1800" dirty="0">
                <a:solidFill>
                  <a:srgbClr val="000000"/>
                </a:solidFill>
                <a:latin typeface="Century Gothic"/>
                <a:cs typeface="Century Gothic"/>
              </a:rPr>
              <a:t>All demonstration scripts and worked solutions.</a:t>
            </a:r>
          </a:p>
          <a:p>
            <a:pPr marL="0" indent="0" algn="l">
              <a:lnSpc>
                <a:spcPct val="108000"/>
              </a:lnSpc>
              <a:spcBef>
                <a:spcPts val="440"/>
              </a:spcBef>
              <a:buNone/>
            </a:pPr>
            <a:r>
              <a:rPr lang="en-US" sz="1800" dirty="0">
                <a:solidFill>
                  <a:srgbClr val="000000"/>
                </a:solidFill>
                <a:latin typeface="Century Gothic"/>
                <a:cs typeface="Century Gothic"/>
              </a:rPr>
              <a:t>The dataset, data dictionary and this slide deck.</a:t>
            </a:r>
          </a:p>
          <a:p>
            <a:pPr>
              <a:buNone/>
            </a:pPr>
            <a:endParaRPr sz="1050"/>
          </a:p>
          <a:p>
            <a:pPr marL="0" indent="0" algn="l">
              <a:spcBef>
                <a:spcPts val="360"/>
              </a:spcBef>
              <a:buNone/>
            </a:pPr>
            <a:r>
              <a:rPr lang="en-US" sz="2050" b="1" dirty="0">
                <a:solidFill>
                  <a:srgbClr val="0D7377"/>
                </a:solidFill>
                <a:latin typeface="Century Gothic"/>
                <a:cs typeface="Century Gothic"/>
              </a:rPr>
              <a:t>To go further</a:t>
            </a:r>
          </a:p>
          <a:p>
            <a:pPr marL="0" indent="0" algn="l">
              <a:lnSpc>
                <a:spcPct val="108000"/>
              </a:lnSpc>
              <a:spcBef>
                <a:spcPts val="440"/>
              </a:spcBef>
              <a:buNone/>
            </a:pPr>
            <a:r>
              <a:rPr lang="en-US" sz="1800" dirty="0">
                <a:solidFill>
                  <a:srgbClr val="000000"/>
                </a:solidFill>
                <a:latin typeface="Century Gothic"/>
                <a:cs typeface="Century Gothic"/>
              </a:rPr>
              <a:t>R for Data Science (Wickham &amp; Grolemund) - free online.</a:t>
            </a:r>
          </a:p>
          <a:p>
            <a:pPr marL="0" indent="0" algn="l">
              <a:lnSpc>
                <a:spcPct val="108000"/>
              </a:lnSpc>
              <a:spcBef>
                <a:spcPts val="440"/>
              </a:spcBef>
              <a:buNone/>
            </a:pPr>
            <a:r>
              <a:rPr lang="en-US" sz="1800" dirty="0">
                <a:solidFill>
                  <a:srgbClr val="000000"/>
                </a:solidFill>
                <a:latin typeface="Century Gothic"/>
                <a:cs typeface="Century Gothic"/>
              </a:rPr>
              <a:t>Regression Modeling Strategies (Harrell).</a:t>
            </a:r>
          </a:p>
          <a:p>
            <a:pPr marL="0" indent="0" algn="l">
              <a:lnSpc>
                <a:spcPct val="108000"/>
              </a:lnSpc>
              <a:spcBef>
                <a:spcPts val="440"/>
              </a:spcBef>
              <a:buNone/>
            </a:pPr>
            <a:r>
              <a:rPr lang="en-US" sz="1800" dirty="0">
                <a:solidFill>
                  <a:srgbClr val="000000"/>
                </a:solidFill>
                <a:latin typeface="Century Gothic"/>
                <a:cs typeface="Century Gothic"/>
              </a:rPr>
              <a:t>The gtsummary and ggplot2 documentation websites.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Keep practising</a:t>
            </a:r>
          </a:p>
          <a:p>
            <a:pPr marL="0" indent="0" algn="l">
              <a:spcBef>
                <a:spcPts val="100"/>
              </a:spcBef>
              <a:buNone/>
            </a:pPr>
            <a:r>
              <a:rPr lang="en-US" sz="1300" dirty="0">
                <a:solidFill>
                  <a:srgbClr val="000000"/>
                </a:solidFill>
                <a:latin typeface="Century Gothic"/>
                <a:cs typeface="Century Gothic"/>
              </a:rPr>
              <a:t>Re-run the week's scripts on your own data - that is where the skills become permanent.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Thank You &amp; Questions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Stay in touch</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You can now import, clean, analyse and report clinical data in R</a:t>
            </a:r>
          </a:p>
          <a:p>
            <a:pPr marL="274320" indent="-274320" algn="l">
              <a:spcBef>
                <a:spcPts val="440"/>
              </a:spcBef>
              <a:buFont typeface="Arial"/>
              <a:buChar char="•"/>
            </a:pPr>
            <a:r>
              <a:rPr lang="en-US" sz="1900" dirty="0">
                <a:solidFill>
                  <a:srgbClr val="000000"/>
                </a:solidFill>
                <a:latin typeface="Century Gothic"/>
                <a:cs typeface="Century Gothic"/>
              </a:rPr>
              <a:t>Practise on your own datasets</a:t>
            </a:r>
          </a:p>
          <a:p>
            <a:pPr marL="274320" indent="-274320" algn="l">
              <a:spcBef>
                <a:spcPts val="440"/>
              </a:spcBef>
              <a:buFont typeface="Arial"/>
              <a:buChar char="•"/>
            </a:pPr>
            <a:r>
              <a:rPr lang="en-US" sz="1900" dirty="0">
                <a:solidFill>
                  <a:srgbClr val="000000"/>
                </a:solidFill>
                <a:latin typeface="Century Gothic"/>
                <a:cs typeface="Century Gothic"/>
              </a:rPr>
              <a:t>Phase II: survival analysis, mixed models and prediction</a:t>
            </a:r>
          </a:p>
          <a:p>
            <a:pPr marL="274320" indent="-274320" algn="l">
              <a:spcBef>
                <a:spcPts val="440"/>
              </a:spcBef>
              <a:buFont typeface="Arial"/>
              <a:buChar char="•"/>
            </a:pPr>
            <a:r>
              <a:rPr lang="en-US" sz="1900" dirty="0">
                <a:solidFill>
                  <a:srgbClr val="000000"/>
                </a:solidFill>
                <a:latin typeface="Century Gothic"/>
                <a:cs typeface="Century Gothic"/>
              </a:rPr>
              <a:t>Contact: Neudata  -  #ClearDataClearImpact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Century Gothic"/>
                <a:cs typeface="Century Gothic"/>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23530</Words>
  <Application>Microsoft Office PowerPoint</Application>
  <PresentationFormat>Widescreen</PresentationFormat>
  <Paragraphs>2373</Paragraphs>
  <Slides>123</Slides>
  <Notes>123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123</vt:i4>
      </vt:variant>
    </vt:vector>
  </HeadingPairs>
  <TitlesOfParts>
    <vt:vector size="131" baseType="lpstr">
      <vt:lpstr>Arial</vt:lpstr>
      <vt:lpstr>Calibri</vt:lpstr>
      <vt:lpstr>Century Gothic</vt:lpstr>
      <vt:lpstr>Consolas</vt:lpstr>
      <vt:lpstr>Courier New</vt:lpstr>
      <vt:lpstr>Segoe UI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My Luong Vuong</cp:lastModifiedBy>
  <cp:revision>75</cp:revision>
  <dcterms:created xsi:type="dcterms:W3CDTF">2013-01-27T09:14:16Z</dcterms:created>
  <dcterms:modified xsi:type="dcterms:W3CDTF">2026-09-07T08:48:08Z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