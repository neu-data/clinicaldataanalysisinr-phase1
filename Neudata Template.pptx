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5"/>
    <p:sldId id="281" r:id="rId6"/>
    <p:sldId id="300" r:id="rId7"/>
    <p:sldId id="28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TITLE SLIDE</a:t>
            </a:r>
          </a:p>
          <a:p>
            <a:r>
              <a:rPr lang="en-US" sz="1400" dirty="0"/>
              <a:t>RIB Project - Neonatal Resuscitation arm results.</a:t>
            </a:r>
          </a:p>
          <a:p>
            <a:r>
              <a:rPr lang="en-US" sz="1400" dirty="0"/>
              <a:t>N = 16,293 caesarean-section live births across 5 hospitals in Kampala, Uganda.</a:t>
            </a:r>
          </a:p>
          <a:p>
            <a:r>
              <a:rPr lang="en-US" sz="1400" dirty="0"/>
              <a:t>Pre-intervention: 6,858 | Post-intervention: 9,435</a:t>
            </a:r>
          </a:p>
        </p:txBody>
      </p:sp>
      <p:sp>
        <p:nvSpPr>
          <p:cNvPr id="4" name="Slide Number Placeholder 3"/>
          <p:cNvSpPr>
            <a:spLocks noGrp="1"/>
          </p:cNvSpPr>
          <p:nvPr>
            <p:ph type="sldNum" sz="quarter" idx="10"/>
          </p:nvPr>
        </p:nvSpPr>
        <p:spPr/>
        <p:txBody>
          <a:bodyPr/>
          <a:lstStyle/>
          <a:p>
            <a:r>
              <a:rPr lang="en-US" sz="1400" b="1" dirty="0"/>
              <a:t>TITLE SLIDE</a:t>
            </a:r>
          </a:p>
          <a:p>
            <a:r>
              <a:rPr lang="en-US" sz="1400" dirty="0"/>
              <a:t>RIB Project - Neonatal Resuscitation arm results.</a:t>
            </a:r>
          </a:p>
          <a:p>
            <a:r>
              <a:rPr lang="en-US" sz="1400" dirty="0"/>
              <a:t>N = 16,293 caesarean-section live births across 5 hospitals in Kampala, Uganda.</a:t>
            </a:r>
          </a:p>
          <a:p>
            <a:r>
              <a:rPr lang="en-US" sz="1400" dirty="0"/>
              <a:t>Pre-intervention: 6,858 | Post-intervention: 9,435</a:t>
            </a:r>
          </a:p>
        </p:txBody>
      </p:sp>
    </p:spTree>
    <p:extLst>
      <p:ext uri="{BB962C8B-B14F-4D97-AF65-F5344CB8AC3E}">
        <p14:creationId xmlns:p14="http://schemas.microsoft.com/office/powerpoint/2010/main" val="2353268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SECTION HEADER - introduce the results section.</a:t>
            </a:r>
          </a:p>
        </p:txBody>
      </p:sp>
      <p:sp>
        <p:nvSpPr>
          <p:cNvPr id="4" name="Slide Number Placeholder 3"/>
          <p:cNvSpPr>
            <a:spLocks noGrp="1"/>
          </p:cNvSpPr>
          <p:nvPr>
            <p:ph type="sldNum" sz="quarter" idx="10"/>
          </p:nvPr>
        </p:nvSpPr>
        <p:spPr/>
        <p:txBody>
          <a:bodyPr/>
          <a:lstStyle/>
          <a:p>
            <a:r>
              <a:rPr lang="en-US" sz="1400" dirty="0"/>
              <a:t>SECTION HEADER - introduce the results section.</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STUDY OVERVIEW</a:t>
            </a:r>
          </a:p>
          <a:p>
            <a:endParaRPr lang="en-US" sz="1400" b="1" dirty="0"/>
          </a:p>
          <a:p>
            <a:r>
              <a:rPr lang="en-US" sz="1400" dirty="0"/>
              <a:t>This was a quasi-experimental pre-post study across 5 private not-for-profit faith-based hospitals in Kampala, Uganda: Nsambya, Lubaga, Mengo, Naguru, Kibuli.</a:t>
            </a:r>
          </a:p>
          <a:p>
            <a:endParaRPr lang="en-US" sz="1400" dirty="0"/>
          </a:p>
          <a:p>
            <a:r>
              <a:rPr lang="en-US" sz="1400" dirty="0"/>
              <a:t>Pre-intervention data (6,858 births) collected retrospectively from hospital records 2018-2022.</a:t>
            </a:r>
          </a:p>
          <a:p>
            <a:r>
              <a:rPr lang="en-US" sz="1400" dirty="0"/>
              <a:t>Post-intervention data (9,435 births) collected prospectively 2020-2025 as NRT was rolled out sequentially.</a:t>
            </a:r>
          </a:p>
          <a:p>
            <a:endParaRPr lang="en-US" sz="1400" dirty="0"/>
          </a:p>
          <a:p>
            <a:r>
              <a:rPr lang="en-US" sz="1400" dirty="0"/>
              <a:t>ALL 16,293 deliveries were by caesarean section - findings apply specifically to CS deliveries.</a:t>
            </a:r>
          </a:p>
          <a:p>
            <a:endParaRPr lang="en-US" sz="1400" dirty="0"/>
          </a:p>
          <a:p>
            <a:r>
              <a:rPr lang="en-US" sz="1400" dirty="0"/>
              <a:t>NRT BUNDLE: (1) standardised DR resuscitation protocols, (2) NRT member at every theatre delivery, (3) warm transport using exothermic mattresses, (4) structured NNU admission documentation, (5) equipment standardisation (CPAP circuits, nasal prongs, pulse oximeters, oxygen cylinders).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WhatsApp Image 2025-06-14 at 07.39.02.jpeg"/>
          <p:cNvPicPr>
            <a:picLocks noChangeAspect="1"/>
          </p:cNvPicPr>
          <p:nvPr/>
        </p:nvPicPr>
        <p:blipFill>
          <a:blip r:embed="rId3"/>
          <a:stretch>
            <a:fillRect/>
          </a:stretch>
        </p:blipFill>
        <p:spPr>
          <a:xfrm>
            <a:off x="768613" y="4410394"/>
            <a:ext cx="2566257" cy="2447606"/>
          </a:xfrm>
          <a:prstGeom prst="rect">
            <a:avLst/>
          </a:prstGeom>
        </p:spPr>
      </p:pic>
      <p:sp>
        <p:nvSpPr>
          <p:cNvPr id="3" name="TextBox 2"/>
          <p:cNvSpPr txBox="1"/>
          <p:nvPr/>
        </p:nvSpPr>
        <p:spPr>
          <a:xfrm>
            <a:off x="0" y="2240725"/>
            <a:ext cx="12192000" cy="769441"/>
          </a:xfrm>
          <a:prstGeom prst="rect">
            <a:avLst/>
          </a:prstGeom>
          <a:noFill/>
        </p:spPr>
        <p:txBody>
          <a:bodyPr wrap="square">
            <a:spAutoFit/>
          </a:bodyPr>
          <a:lstStyle/>
          <a:p>
            <a:pPr algn="ctr">
              <a:defRPr sz="3600" b="1">
                <a:solidFill>
                  <a:srgbClr val="006666"/>
                </a:solidFill>
              </a:defRPr>
            </a:pPr>
            <a:r>
              <a:rPr lang="en-US" sz="4400" dirty="0">
                <a:latin typeface="Century Gothic" panose="020B0502020202020204" pitchFamily="34" charset="0"/>
              </a:rPr>
              <a:t>Workshop</a:t>
            </a:r>
            <a:endParaRPr sz="4400" dirty="0">
              <a:latin typeface="Century Gothic" panose="020B0502020202020204" pitchFamily="34" charset="0"/>
            </a:endParaRPr>
          </a:p>
        </p:txBody>
      </p:sp>
      <p:sp>
        <p:nvSpPr>
          <p:cNvPr id="5" name="Text Placeholder 3"/>
          <p:cNvSpPr txBox="1">
            <a:spLocks/>
          </p:cNvSpPr>
          <p:nvPr/>
        </p:nvSpPr>
        <p:spPr>
          <a:xfrm>
            <a:off x="7902094" y="5833766"/>
            <a:ext cx="3465009" cy="326571"/>
          </a:xfrm>
          <a:prstGeom prst="rect">
            <a:avLst/>
          </a:prstGeom>
        </p:spPr>
        <p:txBody>
          <a:bodyPr lIns="0" tIns="0" rIns="0" bIns="0" anchor="b" anchorCtr="0"/>
          <a:lstStyle>
            <a:lvl1pPr marL="0" indent="0" algn="r" defTabSz="914400" rtl="0" eaLnBrk="1" latinLnBrk="0" hangingPunct="1">
              <a:lnSpc>
                <a:spcPct val="100000"/>
              </a:lnSpc>
              <a:spcBef>
                <a:spcPts val="1000"/>
              </a:spcBef>
              <a:buClr>
                <a:schemeClr val="accent2"/>
              </a:buClr>
              <a:buFontTx/>
              <a:buNone/>
              <a:defRPr sz="1800" kern="1200">
                <a:solidFill>
                  <a:schemeClr val="tx1"/>
                </a:solidFill>
                <a:latin typeface="+mn-lt"/>
                <a:ea typeface="+mn-ea"/>
                <a:cs typeface="+mn-cs"/>
              </a:defRPr>
            </a:lvl1pPr>
            <a:lvl2pPr marL="457200" indent="0" algn="l" defTabSz="914400" rtl="0" eaLnBrk="1" latinLnBrk="0" hangingPunct="1">
              <a:lnSpc>
                <a:spcPct val="100000"/>
              </a:lnSpc>
              <a:spcBef>
                <a:spcPts val="500"/>
              </a:spcBef>
              <a:buClr>
                <a:schemeClr val="accent1"/>
              </a:buClr>
              <a:buFontTx/>
              <a:buNone/>
              <a:defRPr sz="2400" kern="1200">
                <a:solidFill>
                  <a:schemeClr val="tx1"/>
                </a:solidFill>
                <a:latin typeface="+mn-lt"/>
                <a:ea typeface="+mn-ea"/>
                <a:cs typeface="+mn-cs"/>
              </a:defRPr>
            </a:lvl2pPr>
            <a:lvl3pPr marL="914400" indent="0" algn="l" defTabSz="914400" rtl="0" eaLnBrk="1" latinLnBrk="0" hangingPunct="1">
              <a:lnSpc>
                <a:spcPct val="100000"/>
              </a:lnSpc>
              <a:spcBef>
                <a:spcPts val="500"/>
              </a:spcBef>
              <a:buClr>
                <a:schemeClr val="accent4"/>
              </a:buClr>
              <a:buFontTx/>
              <a:buNone/>
              <a:defRPr sz="2000" kern="1200">
                <a:solidFill>
                  <a:schemeClr val="tx1"/>
                </a:solidFill>
                <a:latin typeface="+mn-lt"/>
                <a:ea typeface="+mn-ea"/>
                <a:cs typeface="+mn-cs"/>
              </a:defRPr>
            </a:lvl3pPr>
            <a:lvl4pPr marL="1371600" indent="0" algn="l" defTabSz="914400" rtl="0" eaLnBrk="1" latinLnBrk="0" hangingPunct="1">
              <a:lnSpc>
                <a:spcPct val="100000"/>
              </a:lnSpc>
              <a:spcBef>
                <a:spcPts val="500"/>
              </a:spcBef>
              <a:buClr>
                <a:schemeClr val="accent3"/>
              </a:buClr>
              <a:buFontTx/>
              <a:buNone/>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Clr>
                <a:schemeClr val="bg1">
                  <a:lumMod val="50000"/>
                </a:schemeClr>
              </a:buClr>
              <a:buFontTx/>
              <a:buNone/>
              <a:defRPr lang="en-U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
                <a:srgbClr val="984A9C"/>
              </a:buClr>
              <a:buSzTx/>
              <a:buFontTx/>
              <a:buNone/>
              <a:tabLst/>
              <a:defRPr/>
            </a:pPr>
            <a:r>
              <a:rPr kumimoji="0" lang="en-US" sz="1400" b="1" i="0" u="none" strike="noStrike" kern="1200" cap="none" spc="0" normalizeH="0" baseline="0" noProof="0" dirty="0">
                <a:ln>
                  <a:noFill/>
                </a:ln>
                <a:solidFill>
                  <a:prstClr val="black"/>
                </a:solidFill>
                <a:effectLst/>
                <a:uLnTx/>
                <a:uFillTx/>
                <a:latin typeface="Segoe UI"/>
                <a:ea typeface="+mn-ea"/>
                <a:cs typeface="+mn-cs"/>
              </a:rPr>
              <a:t>Date: </a:t>
            </a:r>
            <a:r>
              <a:rPr lang="en-US" sz="1400" b="1" dirty="0">
                <a:solidFill>
                  <a:prstClr val="black"/>
                </a:solidFill>
                <a:latin typeface="Segoe UI"/>
              </a:rPr>
              <a:t>29-04</a:t>
            </a:r>
            <a:r>
              <a:rPr kumimoji="0" lang="en-US" sz="1400" b="1" i="0" u="none" strike="noStrike" kern="1200" cap="none" spc="0" normalizeH="0" baseline="0" noProof="0" dirty="0">
                <a:ln>
                  <a:noFill/>
                </a:ln>
                <a:solidFill>
                  <a:prstClr val="black"/>
                </a:solidFill>
                <a:effectLst/>
                <a:uLnTx/>
                <a:uFillTx/>
                <a:latin typeface="Segoe UI"/>
                <a:ea typeface="+mn-ea"/>
                <a:cs typeface="+mn-cs"/>
              </a:rPr>
              <a:t>-2026</a:t>
            </a:r>
            <a:endParaRPr kumimoji="0" lang="en-US" sz="1400" b="0" i="1" u="none" strike="noStrike" kern="1200" cap="none" spc="0" normalizeH="0" baseline="0" noProof="0" dirty="0">
              <a:ln>
                <a:noFill/>
              </a:ln>
              <a:solidFill>
                <a:prstClr val="black"/>
              </a:solidFill>
              <a:effectLst/>
              <a:uLnTx/>
              <a:uFillTx/>
              <a:latin typeface="Segoe UI"/>
              <a:ea typeface="+mn-ea"/>
              <a:cs typeface="+mn-cs"/>
            </a:endParaRPr>
          </a:p>
        </p:txBody>
      </p:sp>
      <p:sp>
        <p:nvSpPr>
          <p:cNvPr id="6" name="Text Placeholder 3"/>
          <p:cNvSpPr txBox="1">
            <a:spLocks/>
          </p:cNvSpPr>
          <p:nvPr/>
        </p:nvSpPr>
        <p:spPr>
          <a:xfrm>
            <a:off x="0" y="4083823"/>
            <a:ext cx="12192000" cy="326571"/>
          </a:xfrm>
          <a:prstGeom prst="rect">
            <a:avLst/>
          </a:prstGeom>
        </p:spPr>
        <p:txBody>
          <a:bodyPr lIns="0" tIns="0" rIns="0" bIns="0" anchor="b" anchorCtr="0"/>
          <a:lstStyle>
            <a:lvl1pPr marL="0" indent="0" algn="r" defTabSz="914400" rtl="0" eaLnBrk="1" latinLnBrk="0" hangingPunct="1">
              <a:lnSpc>
                <a:spcPct val="100000"/>
              </a:lnSpc>
              <a:spcBef>
                <a:spcPts val="1000"/>
              </a:spcBef>
              <a:buClr>
                <a:schemeClr val="accent2"/>
              </a:buClr>
              <a:buFontTx/>
              <a:buNone/>
              <a:defRPr sz="1800" kern="1200">
                <a:solidFill>
                  <a:schemeClr val="tx1"/>
                </a:solidFill>
                <a:latin typeface="+mn-lt"/>
                <a:ea typeface="+mn-ea"/>
                <a:cs typeface="+mn-cs"/>
              </a:defRPr>
            </a:lvl1pPr>
            <a:lvl2pPr marL="457200" indent="0" algn="l" defTabSz="914400" rtl="0" eaLnBrk="1" latinLnBrk="0" hangingPunct="1">
              <a:lnSpc>
                <a:spcPct val="100000"/>
              </a:lnSpc>
              <a:spcBef>
                <a:spcPts val="500"/>
              </a:spcBef>
              <a:buClr>
                <a:schemeClr val="accent1"/>
              </a:buClr>
              <a:buFontTx/>
              <a:buNone/>
              <a:defRPr sz="2400" kern="1200">
                <a:solidFill>
                  <a:schemeClr val="tx1"/>
                </a:solidFill>
                <a:latin typeface="+mn-lt"/>
                <a:ea typeface="+mn-ea"/>
                <a:cs typeface="+mn-cs"/>
              </a:defRPr>
            </a:lvl2pPr>
            <a:lvl3pPr marL="914400" indent="0" algn="l" defTabSz="914400" rtl="0" eaLnBrk="1" latinLnBrk="0" hangingPunct="1">
              <a:lnSpc>
                <a:spcPct val="100000"/>
              </a:lnSpc>
              <a:spcBef>
                <a:spcPts val="500"/>
              </a:spcBef>
              <a:buClr>
                <a:schemeClr val="accent4"/>
              </a:buClr>
              <a:buFontTx/>
              <a:buNone/>
              <a:defRPr sz="2000" kern="1200">
                <a:solidFill>
                  <a:schemeClr val="tx1"/>
                </a:solidFill>
                <a:latin typeface="+mn-lt"/>
                <a:ea typeface="+mn-ea"/>
                <a:cs typeface="+mn-cs"/>
              </a:defRPr>
            </a:lvl3pPr>
            <a:lvl4pPr marL="1371600" indent="0" algn="l" defTabSz="914400" rtl="0" eaLnBrk="1" latinLnBrk="0" hangingPunct="1">
              <a:lnSpc>
                <a:spcPct val="100000"/>
              </a:lnSpc>
              <a:spcBef>
                <a:spcPts val="500"/>
              </a:spcBef>
              <a:buClr>
                <a:schemeClr val="accent3"/>
              </a:buClr>
              <a:buFontTx/>
              <a:buNone/>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Clr>
                <a:schemeClr val="bg1">
                  <a:lumMod val="50000"/>
                </a:schemeClr>
              </a:buClr>
              <a:buFontTx/>
              <a:buNone/>
              <a:defRPr lang="en-U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984A9C"/>
              </a:buClr>
              <a:buSzTx/>
              <a:buFontTx/>
              <a:buNone/>
              <a:tabLst/>
              <a:defRPr/>
            </a:pPr>
            <a:r>
              <a:rPr kumimoji="0" lang="en-US" sz="2000" i="0" u="none" strike="noStrike" kern="1200" cap="none" spc="0" normalizeH="0" baseline="0" noProof="0" dirty="0">
                <a:ln>
                  <a:noFill/>
                </a:ln>
                <a:solidFill>
                  <a:prstClr val="black"/>
                </a:solidFill>
                <a:effectLst/>
                <a:uLnTx/>
                <a:uFillTx/>
                <a:latin typeface="Segoe UI"/>
                <a:ea typeface="+mn-ea"/>
                <a:cs typeface="+mn-cs"/>
              </a:rPr>
              <a:t>Bernard Isekah Osang’ir, Senior Biostatistician</a:t>
            </a:r>
          </a:p>
          <a:p>
            <a:pPr marL="0" marR="0" lvl="0" indent="0" algn="ctr" defTabSz="914400" rtl="0" eaLnBrk="1" fontAlgn="auto" latinLnBrk="0" hangingPunct="1">
              <a:lnSpc>
                <a:spcPct val="100000"/>
              </a:lnSpc>
              <a:spcBef>
                <a:spcPts val="1000"/>
              </a:spcBef>
              <a:spcAft>
                <a:spcPts val="0"/>
              </a:spcAft>
              <a:buClr>
                <a:srgbClr val="984A9C"/>
              </a:buClr>
              <a:buSzTx/>
              <a:buFontTx/>
              <a:buNone/>
              <a:tabLst/>
              <a:defRPr/>
            </a:pPr>
            <a:r>
              <a:rPr lang="en-US" sz="2000" dirty="0">
                <a:solidFill>
                  <a:prstClr val="black"/>
                </a:solidFill>
                <a:latin typeface="Segoe UI"/>
              </a:rPr>
              <a:t>PhD Candidate</a:t>
            </a:r>
            <a:r>
              <a:rPr kumimoji="0" lang="en-US" sz="2000" i="0" u="none" strike="noStrike" kern="1200" cap="none" spc="0" normalizeH="0" noProof="0" dirty="0">
                <a:ln>
                  <a:noFill/>
                </a:ln>
                <a:solidFill>
                  <a:prstClr val="black"/>
                </a:solidFill>
                <a:effectLst/>
                <a:uLnTx/>
                <a:uFillTx/>
                <a:latin typeface="Segoe UI"/>
                <a:ea typeface="+mn-ea"/>
                <a:cs typeface="+mn-cs"/>
              </a:rPr>
              <a:t> </a:t>
            </a:r>
            <a:endParaRPr kumimoji="0" lang="en-US" sz="2000" i="1" u="none" strike="noStrike" kern="1200" cap="none" spc="0" normalizeH="0" baseline="0" noProof="0" dirty="0">
              <a:ln>
                <a:noFill/>
              </a:ln>
              <a:solidFill>
                <a:prstClr val="black"/>
              </a:solidFill>
              <a:effectLst/>
              <a:uLnTx/>
              <a:uFillTx/>
              <a:latin typeface="Segoe UI"/>
              <a:ea typeface="+mn-ea"/>
              <a:cs typeface="+mn-c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94360" y="1280160"/>
            <a:ext cx="11597640" cy="2103120"/>
          </a:xfrm>
          <a:prstGeom prst="rect">
            <a:avLst/>
          </a:prstGeom>
          <a:noFill/>
          <a:ln/>
        </p:spPr>
        <p:txBody>
          <a:bodyPr wrap="square" lIns="0" tIns="0" rIns="0" bIns="0" rtlCol="0" anchor="ctr"/>
          <a:lstStyle/>
          <a:p>
            <a:pPr marL="0" indent="0">
              <a:buNone/>
            </a:pPr>
            <a:r>
              <a:rPr lang="en-US" sz="2800" dirty="0">
                <a:solidFill>
                  <a:srgbClr val="0070C0"/>
                </a:solidFill>
                <a:latin typeface="Century Gothic" panose="020B0502020202020204" pitchFamily="34" charset="0"/>
                <a:ea typeface="Calibri" pitchFamily="34" charset="-122"/>
                <a:cs typeface="Calibri" pitchFamily="34" charset="-120"/>
              </a:rPr>
              <a:t>Plan </a:t>
            </a:r>
            <a:endParaRPr lang="en-US" sz="2800" dirty="0">
              <a:solidFill>
                <a:srgbClr val="0070C0"/>
              </a:solidFill>
              <a:latin typeface="Century Gothic" panose="020B0502020202020204" pitchFamily="34" charset="0"/>
            </a:endParaRPr>
          </a:p>
        </p:txBody>
      </p:sp>
      <p:pic>
        <p:nvPicPr>
          <p:cNvPr id="22" name="Picture 21" descr="WhatsApp Image 2025-06-14 at 07.39.02.jpeg"/>
          <p:cNvPicPr>
            <a:picLocks noChangeAspect="1"/>
          </p:cNvPicPr>
          <p:nvPr/>
        </p:nvPicPr>
        <p:blipFill>
          <a:blip r:embed="rId3"/>
          <a:stretch>
            <a:fillRect/>
          </a:stretch>
        </p:blipFill>
        <p:spPr>
          <a:xfrm>
            <a:off x="138853" y="6122125"/>
            <a:ext cx="716763" cy="683623"/>
          </a:xfrm>
          <a:prstGeom prst="rect">
            <a:avLst/>
          </a:prstGeom>
        </p:spPr>
      </p:pic>
      <p:sp>
        <p:nvSpPr>
          <p:cNvPr id="24" name="Rectangle 23">
            <a:extLst>
              <a:ext uri="{FF2B5EF4-FFF2-40B4-BE49-F238E27FC236}">
                <a16:creationId xmlns:a16="http://schemas.microsoft.com/office/drawing/2014/main" id="{177B8330-68AC-592C-ACA4-4A637790C48E}"/>
              </a:ext>
            </a:extLst>
          </p:cNvPr>
          <p:cNvSpPr/>
          <p:nvPr/>
        </p:nvSpPr>
        <p:spPr>
          <a:xfrm>
            <a:off x="4599946" y="6458701"/>
            <a:ext cx="2845651" cy="276999"/>
          </a:xfrm>
          <a:prstGeom prst="rect">
            <a:avLst/>
          </a:prstGeom>
        </p:spPr>
        <p:txBody>
          <a:bodyPr wrap="none">
            <a:spAutoFit/>
          </a:bodyPr>
          <a:lstStyle/>
          <a:p>
            <a:r>
              <a:rPr lang="en-US" sz="1200" dirty="0" err="1">
                <a:solidFill>
                  <a:schemeClr val="accent5">
                    <a:lumMod val="50000"/>
                  </a:schemeClr>
                </a:solidFill>
                <a:latin typeface="Verdana" panose="020B0604030504040204" pitchFamily="34" charset="0"/>
                <a:ea typeface="Verdana" panose="020B0604030504040204" pitchFamily="34" charset="0"/>
              </a:rPr>
              <a:t>Neudata</a:t>
            </a:r>
            <a:r>
              <a:rPr lang="en-US" sz="1200" dirty="0">
                <a:solidFill>
                  <a:schemeClr val="accent5">
                    <a:lumMod val="50000"/>
                  </a:schemeClr>
                </a:solidFill>
                <a:latin typeface="Verdana" panose="020B0604030504040204" pitchFamily="34" charset="0"/>
                <a:ea typeface="Verdana" panose="020B0604030504040204" pitchFamily="34" charset="0"/>
              </a:rPr>
              <a:t> | #</a:t>
            </a:r>
            <a:r>
              <a:rPr lang="en-US" sz="1200" dirty="0" err="1">
                <a:solidFill>
                  <a:schemeClr val="accent5">
                    <a:lumMod val="50000"/>
                  </a:schemeClr>
                </a:solidFill>
                <a:latin typeface="Verdana" panose="020B0604030504040204" pitchFamily="34" charset="0"/>
                <a:ea typeface="Verdana" panose="020B0604030504040204" pitchFamily="34" charset="0"/>
              </a:rPr>
              <a:t>ClearDataClearImpact</a:t>
            </a:r>
            <a:endParaRPr lang="en-US" sz="1200" dirty="0">
              <a:solidFill>
                <a:schemeClr val="accent5">
                  <a:lumMod val="50000"/>
                </a:schemeClr>
              </a:solidFill>
              <a:latin typeface="Verdana" panose="020B0604030504040204" pitchFamily="34" charset="0"/>
              <a:ea typeface="Verdana" panose="020B0604030504040204" pitchFamily="34" charset="0"/>
            </a:endParaRPr>
          </a:p>
        </p:txBody>
      </p:sp>
      <p:sp>
        <p:nvSpPr>
          <p:cNvPr id="6" name="TextBox 5"/>
          <p:cNvSpPr txBox="1"/>
          <p:nvPr/>
        </p:nvSpPr>
        <p:spPr>
          <a:xfrm>
            <a:off x="457200" y="548640"/>
            <a:ext cx="11430000" cy="529376"/>
          </a:xfrm>
          <a:prstGeom prst="rect">
            <a:avLst/>
          </a:prstGeom>
          <a:noFill/>
          <a:ln>
            <a:noFill/>
          </a:ln>
        </p:spPr>
        <p:txBody>
          <a:bodyPr wrap="square" lIns="45720" tIns="18288" rIns="45720" bIns="18288" anchor="t">
            <a:spAutoFit/>
          </a:bodyPr>
          <a:lstStyle/>
          <a:p>
            <a:pPr algn="l"/>
            <a:r>
              <a:rPr lang="en-US" sz="3200" b="1" i="0" dirty="0">
                <a:solidFill>
                  <a:srgbClr val="0D7377"/>
                </a:solidFill>
                <a:latin typeface="Century Gothic"/>
              </a:rPr>
              <a:t>Day 1:</a:t>
            </a:r>
            <a:r>
              <a:rPr sz="3200" b="1" i="0" dirty="0">
                <a:solidFill>
                  <a:srgbClr val="0D7377"/>
                </a:solidFill>
                <a:latin typeface="Century Gothic"/>
              </a:rPr>
              <a:t> </a:t>
            </a:r>
            <a:r>
              <a:rPr lang="en-US" sz="3200" b="1" i="0" dirty="0">
                <a:solidFill>
                  <a:srgbClr val="0D7377"/>
                </a:solidFill>
                <a:latin typeface="Century Gothic"/>
              </a:rPr>
              <a:t>Introductio</a:t>
            </a:r>
            <a:r>
              <a:rPr lang="en-US" sz="3200" b="1" dirty="0">
                <a:solidFill>
                  <a:srgbClr val="0D7377"/>
                </a:solidFill>
                <a:latin typeface="Century Gothic"/>
              </a:rPr>
              <a:t>n to R &amp; RStudio</a:t>
            </a:r>
            <a:endParaRPr sz="3200" b="1" i="0" dirty="0">
              <a:solidFill>
                <a:srgbClr val="0D7377"/>
              </a:solidFill>
              <a:latin typeface="Century Gothic"/>
            </a:endParaRPr>
          </a:p>
        </p:txBody>
      </p:sp>
      <p:sp>
        <p:nvSpPr>
          <p:cNvPr id="7" name="Rectangle 6"/>
          <p:cNvSpPr/>
          <p:nvPr/>
        </p:nvSpPr>
        <p:spPr>
          <a:xfrm>
            <a:off x="457200" y="1325880"/>
            <a:ext cx="11274552" cy="1905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10"/>
          <p:cNvSpPr>
            <a:spLocks noChangeShapeType="1"/>
          </p:cNvSpPr>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chemeClr val="accent5">
                    <a:lumMod val="75000"/>
                  </a:schemeClr>
                </a:solidFill>
                <a:latin typeface="Century Gothic" panose="020B0502020202020204" pitchFamily="34" charset="0"/>
              </a:rPr>
              <a:t>Study Overview</a:t>
            </a:r>
          </a:p>
        </p:txBody>
      </p:sp>
      <p:sp>
        <p:nvSpPr>
          <p:cNvPr id="11" name="L11"/>
          <p:cNvSpPr>
            <a:spLocks noGrp="1"/>
          </p:cNvSpPr>
          <p:nvPr/>
        </p:nvSpPr>
        <p:spPr>
          <a:xfrm>
            <a:off x="457200" y="940000"/>
            <a:ext cx="11277600" cy="0"/>
          </a:xfrm>
          <a:prstGeom prst="line">
            <a:avLst/>
          </a:prstGeom>
          <a:noFill/>
          <a:ln w="19050">
            <a:solidFill>
              <a:srgbClr val="0D7377"/>
            </a:solidFill>
          </a:ln>
        </p:spPr>
        <p:txBody>
          <a:bodyPr/>
          <a:lstStyle/>
          <a:p>
            <a:endParaRPr/>
          </a:p>
        </p:txBody>
      </p:sp>
      <p:sp>
        <p:nvSpPr>
          <p:cNvPr id="12" name="T12"/>
          <p:cNvSpPr>
            <a:spLocks noChangeShapeType="1"/>
          </p:cNvSpPr>
          <p:nvPr/>
        </p:nvSpPr>
        <p:spPr>
          <a:xfrm>
            <a:off x="457199" y="1050000"/>
            <a:ext cx="11162581" cy="5400000"/>
          </a:xfrm>
          <a:prstGeom prst="rect">
            <a:avLst/>
          </a:prstGeom>
          <a:noFill/>
          <a:ln>
            <a:noFill/>
          </a:ln>
        </p:spPr>
        <p:txBody>
          <a:bodyPr wrap="square" lIns="91440" tIns="45720" rIns="91440" bIns="45720" rtlCol="0" anchor="t"/>
          <a:lstStyle/>
          <a:p>
            <a:pPr marL="0" indent="0" algn="l">
              <a:buNone/>
            </a:pPr>
            <a:r>
              <a:rPr lang="en-US" sz="1900" b="1" dirty="0">
                <a:solidFill>
                  <a:schemeClr val="accent5">
                    <a:lumMod val="75000"/>
                  </a:schemeClr>
                </a:solidFill>
                <a:latin typeface="Century Gothic" panose="020B0502020202020204" pitchFamily="34" charset="0"/>
              </a:rPr>
              <a:t>Study Design</a:t>
            </a:r>
          </a:p>
          <a:p>
            <a:pPr marL="0" indent="0" algn="l">
              <a:buNone/>
            </a:pPr>
            <a:r>
              <a:rPr lang="en-US" sz="1600" dirty="0">
                <a:solidFill>
                  <a:srgbClr val="000000"/>
                </a:solidFill>
                <a:latin typeface="Century Gothic" panose="020B0502020202020204" pitchFamily="34" charset="0"/>
              </a:rPr>
              <a:t>Quasi-experimental pre-post study</a:t>
            </a:r>
          </a:p>
          <a:p>
            <a:pPr marL="0" indent="0" algn="l">
              <a:buNone/>
            </a:pPr>
            <a:r>
              <a:rPr lang="en-US" sz="1600" dirty="0">
                <a:solidFill>
                  <a:srgbClr val="000000"/>
                </a:solidFill>
                <a:latin typeface="Century Gothic" panose="020B0502020202020204" pitchFamily="34" charset="0"/>
              </a:rPr>
              <a:t>5 hospitals | Kampala, Uganda</a:t>
            </a:r>
          </a:p>
          <a:p>
            <a:pPr marL="0" indent="0" algn="l">
              <a:buNone/>
            </a:pPr>
            <a:r>
              <a:rPr lang="en-US" sz="1600" dirty="0">
                <a:solidFill>
                  <a:srgbClr val="000000"/>
                </a:solidFill>
                <a:latin typeface="Century Gothic" panose="020B0502020202020204" pitchFamily="34" charset="0"/>
              </a:rPr>
              <a:t>Pre: 2018-2022 (retrospective)</a:t>
            </a:r>
          </a:p>
          <a:p>
            <a:pPr marL="0" indent="0" algn="l">
              <a:buNone/>
            </a:pPr>
            <a:r>
              <a:rPr lang="en-US" sz="1600" dirty="0">
                <a:solidFill>
                  <a:srgbClr val="000000"/>
                </a:solidFill>
                <a:latin typeface="Century Gothic" panose="020B0502020202020204" pitchFamily="34" charset="0"/>
              </a:rPr>
              <a:t>Post: 2020-2025 (prospective)</a:t>
            </a:r>
          </a:p>
          <a:p>
            <a:pPr marL="0" indent="0">
              <a:buNone/>
            </a:pPr>
            <a:endParaRPr lang="en-US" dirty="0"/>
          </a:p>
          <a:p>
            <a:pPr marL="0" indent="0" algn="l">
              <a:buNone/>
            </a:pPr>
            <a:r>
              <a:rPr lang="en-US" sz="1900" b="1" dirty="0">
                <a:solidFill>
                  <a:schemeClr val="accent5">
                    <a:lumMod val="75000"/>
                  </a:schemeClr>
                </a:solidFill>
                <a:latin typeface="Century Gothic" panose="020B0502020202020204" pitchFamily="34" charset="0"/>
              </a:rPr>
              <a:t>Hospitals</a:t>
            </a:r>
          </a:p>
          <a:p>
            <a:pPr marL="0" indent="0" algn="l">
              <a:buNone/>
            </a:pPr>
            <a:r>
              <a:rPr lang="en-US" sz="1600" dirty="0">
                <a:solidFill>
                  <a:srgbClr val="000000"/>
                </a:solidFill>
                <a:latin typeface="Century Gothic" panose="020B0502020202020204" pitchFamily="34" charset="0"/>
              </a:rPr>
              <a:t>Nsambya  •  Lubaga  •  Mengo  •  Naguru  •  Kibuli</a:t>
            </a:r>
          </a:p>
          <a:p>
            <a:pPr marL="0" indent="0">
              <a:buNone/>
            </a:pPr>
            <a:endParaRPr lang="en-US" dirty="0"/>
          </a:p>
          <a:p>
            <a:pPr marL="0" indent="0" algn="l">
              <a:buNone/>
            </a:pPr>
            <a:r>
              <a:rPr lang="en-US" sz="1900" b="1" dirty="0">
                <a:solidFill>
                  <a:schemeClr val="accent5">
                    <a:lumMod val="75000"/>
                  </a:schemeClr>
                </a:solidFill>
                <a:latin typeface="Century Gothic" panose="020B0502020202020204" pitchFamily="34" charset="0"/>
              </a:rPr>
              <a:t>Primary Outcome</a:t>
            </a:r>
          </a:p>
          <a:p>
            <a:pPr marL="0" indent="0" algn="l">
              <a:buNone/>
            </a:pPr>
            <a:r>
              <a:rPr lang="en-US" sz="1600" dirty="0">
                <a:solidFill>
                  <a:srgbClr val="000000"/>
                </a:solidFill>
                <a:latin typeface="Century Gothic" panose="020B0502020202020204" pitchFamily="34" charset="0"/>
              </a:rPr>
              <a:t>Very Early Neonatal Death (VEND)</a:t>
            </a:r>
          </a:p>
          <a:p>
            <a:pPr marL="0" indent="0" algn="l">
              <a:buNone/>
            </a:pPr>
            <a:r>
              <a:rPr lang="en-US" sz="1600" dirty="0">
                <a:solidFill>
                  <a:srgbClr val="000000"/>
                </a:solidFill>
                <a:latin typeface="Century Gothic" panose="020B0502020202020204" pitchFamily="34" charset="0"/>
              </a:rPr>
              <a:t>= in-facility death within 24 hours of birth</a:t>
            </a:r>
          </a:p>
          <a:p>
            <a:pPr marL="0" indent="0">
              <a:buNone/>
            </a:pPr>
            <a:endParaRPr lang="en-US" dirty="0"/>
          </a:p>
          <a:p>
            <a:pPr marL="0" indent="0" algn="l">
              <a:buNone/>
            </a:pPr>
            <a:r>
              <a:rPr lang="en-US" sz="1900" b="1" dirty="0">
                <a:solidFill>
                  <a:schemeClr val="accent5">
                    <a:lumMod val="75000"/>
                  </a:schemeClr>
                </a:solidFill>
                <a:latin typeface="Century Gothic" panose="020B0502020202020204" pitchFamily="34" charset="0"/>
              </a:rPr>
              <a:t>Intervention Bundle</a:t>
            </a:r>
          </a:p>
          <a:p>
            <a:pPr marL="0" indent="0" algn="l">
              <a:buNone/>
            </a:pPr>
            <a:r>
              <a:rPr lang="en-US" sz="1600" dirty="0">
                <a:solidFill>
                  <a:srgbClr val="000000"/>
                </a:solidFill>
                <a:latin typeface="Century Gothic" panose="020B0502020202020204" pitchFamily="34" charset="0"/>
              </a:rPr>
              <a:t>Standardised DR resuscitation protocols</a:t>
            </a:r>
          </a:p>
          <a:p>
            <a:pPr marL="0" indent="0" algn="l">
              <a:buNone/>
            </a:pPr>
            <a:r>
              <a:rPr lang="en-US" sz="1600" dirty="0">
                <a:solidFill>
                  <a:srgbClr val="000000"/>
                </a:solidFill>
                <a:latin typeface="Century Gothic" panose="020B0502020202020204" pitchFamily="34" charset="0"/>
              </a:rPr>
              <a:t>NRT member at every theatre delivery</a:t>
            </a:r>
          </a:p>
          <a:p>
            <a:pPr marL="0" indent="0" algn="l">
              <a:buNone/>
            </a:pPr>
            <a:r>
              <a:rPr lang="en-US" sz="1600" dirty="0">
                <a:solidFill>
                  <a:srgbClr val="000000"/>
                </a:solidFill>
                <a:latin typeface="Century Gothic" panose="020B0502020202020204" pitchFamily="34" charset="0"/>
              </a:rPr>
              <a:t>Warm transport (exothermic mattresses)</a:t>
            </a:r>
          </a:p>
          <a:p>
            <a:pPr marL="0" indent="0" algn="l">
              <a:buNone/>
            </a:pPr>
            <a:r>
              <a:rPr lang="en-US" sz="1600" dirty="0">
                <a:solidFill>
                  <a:srgbClr val="000000"/>
                </a:solidFill>
                <a:latin typeface="Century Gothic" panose="020B0502020202020204" pitchFamily="34" charset="0"/>
              </a:rPr>
              <a:t>Structured NNU admission documentation</a:t>
            </a:r>
          </a:p>
        </p:txBody>
      </p:sp>
      <p:sp>
        <p:nvSpPr>
          <p:cNvPr id="901" name="Footer"/>
          <p:cNvSpPr/>
          <p:nvPr/>
        </p:nvSpPr>
        <p:spPr>
          <a:xfrm>
            <a:off x="4599946" y="6458701"/>
            <a:ext cx="2845651" cy="276999"/>
          </a:xfrm>
          <a:prstGeom prst="rect">
            <a:avLst/>
          </a:prstGeom>
          <a:noFill/>
          <a:ln/>
        </p:spPr>
        <p:txBody>
          <a:bodyPr wrap="none">
            <a:spAutoFit/>
          </a:bodyPr>
          <a:lstStyle/>
          <a:p>
            <a:r>
              <a:rPr lang="en-US" sz="1200" dirty="0">
                <a:solidFill>
                  <a:schemeClr val="accent5">
                    <a:lumMod val="50000"/>
                  </a:schemeClr>
                </a:solidFill>
                <a:latin typeface="Verdana" pitchFamily="34" charset="0"/>
              </a:rPr>
              <a:t>Neudata | #ClearDataClearImpact</a:t>
            </a:r>
          </a:p>
        </p:txBody>
      </p:sp>
      <p:pic>
        <p:nvPicPr>
          <p:cNvPr id="18" name="Picture 17" descr="WhatsApp Image 2025-06-14 at 07.39.02.jpeg"/>
          <p:cNvPicPr>
            <a:picLocks noChangeAspect="1"/>
          </p:cNvPicPr>
          <p:nvPr/>
        </p:nvPicPr>
        <p:blipFill>
          <a:blip r:embed="rId3"/>
          <a:stretch>
            <a:fillRect/>
          </a:stretch>
        </p:blipFill>
        <p:spPr>
          <a:xfrm>
            <a:off x="138853" y="6122125"/>
            <a:ext cx="716763" cy="6836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E0CE9D-D98A-F59C-79AD-F3F20D3964AB}"/>
            </a:ext>
          </a:extLst>
        </p:cNvPr>
        <p:cNvGrpSpPr/>
        <p:nvPr/>
      </p:nvGrpSpPr>
      <p:grpSpPr>
        <a:xfrm>
          <a:off x="0" y="0"/>
          <a:ext cx="0" cy="0"/>
          <a:chOff x="0" y="0"/>
          <a:chExt cx="0" cy="0"/>
        </a:xfrm>
      </p:grpSpPr>
      <p:pic>
        <p:nvPicPr>
          <p:cNvPr id="2" name="Picture 1" descr="WhatsApp Image 2025-06-14 at 07.39.02.jpeg">
            <a:extLst>
              <a:ext uri="{FF2B5EF4-FFF2-40B4-BE49-F238E27FC236}">
                <a16:creationId xmlns:a16="http://schemas.microsoft.com/office/drawing/2014/main" id="{A2AA2E84-02C6-C9CA-8945-F9979E5603D6}"/>
              </a:ext>
            </a:extLst>
          </p:cNvPr>
          <p:cNvPicPr>
            <a:picLocks noChangeAspect="1"/>
          </p:cNvPicPr>
          <p:nvPr/>
        </p:nvPicPr>
        <p:blipFill>
          <a:blip r:embed="rId3"/>
          <a:stretch>
            <a:fillRect/>
          </a:stretch>
        </p:blipFill>
        <p:spPr>
          <a:xfrm>
            <a:off x="4279472" y="97277"/>
            <a:ext cx="3416992" cy="3414408"/>
          </a:xfrm>
          <a:prstGeom prst="rect">
            <a:avLst/>
          </a:prstGeom>
        </p:spPr>
      </p:pic>
      <p:sp>
        <p:nvSpPr>
          <p:cNvPr id="5" name="Rectangle 4">
            <a:extLst>
              <a:ext uri="{FF2B5EF4-FFF2-40B4-BE49-F238E27FC236}">
                <a16:creationId xmlns:a16="http://schemas.microsoft.com/office/drawing/2014/main" id="{177B8330-68AC-592C-ACA4-4A637790C48E}"/>
              </a:ext>
            </a:extLst>
          </p:cNvPr>
          <p:cNvSpPr/>
          <p:nvPr/>
        </p:nvSpPr>
        <p:spPr>
          <a:xfrm>
            <a:off x="4989808" y="6304813"/>
            <a:ext cx="3281668" cy="307777"/>
          </a:xfrm>
          <a:prstGeom prst="rect">
            <a:avLst/>
          </a:prstGeom>
        </p:spPr>
        <p:txBody>
          <a:bodyPr wrap="none">
            <a:spAutoFit/>
          </a:bodyPr>
          <a:lstStyle/>
          <a:p>
            <a:r>
              <a:rPr lang="en-US" sz="1400" dirty="0" err="1">
                <a:solidFill>
                  <a:schemeClr val="accent5">
                    <a:lumMod val="50000"/>
                  </a:schemeClr>
                </a:solidFill>
                <a:latin typeface="Verdana" panose="020B0604030504040204" pitchFamily="34" charset="0"/>
                <a:ea typeface="Verdana" panose="020B0604030504040204" pitchFamily="34" charset="0"/>
              </a:rPr>
              <a:t>Neudata</a:t>
            </a:r>
            <a:r>
              <a:rPr lang="en-US" sz="1400" dirty="0">
                <a:solidFill>
                  <a:schemeClr val="accent5">
                    <a:lumMod val="50000"/>
                  </a:schemeClr>
                </a:solidFill>
                <a:latin typeface="Verdana" panose="020B0604030504040204" pitchFamily="34" charset="0"/>
                <a:ea typeface="Verdana" panose="020B0604030504040204" pitchFamily="34" charset="0"/>
              </a:rPr>
              <a:t> | #</a:t>
            </a:r>
            <a:r>
              <a:rPr lang="en-US" sz="1400" dirty="0" err="1">
                <a:solidFill>
                  <a:schemeClr val="accent5">
                    <a:lumMod val="50000"/>
                  </a:schemeClr>
                </a:solidFill>
                <a:latin typeface="Verdana" panose="020B0604030504040204" pitchFamily="34" charset="0"/>
                <a:ea typeface="Verdana" panose="020B0604030504040204" pitchFamily="34" charset="0"/>
              </a:rPr>
              <a:t>ClearDataClearImpact</a:t>
            </a:r>
            <a:endParaRPr lang="en-US" sz="1400" dirty="0">
              <a:solidFill>
                <a:schemeClr val="accent5">
                  <a:lumMod val="50000"/>
                </a:schemeClr>
              </a:solidFill>
              <a:latin typeface="Verdana" panose="020B0604030504040204" pitchFamily="34" charset="0"/>
              <a:ea typeface="Verdana" panose="020B0604030504040204" pitchFamily="34" charset="0"/>
            </a:endParaRPr>
          </a:p>
        </p:txBody>
      </p:sp>
      <p:sp>
        <p:nvSpPr>
          <p:cNvPr id="3" name="Slide Number Placeholder 2">
            <a:extLst>
              <a:ext uri="{FF2B5EF4-FFF2-40B4-BE49-F238E27FC236}">
                <a16:creationId xmlns:a16="http://schemas.microsoft.com/office/drawing/2014/main" id="{FF4F3DDF-C6A0-B323-47FC-E396A5C2D3F9}"/>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4" name="Rectangle 3">
            <a:extLst>
              <a:ext uri="{FF2B5EF4-FFF2-40B4-BE49-F238E27FC236}">
                <a16:creationId xmlns:a16="http://schemas.microsoft.com/office/drawing/2014/main" id="{51971457-1206-F165-41EF-0032598F21C5}"/>
              </a:ext>
            </a:extLst>
          </p:cNvPr>
          <p:cNvSpPr/>
          <p:nvPr/>
        </p:nvSpPr>
        <p:spPr>
          <a:xfrm>
            <a:off x="969523" y="2988226"/>
            <a:ext cx="10700426" cy="3154710"/>
          </a:xfrm>
          <a:prstGeom prst="rect">
            <a:avLst/>
          </a:prstGeom>
        </p:spPr>
        <p:txBody>
          <a:bodyPr wrap="square">
            <a:spAutoFit/>
          </a:bodyPr>
          <a:lstStyle/>
          <a:p>
            <a:r>
              <a:rPr lang="en-US" sz="2000" b="1" dirty="0">
                <a:solidFill>
                  <a:schemeClr val="tx2">
                    <a:lumMod val="60000"/>
                    <a:lumOff val="40000"/>
                  </a:schemeClr>
                </a:solidFill>
                <a:latin typeface="Segoe UI (Body)"/>
              </a:rPr>
              <a:t>Copyright © </a:t>
            </a:r>
            <a:r>
              <a:rPr lang="en-US" sz="2000" b="1" dirty="0" err="1">
                <a:solidFill>
                  <a:schemeClr val="tx2">
                    <a:lumMod val="60000"/>
                    <a:lumOff val="40000"/>
                  </a:schemeClr>
                </a:solidFill>
                <a:latin typeface="Segoe UI (Body)"/>
              </a:rPr>
              <a:t>Neudata</a:t>
            </a:r>
            <a:r>
              <a:rPr lang="en-US" sz="2000" b="1" dirty="0">
                <a:solidFill>
                  <a:schemeClr val="tx2">
                    <a:lumMod val="60000"/>
                    <a:lumOff val="40000"/>
                  </a:schemeClr>
                </a:solidFill>
                <a:latin typeface="Segoe UI (Body)"/>
              </a:rPr>
              <a:t>, 2026</a:t>
            </a:r>
          </a:p>
          <a:p>
            <a:endParaRPr lang="en-US" sz="1600" dirty="0">
              <a:latin typeface="Segoe UI (Body)"/>
            </a:endParaRPr>
          </a:p>
          <a:p>
            <a:r>
              <a:rPr lang="en-US" sz="1500" dirty="0">
                <a:latin typeface="Consolas" panose="020B0609020204030204" pitchFamily="49" charset="0"/>
              </a:rPr>
              <a:t>All property rights and copyright are reserved.</a:t>
            </a:r>
          </a:p>
          <a:p>
            <a:endParaRPr lang="en-US" sz="1500" dirty="0">
              <a:latin typeface="Consolas" panose="020B0609020204030204" pitchFamily="49" charset="0"/>
            </a:endParaRPr>
          </a:p>
          <a:p>
            <a:r>
              <a:rPr lang="en-US" sz="1500" dirty="0">
                <a:latin typeface="Consolas" panose="020B0609020204030204" pitchFamily="49" charset="0"/>
              </a:rPr>
              <a:t>This presentation contains proprietary data, information, and materials developed by </a:t>
            </a:r>
            <a:r>
              <a:rPr lang="en-US" sz="1500" dirty="0" err="1">
                <a:latin typeface="Consolas" panose="020B0609020204030204" pitchFamily="49" charset="0"/>
              </a:rPr>
              <a:t>Neudata</a:t>
            </a:r>
            <a:r>
              <a:rPr lang="en-US" sz="1500" dirty="0">
                <a:latin typeface="Consolas" panose="020B0609020204030204" pitchFamily="49" charset="0"/>
              </a:rPr>
              <a:t> for dedicated use only and may not be communicated, copied, reproduced, distributed, published, or cited, in whole or in part, without the prior written consent of </a:t>
            </a:r>
            <a:r>
              <a:rPr lang="en-US" sz="1500" dirty="0" err="1">
                <a:latin typeface="Consolas" panose="020B0609020204030204" pitchFamily="49" charset="0"/>
              </a:rPr>
              <a:t>Neudata</a:t>
            </a:r>
            <a:r>
              <a:rPr lang="en-US" sz="1500" dirty="0">
                <a:latin typeface="Consolas" panose="020B0609020204030204" pitchFamily="49" charset="0"/>
              </a:rPr>
              <a:t>.</a:t>
            </a:r>
          </a:p>
          <a:p>
            <a:r>
              <a:rPr lang="en-US" sz="1500" dirty="0">
                <a:latin typeface="Consolas" panose="020B0609020204030204" pitchFamily="49" charset="0"/>
              </a:rPr>
              <a:t>Where explicit written permission has been granted, appropriate attribution must be included, followed by “by courtesy of </a:t>
            </a:r>
            <a:r>
              <a:rPr lang="en-US" sz="1500" dirty="0" err="1">
                <a:latin typeface="Consolas" panose="020B0609020204030204" pitchFamily="49" charset="0"/>
              </a:rPr>
              <a:t>Neudata</a:t>
            </a:r>
            <a:r>
              <a:rPr lang="en-US" sz="1500" dirty="0">
                <a:latin typeface="Consolas" panose="020B0609020204030204" pitchFamily="49" charset="0"/>
              </a:rPr>
              <a:t>”.</a:t>
            </a:r>
          </a:p>
          <a:p>
            <a:endParaRPr lang="en-US" sz="1500" dirty="0">
              <a:latin typeface="Consolas" panose="020B0609020204030204" pitchFamily="49" charset="0"/>
            </a:endParaRPr>
          </a:p>
          <a:p>
            <a:r>
              <a:rPr lang="en-US" sz="1500" dirty="0">
                <a:latin typeface="Consolas" panose="020B0609020204030204" pitchFamily="49" charset="0"/>
              </a:rPr>
              <a:t>Any unauthorized use or infringement of these materials may give rise to legal action and claims for damages, without prejudice to any other rights of </a:t>
            </a:r>
            <a:r>
              <a:rPr lang="en-US" sz="1500" dirty="0" err="1">
                <a:latin typeface="Consolas" panose="020B0609020204030204" pitchFamily="49" charset="0"/>
              </a:rPr>
              <a:t>Neudata</a:t>
            </a:r>
            <a:r>
              <a:rPr lang="en-US" sz="1500" dirty="0">
                <a:latin typeface="Consolas" panose="020B0609020204030204" pitchFamily="49" charset="0"/>
              </a:rPr>
              <a:t>, including rights relating to patents, trademarks, or other forms of intellectual property protection.</a:t>
            </a:r>
          </a:p>
        </p:txBody>
      </p:sp>
    </p:spTree>
    <p:extLst>
      <p:ext uri="{BB962C8B-B14F-4D97-AF65-F5344CB8AC3E}">
        <p14:creationId xmlns:p14="http://schemas.microsoft.com/office/powerpoint/2010/main" val="4137145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